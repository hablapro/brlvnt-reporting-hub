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011680"/>
            <a:ext cx="91440" cy="22860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orex_logo.png"/>
          <p:cNvPicPr>
            <a:picLocks noChangeAspect="1"/>
          </p:cNvPicPr>
          <p:nvPr/>
        </p:nvPicPr>
        <p:blipFill>
          <a:blip r:embed="rId2"/>
          <a:stretch>
            <a:fillRect/>
          </a:stretch>
        </p:blipFill>
        <p:spPr>
          <a:xfrm>
            <a:off x="457200" y="457200"/>
            <a:ext cx="2286000" cy="649224"/>
          </a:xfrm>
          <a:prstGeom prst="rect">
            <a:avLst/>
          </a:prstGeom>
        </p:spPr>
      </p:pic>
      <p:pic>
        <p:nvPicPr>
          <p:cNvPr id="5" name="Picture 4" descr="berelvant_logo.png"/>
          <p:cNvPicPr>
            <a:picLocks noChangeAspect="1"/>
          </p:cNvPicPr>
          <p:nvPr/>
        </p:nvPicPr>
        <p:blipFill>
          <a:blip r:embed="rId3"/>
          <a:stretch>
            <a:fillRect/>
          </a:stretch>
        </p:blipFill>
        <p:spPr>
          <a:xfrm>
            <a:off x="10362895" y="5943600"/>
            <a:ext cx="1280160" cy="365760"/>
          </a:xfrm>
          <a:prstGeom prst="rect">
            <a:avLst/>
          </a:prstGeom>
        </p:spPr>
      </p:pic>
      <p:sp>
        <p:nvSpPr>
          <p:cNvPr id="6" name="TextBox 5"/>
          <p:cNvSpPr txBox="1"/>
          <p:nvPr/>
        </p:nvSpPr>
        <p:spPr>
          <a:xfrm>
            <a:off x="822960" y="2011680"/>
            <a:ext cx="10058400" cy="365760"/>
          </a:xfrm>
          <a:prstGeom prst="rect">
            <a:avLst/>
          </a:prstGeom>
          <a:noFill/>
        </p:spPr>
        <p:txBody>
          <a:bodyPr wrap="square" anchor="t" lIns="0" rIns="0" tIns="0" bIns="0">
            <a:spAutoFit/>
          </a:bodyPr>
          <a:lstStyle/>
          <a:p>
            <a:pPr algn="l"/>
            <a:r>
              <a:rPr sz="1400" b="1">
                <a:solidFill>
                  <a:srgbClr val="F96167"/>
                </a:solidFill>
                <a:latin typeface="Georgia"/>
              </a:rPr>
              <a:t>MONTHLY PERFORMANCE REVIEW</a:t>
            </a:r>
          </a:p>
        </p:txBody>
      </p:sp>
      <p:sp>
        <p:nvSpPr>
          <p:cNvPr id="7" name="TextBox 6"/>
          <p:cNvSpPr txBox="1"/>
          <p:nvPr/>
        </p:nvSpPr>
        <p:spPr>
          <a:xfrm>
            <a:off x="822960" y="2468880"/>
            <a:ext cx="10972800" cy="914400"/>
          </a:xfrm>
          <a:prstGeom prst="rect">
            <a:avLst/>
          </a:prstGeom>
          <a:noFill/>
        </p:spPr>
        <p:txBody>
          <a:bodyPr wrap="square" anchor="t" lIns="0" rIns="0" tIns="0" bIns="0">
            <a:spAutoFit/>
          </a:bodyPr>
          <a:lstStyle/>
          <a:p>
            <a:pPr algn="l"/>
            <a:r>
              <a:rPr sz="3600" b="1">
                <a:solidFill>
                  <a:srgbClr val="FFFFFF"/>
                </a:solidFill>
                <a:latin typeface="Georgia"/>
              </a:rPr>
              <a:t>GCG (US Hispanic)  ·  Paid Media</a:t>
            </a:r>
          </a:p>
        </p:txBody>
      </p:sp>
      <p:sp>
        <p:nvSpPr>
          <p:cNvPr id="8" name="TextBox 7"/>
          <p:cNvSpPr txBox="1"/>
          <p:nvPr/>
        </p:nvSpPr>
        <p:spPr>
          <a:xfrm>
            <a:off x="822960" y="3474720"/>
            <a:ext cx="10972800" cy="548640"/>
          </a:xfrm>
          <a:prstGeom prst="rect">
            <a:avLst/>
          </a:prstGeom>
          <a:noFill/>
        </p:spPr>
        <p:txBody>
          <a:bodyPr wrap="square" anchor="t" lIns="0" rIns="0" tIns="0" bIns="0">
            <a:spAutoFit/>
          </a:bodyPr>
          <a:lstStyle/>
          <a:p>
            <a:pPr algn="l"/>
            <a:r>
              <a:rPr sz="2200" b="0">
                <a:solidFill>
                  <a:srgbClr val="CADCFC"/>
                </a:solidFill>
                <a:latin typeface="Georgia"/>
              </a:rPr>
              <a:t>July 2026 Performance</a:t>
            </a:r>
          </a:p>
        </p:txBody>
      </p:sp>
      <p:sp>
        <p:nvSpPr>
          <p:cNvPr id="9" name="TextBox 8"/>
          <p:cNvSpPr txBox="1"/>
          <p:nvPr/>
        </p:nvSpPr>
        <p:spPr>
          <a:xfrm>
            <a:off x="822960" y="4206240"/>
            <a:ext cx="10972800" cy="365760"/>
          </a:xfrm>
          <a:prstGeom prst="rect">
            <a:avLst/>
          </a:prstGeom>
          <a:noFill/>
        </p:spPr>
        <p:txBody>
          <a:bodyPr wrap="square" anchor="t" lIns="0" rIns="0" tIns="0" bIns="0">
            <a:spAutoFit/>
          </a:bodyPr>
          <a:lstStyle/>
          <a:p>
            <a:pPr algn="l"/>
            <a:r>
              <a:rPr sz="1200" b="0">
                <a:solidFill>
                  <a:srgbClr val="9AA4BA"/>
                </a:solidFill>
                <a:latin typeface="Calibri"/>
              </a:rPr>
              <a:t>Google Search  ·  Google PMax  ·  Meta  ·  Quantcast  ·  Azerion  ·  Native</a:t>
            </a:r>
          </a:p>
        </p:txBody>
      </p:sp>
      <p:sp>
        <p:nvSpPr>
          <p:cNvPr id="10" name="TextBox 9"/>
          <p:cNvSpPr txBox="1"/>
          <p:nvPr/>
        </p:nvSpPr>
        <p:spPr>
          <a:xfrm>
            <a:off x="822960" y="6126480"/>
            <a:ext cx="10972800" cy="365760"/>
          </a:xfrm>
          <a:prstGeom prst="rect">
            <a:avLst/>
          </a:prstGeom>
          <a:noFill/>
        </p:spPr>
        <p:txBody>
          <a:bodyPr wrap="square" anchor="t" lIns="0" rIns="0" tIns="0" bIns="0">
            <a:spAutoFit/>
          </a:bodyPr>
          <a:lstStyle/>
          <a:p>
            <a:pPr algn="l"/>
            <a:r>
              <a:rPr sz="1000" b="0">
                <a:solidFill>
                  <a:srgbClr val="9AA4BA"/>
                </a:solidFill>
                <a:latin typeface="Calibri"/>
              </a:rPr>
              <a:t>Reporting period: July 1-31, 2026   |   Currency: USD   |   Prepared by Berelvant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8229600" cy="320040"/>
          </a:xfrm>
          <a:prstGeom prst="rect">
            <a:avLst/>
          </a:prstGeom>
          <a:noFill/>
        </p:spPr>
        <p:txBody>
          <a:bodyPr wrap="square" anchor="t" lIns="0" rIns="0" tIns="0" bIns="0">
            <a:spAutoFit/>
          </a:bodyPr>
          <a:lstStyle/>
          <a:p>
            <a:pPr algn="l"/>
            <a:r>
              <a:rPr sz="1100" b="1">
                <a:solidFill>
                  <a:srgbClr val="FFFFFF"/>
                </a:solidFill>
                <a:latin typeface="Georgia"/>
              </a:rPr>
              <a:t>SUMMARY  ·  BLENDED VIEW (ORGANIC + PAID)</a:t>
            </a:r>
          </a:p>
        </p:txBody>
      </p:sp>
      <p:pic>
        <p:nvPicPr>
          <p:cNvPr id="5" name="Picture 4" descr="berelvant_logo.png"/>
          <p:cNvPicPr>
            <a:picLocks noChangeAspect="1"/>
          </p:cNvPicPr>
          <p:nvPr/>
        </p:nvPicPr>
        <p:blipFill>
          <a:blip r:embed="rId2"/>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Submitted applications rose 24.3%, but funded accounts fell 38.5% and traded accounts fell 41.5%.</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56832"/>
            <a:ext cx="7315200" cy="201168"/>
          </a:xfrm>
          <a:prstGeom prst="rect">
            <a:avLst/>
          </a:prstGeom>
          <a:noFill/>
        </p:spPr>
        <p:txBody>
          <a:bodyPr wrap="square" anchor="t" lIns="0" rIns="0" tIns="0" bIns="0">
            <a:spAutoFit/>
          </a:bodyPr>
          <a:lstStyle/>
          <a:p>
            <a:pPr algn="l"/>
            <a:r>
              <a:rPr sz="800" b="0">
                <a:solidFill>
                  <a:srgbClr val="5A6072"/>
                </a:solidFill>
                <a:latin typeface="Calibri"/>
              </a:rPr>
              <a:t>GCG (US Hispanic)   |   July 2026 Performance Review   |   Berelvant</a:t>
            </a:r>
          </a:p>
        </p:txBody>
      </p:sp>
      <p:sp>
        <p:nvSpPr>
          <p:cNvPr id="9" name="TextBox 8"/>
          <p:cNvSpPr txBox="1"/>
          <p:nvPr/>
        </p:nvSpPr>
        <p:spPr>
          <a:xfrm>
            <a:off x="10820095" y="6656832"/>
            <a:ext cx="914400" cy="201168"/>
          </a:xfrm>
          <a:prstGeom prst="rect">
            <a:avLst/>
          </a:prstGeom>
          <a:noFill/>
        </p:spPr>
        <p:txBody>
          <a:bodyPr wrap="square" anchor="t" lIns="0" rIns="0" tIns="0" bIns="0">
            <a:spAutoFit/>
          </a:bodyPr>
          <a:lstStyle/>
          <a:p>
            <a:pPr algn="r"/>
            <a:r>
              <a:rPr sz="800" b="0">
                <a:solidFill>
                  <a:srgbClr val="5A6072"/>
                </a:solidFill>
                <a:latin typeface="Calibri"/>
              </a:rPr>
              <a:t>2 / 14</a:t>
            </a:r>
          </a:p>
        </p:txBody>
      </p:sp>
      <p:sp>
        <p:nvSpPr>
          <p:cNvPr id="10" name="TextBox 9"/>
          <p:cNvSpPr txBox="1"/>
          <p:nvPr/>
        </p:nvSpPr>
        <p:spPr>
          <a:xfrm>
            <a:off x="457200" y="1691640"/>
            <a:ext cx="3520440" cy="3931920"/>
          </a:xfrm>
          <a:prstGeom prst="rect">
            <a:avLst/>
          </a:prstGeom>
          <a:noFill/>
        </p:spPr>
        <p:txBody>
          <a:bodyPr wrap="square" anchor="t" lIns="0" rIns="0" tIns="0" bIns="0">
            <a:spAutoFit/>
          </a:bodyPr>
          <a:lstStyle/>
          <a:p>
            <a:pPr algn="l"/>
            <a:r>
              <a:rPr sz="1000" b="0">
                <a:solidFill>
                  <a:srgbClr val="2B3147"/>
                </a:solidFill>
                <a:latin typeface="Calibri"/>
              </a:rPr>
              <a:t>Submitted applications came in at 404, up 24.3% from June, and live applications reached 389, up 25.9%, even as website sessions fell 41.6% to 39,446.</a:t>
            </a:r>
          </a:p>
          <a:p>
            <a:pPr algn="l">
              <a:spcBef>
                <a:spcPts val="800"/>
              </a:spcBef>
            </a:pPr>
            <a:r>
              <a:rPr sz="1000" b="0">
                <a:solidFill>
                  <a:srgbClr val="2B3147"/>
                </a:solidFill>
                <a:latin typeface="Calibri"/>
              </a:rPr>
              <a:t>Working media spend came in at $136,224, up 16.4% from June, with Google PMax added as a new line.</a:t>
            </a:r>
          </a:p>
          <a:p>
            <a:pPr algn="l">
              <a:spcBef>
                <a:spcPts val="800"/>
              </a:spcBef>
            </a:pPr>
            <a:r>
              <a:rPr sz="1000" b="0">
                <a:solidFill>
                  <a:srgbClr val="2B3147"/>
                </a:solidFill>
                <a:latin typeface="Calibri"/>
              </a:rPr>
              <a:t>The application-start rate doubled to 7.5% of sessions, from June’s 3.8%: the top of the funnel converted more efficiently on far fewer sessions.</a:t>
            </a:r>
          </a:p>
          <a:p>
            <a:pPr algn="l">
              <a:spcBef>
                <a:spcPts val="800"/>
              </a:spcBef>
            </a:pPr>
            <a:r>
              <a:rPr sz="1000" b="0">
                <a:solidFill>
                  <a:srgbClr val="2B3147"/>
                </a:solidFill>
                <a:latin typeface="Calibri"/>
              </a:rPr>
              <a:t>Approved applications rose 5.9% to 162, growing with the application volume; the approval rate came in at 40.1% as the application base grew faster. Funded accounts came in at 32, a 19.8% rate against Q2’s 34.5% average. Approval and funding are downstream stages in the blended funnel. Source-level cohort data is needed to determine whether the decline reflects application quality, processing time, conversion lag, or account activation.</a:t>
            </a:r>
          </a:p>
          <a:p>
            <a:pPr algn="l">
              <a:spcBef>
                <a:spcPts val="800"/>
              </a:spcBef>
            </a:pPr>
            <a:r>
              <a:rPr sz="1000" b="0">
                <a:solidFill>
                  <a:srgbClr val="2B3147"/>
                </a:solidFill>
                <a:latin typeface="Calibri"/>
              </a:rPr>
              <a:t>Google’s ad-position work and Azerion’s audience shift are the levers behind July’s application growth; August extends both. Meta is paused entering August.</a:t>
            </a:r>
          </a:p>
        </p:txBody>
      </p:sp>
      <p:graphicFrame>
        <p:nvGraphicFramePr>
          <p:cNvPr id="11" name="Table 10"/>
          <p:cNvGraphicFramePr>
            <a:graphicFrameLocks noGrp="1"/>
          </p:cNvGraphicFramePr>
          <p:nvPr/>
        </p:nvGraphicFramePr>
        <p:xfrm>
          <a:off x="4206240" y="1691640"/>
          <a:ext cx="7525512" cy="3657600"/>
        </p:xfrm>
        <a:graphic>
          <a:graphicData uri="http://schemas.openxmlformats.org/drawingml/2006/table">
            <a:tbl>
              <a:tblPr>
                <a:tableStyleId>{5C22544A-7EE6-4342-B048-85BDC9FD1C3A}</a:tableStyleId>
              </a:tblPr>
              <a:tblGrid>
                <a:gridCol w="1600200"/>
                <a:gridCol w="740664"/>
                <a:gridCol w="740664"/>
                <a:gridCol w="740664"/>
                <a:gridCol w="740664"/>
                <a:gridCol w="740664"/>
                <a:gridCol w="740664"/>
                <a:gridCol w="740664"/>
                <a:gridCol w="740664"/>
              </a:tblGrid>
              <a:tr h="304800">
                <a:tc>
                  <a:txBody>
                    <a:bodyPr/>
                    <a:lstStyle/>
                    <a:p>
                      <a:pPr algn="l"/>
                      <a:r>
                        <a:rPr sz="850" b="1">
                          <a:solidFill>
                            <a:srgbClr val="FFFFFF"/>
                          </a:solidFill>
                          <a:latin typeface="Calibri"/>
                        </a:rPr>
                        <a:t>Metric</a:t>
                      </a:r>
                    </a:p>
                  </a:txBody>
                  <a:tcPr marL="54864" marR="54864" marT="27432" marB="27432">
                    <a:solidFill>
                      <a:srgbClr val="1E2761"/>
                    </a:solidFill>
                  </a:tcPr>
                </a:tc>
                <a:tc>
                  <a:txBody>
                    <a:bodyPr/>
                    <a:lstStyle/>
                    <a:p>
                      <a:pPr algn="r"/>
                      <a:r>
                        <a:rPr sz="850" b="1">
                          <a:solidFill>
                            <a:srgbClr val="FFFFFF"/>
                          </a:solidFill>
                          <a:latin typeface="Calibri"/>
                        </a:rPr>
                        <a:t>Jan</a:t>
                      </a:r>
                    </a:p>
                  </a:txBody>
                  <a:tcPr marL="54864" marR="54864" marT="27432" marB="27432">
                    <a:solidFill>
                      <a:srgbClr val="1E2761"/>
                    </a:solidFill>
                  </a:tcPr>
                </a:tc>
                <a:tc>
                  <a:txBody>
                    <a:bodyPr/>
                    <a:lstStyle/>
                    <a:p>
                      <a:pPr algn="r"/>
                      <a:r>
                        <a:rPr sz="850" b="1">
                          <a:solidFill>
                            <a:srgbClr val="FFFFFF"/>
                          </a:solidFill>
                          <a:latin typeface="Calibri"/>
                        </a:rPr>
                        <a:t>Feb</a:t>
                      </a:r>
                    </a:p>
                  </a:txBody>
                  <a:tcPr marL="54864" marR="54864" marT="27432" marB="27432">
                    <a:solidFill>
                      <a:srgbClr val="1E2761"/>
                    </a:solidFill>
                  </a:tcPr>
                </a:tc>
                <a:tc>
                  <a:txBody>
                    <a:bodyPr/>
                    <a:lstStyle/>
                    <a:p>
                      <a:pPr algn="r"/>
                      <a:r>
                        <a:rPr sz="850" b="1">
                          <a:solidFill>
                            <a:srgbClr val="FFFFFF"/>
                          </a:solidFill>
                          <a:latin typeface="Calibri"/>
                        </a:rPr>
                        <a:t>Mar</a:t>
                      </a:r>
                    </a:p>
                  </a:txBody>
                  <a:tcPr marL="54864" marR="54864" marT="27432" marB="27432">
                    <a:solidFill>
                      <a:srgbClr val="1E2761"/>
                    </a:solidFill>
                  </a:tcPr>
                </a:tc>
                <a:tc>
                  <a:txBody>
                    <a:bodyPr/>
                    <a:lstStyle/>
                    <a:p>
                      <a:pPr algn="r"/>
                      <a:r>
                        <a:rPr sz="850" b="1">
                          <a:solidFill>
                            <a:srgbClr val="FFFFFF"/>
                          </a:solidFill>
                          <a:latin typeface="Calibri"/>
                        </a:rPr>
                        <a:t>Apr</a:t>
                      </a:r>
                    </a:p>
                  </a:txBody>
                  <a:tcPr marL="54864" marR="54864" marT="27432" marB="27432">
                    <a:solidFill>
                      <a:srgbClr val="1E2761"/>
                    </a:solidFill>
                  </a:tcPr>
                </a:tc>
                <a:tc>
                  <a:txBody>
                    <a:bodyPr/>
                    <a:lstStyle/>
                    <a:p>
                      <a:pPr algn="r"/>
                      <a:r>
                        <a:rPr sz="850" b="1">
                          <a:solidFill>
                            <a:srgbClr val="FFFFFF"/>
                          </a:solidFill>
                          <a:latin typeface="Calibri"/>
                        </a:rPr>
                        <a:t>May</a:t>
                      </a:r>
                    </a:p>
                  </a:txBody>
                  <a:tcPr marL="54864" marR="54864" marT="27432" marB="27432">
                    <a:solidFill>
                      <a:srgbClr val="1E2761"/>
                    </a:solidFill>
                  </a:tcPr>
                </a:tc>
                <a:tc>
                  <a:txBody>
                    <a:bodyPr/>
                    <a:lstStyle/>
                    <a:p>
                      <a:pPr algn="r"/>
                      <a:r>
                        <a:rPr sz="850" b="1">
                          <a:solidFill>
                            <a:srgbClr val="FFFFFF"/>
                          </a:solidFill>
                          <a:latin typeface="Calibri"/>
                        </a:rPr>
                        <a:t>Jun</a:t>
                      </a:r>
                    </a:p>
                  </a:txBody>
                  <a:tcPr marL="54864" marR="54864" marT="27432" marB="27432">
                    <a:solidFill>
                      <a:srgbClr val="1E2761"/>
                    </a:solidFill>
                  </a:tcPr>
                </a:tc>
                <a:tc>
                  <a:txBody>
                    <a:bodyPr/>
                    <a:lstStyle/>
                    <a:p>
                      <a:pPr algn="r"/>
                      <a:r>
                        <a:rPr sz="850" b="1">
                          <a:solidFill>
                            <a:srgbClr val="FFFFFF"/>
                          </a:solidFill>
                          <a:latin typeface="Calibri"/>
                        </a:rPr>
                        <a:t>Jul</a:t>
                      </a:r>
                    </a:p>
                  </a:txBody>
                  <a:tcPr marL="54864" marR="54864" marT="27432" marB="27432">
                    <a:solidFill>
                      <a:srgbClr val="1E2761"/>
                    </a:solidFill>
                  </a:tcPr>
                </a:tc>
                <a:tc>
                  <a:txBody>
                    <a:bodyPr/>
                    <a:lstStyle/>
                    <a:p>
                      <a:pPr algn="r"/>
                      <a:r>
                        <a:rPr sz="850" b="1">
                          <a:solidFill>
                            <a:srgbClr val="FFFFFF"/>
                          </a:solidFill>
                          <a:latin typeface="Calibri"/>
                        </a:rPr>
                        <a:t>MoM</a:t>
                      </a:r>
                    </a:p>
                  </a:txBody>
                  <a:tcPr marL="54864" marR="54864" marT="27432" marB="27432">
                    <a:solidFill>
                      <a:srgbClr val="1E2761"/>
                    </a:solidFill>
                  </a:tcPr>
                </a:tc>
              </a:tr>
              <a:tr h="304800">
                <a:tc>
                  <a:txBody>
                    <a:bodyPr/>
                    <a:lstStyle/>
                    <a:p>
                      <a:pPr algn="l"/>
                      <a:r>
                        <a:rPr sz="850" b="1">
                          <a:solidFill>
                            <a:srgbClr val="2B3147"/>
                          </a:solidFill>
                          <a:latin typeface="Calibri"/>
                        </a:rPr>
                        <a:t>Working Media Spend</a:t>
                      </a:r>
                    </a:p>
                  </a:txBody>
                  <a:tcPr marL="54864" marR="54864" marT="27432" marB="27432">
                    <a:solidFill>
                      <a:srgbClr val="FFFFFF"/>
                    </a:solidFill>
                  </a:tcPr>
                </a:tc>
                <a:tc>
                  <a:txBody>
                    <a:bodyPr/>
                    <a:lstStyle/>
                    <a:p>
                      <a:pPr algn="r"/>
                      <a:r>
                        <a:rPr sz="850" b="0">
                          <a:solidFill>
                            <a:srgbClr val="2B3147"/>
                          </a:solidFill>
                          <a:latin typeface="Calibri"/>
                        </a:rPr>
                        <a:t>—</a:t>
                      </a:r>
                    </a:p>
                  </a:txBody>
                  <a:tcPr marL="54864" marR="54864" marT="27432" marB="27432">
                    <a:solidFill>
                      <a:srgbClr val="FFFFFF"/>
                    </a:solidFill>
                  </a:tcPr>
                </a:tc>
                <a:tc>
                  <a:txBody>
                    <a:bodyPr/>
                    <a:lstStyle/>
                    <a:p>
                      <a:pPr algn="r"/>
                      <a:r>
                        <a:rPr sz="850" b="0">
                          <a:solidFill>
                            <a:srgbClr val="2B3147"/>
                          </a:solidFill>
                          <a:latin typeface="Calibri"/>
                        </a:rPr>
                        <a:t>$2,237</a:t>
                      </a:r>
                    </a:p>
                  </a:txBody>
                  <a:tcPr marL="54864" marR="54864" marT="27432" marB="27432">
                    <a:solidFill>
                      <a:srgbClr val="FFFFFF"/>
                    </a:solidFill>
                  </a:tcPr>
                </a:tc>
                <a:tc>
                  <a:txBody>
                    <a:bodyPr/>
                    <a:lstStyle/>
                    <a:p>
                      <a:pPr algn="r"/>
                      <a:r>
                        <a:rPr sz="850" b="0">
                          <a:solidFill>
                            <a:srgbClr val="2B3147"/>
                          </a:solidFill>
                          <a:latin typeface="Calibri"/>
                        </a:rPr>
                        <a:t>$49,106</a:t>
                      </a:r>
                    </a:p>
                  </a:txBody>
                  <a:tcPr marL="54864" marR="54864" marT="27432" marB="27432">
                    <a:solidFill>
                      <a:srgbClr val="FFFFFF"/>
                    </a:solidFill>
                  </a:tcPr>
                </a:tc>
                <a:tc>
                  <a:txBody>
                    <a:bodyPr/>
                    <a:lstStyle/>
                    <a:p>
                      <a:pPr algn="r"/>
                      <a:r>
                        <a:rPr sz="850" b="0">
                          <a:solidFill>
                            <a:srgbClr val="2B3147"/>
                          </a:solidFill>
                          <a:latin typeface="Calibri"/>
                        </a:rPr>
                        <a:t>$58,324</a:t>
                      </a:r>
                    </a:p>
                  </a:txBody>
                  <a:tcPr marL="54864" marR="54864" marT="27432" marB="27432">
                    <a:solidFill>
                      <a:srgbClr val="FFFFFF"/>
                    </a:solidFill>
                  </a:tcPr>
                </a:tc>
                <a:tc>
                  <a:txBody>
                    <a:bodyPr/>
                    <a:lstStyle/>
                    <a:p>
                      <a:pPr algn="r"/>
                      <a:r>
                        <a:rPr sz="850" b="0">
                          <a:solidFill>
                            <a:srgbClr val="2B3147"/>
                          </a:solidFill>
                          <a:latin typeface="Calibri"/>
                        </a:rPr>
                        <a:t>$76,274</a:t>
                      </a:r>
                    </a:p>
                  </a:txBody>
                  <a:tcPr marL="54864" marR="54864" marT="27432" marB="27432">
                    <a:solidFill>
                      <a:srgbClr val="FFFFFF"/>
                    </a:solidFill>
                  </a:tcPr>
                </a:tc>
                <a:tc>
                  <a:txBody>
                    <a:bodyPr/>
                    <a:lstStyle/>
                    <a:p>
                      <a:pPr algn="r"/>
                      <a:r>
                        <a:rPr sz="850" b="0">
                          <a:solidFill>
                            <a:srgbClr val="2B3147"/>
                          </a:solidFill>
                          <a:latin typeface="Calibri"/>
                        </a:rPr>
                        <a:t>$117,024</a:t>
                      </a:r>
                    </a:p>
                  </a:txBody>
                  <a:tcPr marL="54864" marR="54864" marT="27432" marB="27432">
                    <a:solidFill>
                      <a:srgbClr val="FFFFFF"/>
                    </a:solidFill>
                  </a:tcPr>
                </a:tc>
                <a:tc>
                  <a:txBody>
                    <a:bodyPr/>
                    <a:lstStyle/>
                    <a:p>
                      <a:pPr algn="r"/>
                      <a:r>
                        <a:rPr sz="850" b="0">
                          <a:solidFill>
                            <a:srgbClr val="2B3147"/>
                          </a:solidFill>
                          <a:latin typeface="Calibri"/>
                        </a:rPr>
                        <a:t>$136,224</a:t>
                      </a:r>
                    </a:p>
                  </a:txBody>
                  <a:tcPr marL="54864" marR="54864" marT="27432" marB="27432">
                    <a:solidFill>
                      <a:srgbClr val="FFFFFF"/>
                    </a:solidFill>
                  </a:tcPr>
                </a:tc>
                <a:tc>
                  <a:txBody>
                    <a:bodyPr/>
                    <a:lstStyle/>
                    <a:p>
                      <a:pPr algn="r"/>
                      <a:r>
                        <a:rPr sz="850" b="0">
                          <a:solidFill>
                            <a:srgbClr val="2B3147"/>
                          </a:solidFill>
                          <a:latin typeface="Calibri"/>
                        </a:rPr>
                        <a:t>+16.4%</a:t>
                      </a:r>
                    </a:p>
                  </a:txBody>
                  <a:tcPr marL="54864" marR="54864" marT="27432" marB="27432">
                    <a:solidFill>
                      <a:srgbClr val="FFFFFF"/>
                    </a:solidFill>
                  </a:tcPr>
                </a:tc>
              </a:tr>
              <a:tr h="304800">
                <a:tc>
                  <a:txBody>
                    <a:bodyPr/>
                    <a:lstStyle/>
                    <a:p>
                      <a:pPr algn="l"/>
                      <a:r>
                        <a:rPr sz="850" b="1">
                          <a:solidFill>
                            <a:srgbClr val="2B3147"/>
                          </a:solidFill>
                          <a:latin typeface="Calibri"/>
                        </a:rPr>
                        <a:t>Unique Sessions</a:t>
                      </a:r>
                    </a:p>
                  </a:txBody>
                  <a:tcPr marL="54864" marR="54864" marT="27432" marB="27432">
                    <a:solidFill>
                      <a:srgbClr val="F9FAFC"/>
                    </a:solidFill>
                  </a:tcPr>
                </a:tc>
                <a:tc>
                  <a:txBody>
                    <a:bodyPr/>
                    <a:lstStyle/>
                    <a:p>
                      <a:pPr algn="r"/>
                      <a:r>
                        <a:rPr sz="850" b="0">
                          <a:solidFill>
                            <a:srgbClr val="2B3147"/>
                          </a:solidFill>
                          <a:latin typeface="Calibri"/>
                        </a:rPr>
                        <a:t>4,187</a:t>
                      </a:r>
                    </a:p>
                  </a:txBody>
                  <a:tcPr marL="54864" marR="54864" marT="27432" marB="27432">
                    <a:solidFill>
                      <a:srgbClr val="F9FAFC"/>
                    </a:solidFill>
                  </a:tcPr>
                </a:tc>
                <a:tc>
                  <a:txBody>
                    <a:bodyPr/>
                    <a:lstStyle/>
                    <a:p>
                      <a:pPr algn="r"/>
                      <a:r>
                        <a:rPr sz="850" b="0">
                          <a:solidFill>
                            <a:srgbClr val="2B3147"/>
                          </a:solidFill>
                          <a:latin typeface="Calibri"/>
                        </a:rPr>
                        <a:t>5,075</a:t>
                      </a:r>
                    </a:p>
                  </a:txBody>
                  <a:tcPr marL="54864" marR="54864" marT="27432" marB="27432">
                    <a:solidFill>
                      <a:srgbClr val="F9FAFC"/>
                    </a:solidFill>
                  </a:tcPr>
                </a:tc>
                <a:tc>
                  <a:txBody>
                    <a:bodyPr/>
                    <a:lstStyle/>
                    <a:p>
                      <a:pPr algn="r"/>
                      <a:r>
                        <a:rPr sz="850" b="0">
                          <a:solidFill>
                            <a:srgbClr val="2B3147"/>
                          </a:solidFill>
                          <a:latin typeface="Calibri"/>
                        </a:rPr>
                        <a:t>31,785</a:t>
                      </a:r>
                    </a:p>
                  </a:txBody>
                  <a:tcPr marL="54864" marR="54864" marT="27432" marB="27432">
                    <a:solidFill>
                      <a:srgbClr val="F9FAFC"/>
                    </a:solidFill>
                  </a:tcPr>
                </a:tc>
                <a:tc>
                  <a:txBody>
                    <a:bodyPr/>
                    <a:lstStyle/>
                    <a:p>
                      <a:pPr algn="r"/>
                      <a:r>
                        <a:rPr sz="850" b="0">
                          <a:solidFill>
                            <a:srgbClr val="2B3147"/>
                          </a:solidFill>
                          <a:latin typeface="Calibri"/>
                        </a:rPr>
                        <a:t>43,192</a:t>
                      </a:r>
                    </a:p>
                  </a:txBody>
                  <a:tcPr marL="54864" marR="54864" marT="27432" marB="27432">
                    <a:solidFill>
                      <a:srgbClr val="F9FAFC"/>
                    </a:solidFill>
                  </a:tcPr>
                </a:tc>
                <a:tc>
                  <a:txBody>
                    <a:bodyPr/>
                    <a:lstStyle/>
                    <a:p>
                      <a:pPr algn="r"/>
                      <a:r>
                        <a:rPr sz="850" b="0">
                          <a:solidFill>
                            <a:srgbClr val="2B3147"/>
                          </a:solidFill>
                          <a:latin typeface="Calibri"/>
                        </a:rPr>
                        <a:t>52,137</a:t>
                      </a:r>
                    </a:p>
                  </a:txBody>
                  <a:tcPr marL="54864" marR="54864" marT="27432" marB="27432">
                    <a:solidFill>
                      <a:srgbClr val="F9FAFC"/>
                    </a:solidFill>
                  </a:tcPr>
                </a:tc>
                <a:tc>
                  <a:txBody>
                    <a:bodyPr/>
                    <a:lstStyle/>
                    <a:p>
                      <a:pPr algn="r"/>
                      <a:r>
                        <a:rPr sz="850" b="0">
                          <a:solidFill>
                            <a:srgbClr val="2B3147"/>
                          </a:solidFill>
                          <a:latin typeface="Calibri"/>
                        </a:rPr>
                        <a:t>67,545</a:t>
                      </a:r>
                    </a:p>
                  </a:txBody>
                  <a:tcPr marL="54864" marR="54864" marT="27432" marB="27432">
                    <a:solidFill>
                      <a:srgbClr val="F9FAFC"/>
                    </a:solidFill>
                  </a:tcPr>
                </a:tc>
                <a:tc>
                  <a:txBody>
                    <a:bodyPr/>
                    <a:lstStyle/>
                    <a:p>
                      <a:pPr algn="r"/>
                      <a:r>
                        <a:rPr sz="850" b="0">
                          <a:solidFill>
                            <a:srgbClr val="2B3147"/>
                          </a:solidFill>
                          <a:latin typeface="Calibri"/>
                        </a:rPr>
                        <a:t>39,446</a:t>
                      </a:r>
                    </a:p>
                  </a:txBody>
                  <a:tcPr marL="54864" marR="54864" marT="27432" marB="27432">
                    <a:solidFill>
                      <a:srgbClr val="F9FAFC"/>
                    </a:solidFill>
                  </a:tcPr>
                </a:tc>
                <a:tc>
                  <a:txBody>
                    <a:bodyPr/>
                    <a:lstStyle/>
                    <a:p>
                      <a:pPr algn="r"/>
                      <a:r>
                        <a:rPr sz="850" b="0">
                          <a:solidFill>
                            <a:srgbClr val="2B3147"/>
                          </a:solidFill>
                          <a:latin typeface="Calibri"/>
                        </a:rPr>
                        <a:t>-41.6%</a:t>
                      </a:r>
                    </a:p>
                  </a:txBody>
                  <a:tcPr marL="54864" marR="54864" marT="27432" marB="27432">
                    <a:solidFill>
                      <a:srgbClr val="F9FAFC"/>
                    </a:solidFill>
                  </a:tcPr>
                </a:tc>
              </a:tr>
              <a:tr h="304800">
                <a:tc>
                  <a:txBody>
                    <a:bodyPr/>
                    <a:lstStyle/>
                    <a:p>
                      <a:pPr algn="l"/>
                      <a:r>
                        <a:rPr sz="850" b="1">
                          <a:solidFill>
                            <a:srgbClr val="2B3147"/>
                          </a:solidFill>
                          <a:latin typeface="Calibri"/>
                        </a:rPr>
                        <a:t>App Starts</a:t>
                      </a:r>
                    </a:p>
                  </a:txBody>
                  <a:tcPr marL="54864" marR="54864" marT="27432" marB="27432">
                    <a:solidFill>
                      <a:srgbClr val="FFFFFF"/>
                    </a:solidFill>
                  </a:tcPr>
                </a:tc>
                <a:tc>
                  <a:txBody>
                    <a:bodyPr/>
                    <a:lstStyle/>
                    <a:p>
                      <a:pPr algn="r"/>
                      <a:r>
                        <a:rPr sz="850" b="0">
                          <a:solidFill>
                            <a:srgbClr val="2B3147"/>
                          </a:solidFill>
                          <a:latin typeface="Calibri"/>
                        </a:rPr>
                        <a:t>2,306</a:t>
                      </a:r>
                    </a:p>
                  </a:txBody>
                  <a:tcPr marL="54864" marR="54864" marT="27432" marB="27432">
                    <a:solidFill>
                      <a:srgbClr val="FFFFFF"/>
                    </a:solidFill>
                  </a:tcPr>
                </a:tc>
                <a:tc>
                  <a:txBody>
                    <a:bodyPr/>
                    <a:lstStyle/>
                    <a:p>
                      <a:pPr algn="r"/>
                      <a:r>
                        <a:rPr sz="850" b="0">
                          <a:solidFill>
                            <a:srgbClr val="2B3147"/>
                          </a:solidFill>
                          <a:latin typeface="Calibri"/>
                        </a:rPr>
                        <a:t>1,871</a:t>
                      </a:r>
                    </a:p>
                  </a:txBody>
                  <a:tcPr marL="54864" marR="54864" marT="27432" marB="27432">
                    <a:solidFill>
                      <a:srgbClr val="FFFFFF"/>
                    </a:solidFill>
                  </a:tcPr>
                </a:tc>
                <a:tc>
                  <a:txBody>
                    <a:bodyPr/>
                    <a:lstStyle/>
                    <a:p>
                      <a:pPr algn="r"/>
                      <a:r>
                        <a:rPr sz="850" b="0">
                          <a:solidFill>
                            <a:srgbClr val="2B3147"/>
                          </a:solidFill>
                          <a:latin typeface="Calibri"/>
                        </a:rPr>
                        <a:t>2,820</a:t>
                      </a:r>
                    </a:p>
                  </a:txBody>
                  <a:tcPr marL="54864" marR="54864" marT="27432" marB="27432">
                    <a:solidFill>
                      <a:srgbClr val="FFFFFF"/>
                    </a:solidFill>
                  </a:tcPr>
                </a:tc>
                <a:tc>
                  <a:txBody>
                    <a:bodyPr/>
                    <a:lstStyle/>
                    <a:p>
                      <a:pPr algn="r"/>
                      <a:r>
                        <a:rPr sz="850" b="0">
                          <a:solidFill>
                            <a:srgbClr val="2B3147"/>
                          </a:solidFill>
                          <a:latin typeface="Calibri"/>
                        </a:rPr>
                        <a:t>2,767</a:t>
                      </a:r>
                    </a:p>
                  </a:txBody>
                  <a:tcPr marL="54864" marR="54864" marT="27432" marB="27432">
                    <a:solidFill>
                      <a:srgbClr val="FFFFFF"/>
                    </a:solidFill>
                  </a:tcPr>
                </a:tc>
                <a:tc>
                  <a:txBody>
                    <a:bodyPr/>
                    <a:lstStyle/>
                    <a:p>
                      <a:pPr algn="r"/>
                      <a:r>
                        <a:rPr sz="850" b="0">
                          <a:solidFill>
                            <a:srgbClr val="2B3147"/>
                          </a:solidFill>
                          <a:latin typeface="Calibri"/>
                        </a:rPr>
                        <a:t>2,618</a:t>
                      </a:r>
                    </a:p>
                  </a:txBody>
                  <a:tcPr marL="54864" marR="54864" marT="27432" marB="27432">
                    <a:solidFill>
                      <a:srgbClr val="FFFFFF"/>
                    </a:solidFill>
                  </a:tcPr>
                </a:tc>
                <a:tc>
                  <a:txBody>
                    <a:bodyPr/>
                    <a:lstStyle/>
                    <a:p>
                      <a:pPr algn="r"/>
                      <a:r>
                        <a:rPr sz="850" b="0">
                          <a:solidFill>
                            <a:srgbClr val="2B3147"/>
                          </a:solidFill>
                          <a:latin typeface="Calibri"/>
                        </a:rPr>
                        <a:t>2,592</a:t>
                      </a:r>
                    </a:p>
                  </a:txBody>
                  <a:tcPr marL="54864" marR="54864" marT="27432" marB="27432">
                    <a:solidFill>
                      <a:srgbClr val="FFFFFF"/>
                    </a:solidFill>
                  </a:tcPr>
                </a:tc>
                <a:tc>
                  <a:txBody>
                    <a:bodyPr/>
                    <a:lstStyle/>
                    <a:p>
                      <a:pPr algn="r"/>
                      <a:r>
                        <a:rPr sz="850" b="0">
                          <a:solidFill>
                            <a:srgbClr val="2B3147"/>
                          </a:solidFill>
                          <a:latin typeface="Calibri"/>
                        </a:rPr>
                        <a:t>2,970</a:t>
                      </a:r>
                    </a:p>
                  </a:txBody>
                  <a:tcPr marL="54864" marR="54864" marT="27432" marB="27432">
                    <a:solidFill>
                      <a:srgbClr val="FFFFFF"/>
                    </a:solidFill>
                  </a:tcPr>
                </a:tc>
                <a:tc>
                  <a:txBody>
                    <a:bodyPr/>
                    <a:lstStyle/>
                    <a:p>
                      <a:pPr algn="r"/>
                      <a:r>
                        <a:rPr sz="850" b="0">
                          <a:solidFill>
                            <a:srgbClr val="2B3147"/>
                          </a:solidFill>
                          <a:latin typeface="Calibri"/>
                        </a:rPr>
                        <a:t>+14.6%</a:t>
                      </a:r>
                    </a:p>
                  </a:txBody>
                  <a:tcPr marL="54864" marR="54864" marT="27432" marB="27432">
                    <a:solidFill>
                      <a:srgbClr val="FFFFFF"/>
                    </a:solidFill>
                  </a:tcPr>
                </a:tc>
              </a:tr>
              <a:tr h="304800">
                <a:tc>
                  <a:txBody>
                    <a:bodyPr/>
                    <a:lstStyle/>
                    <a:p>
                      <a:pPr algn="l"/>
                      <a:r>
                        <a:rPr sz="850" b="1">
                          <a:solidFill>
                            <a:srgbClr val="2B3147"/>
                          </a:solidFill>
                          <a:latin typeface="Calibri"/>
                        </a:rPr>
                        <a:t>Live Apps Submitted</a:t>
                      </a:r>
                    </a:p>
                  </a:txBody>
                  <a:tcPr marL="54864" marR="54864" marT="27432" marB="27432">
                    <a:solidFill>
                      <a:srgbClr val="F9FAFC"/>
                    </a:solidFill>
                  </a:tcPr>
                </a:tc>
                <a:tc>
                  <a:txBody>
                    <a:bodyPr/>
                    <a:lstStyle/>
                    <a:p>
                      <a:pPr algn="r"/>
                      <a:r>
                        <a:rPr sz="850" b="0">
                          <a:solidFill>
                            <a:srgbClr val="2B3147"/>
                          </a:solidFill>
                          <a:latin typeface="Calibri"/>
                        </a:rPr>
                        <a:t>431</a:t>
                      </a:r>
                    </a:p>
                  </a:txBody>
                  <a:tcPr marL="54864" marR="54864" marT="27432" marB="27432">
                    <a:solidFill>
                      <a:srgbClr val="F9FAFC"/>
                    </a:solidFill>
                  </a:tcPr>
                </a:tc>
                <a:tc>
                  <a:txBody>
                    <a:bodyPr/>
                    <a:lstStyle/>
                    <a:p>
                      <a:pPr algn="r"/>
                      <a:r>
                        <a:rPr sz="850" b="0">
                          <a:solidFill>
                            <a:srgbClr val="2B3147"/>
                          </a:solidFill>
                          <a:latin typeface="Calibri"/>
                        </a:rPr>
                        <a:t>344</a:t>
                      </a:r>
                    </a:p>
                  </a:txBody>
                  <a:tcPr marL="54864" marR="54864" marT="27432" marB="27432">
                    <a:solidFill>
                      <a:srgbClr val="F9FAFC"/>
                    </a:solidFill>
                  </a:tcPr>
                </a:tc>
                <a:tc>
                  <a:txBody>
                    <a:bodyPr/>
                    <a:lstStyle/>
                    <a:p>
                      <a:pPr algn="r"/>
                      <a:r>
                        <a:rPr sz="850" b="0">
                          <a:solidFill>
                            <a:srgbClr val="2B3147"/>
                          </a:solidFill>
                          <a:latin typeface="Calibri"/>
                        </a:rPr>
                        <a:t>391</a:t>
                      </a:r>
                    </a:p>
                  </a:txBody>
                  <a:tcPr marL="54864" marR="54864" marT="27432" marB="27432">
                    <a:solidFill>
                      <a:srgbClr val="F9FAFC"/>
                    </a:solidFill>
                  </a:tcPr>
                </a:tc>
                <a:tc>
                  <a:txBody>
                    <a:bodyPr/>
                    <a:lstStyle/>
                    <a:p>
                      <a:pPr algn="r"/>
                      <a:r>
                        <a:rPr sz="850" b="0">
                          <a:solidFill>
                            <a:srgbClr val="2B3147"/>
                          </a:solidFill>
                          <a:latin typeface="Calibri"/>
                        </a:rPr>
                        <a:t>398</a:t>
                      </a:r>
                    </a:p>
                  </a:txBody>
                  <a:tcPr marL="54864" marR="54864" marT="27432" marB="27432">
                    <a:solidFill>
                      <a:srgbClr val="F9FAFC"/>
                    </a:solidFill>
                  </a:tcPr>
                </a:tc>
                <a:tc>
                  <a:txBody>
                    <a:bodyPr/>
                    <a:lstStyle/>
                    <a:p>
                      <a:pPr algn="r"/>
                      <a:r>
                        <a:rPr sz="850" b="0">
                          <a:solidFill>
                            <a:srgbClr val="2B3147"/>
                          </a:solidFill>
                          <a:latin typeface="Calibri"/>
                        </a:rPr>
                        <a:t>289</a:t>
                      </a:r>
                    </a:p>
                  </a:txBody>
                  <a:tcPr marL="54864" marR="54864" marT="27432" marB="27432">
                    <a:solidFill>
                      <a:srgbClr val="F9FAFC"/>
                    </a:solidFill>
                  </a:tcPr>
                </a:tc>
                <a:tc>
                  <a:txBody>
                    <a:bodyPr/>
                    <a:lstStyle/>
                    <a:p>
                      <a:pPr algn="r"/>
                      <a:r>
                        <a:rPr sz="850" b="0">
                          <a:solidFill>
                            <a:srgbClr val="2B3147"/>
                          </a:solidFill>
                          <a:latin typeface="Calibri"/>
                        </a:rPr>
                        <a:t>309</a:t>
                      </a:r>
                    </a:p>
                  </a:txBody>
                  <a:tcPr marL="54864" marR="54864" marT="27432" marB="27432">
                    <a:solidFill>
                      <a:srgbClr val="F9FAFC"/>
                    </a:solidFill>
                  </a:tcPr>
                </a:tc>
                <a:tc>
                  <a:txBody>
                    <a:bodyPr/>
                    <a:lstStyle/>
                    <a:p>
                      <a:pPr algn="r"/>
                      <a:r>
                        <a:rPr sz="850" b="0">
                          <a:solidFill>
                            <a:srgbClr val="2B3147"/>
                          </a:solidFill>
                          <a:latin typeface="Calibri"/>
                        </a:rPr>
                        <a:t>389</a:t>
                      </a:r>
                    </a:p>
                  </a:txBody>
                  <a:tcPr marL="54864" marR="54864" marT="27432" marB="27432">
                    <a:solidFill>
                      <a:srgbClr val="F9FAFC"/>
                    </a:solidFill>
                  </a:tcPr>
                </a:tc>
                <a:tc>
                  <a:txBody>
                    <a:bodyPr/>
                    <a:lstStyle/>
                    <a:p>
                      <a:pPr algn="r"/>
                      <a:r>
                        <a:rPr sz="850" b="0">
                          <a:solidFill>
                            <a:srgbClr val="2B3147"/>
                          </a:solidFill>
                          <a:latin typeface="Calibri"/>
                        </a:rPr>
                        <a:t>+25.9%</a:t>
                      </a:r>
                    </a:p>
                  </a:txBody>
                  <a:tcPr marL="54864" marR="54864" marT="27432" marB="27432">
                    <a:solidFill>
                      <a:srgbClr val="F9FAFC"/>
                    </a:solidFill>
                  </a:tcPr>
                </a:tc>
              </a:tr>
              <a:tr h="304800">
                <a:tc>
                  <a:txBody>
                    <a:bodyPr/>
                    <a:lstStyle/>
                    <a:p>
                      <a:pPr algn="l"/>
                      <a:r>
                        <a:rPr sz="850" b="1">
                          <a:solidFill>
                            <a:srgbClr val="2B3147"/>
                          </a:solidFill>
                          <a:latin typeface="Calibri"/>
                        </a:rPr>
                        <a:t>Approved</a:t>
                      </a:r>
                    </a:p>
                  </a:txBody>
                  <a:tcPr marL="54864" marR="54864" marT="27432" marB="27432">
                    <a:solidFill>
                      <a:srgbClr val="FFFFFF"/>
                    </a:solidFill>
                  </a:tcPr>
                </a:tc>
                <a:tc>
                  <a:txBody>
                    <a:bodyPr/>
                    <a:lstStyle/>
                    <a:p>
                      <a:pPr algn="r"/>
                      <a:r>
                        <a:rPr sz="850" b="0">
                          <a:solidFill>
                            <a:srgbClr val="2B3147"/>
                          </a:solidFill>
                          <a:latin typeface="Calibri"/>
                        </a:rPr>
                        <a:t>202</a:t>
                      </a:r>
                    </a:p>
                  </a:txBody>
                  <a:tcPr marL="54864" marR="54864" marT="27432" marB="27432">
                    <a:solidFill>
                      <a:srgbClr val="FFFFFF"/>
                    </a:solidFill>
                  </a:tcPr>
                </a:tc>
                <a:tc>
                  <a:txBody>
                    <a:bodyPr/>
                    <a:lstStyle/>
                    <a:p>
                      <a:pPr algn="r"/>
                      <a:r>
                        <a:rPr sz="850" b="0">
                          <a:solidFill>
                            <a:srgbClr val="2B3147"/>
                          </a:solidFill>
                          <a:latin typeface="Calibri"/>
                        </a:rPr>
                        <a:t>150</a:t>
                      </a:r>
                    </a:p>
                  </a:txBody>
                  <a:tcPr marL="54864" marR="54864" marT="27432" marB="27432">
                    <a:solidFill>
                      <a:srgbClr val="FFFFFF"/>
                    </a:solidFill>
                  </a:tcPr>
                </a:tc>
                <a:tc>
                  <a:txBody>
                    <a:bodyPr/>
                    <a:lstStyle/>
                    <a:p>
                      <a:pPr algn="r"/>
                      <a:r>
                        <a:rPr sz="850" b="0">
                          <a:solidFill>
                            <a:srgbClr val="2B3147"/>
                          </a:solidFill>
                          <a:latin typeface="Calibri"/>
                        </a:rPr>
                        <a:t>173</a:t>
                      </a:r>
                    </a:p>
                  </a:txBody>
                  <a:tcPr marL="54864" marR="54864" marT="27432" marB="27432">
                    <a:solidFill>
                      <a:srgbClr val="FFFFFF"/>
                    </a:solidFill>
                  </a:tcPr>
                </a:tc>
                <a:tc>
                  <a:txBody>
                    <a:bodyPr/>
                    <a:lstStyle/>
                    <a:p>
                      <a:pPr algn="r"/>
                      <a:r>
                        <a:rPr sz="850" b="0">
                          <a:solidFill>
                            <a:srgbClr val="2B3147"/>
                          </a:solidFill>
                          <a:latin typeface="Calibri"/>
                        </a:rPr>
                        <a:t>187</a:t>
                      </a:r>
                    </a:p>
                  </a:txBody>
                  <a:tcPr marL="54864" marR="54864" marT="27432" marB="27432">
                    <a:solidFill>
                      <a:srgbClr val="FFFFFF"/>
                    </a:solidFill>
                  </a:tcPr>
                </a:tc>
                <a:tc>
                  <a:txBody>
                    <a:bodyPr/>
                    <a:lstStyle/>
                    <a:p>
                      <a:pPr algn="r"/>
                      <a:r>
                        <a:rPr sz="850" b="0">
                          <a:solidFill>
                            <a:srgbClr val="2B3147"/>
                          </a:solidFill>
                          <a:latin typeface="Calibri"/>
                        </a:rPr>
                        <a:t>135</a:t>
                      </a:r>
                    </a:p>
                  </a:txBody>
                  <a:tcPr marL="54864" marR="54864" marT="27432" marB="27432">
                    <a:solidFill>
                      <a:srgbClr val="FFFFFF"/>
                    </a:solidFill>
                  </a:tcPr>
                </a:tc>
                <a:tc>
                  <a:txBody>
                    <a:bodyPr/>
                    <a:lstStyle/>
                    <a:p>
                      <a:pPr algn="r"/>
                      <a:r>
                        <a:rPr sz="850" b="0">
                          <a:solidFill>
                            <a:srgbClr val="2B3147"/>
                          </a:solidFill>
                          <a:latin typeface="Calibri"/>
                        </a:rPr>
                        <a:t>153</a:t>
                      </a:r>
                    </a:p>
                  </a:txBody>
                  <a:tcPr marL="54864" marR="54864" marT="27432" marB="27432">
                    <a:solidFill>
                      <a:srgbClr val="FFFFFF"/>
                    </a:solidFill>
                  </a:tcPr>
                </a:tc>
                <a:tc>
                  <a:txBody>
                    <a:bodyPr/>
                    <a:lstStyle/>
                    <a:p>
                      <a:pPr algn="r"/>
                      <a:r>
                        <a:rPr sz="850" b="0">
                          <a:solidFill>
                            <a:srgbClr val="2B3147"/>
                          </a:solidFill>
                          <a:latin typeface="Calibri"/>
                        </a:rPr>
                        <a:t>162</a:t>
                      </a:r>
                    </a:p>
                  </a:txBody>
                  <a:tcPr marL="54864" marR="54864" marT="27432" marB="27432">
                    <a:solidFill>
                      <a:srgbClr val="FFFFFF"/>
                    </a:solidFill>
                  </a:tcPr>
                </a:tc>
                <a:tc>
                  <a:txBody>
                    <a:bodyPr/>
                    <a:lstStyle/>
                    <a:p>
                      <a:pPr algn="r"/>
                      <a:r>
                        <a:rPr sz="850" b="0">
                          <a:solidFill>
                            <a:srgbClr val="2B3147"/>
                          </a:solidFill>
                          <a:latin typeface="Calibri"/>
                        </a:rPr>
                        <a:t>+5.9%</a:t>
                      </a:r>
                    </a:p>
                  </a:txBody>
                  <a:tcPr marL="54864" marR="54864" marT="27432" marB="27432">
                    <a:solidFill>
                      <a:srgbClr val="FFFFFF"/>
                    </a:solidFill>
                  </a:tcPr>
                </a:tc>
              </a:tr>
              <a:tr h="304800">
                <a:tc>
                  <a:txBody>
                    <a:bodyPr/>
                    <a:lstStyle/>
                    <a:p>
                      <a:pPr algn="l"/>
                      <a:r>
                        <a:rPr sz="850" b="1">
                          <a:solidFill>
                            <a:srgbClr val="2B3147"/>
                          </a:solidFill>
                          <a:latin typeface="Calibri"/>
                        </a:rPr>
                        <a:t>Approval Rate</a:t>
                      </a:r>
                    </a:p>
                  </a:txBody>
                  <a:tcPr marL="54864" marR="54864" marT="27432" marB="27432">
                    <a:solidFill>
                      <a:srgbClr val="F9FAFC"/>
                    </a:solidFill>
                  </a:tcPr>
                </a:tc>
                <a:tc>
                  <a:txBody>
                    <a:bodyPr/>
                    <a:lstStyle/>
                    <a:p>
                      <a:pPr algn="r"/>
                      <a:r>
                        <a:rPr sz="850" b="0">
                          <a:solidFill>
                            <a:srgbClr val="2B3147"/>
                          </a:solidFill>
                          <a:latin typeface="Calibri"/>
                        </a:rPr>
                        <a:t>45.5%</a:t>
                      </a:r>
                    </a:p>
                  </a:txBody>
                  <a:tcPr marL="54864" marR="54864" marT="27432" marB="27432">
                    <a:solidFill>
                      <a:srgbClr val="F9FAFC"/>
                    </a:solidFill>
                  </a:tcPr>
                </a:tc>
                <a:tc>
                  <a:txBody>
                    <a:bodyPr/>
                    <a:lstStyle/>
                    <a:p>
                      <a:pPr algn="r"/>
                      <a:r>
                        <a:rPr sz="850" b="0">
                          <a:solidFill>
                            <a:srgbClr val="2B3147"/>
                          </a:solidFill>
                          <a:latin typeface="Calibri"/>
                        </a:rPr>
                        <a:t>42.6%</a:t>
                      </a:r>
                    </a:p>
                  </a:txBody>
                  <a:tcPr marL="54864" marR="54864" marT="27432" marB="27432">
                    <a:solidFill>
                      <a:srgbClr val="F9FAFC"/>
                    </a:solidFill>
                  </a:tcPr>
                </a:tc>
                <a:tc>
                  <a:txBody>
                    <a:bodyPr/>
                    <a:lstStyle/>
                    <a:p>
                      <a:pPr algn="r"/>
                      <a:r>
                        <a:rPr sz="850" b="0">
                          <a:solidFill>
                            <a:srgbClr val="2B3147"/>
                          </a:solidFill>
                          <a:latin typeface="Calibri"/>
                        </a:rPr>
                        <a:t>42.4%</a:t>
                      </a:r>
                    </a:p>
                  </a:txBody>
                  <a:tcPr marL="54864" marR="54864" marT="27432" marB="27432">
                    <a:solidFill>
                      <a:srgbClr val="F9FAFC"/>
                    </a:solidFill>
                  </a:tcPr>
                </a:tc>
                <a:tc>
                  <a:txBody>
                    <a:bodyPr/>
                    <a:lstStyle/>
                    <a:p>
                      <a:pPr algn="r"/>
                      <a:r>
                        <a:rPr sz="850" b="0">
                          <a:solidFill>
                            <a:srgbClr val="2B3147"/>
                          </a:solidFill>
                          <a:latin typeface="Calibri"/>
                        </a:rPr>
                        <a:t>45.5%</a:t>
                      </a:r>
                    </a:p>
                  </a:txBody>
                  <a:tcPr marL="54864" marR="54864" marT="27432" marB="27432">
                    <a:solidFill>
                      <a:srgbClr val="F9FAFC"/>
                    </a:solidFill>
                  </a:tcPr>
                </a:tc>
                <a:tc>
                  <a:txBody>
                    <a:bodyPr/>
                    <a:lstStyle/>
                    <a:p>
                      <a:pPr algn="r"/>
                      <a:r>
                        <a:rPr sz="850" b="0">
                          <a:solidFill>
                            <a:srgbClr val="2B3147"/>
                          </a:solidFill>
                          <a:latin typeface="Calibri"/>
                        </a:rPr>
                        <a:t>45.0%</a:t>
                      </a:r>
                    </a:p>
                  </a:txBody>
                  <a:tcPr marL="54864" marR="54864" marT="27432" marB="27432">
                    <a:solidFill>
                      <a:srgbClr val="F9FAFC"/>
                    </a:solidFill>
                  </a:tcPr>
                </a:tc>
                <a:tc>
                  <a:txBody>
                    <a:bodyPr/>
                    <a:lstStyle/>
                    <a:p>
                      <a:pPr algn="r"/>
                      <a:r>
                        <a:rPr sz="850" b="0">
                          <a:solidFill>
                            <a:srgbClr val="2B3147"/>
                          </a:solidFill>
                          <a:latin typeface="Calibri"/>
                        </a:rPr>
                        <a:t>47.1%</a:t>
                      </a:r>
                    </a:p>
                  </a:txBody>
                  <a:tcPr marL="54864" marR="54864" marT="27432" marB="27432">
                    <a:solidFill>
                      <a:srgbClr val="F9FAFC"/>
                    </a:solidFill>
                  </a:tcPr>
                </a:tc>
                <a:tc>
                  <a:txBody>
                    <a:bodyPr/>
                    <a:lstStyle/>
                    <a:p>
                      <a:pPr algn="r"/>
                      <a:r>
                        <a:rPr sz="850" b="0">
                          <a:solidFill>
                            <a:srgbClr val="2B3147"/>
                          </a:solidFill>
                          <a:latin typeface="Calibri"/>
                        </a:rPr>
                        <a:t>40.1%</a:t>
                      </a:r>
                    </a:p>
                  </a:txBody>
                  <a:tcPr marL="54864" marR="54864" marT="27432" marB="27432">
                    <a:solidFill>
                      <a:srgbClr val="F9FAFC"/>
                    </a:solidFill>
                  </a:tcPr>
                </a:tc>
                <a:tc>
                  <a:txBody>
                    <a:bodyPr/>
                    <a:lstStyle/>
                    <a:p>
                      <a:pPr algn="r"/>
                      <a:r>
                        <a:rPr sz="850" b="0">
                          <a:solidFill>
                            <a:srgbClr val="2B3147"/>
                          </a:solidFill>
                          <a:latin typeface="Calibri"/>
                        </a:rPr>
                        <a:t>-7.0pts</a:t>
                      </a:r>
                    </a:p>
                  </a:txBody>
                  <a:tcPr marL="54864" marR="54864" marT="27432" marB="27432">
                    <a:solidFill>
                      <a:srgbClr val="F9FAFC"/>
                    </a:solidFill>
                  </a:tcPr>
                </a:tc>
              </a:tr>
              <a:tr h="304800">
                <a:tc>
                  <a:txBody>
                    <a:bodyPr/>
                    <a:lstStyle/>
                    <a:p>
                      <a:pPr algn="l"/>
                      <a:r>
                        <a:rPr sz="850" b="1">
                          <a:solidFill>
                            <a:srgbClr val="2B3147"/>
                          </a:solidFill>
                          <a:latin typeface="Calibri"/>
                        </a:rPr>
                        <a:t>New Funded</a:t>
                      </a:r>
                    </a:p>
                  </a:txBody>
                  <a:tcPr marL="54864" marR="54864" marT="27432" marB="27432">
                    <a:solidFill>
                      <a:srgbClr val="FFFFFF"/>
                    </a:solidFill>
                  </a:tcPr>
                </a:tc>
                <a:tc>
                  <a:txBody>
                    <a:bodyPr/>
                    <a:lstStyle/>
                    <a:p>
                      <a:pPr algn="r"/>
                      <a:r>
                        <a:rPr sz="850" b="0">
                          <a:solidFill>
                            <a:srgbClr val="2B3147"/>
                          </a:solidFill>
                          <a:latin typeface="Calibri"/>
                        </a:rPr>
                        <a:t>58</a:t>
                      </a:r>
                    </a:p>
                  </a:txBody>
                  <a:tcPr marL="54864" marR="54864" marT="27432" marB="27432">
                    <a:solidFill>
                      <a:srgbClr val="FFFFFF"/>
                    </a:solidFill>
                  </a:tcPr>
                </a:tc>
                <a:tc>
                  <a:txBody>
                    <a:bodyPr/>
                    <a:lstStyle/>
                    <a:p>
                      <a:pPr algn="r"/>
                      <a:r>
                        <a:rPr sz="850" b="0">
                          <a:solidFill>
                            <a:srgbClr val="2B3147"/>
                          </a:solidFill>
                          <a:latin typeface="Calibri"/>
                        </a:rPr>
                        <a:t>48</a:t>
                      </a:r>
                    </a:p>
                  </a:txBody>
                  <a:tcPr marL="54864" marR="54864" marT="27432" marB="27432">
                    <a:solidFill>
                      <a:srgbClr val="FFFFFF"/>
                    </a:solidFill>
                  </a:tcPr>
                </a:tc>
                <a:tc>
                  <a:txBody>
                    <a:bodyPr/>
                    <a:lstStyle/>
                    <a:p>
                      <a:pPr algn="r"/>
                      <a:r>
                        <a:rPr sz="850" b="0">
                          <a:solidFill>
                            <a:srgbClr val="2B3147"/>
                          </a:solidFill>
                          <a:latin typeface="Calibri"/>
                        </a:rPr>
                        <a:t>47</a:t>
                      </a:r>
                    </a:p>
                  </a:txBody>
                  <a:tcPr marL="54864" marR="54864" marT="27432" marB="27432">
                    <a:solidFill>
                      <a:srgbClr val="FFFFFF"/>
                    </a:solidFill>
                  </a:tcPr>
                </a:tc>
                <a:tc>
                  <a:txBody>
                    <a:bodyPr/>
                    <a:lstStyle/>
                    <a:p>
                      <a:pPr algn="r"/>
                      <a:r>
                        <a:rPr sz="850" b="0">
                          <a:solidFill>
                            <a:srgbClr val="2B3147"/>
                          </a:solidFill>
                          <a:latin typeface="Calibri"/>
                        </a:rPr>
                        <a:t>66</a:t>
                      </a:r>
                    </a:p>
                  </a:txBody>
                  <a:tcPr marL="54864" marR="54864" marT="27432" marB="27432">
                    <a:solidFill>
                      <a:srgbClr val="FFFFFF"/>
                    </a:solidFill>
                  </a:tcPr>
                </a:tc>
                <a:tc>
                  <a:txBody>
                    <a:bodyPr/>
                    <a:lstStyle/>
                    <a:p>
                      <a:pPr algn="r"/>
                      <a:r>
                        <a:rPr sz="850" b="0">
                          <a:solidFill>
                            <a:srgbClr val="2B3147"/>
                          </a:solidFill>
                          <a:latin typeface="Calibri"/>
                        </a:rPr>
                        <a:t>46</a:t>
                      </a:r>
                    </a:p>
                  </a:txBody>
                  <a:tcPr marL="54864" marR="54864" marT="27432" marB="27432">
                    <a:solidFill>
                      <a:srgbClr val="FFFFFF"/>
                    </a:solidFill>
                  </a:tcPr>
                </a:tc>
                <a:tc>
                  <a:txBody>
                    <a:bodyPr/>
                    <a:lstStyle/>
                    <a:p>
                      <a:pPr algn="r"/>
                      <a:r>
                        <a:rPr sz="850" b="0">
                          <a:solidFill>
                            <a:srgbClr val="2B3147"/>
                          </a:solidFill>
                          <a:latin typeface="Calibri"/>
                        </a:rPr>
                        <a:t>52</a:t>
                      </a:r>
                    </a:p>
                  </a:txBody>
                  <a:tcPr marL="54864" marR="54864" marT="27432" marB="27432">
                    <a:solidFill>
                      <a:srgbClr val="FFFFFF"/>
                    </a:solidFill>
                  </a:tcPr>
                </a:tc>
                <a:tc>
                  <a:txBody>
                    <a:bodyPr/>
                    <a:lstStyle/>
                    <a:p>
                      <a:pPr algn="r"/>
                      <a:r>
                        <a:rPr sz="850" b="0">
                          <a:solidFill>
                            <a:srgbClr val="2B3147"/>
                          </a:solidFill>
                          <a:latin typeface="Calibri"/>
                        </a:rPr>
                        <a:t>32</a:t>
                      </a:r>
                    </a:p>
                  </a:txBody>
                  <a:tcPr marL="54864" marR="54864" marT="27432" marB="27432">
                    <a:solidFill>
                      <a:srgbClr val="FFFFFF"/>
                    </a:solidFill>
                  </a:tcPr>
                </a:tc>
                <a:tc>
                  <a:txBody>
                    <a:bodyPr/>
                    <a:lstStyle/>
                    <a:p>
                      <a:pPr algn="r"/>
                      <a:r>
                        <a:rPr sz="850" b="0">
                          <a:solidFill>
                            <a:srgbClr val="2B3147"/>
                          </a:solidFill>
                          <a:latin typeface="Calibri"/>
                        </a:rPr>
                        <a:t>-38.5%</a:t>
                      </a:r>
                    </a:p>
                  </a:txBody>
                  <a:tcPr marL="54864" marR="54864" marT="27432" marB="27432">
                    <a:solidFill>
                      <a:srgbClr val="FFFFFF"/>
                    </a:solidFill>
                  </a:tcPr>
                </a:tc>
              </a:tr>
              <a:tr h="304800">
                <a:tc>
                  <a:txBody>
                    <a:bodyPr/>
                    <a:lstStyle/>
                    <a:p>
                      <a:pPr algn="l"/>
                      <a:r>
                        <a:rPr sz="850" b="1">
                          <a:solidFill>
                            <a:srgbClr val="2B3147"/>
                          </a:solidFill>
                          <a:latin typeface="Calibri"/>
                        </a:rPr>
                        <a:t>Fund Rate</a:t>
                      </a:r>
                    </a:p>
                  </a:txBody>
                  <a:tcPr marL="54864" marR="54864" marT="27432" marB="27432">
                    <a:solidFill>
                      <a:srgbClr val="F9FAFC"/>
                    </a:solidFill>
                  </a:tcPr>
                </a:tc>
                <a:tc>
                  <a:txBody>
                    <a:bodyPr/>
                    <a:lstStyle/>
                    <a:p>
                      <a:pPr algn="r"/>
                      <a:r>
                        <a:rPr sz="850" b="0">
                          <a:solidFill>
                            <a:srgbClr val="2B3147"/>
                          </a:solidFill>
                          <a:latin typeface="Calibri"/>
                        </a:rPr>
                        <a:t>28.7%</a:t>
                      </a:r>
                    </a:p>
                  </a:txBody>
                  <a:tcPr marL="54864" marR="54864" marT="27432" marB="27432">
                    <a:solidFill>
                      <a:srgbClr val="F9FAFC"/>
                    </a:solidFill>
                  </a:tcPr>
                </a:tc>
                <a:tc>
                  <a:txBody>
                    <a:bodyPr/>
                    <a:lstStyle/>
                    <a:p>
                      <a:pPr algn="r"/>
                      <a:r>
                        <a:rPr sz="850" b="0">
                          <a:solidFill>
                            <a:srgbClr val="2B3147"/>
                          </a:solidFill>
                          <a:latin typeface="Calibri"/>
                        </a:rPr>
                        <a:t>32.0%</a:t>
                      </a:r>
                    </a:p>
                  </a:txBody>
                  <a:tcPr marL="54864" marR="54864" marT="27432" marB="27432">
                    <a:solidFill>
                      <a:srgbClr val="F9FAFC"/>
                    </a:solidFill>
                  </a:tcPr>
                </a:tc>
                <a:tc>
                  <a:txBody>
                    <a:bodyPr/>
                    <a:lstStyle/>
                    <a:p>
                      <a:pPr algn="r"/>
                      <a:r>
                        <a:rPr sz="850" b="0">
                          <a:solidFill>
                            <a:srgbClr val="2B3147"/>
                          </a:solidFill>
                          <a:latin typeface="Calibri"/>
                        </a:rPr>
                        <a:t>27.2%</a:t>
                      </a:r>
                    </a:p>
                  </a:txBody>
                  <a:tcPr marL="54864" marR="54864" marT="27432" marB="27432">
                    <a:solidFill>
                      <a:srgbClr val="F9FAFC"/>
                    </a:solidFill>
                  </a:tcPr>
                </a:tc>
                <a:tc>
                  <a:txBody>
                    <a:bodyPr/>
                    <a:lstStyle/>
                    <a:p>
                      <a:pPr algn="r"/>
                      <a:r>
                        <a:rPr sz="850" b="0">
                          <a:solidFill>
                            <a:srgbClr val="2B3147"/>
                          </a:solidFill>
                          <a:latin typeface="Calibri"/>
                        </a:rPr>
                        <a:t>35.3%</a:t>
                      </a:r>
                    </a:p>
                  </a:txBody>
                  <a:tcPr marL="54864" marR="54864" marT="27432" marB="27432">
                    <a:solidFill>
                      <a:srgbClr val="F9FAFC"/>
                    </a:solidFill>
                  </a:tcPr>
                </a:tc>
                <a:tc>
                  <a:txBody>
                    <a:bodyPr/>
                    <a:lstStyle/>
                    <a:p>
                      <a:pPr algn="r"/>
                      <a:r>
                        <a:rPr sz="850" b="0">
                          <a:solidFill>
                            <a:srgbClr val="2B3147"/>
                          </a:solidFill>
                          <a:latin typeface="Calibri"/>
                        </a:rPr>
                        <a:t>34.1%</a:t>
                      </a:r>
                    </a:p>
                  </a:txBody>
                  <a:tcPr marL="54864" marR="54864" marT="27432" marB="27432">
                    <a:solidFill>
                      <a:srgbClr val="F9FAFC"/>
                    </a:solidFill>
                  </a:tcPr>
                </a:tc>
                <a:tc>
                  <a:txBody>
                    <a:bodyPr/>
                    <a:lstStyle/>
                    <a:p>
                      <a:pPr algn="r"/>
                      <a:r>
                        <a:rPr sz="850" b="0">
                          <a:solidFill>
                            <a:srgbClr val="2B3147"/>
                          </a:solidFill>
                          <a:latin typeface="Calibri"/>
                        </a:rPr>
                        <a:t>34.0%</a:t>
                      </a:r>
                    </a:p>
                  </a:txBody>
                  <a:tcPr marL="54864" marR="54864" marT="27432" marB="27432">
                    <a:solidFill>
                      <a:srgbClr val="F9FAFC"/>
                    </a:solidFill>
                  </a:tcPr>
                </a:tc>
                <a:tc>
                  <a:txBody>
                    <a:bodyPr/>
                    <a:lstStyle/>
                    <a:p>
                      <a:pPr algn="r"/>
                      <a:r>
                        <a:rPr sz="850" b="0">
                          <a:solidFill>
                            <a:srgbClr val="2B3147"/>
                          </a:solidFill>
                          <a:latin typeface="Calibri"/>
                        </a:rPr>
                        <a:t>19.8%</a:t>
                      </a:r>
                    </a:p>
                  </a:txBody>
                  <a:tcPr marL="54864" marR="54864" marT="27432" marB="27432">
                    <a:solidFill>
                      <a:srgbClr val="F9FAFC"/>
                    </a:solidFill>
                  </a:tcPr>
                </a:tc>
                <a:tc>
                  <a:txBody>
                    <a:bodyPr/>
                    <a:lstStyle/>
                    <a:p>
                      <a:pPr algn="r"/>
                      <a:r>
                        <a:rPr sz="850" b="0">
                          <a:solidFill>
                            <a:srgbClr val="2B3147"/>
                          </a:solidFill>
                          <a:latin typeface="Calibri"/>
                        </a:rPr>
                        <a:t>-14.2pts</a:t>
                      </a:r>
                    </a:p>
                  </a:txBody>
                  <a:tcPr marL="54864" marR="54864" marT="27432" marB="27432">
                    <a:solidFill>
                      <a:srgbClr val="F9FAFC"/>
                    </a:solidFill>
                  </a:tcPr>
                </a:tc>
              </a:tr>
              <a:tr h="304800">
                <a:tc>
                  <a:txBody>
                    <a:bodyPr/>
                    <a:lstStyle/>
                    <a:p>
                      <a:pPr algn="l"/>
                      <a:r>
                        <a:rPr sz="850" b="1">
                          <a:solidFill>
                            <a:srgbClr val="2B3147"/>
                          </a:solidFill>
                          <a:latin typeface="Calibri"/>
                        </a:rPr>
                        <a:t>Media Spend / Blended Funded</a:t>
                      </a:r>
                    </a:p>
                  </a:txBody>
                  <a:tcPr marL="54864" marR="54864" marT="27432" marB="27432">
                    <a:solidFill>
                      <a:srgbClr val="FFFFFF"/>
                    </a:solidFill>
                  </a:tcPr>
                </a:tc>
                <a:tc>
                  <a:txBody>
                    <a:bodyPr/>
                    <a:lstStyle/>
                    <a:p>
                      <a:pPr algn="r"/>
                      <a:r>
                        <a:rPr sz="850" b="0">
                          <a:solidFill>
                            <a:srgbClr val="2B3147"/>
                          </a:solidFill>
                          <a:latin typeface="Calibri"/>
                        </a:rPr>
                        <a:t>—</a:t>
                      </a:r>
                    </a:p>
                  </a:txBody>
                  <a:tcPr marL="54864" marR="54864" marT="27432" marB="27432">
                    <a:solidFill>
                      <a:srgbClr val="FFFFFF"/>
                    </a:solidFill>
                  </a:tcPr>
                </a:tc>
                <a:tc>
                  <a:txBody>
                    <a:bodyPr/>
                    <a:lstStyle/>
                    <a:p>
                      <a:pPr algn="r"/>
                      <a:r>
                        <a:rPr sz="850" b="0">
                          <a:solidFill>
                            <a:srgbClr val="2B3147"/>
                          </a:solidFill>
                          <a:latin typeface="Calibri"/>
                        </a:rPr>
                        <a:t>$47</a:t>
                      </a:r>
                    </a:p>
                  </a:txBody>
                  <a:tcPr marL="54864" marR="54864" marT="27432" marB="27432">
                    <a:solidFill>
                      <a:srgbClr val="FFFFFF"/>
                    </a:solidFill>
                  </a:tcPr>
                </a:tc>
                <a:tc>
                  <a:txBody>
                    <a:bodyPr/>
                    <a:lstStyle/>
                    <a:p>
                      <a:pPr algn="r"/>
                      <a:r>
                        <a:rPr sz="850" b="0">
                          <a:solidFill>
                            <a:srgbClr val="2B3147"/>
                          </a:solidFill>
                          <a:latin typeface="Calibri"/>
                        </a:rPr>
                        <a:t>$1,045</a:t>
                      </a:r>
                    </a:p>
                  </a:txBody>
                  <a:tcPr marL="54864" marR="54864" marT="27432" marB="27432">
                    <a:solidFill>
                      <a:srgbClr val="FFFFFF"/>
                    </a:solidFill>
                  </a:tcPr>
                </a:tc>
                <a:tc>
                  <a:txBody>
                    <a:bodyPr/>
                    <a:lstStyle/>
                    <a:p>
                      <a:pPr algn="r"/>
                      <a:r>
                        <a:rPr sz="850" b="0">
                          <a:solidFill>
                            <a:srgbClr val="2B3147"/>
                          </a:solidFill>
                          <a:latin typeface="Calibri"/>
                        </a:rPr>
                        <a:t>$884</a:t>
                      </a:r>
                    </a:p>
                  </a:txBody>
                  <a:tcPr marL="54864" marR="54864" marT="27432" marB="27432">
                    <a:solidFill>
                      <a:srgbClr val="FFFFFF"/>
                    </a:solidFill>
                  </a:tcPr>
                </a:tc>
                <a:tc>
                  <a:txBody>
                    <a:bodyPr/>
                    <a:lstStyle/>
                    <a:p>
                      <a:pPr algn="r"/>
                      <a:r>
                        <a:rPr sz="850" b="0">
                          <a:solidFill>
                            <a:srgbClr val="2B3147"/>
                          </a:solidFill>
                          <a:latin typeface="Calibri"/>
                        </a:rPr>
                        <a:t>$1,658</a:t>
                      </a:r>
                    </a:p>
                  </a:txBody>
                  <a:tcPr marL="54864" marR="54864" marT="27432" marB="27432">
                    <a:solidFill>
                      <a:srgbClr val="FFFFFF"/>
                    </a:solidFill>
                  </a:tcPr>
                </a:tc>
                <a:tc>
                  <a:txBody>
                    <a:bodyPr/>
                    <a:lstStyle/>
                    <a:p>
                      <a:pPr algn="r"/>
                      <a:r>
                        <a:rPr sz="850" b="0">
                          <a:solidFill>
                            <a:srgbClr val="2B3147"/>
                          </a:solidFill>
                          <a:latin typeface="Calibri"/>
                        </a:rPr>
                        <a:t>$2,250</a:t>
                      </a:r>
                    </a:p>
                  </a:txBody>
                  <a:tcPr marL="54864" marR="54864" marT="27432" marB="27432">
                    <a:solidFill>
                      <a:srgbClr val="FFFFFF"/>
                    </a:solidFill>
                  </a:tcPr>
                </a:tc>
                <a:tc>
                  <a:txBody>
                    <a:bodyPr/>
                    <a:lstStyle/>
                    <a:p>
                      <a:pPr algn="r"/>
                      <a:r>
                        <a:rPr sz="850" b="0">
                          <a:solidFill>
                            <a:srgbClr val="2B3147"/>
                          </a:solidFill>
                          <a:latin typeface="Calibri"/>
                        </a:rPr>
                        <a:t>$4,257</a:t>
                      </a:r>
                    </a:p>
                  </a:txBody>
                  <a:tcPr marL="54864" marR="54864" marT="27432" marB="27432">
                    <a:solidFill>
                      <a:srgbClr val="FFFFFF"/>
                    </a:solidFill>
                  </a:tcPr>
                </a:tc>
                <a:tc>
                  <a:txBody>
                    <a:bodyPr/>
                    <a:lstStyle/>
                    <a:p>
                      <a:pPr algn="r"/>
                      <a:r>
                        <a:rPr sz="850" b="0">
                          <a:solidFill>
                            <a:srgbClr val="2B3147"/>
                          </a:solidFill>
                          <a:latin typeface="Calibri"/>
                        </a:rPr>
                        <a:t>+89.2%</a:t>
                      </a:r>
                    </a:p>
                  </a:txBody>
                  <a:tcPr marL="54864" marR="54864" marT="27432" marB="27432">
                    <a:solidFill>
                      <a:srgbClr val="FFFFFF"/>
                    </a:solidFill>
                  </a:tcPr>
                </a:tc>
              </a:tr>
              <a:tr h="304800">
                <a:tc>
                  <a:txBody>
                    <a:bodyPr/>
                    <a:lstStyle/>
                    <a:p>
                      <a:pPr algn="l"/>
                      <a:r>
                        <a:rPr sz="850" b="1">
                          <a:solidFill>
                            <a:srgbClr val="2B3147"/>
                          </a:solidFill>
                          <a:latin typeface="Calibri"/>
                        </a:rPr>
                        <a:t>New Traded</a:t>
                      </a:r>
                    </a:p>
                  </a:txBody>
                  <a:tcPr marL="54864" marR="54864" marT="27432" marB="27432">
                    <a:solidFill>
                      <a:srgbClr val="F9FAFC"/>
                    </a:solidFill>
                  </a:tcPr>
                </a:tc>
                <a:tc>
                  <a:txBody>
                    <a:bodyPr/>
                    <a:lstStyle/>
                    <a:p>
                      <a:pPr algn="r"/>
                      <a:r>
                        <a:rPr sz="850" b="0">
                          <a:solidFill>
                            <a:srgbClr val="2B3147"/>
                          </a:solidFill>
                          <a:latin typeface="Calibri"/>
                        </a:rPr>
                        <a:t>47</a:t>
                      </a:r>
                    </a:p>
                  </a:txBody>
                  <a:tcPr marL="54864" marR="54864" marT="27432" marB="27432">
                    <a:solidFill>
                      <a:srgbClr val="F9FAFC"/>
                    </a:solidFill>
                  </a:tcPr>
                </a:tc>
                <a:tc>
                  <a:txBody>
                    <a:bodyPr/>
                    <a:lstStyle/>
                    <a:p>
                      <a:pPr algn="r"/>
                      <a:r>
                        <a:rPr sz="850" b="0">
                          <a:solidFill>
                            <a:srgbClr val="2B3147"/>
                          </a:solidFill>
                          <a:latin typeface="Calibri"/>
                        </a:rPr>
                        <a:t>41</a:t>
                      </a:r>
                    </a:p>
                  </a:txBody>
                  <a:tcPr marL="54864" marR="54864" marT="27432" marB="27432">
                    <a:solidFill>
                      <a:srgbClr val="F9FAFC"/>
                    </a:solidFill>
                  </a:tcPr>
                </a:tc>
                <a:tc>
                  <a:txBody>
                    <a:bodyPr/>
                    <a:lstStyle/>
                    <a:p>
                      <a:pPr algn="r"/>
                      <a:r>
                        <a:rPr sz="850" b="0">
                          <a:solidFill>
                            <a:srgbClr val="2B3147"/>
                          </a:solidFill>
                          <a:latin typeface="Calibri"/>
                        </a:rPr>
                        <a:t>36</a:t>
                      </a:r>
                    </a:p>
                  </a:txBody>
                  <a:tcPr marL="54864" marR="54864" marT="27432" marB="27432">
                    <a:solidFill>
                      <a:srgbClr val="F9FAFC"/>
                    </a:solidFill>
                  </a:tcPr>
                </a:tc>
                <a:tc>
                  <a:txBody>
                    <a:bodyPr/>
                    <a:lstStyle/>
                    <a:p>
                      <a:pPr algn="r"/>
                      <a:r>
                        <a:rPr sz="850" b="0">
                          <a:solidFill>
                            <a:srgbClr val="2B3147"/>
                          </a:solidFill>
                          <a:latin typeface="Calibri"/>
                        </a:rPr>
                        <a:t>54</a:t>
                      </a:r>
                    </a:p>
                  </a:txBody>
                  <a:tcPr marL="54864" marR="54864" marT="27432" marB="27432">
                    <a:solidFill>
                      <a:srgbClr val="F9FAFC"/>
                    </a:solidFill>
                  </a:tcPr>
                </a:tc>
                <a:tc>
                  <a:txBody>
                    <a:bodyPr/>
                    <a:lstStyle/>
                    <a:p>
                      <a:pPr algn="r"/>
                      <a:r>
                        <a:rPr sz="850" b="0">
                          <a:solidFill>
                            <a:srgbClr val="2B3147"/>
                          </a:solidFill>
                          <a:latin typeface="Calibri"/>
                        </a:rPr>
                        <a:t>37</a:t>
                      </a:r>
                    </a:p>
                  </a:txBody>
                  <a:tcPr marL="54864" marR="54864" marT="27432" marB="27432">
                    <a:solidFill>
                      <a:srgbClr val="F9FAFC"/>
                    </a:solidFill>
                  </a:tcPr>
                </a:tc>
                <a:tc>
                  <a:txBody>
                    <a:bodyPr/>
                    <a:lstStyle/>
                    <a:p>
                      <a:pPr algn="r"/>
                      <a:r>
                        <a:rPr sz="850" b="0">
                          <a:solidFill>
                            <a:srgbClr val="2B3147"/>
                          </a:solidFill>
                          <a:latin typeface="Calibri"/>
                        </a:rPr>
                        <a:t>41</a:t>
                      </a:r>
                    </a:p>
                  </a:txBody>
                  <a:tcPr marL="54864" marR="54864" marT="27432" marB="27432">
                    <a:solidFill>
                      <a:srgbClr val="F9FAFC"/>
                    </a:solidFill>
                  </a:tcPr>
                </a:tc>
                <a:tc>
                  <a:txBody>
                    <a:bodyPr/>
                    <a:lstStyle/>
                    <a:p>
                      <a:pPr algn="r"/>
                      <a:r>
                        <a:rPr sz="850" b="0">
                          <a:solidFill>
                            <a:srgbClr val="2B3147"/>
                          </a:solidFill>
                          <a:latin typeface="Calibri"/>
                        </a:rPr>
                        <a:t>24</a:t>
                      </a:r>
                    </a:p>
                  </a:txBody>
                  <a:tcPr marL="54864" marR="54864" marT="27432" marB="27432">
                    <a:solidFill>
                      <a:srgbClr val="F9FAFC"/>
                    </a:solidFill>
                  </a:tcPr>
                </a:tc>
                <a:tc>
                  <a:txBody>
                    <a:bodyPr/>
                    <a:lstStyle/>
                    <a:p>
                      <a:pPr algn="r"/>
                      <a:r>
                        <a:rPr sz="850" b="0">
                          <a:solidFill>
                            <a:srgbClr val="2B3147"/>
                          </a:solidFill>
                          <a:latin typeface="Calibri"/>
                        </a:rPr>
                        <a:t>-41.5%</a:t>
                      </a:r>
                    </a:p>
                  </a:txBody>
                  <a:tcPr marL="54864" marR="54864" marT="27432" marB="27432">
                    <a:solidFill>
                      <a:srgbClr val="F9FAFC"/>
                    </a:solidFill>
                  </a:tcPr>
                </a:tc>
              </a:tr>
              <a:tr h="304800">
                <a:tc>
                  <a:txBody>
                    <a:bodyPr/>
                    <a:lstStyle/>
                    <a:p>
                      <a:pPr algn="l"/>
                      <a:r>
                        <a:rPr sz="850" b="1">
                          <a:solidFill>
                            <a:srgbClr val="2B3147"/>
                          </a:solidFill>
                          <a:latin typeface="Calibri"/>
                        </a:rPr>
                        <a:t>Media Spend / Blended Traded</a:t>
                      </a:r>
                    </a:p>
                  </a:txBody>
                  <a:tcPr marL="54864" marR="54864" marT="27432" marB="27432">
                    <a:solidFill>
                      <a:srgbClr val="FFFFFF"/>
                    </a:solidFill>
                  </a:tcPr>
                </a:tc>
                <a:tc>
                  <a:txBody>
                    <a:bodyPr/>
                    <a:lstStyle/>
                    <a:p>
                      <a:pPr algn="r"/>
                      <a:r>
                        <a:rPr sz="850" b="0">
                          <a:solidFill>
                            <a:srgbClr val="2B3147"/>
                          </a:solidFill>
                          <a:latin typeface="Calibri"/>
                        </a:rPr>
                        <a:t>—</a:t>
                      </a:r>
                    </a:p>
                  </a:txBody>
                  <a:tcPr marL="54864" marR="54864" marT="27432" marB="27432">
                    <a:solidFill>
                      <a:srgbClr val="FFFFFF"/>
                    </a:solidFill>
                  </a:tcPr>
                </a:tc>
                <a:tc>
                  <a:txBody>
                    <a:bodyPr/>
                    <a:lstStyle/>
                    <a:p>
                      <a:pPr algn="r"/>
                      <a:r>
                        <a:rPr sz="850" b="0">
                          <a:solidFill>
                            <a:srgbClr val="2B3147"/>
                          </a:solidFill>
                          <a:latin typeface="Calibri"/>
                        </a:rPr>
                        <a:t>$55</a:t>
                      </a:r>
                    </a:p>
                  </a:txBody>
                  <a:tcPr marL="54864" marR="54864" marT="27432" marB="27432">
                    <a:solidFill>
                      <a:srgbClr val="FFFFFF"/>
                    </a:solidFill>
                  </a:tcPr>
                </a:tc>
                <a:tc>
                  <a:txBody>
                    <a:bodyPr/>
                    <a:lstStyle/>
                    <a:p>
                      <a:pPr algn="r"/>
                      <a:r>
                        <a:rPr sz="850" b="0">
                          <a:solidFill>
                            <a:srgbClr val="2B3147"/>
                          </a:solidFill>
                          <a:latin typeface="Calibri"/>
                        </a:rPr>
                        <a:t>$1,364</a:t>
                      </a:r>
                    </a:p>
                  </a:txBody>
                  <a:tcPr marL="54864" marR="54864" marT="27432" marB="27432">
                    <a:solidFill>
                      <a:srgbClr val="FFFFFF"/>
                    </a:solidFill>
                  </a:tcPr>
                </a:tc>
                <a:tc>
                  <a:txBody>
                    <a:bodyPr/>
                    <a:lstStyle/>
                    <a:p>
                      <a:pPr algn="r"/>
                      <a:r>
                        <a:rPr sz="850" b="0">
                          <a:solidFill>
                            <a:srgbClr val="2B3147"/>
                          </a:solidFill>
                          <a:latin typeface="Calibri"/>
                        </a:rPr>
                        <a:t>$1,080</a:t>
                      </a:r>
                    </a:p>
                  </a:txBody>
                  <a:tcPr marL="54864" marR="54864" marT="27432" marB="27432">
                    <a:solidFill>
                      <a:srgbClr val="FFFFFF"/>
                    </a:solidFill>
                  </a:tcPr>
                </a:tc>
                <a:tc>
                  <a:txBody>
                    <a:bodyPr/>
                    <a:lstStyle/>
                    <a:p>
                      <a:pPr algn="r"/>
                      <a:r>
                        <a:rPr sz="850" b="0">
                          <a:solidFill>
                            <a:srgbClr val="2B3147"/>
                          </a:solidFill>
                          <a:latin typeface="Calibri"/>
                        </a:rPr>
                        <a:t>$2,061</a:t>
                      </a:r>
                    </a:p>
                  </a:txBody>
                  <a:tcPr marL="54864" marR="54864" marT="27432" marB="27432">
                    <a:solidFill>
                      <a:srgbClr val="FFFFFF"/>
                    </a:solidFill>
                  </a:tcPr>
                </a:tc>
                <a:tc>
                  <a:txBody>
                    <a:bodyPr/>
                    <a:lstStyle/>
                    <a:p>
                      <a:pPr algn="r"/>
                      <a:r>
                        <a:rPr sz="850" b="0">
                          <a:solidFill>
                            <a:srgbClr val="2B3147"/>
                          </a:solidFill>
                          <a:latin typeface="Calibri"/>
                        </a:rPr>
                        <a:t>$2,854</a:t>
                      </a:r>
                    </a:p>
                  </a:txBody>
                  <a:tcPr marL="54864" marR="54864" marT="27432" marB="27432">
                    <a:solidFill>
                      <a:srgbClr val="FFFFFF"/>
                    </a:solidFill>
                  </a:tcPr>
                </a:tc>
                <a:tc>
                  <a:txBody>
                    <a:bodyPr/>
                    <a:lstStyle/>
                    <a:p>
                      <a:pPr algn="r"/>
                      <a:r>
                        <a:rPr sz="850" b="0">
                          <a:solidFill>
                            <a:srgbClr val="2B3147"/>
                          </a:solidFill>
                          <a:latin typeface="Calibri"/>
                        </a:rPr>
                        <a:t>$5,676</a:t>
                      </a:r>
                    </a:p>
                  </a:txBody>
                  <a:tcPr marL="54864" marR="54864" marT="27432" marB="27432">
                    <a:solidFill>
                      <a:srgbClr val="FFFFFF"/>
                    </a:solidFill>
                  </a:tcPr>
                </a:tc>
                <a:tc>
                  <a:txBody>
                    <a:bodyPr/>
                    <a:lstStyle/>
                    <a:p>
                      <a:pPr algn="r"/>
                      <a:r>
                        <a:rPr sz="850" b="0">
                          <a:solidFill>
                            <a:srgbClr val="2B3147"/>
                          </a:solidFill>
                          <a:latin typeface="Calibri"/>
                        </a:rPr>
                        <a:t>+98.9%</a:t>
                      </a:r>
                    </a:p>
                  </a:txBody>
                  <a:tcPr marL="54864" marR="54864" marT="27432" marB="27432">
                    <a:solidFill>
                      <a:srgbClr val="FFFFFF"/>
                    </a:solidFill>
                  </a:tcPr>
                </a:tc>
              </a:tr>
            </a:tbl>
          </a:graphicData>
        </a:graphic>
      </p:graphicFrame>
      <p:sp>
        <p:nvSpPr>
          <p:cNvPr id="12" name="TextBox 11"/>
          <p:cNvSpPr txBox="1"/>
          <p:nvPr/>
        </p:nvSpPr>
        <p:spPr>
          <a:xfrm>
            <a:off x="457200" y="5623560"/>
            <a:ext cx="11247120" cy="548640"/>
          </a:xfrm>
          <a:prstGeom prst="rect">
            <a:avLst/>
          </a:prstGeom>
          <a:noFill/>
        </p:spPr>
        <p:txBody>
          <a:bodyPr wrap="square" anchor="t" lIns="0" rIns="0" tIns="0" bIns="0">
            <a:spAutoFit/>
          </a:bodyPr>
          <a:lstStyle/>
          <a:p>
            <a:pPr algn="l"/>
            <a:r>
              <a:rPr sz="750" b="0">
                <a:solidFill>
                  <a:srgbClr val="5A6072"/>
                </a:solidFill>
                <a:latin typeface="Calibri"/>
              </a:rPr>
              <a:t>Funnel metrics are blended organic + paid from the FOREX.com dashboard. Media spend comes from the FOREX.com budget tracker. MoM = July vs June. January-February cost rows reflect a near-zero media base; the paid-media baseline starts in March. These are directional spend-to-outcome ratios, not channel-attributed CPAs.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8229600" cy="320040"/>
          </a:xfrm>
          <a:prstGeom prst="rect">
            <a:avLst/>
          </a:prstGeom>
          <a:noFill/>
        </p:spPr>
        <p:txBody>
          <a:bodyPr wrap="square" anchor="t" lIns="0" rIns="0" tIns="0" bIns="0">
            <a:spAutoFit/>
          </a:bodyPr>
          <a:lstStyle/>
          <a:p>
            <a:pPr algn="l"/>
            <a:r>
              <a:rPr sz="1100" b="1">
                <a:solidFill>
                  <a:srgbClr val="FFFFFF"/>
                </a:solidFill>
                <a:latin typeface="Georgia"/>
              </a:rPr>
              <a:t>EXECUTIVE SUMMARY</a:t>
            </a:r>
          </a:p>
        </p:txBody>
      </p:sp>
      <p:pic>
        <p:nvPicPr>
          <p:cNvPr id="5" name="Picture 4" descr="berelvant_logo.png"/>
          <p:cNvPicPr>
            <a:picLocks noChangeAspect="1"/>
          </p:cNvPicPr>
          <p:nvPr/>
        </p:nvPicPr>
        <p:blipFill>
          <a:blip r:embed="rId2"/>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$136,224 deployed in July across six lines, up 16.4% from June.</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56832"/>
            <a:ext cx="7315200" cy="201168"/>
          </a:xfrm>
          <a:prstGeom prst="rect">
            <a:avLst/>
          </a:prstGeom>
          <a:noFill/>
        </p:spPr>
        <p:txBody>
          <a:bodyPr wrap="square" anchor="t" lIns="0" rIns="0" tIns="0" bIns="0">
            <a:spAutoFit/>
          </a:bodyPr>
          <a:lstStyle/>
          <a:p>
            <a:pPr algn="l"/>
            <a:r>
              <a:rPr sz="800" b="0">
                <a:solidFill>
                  <a:srgbClr val="5A6072"/>
                </a:solidFill>
                <a:latin typeface="Calibri"/>
              </a:rPr>
              <a:t>GCG (US Hispanic)   |   July 2026 Performance Review   |   Berelvant</a:t>
            </a:r>
          </a:p>
        </p:txBody>
      </p:sp>
      <p:sp>
        <p:nvSpPr>
          <p:cNvPr id="9" name="TextBox 8"/>
          <p:cNvSpPr txBox="1"/>
          <p:nvPr/>
        </p:nvSpPr>
        <p:spPr>
          <a:xfrm>
            <a:off x="10820095" y="6656832"/>
            <a:ext cx="914400" cy="201168"/>
          </a:xfrm>
          <a:prstGeom prst="rect">
            <a:avLst/>
          </a:prstGeom>
          <a:noFill/>
        </p:spPr>
        <p:txBody>
          <a:bodyPr wrap="square" anchor="t" lIns="0" rIns="0" tIns="0" bIns="0">
            <a:spAutoFit/>
          </a:bodyPr>
          <a:lstStyle/>
          <a:p>
            <a:pPr algn="r"/>
            <a:r>
              <a:rPr sz="800" b="0">
                <a:solidFill>
                  <a:srgbClr val="5A6072"/>
                </a:solidFill>
                <a:latin typeface="Calibri"/>
              </a:rPr>
              <a:t>3 / 14</a:t>
            </a:r>
          </a:p>
        </p:txBody>
      </p:sp>
      <p:graphicFrame>
        <p:nvGraphicFramePr>
          <p:cNvPr id="10" name="Table 9"/>
          <p:cNvGraphicFramePr>
            <a:graphicFrameLocks noGrp="1"/>
          </p:cNvGraphicFramePr>
          <p:nvPr/>
        </p:nvGraphicFramePr>
        <p:xfrm>
          <a:off x="457200" y="1737360"/>
          <a:ext cx="6766560" cy="2788920"/>
        </p:xfrm>
        <a:graphic>
          <a:graphicData uri="http://schemas.openxmlformats.org/drawingml/2006/table">
            <a:tbl>
              <a:tblPr>
                <a:tableStyleId>{5C22544A-7EE6-4342-B048-85BDC9FD1C3A}</a:tableStyleId>
              </a:tblPr>
              <a:tblGrid>
                <a:gridCol w="1965960"/>
                <a:gridCol w="1051560"/>
                <a:gridCol w="960120"/>
                <a:gridCol w="960120"/>
                <a:gridCol w="777240"/>
                <a:gridCol w="1051560"/>
              </a:tblGrid>
              <a:tr h="348615">
                <a:tc>
                  <a:txBody>
                    <a:bodyPr/>
                    <a:lstStyle/>
                    <a:p>
                      <a:pPr algn="l"/>
                      <a:r>
                        <a:rPr sz="850" b="1">
                          <a:solidFill>
                            <a:srgbClr val="FFFFFF"/>
                          </a:solidFill>
                          <a:latin typeface="Calibri"/>
                        </a:rPr>
                        <a:t>Channel</a:t>
                      </a:r>
                    </a:p>
                  </a:txBody>
                  <a:tcPr marL="54864" marR="54864" marT="27432" marB="27432">
                    <a:solidFill>
                      <a:srgbClr val="1E2761"/>
                    </a:solidFill>
                  </a:tcPr>
                </a:tc>
                <a:tc>
                  <a:txBody>
                    <a:bodyPr/>
                    <a:lstStyle/>
                    <a:p>
                      <a:pPr algn="r"/>
                      <a:r>
                        <a:rPr sz="850" b="1">
                          <a:solidFill>
                            <a:srgbClr val="FFFFFF"/>
                          </a:solidFill>
                          <a:latin typeface="Calibri"/>
                        </a:rPr>
                        <a:t>Spend</a:t>
                      </a:r>
                    </a:p>
                  </a:txBody>
                  <a:tcPr marL="54864" marR="54864" marT="27432" marB="27432">
                    <a:solidFill>
                      <a:srgbClr val="1E2761"/>
                    </a:solidFill>
                  </a:tcPr>
                </a:tc>
                <a:tc>
                  <a:txBody>
                    <a:bodyPr/>
                    <a:lstStyle/>
                    <a:p>
                      <a:pPr algn="r"/>
                      <a:r>
                        <a:rPr sz="850" b="1">
                          <a:solidFill>
                            <a:srgbClr val="FFFFFF"/>
                          </a:solidFill>
                          <a:latin typeface="Calibri"/>
                        </a:rPr>
                        <a:t>Impr</a:t>
                      </a:r>
                    </a:p>
                  </a:txBody>
                  <a:tcPr marL="54864" marR="54864" marT="27432" marB="27432">
                    <a:solidFill>
                      <a:srgbClr val="1E2761"/>
                    </a:solidFill>
                  </a:tcPr>
                </a:tc>
                <a:tc>
                  <a:txBody>
                    <a:bodyPr/>
                    <a:lstStyle/>
                    <a:p>
                      <a:pPr algn="r"/>
                      <a:r>
                        <a:rPr sz="850" b="1">
                          <a:solidFill>
                            <a:srgbClr val="FFFFFF"/>
                          </a:solidFill>
                          <a:latin typeface="Calibri"/>
                        </a:rPr>
                        <a:t>Clicks</a:t>
                      </a:r>
                    </a:p>
                  </a:txBody>
                  <a:tcPr marL="54864" marR="54864" marT="27432" marB="27432">
                    <a:solidFill>
                      <a:srgbClr val="1E2761"/>
                    </a:solidFill>
                  </a:tcPr>
                </a:tc>
                <a:tc>
                  <a:txBody>
                    <a:bodyPr/>
                    <a:lstStyle/>
                    <a:p>
                      <a:pPr algn="r"/>
                      <a:r>
                        <a:rPr sz="850" b="1">
                          <a:solidFill>
                            <a:srgbClr val="FFFFFF"/>
                          </a:solidFill>
                          <a:latin typeface="Calibri"/>
                        </a:rPr>
                        <a:t>Apps</a:t>
                      </a:r>
                    </a:p>
                  </a:txBody>
                  <a:tcPr marL="54864" marR="54864" marT="27432" marB="27432">
                    <a:solidFill>
                      <a:srgbClr val="1E2761"/>
                    </a:solidFill>
                  </a:tcPr>
                </a:tc>
                <a:tc>
                  <a:txBody>
                    <a:bodyPr/>
                    <a:lstStyle/>
                    <a:p>
                      <a:pPr algn="r"/>
                      <a:r>
                        <a:rPr sz="850" b="1">
                          <a:solidFill>
                            <a:srgbClr val="FFFFFF"/>
                          </a:solidFill>
                          <a:latin typeface="Calibri"/>
                        </a:rPr>
                        <a:t>Cost/app</a:t>
                      </a:r>
                    </a:p>
                  </a:txBody>
                  <a:tcPr marL="54864" marR="54864" marT="27432" marB="27432">
                    <a:solidFill>
                      <a:srgbClr val="1E2761"/>
                    </a:solidFill>
                  </a:tcPr>
                </a:tc>
              </a:tr>
              <a:tr h="348615">
                <a:tc>
                  <a:txBody>
                    <a:bodyPr/>
                    <a:lstStyle/>
                    <a:p>
                      <a:pPr algn="l"/>
                      <a:r>
                        <a:rPr sz="850" b="1">
                          <a:solidFill>
                            <a:srgbClr val="2B3147"/>
                          </a:solidFill>
                          <a:latin typeface="Calibri"/>
                        </a:rPr>
                        <a:t>Google Search</a:t>
                      </a:r>
                    </a:p>
                  </a:txBody>
                  <a:tcPr marL="54864" marR="54864" marT="27432" marB="27432">
                    <a:solidFill>
                      <a:srgbClr val="FFFFFF"/>
                    </a:solidFill>
                  </a:tcPr>
                </a:tc>
                <a:tc>
                  <a:txBody>
                    <a:bodyPr/>
                    <a:lstStyle/>
                    <a:p>
                      <a:pPr algn="r"/>
                      <a:r>
                        <a:rPr sz="850" b="0">
                          <a:solidFill>
                            <a:srgbClr val="2B3147"/>
                          </a:solidFill>
                          <a:latin typeface="Calibri"/>
                        </a:rPr>
                        <a:t>$29,478</a:t>
                      </a:r>
                    </a:p>
                  </a:txBody>
                  <a:tcPr marL="54864" marR="54864" marT="27432" marB="27432">
                    <a:solidFill>
                      <a:srgbClr val="FFFFFF"/>
                    </a:solidFill>
                  </a:tcPr>
                </a:tc>
                <a:tc>
                  <a:txBody>
                    <a:bodyPr/>
                    <a:lstStyle/>
                    <a:p>
                      <a:pPr algn="r"/>
                      <a:r>
                        <a:rPr sz="850" b="0">
                          <a:solidFill>
                            <a:srgbClr val="2B3147"/>
                          </a:solidFill>
                          <a:latin typeface="Calibri"/>
                        </a:rPr>
                        <a:t>125,392</a:t>
                      </a:r>
                    </a:p>
                  </a:txBody>
                  <a:tcPr marL="54864" marR="54864" marT="27432" marB="27432">
                    <a:solidFill>
                      <a:srgbClr val="FFFFFF"/>
                    </a:solidFill>
                  </a:tcPr>
                </a:tc>
                <a:tc>
                  <a:txBody>
                    <a:bodyPr/>
                    <a:lstStyle/>
                    <a:p>
                      <a:pPr algn="r"/>
                      <a:r>
                        <a:rPr sz="850" b="0">
                          <a:solidFill>
                            <a:srgbClr val="2B3147"/>
                          </a:solidFill>
                          <a:latin typeface="Calibri"/>
                        </a:rPr>
                        <a:t>9,568</a:t>
                      </a:r>
                    </a:p>
                  </a:txBody>
                  <a:tcPr marL="54864" marR="54864" marT="27432" marB="27432">
                    <a:solidFill>
                      <a:srgbClr val="FFFFFF"/>
                    </a:solidFill>
                  </a:tcPr>
                </a:tc>
                <a:tc>
                  <a:txBody>
                    <a:bodyPr/>
                    <a:lstStyle/>
                    <a:p>
                      <a:pPr algn="r"/>
                      <a:r>
                        <a:rPr sz="850" b="0">
                          <a:solidFill>
                            <a:srgbClr val="2B3147"/>
                          </a:solidFill>
                          <a:latin typeface="Calibri"/>
                        </a:rPr>
                        <a:t>73</a:t>
                      </a:r>
                    </a:p>
                  </a:txBody>
                  <a:tcPr marL="54864" marR="54864" marT="27432" marB="27432">
                    <a:solidFill>
                      <a:srgbClr val="FFFFFF"/>
                    </a:solidFill>
                  </a:tcPr>
                </a:tc>
                <a:tc>
                  <a:txBody>
                    <a:bodyPr/>
                    <a:lstStyle/>
                    <a:p>
                      <a:pPr algn="r"/>
                      <a:r>
                        <a:rPr sz="850" b="0">
                          <a:solidFill>
                            <a:srgbClr val="2B3147"/>
                          </a:solidFill>
                          <a:latin typeface="Calibri"/>
                        </a:rPr>
                        <a:t>$403.81</a:t>
                      </a:r>
                    </a:p>
                  </a:txBody>
                  <a:tcPr marL="54864" marR="54864" marT="27432" marB="27432">
                    <a:solidFill>
                      <a:srgbClr val="FFFFFF"/>
                    </a:solidFill>
                  </a:tcPr>
                </a:tc>
              </a:tr>
              <a:tr h="348615">
                <a:tc>
                  <a:txBody>
                    <a:bodyPr/>
                    <a:lstStyle/>
                    <a:p>
                      <a:pPr algn="l"/>
                      <a:r>
                        <a:rPr sz="850" b="1">
                          <a:solidFill>
                            <a:srgbClr val="2B3147"/>
                          </a:solidFill>
                          <a:latin typeface="Calibri"/>
                        </a:rPr>
                        <a:t>Google PMax (YouTube)</a:t>
                      </a:r>
                    </a:p>
                  </a:txBody>
                  <a:tcPr marL="54864" marR="54864" marT="27432" marB="27432">
                    <a:solidFill>
                      <a:srgbClr val="F9FAFC"/>
                    </a:solidFill>
                  </a:tcPr>
                </a:tc>
                <a:tc>
                  <a:txBody>
                    <a:bodyPr/>
                    <a:lstStyle/>
                    <a:p>
                      <a:pPr algn="r"/>
                      <a:r>
                        <a:rPr sz="850" b="0">
                          <a:solidFill>
                            <a:srgbClr val="2B3147"/>
                          </a:solidFill>
                          <a:latin typeface="Calibri"/>
                        </a:rPr>
                        <a:t>$18,175</a:t>
                      </a:r>
                    </a:p>
                  </a:txBody>
                  <a:tcPr marL="54864" marR="54864" marT="27432" marB="27432">
                    <a:solidFill>
                      <a:srgbClr val="F9FAFC"/>
                    </a:solidFill>
                  </a:tcPr>
                </a:tc>
                <a:tc>
                  <a:txBody>
                    <a:bodyPr/>
                    <a:lstStyle/>
                    <a:p>
                      <a:pPr algn="r"/>
                      <a:r>
                        <a:rPr sz="850" b="0">
                          <a:solidFill>
                            <a:srgbClr val="2B3147"/>
                          </a:solidFill>
                          <a:latin typeface="Calibri"/>
                        </a:rPr>
                        <a:t>792,667</a:t>
                      </a:r>
                    </a:p>
                  </a:txBody>
                  <a:tcPr marL="54864" marR="54864" marT="27432" marB="27432">
                    <a:solidFill>
                      <a:srgbClr val="F9FAFC"/>
                    </a:solidFill>
                  </a:tcPr>
                </a:tc>
                <a:tc>
                  <a:txBody>
                    <a:bodyPr/>
                    <a:lstStyle/>
                    <a:p>
                      <a:pPr algn="r"/>
                      <a:r>
                        <a:rPr sz="850" b="0">
                          <a:solidFill>
                            <a:srgbClr val="2B3147"/>
                          </a:solidFill>
                          <a:latin typeface="Calibri"/>
                        </a:rPr>
                        <a:t>14,009</a:t>
                      </a:r>
                    </a:p>
                  </a:txBody>
                  <a:tcPr marL="54864" marR="54864" marT="27432" marB="27432">
                    <a:solidFill>
                      <a:srgbClr val="F9FAFC"/>
                    </a:solidFill>
                  </a:tcPr>
                </a:tc>
                <a:tc>
                  <a:txBody>
                    <a:bodyPr/>
                    <a:lstStyle/>
                    <a:p>
                      <a:pPr algn="r"/>
                      <a:r>
                        <a:rPr sz="850" b="0">
                          <a:solidFill>
                            <a:srgbClr val="2B3147"/>
                          </a:solidFill>
                          <a:latin typeface="Calibri"/>
                        </a:rPr>
                        <a:t>49</a:t>
                      </a:r>
                    </a:p>
                  </a:txBody>
                  <a:tcPr marL="54864" marR="54864" marT="27432" marB="27432">
                    <a:solidFill>
                      <a:srgbClr val="F9FAFC"/>
                    </a:solidFill>
                  </a:tcPr>
                </a:tc>
                <a:tc>
                  <a:txBody>
                    <a:bodyPr/>
                    <a:lstStyle/>
                    <a:p>
                      <a:pPr algn="r"/>
                      <a:r>
                        <a:rPr sz="850" b="0">
                          <a:solidFill>
                            <a:srgbClr val="2B3147"/>
                          </a:solidFill>
                          <a:latin typeface="Calibri"/>
                        </a:rPr>
                        <a:t>$370.91</a:t>
                      </a:r>
                    </a:p>
                  </a:txBody>
                  <a:tcPr marL="54864" marR="54864" marT="27432" marB="27432">
                    <a:solidFill>
                      <a:srgbClr val="F9FAFC"/>
                    </a:solidFill>
                  </a:tcPr>
                </a:tc>
              </a:tr>
              <a:tr h="348615">
                <a:tc>
                  <a:txBody>
                    <a:bodyPr/>
                    <a:lstStyle/>
                    <a:p>
                      <a:pPr algn="l"/>
                      <a:r>
                        <a:rPr sz="850" b="1">
                          <a:solidFill>
                            <a:srgbClr val="2B3147"/>
                          </a:solidFill>
                          <a:latin typeface="Calibri"/>
                        </a:rPr>
                        <a:t>Meta</a:t>
                      </a:r>
                    </a:p>
                  </a:txBody>
                  <a:tcPr marL="54864" marR="54864" marT="27432" marB="27432">
                    <a:solidFill>
                      <a:srgbClr val="FFFFFF"/>
                    </a:solidFill>
                  </a:tcPr>
                </a:tc>
                <a:tc>
                  <a:txBody>
                    <a:bodyPr/>
                    <a:lstStyle/>
                    <a:p>
                      <a:pPr algn="r"/>
                      <a:r>
                        <a:rPr sz="850" b="0">
                          <a:solidFill>
                            <a:srgbClr val="2B3147"/>
                          </a:solidFill>
                          <a:latin typeface="Calibri"/>
                        </a:rPr>
                        <a:t>$6,940</a:t>
                      </a:r>
                    </a:p>
                  </a:txBody>
                  <a:tcPr marL="54864" marR="54864" marT="27432" marB="27432">
                    <a:solidFill>
                      <a:srgbClr val="FFFFFF"/>
                    </a:solidFill>
                  </a:tcPr>
                </a:tc>
                <a:tc>
                  <a:txBody>
                    <a:bodyPr/>
                    <a:lstStyle/>
                    <a:p>
                      <a:pPr algn="r"/>
                      <a:r>
                        <a:rPr sz="850" b="0">
                          <a:solidFill>
                            <a:srgbClr val="2B3147"/>
                          </a:solidFill>
                          <a:latin typeface="Calibri"/>
                        </a:rPr>
                        <a:t>493,027</a:t>
                      </a:r>
                    </a:p>
                  </a:txBody>
                  <a:tcPr marL="54864" marR="54864" marT="27432" marB="27432">
                    <a:solidFill>
                      <a:srgbClr val="FFFFFF"/>
                    </a:solidFill>
                  </a:tcPr>
                </a:tc>
                <a:tc>
                  <a:txBody>
                    <a:bodyPr/>
                    <a:lstStyle/>
                    <a:p>
                      <a:pPr algn="r"/>
                      <a:r>
                        <a:rPr sz="850" b="0">
                          <a:solidFill>
                            <a:srgbClr val="2B3147"/>
                          </a:solidFill>
                          <a:latin typeface="Calibri"/>
                        </a:rPr>
                        <a:t>11,767</a:t>
                      </a:r>
                    </a:p>
                  </a:txBody>
                  <a:tcPr marL="54864" marR="54864" marT="27432" marB="27432">
                    <a:solidFill>
                      <a:srgbClr val="FFFFFF"/>
                    </a:solidFill>
                  </a:tcPr>
                </a:tc>
                <a:tc>
                  <a:txBody>
                    <a:bodyPr/>
                    <a:lstStyle/>
                    <a:p>
                      <a:pPr algn="r"/>
                      <a:r>
                        <a:rPr sz="850" b="0">
                          <a:solidFill>
                            <a:srgbClr val="2B3147"/>
                          </a:solidFill>
                          <a:latin typeface="Calibri"/>
                        </a:rPr>
                        <a:t>—</a:t>
                      </a:r>
                    </a:p>
                  </a:txBody>
                  <a:tcPr marL="54864" marR="54864" marT="27432" marB="27432">
                    <a:solidFill>
                      <a:srgbClr val="FFFFFF"/>
                    </a:solidFill>
                  </a:tcPr>
                </a:tc>
                <a:tc>
                  <a:txBody>
                    <a:bodyPr/>
                    <a:lstStyle/>
                    <a:p>
                      <a:pPr algn="r"/>
                      <a:r>
                        <a:rPr sz="850" b="0">
                          <a:solidFill>
                            <a:srgbClr val="2B3147"/>
                          </a:solidFill>
                          <a:latin typeface="Calibri"/>
                        </a:rPr>
                        <a:t>—</a:t>
                      </a:r>
                    </a:p>
                  </a:txBody>
                  <a:tcPr marL="54864" marR="54864" marT="27432" marB="27432">
                    <a:solidFill>
                      <a:srgbClr val="FFFFFF"/>
                    </a:solidFill>
                  </a:tcPr>
                </a:tc>
              </a:tr>
              <a:tr h="348615">
                <a:tc>
                  <a:txBody>
                    <a:bodyPr/>
                    <a:lstStyle/>
                    <a:p>
                      <a:pPr algn="l"/>
                      <a:r>
                        <a:rPr sz="850" b="1">
                          <a:solidFill>
                            <a:srgbClr val="2B3147"/>
                          </a:solidFill>
                          <a:latin typeface="Calibri"/>
                        </a:rPr>
                        <a:t>Quantcast (Display)</a:t>
                      </a:r>
                    </a:p>
                  </a:txBody>
                  <a:tcPr marL="54864" marR="54864" marT="27432" marB="27432">
                    <a:solidFill>
                      <a:srgbClr val="F9FAFC"/>
                    </a:solidFill>
                  </a:tcPr>
                </a:tc>
                <a:tc>
                  <a:txBody>
                    <a:bodyPr/>
                    <a:lstStyle/>
                    <a:p>
                      <a:pPr algn="r"/>
                      <a:r>
                        <a:rPr sz="850" b="0">
                          <a:solidFill>
                            <a:srgbClr val="2B3147"/>
                          </a:solidFill>
                          <a:latin typeface="Calibri"/>
                        </a:rPr>
                        <a:t>$29,857</a:t>
                      </a:r>
                    </a:p>
                  </a:txBody>
                  <a:tcPr marL="54864" marR="54864" marT="27432" marB="27432">
                    <a:solidFill>
                      <a:srgbClr val="F9FAFC"/>
                    </a:solidFill>
                  </a:tcPr>
                </a:tc>
                <a:tc>
                  <a:txBody>
                    <a:bodyPr/>
                    <a:lstStyle/>
                    <a:p>
                      <a:pPr algn="r"/>
                      <a:r>
                        <a:rPr sz="850" b="0">
                          <a:solidFill>
                            <a:srgbClr val="2B3147"/>
                          </a:solidFill>
                          <a:latin typeface="Calibri"/>
                        </a:rPr>
                        <a:t>22.49M</a:t>
                      </a:r>
                    </a:p>
                  </a:txBody>
                  <a:tcPr marL="54864" marR="54864" marT="27432" marB="27432">
                    <a:solidFill>
                      <a:srgbClr val="F9FAFC"/>
                    </a:solidFill>
                  </a:tcPr>
                </a:tc>
                <a:tc>
                  <a:txBody>
                    <a:bodyPr/>
                    <a:lstStyle/>
                    <a:p>
                      <a:pPr algn="r"/>
                      <a:r>
                        <a:rPr sz="850" b="0">
                          <a:solidFill>
                            <a:srgbClr val="2B3147"/>
                          </a:solidFill>
                          <a:latin typeface="Calibri"/>
                        </a:rPr>
                        <a:t>2,574</a:t>
                      </a:r>
                    </a:p>
                  </a:txBody>
                  <a:tcPr marL="54864" marR="54864" marT="27432" marB="27432">
                    <a:solidFill>
                      <a:srgbClr val="F9FAFC"/>
                    </a:solidFill>
                  </a:tcPr>
                </a:tc>
                <a:tc>
                  <a:txBody>
                    <a:bodyPr/>
                    <a:lstStyle/>
                    <a:p>
                      <a:pPr algn="r"/>
                      <a:r>
                        <a:rPr sz="850" b="0">
                          <a:solidFill>
                            <a:srgbClr val="2B3147"/>
                          </a:solidFill>
                          <a:latin typeface="Calibri"/>
                        </a:rPr>
                        <a:t>—</a:t>
                      </a:r>
                    </a:p>
                  </a:txBody>
                  <a:tcPr marL="54864" marR="54864" marT="27432" marB="27432">
                    <a:solidFill>
                      <a:srgbClr val="F9FAFC"/>
                    </a:solidFill>
                  </a:tcPr>
                </a:tc>
                <a:tc>
                  <a:txBody>
                    <a:bodyPr/>
                    <a:lstStyle/>
                    <a:p>
                      <a:pPr algn="r"/>
                      <a:r>
                        <a:rPr sz="850" b="0">
                          <a:solidFill>
                            <a:srgbClr val="2B3147"/>
                          </a:solidFill>
                          <a:latin typeface="Calibri"/>
                        </a:rPr>
                        <a:t>—</a:t>
                      </a:r>
                    </a:p>
                  </a:txBody>
                  <a:tcPr marL="54864" marR="54864" marT="27432" marB="27432">
                    <a:solidFill>
                      <a:srgbClr val="F9FAFC"/>
                    </a:solidFill>
                  </a:tcPr>
                </a:tc>
              </a:tr>
              <a:tr h="348615">
                <a:tc>
                  <a:txBody>
                    <a:bodyPr/>
                    <a:lstStyle/>
                    <a:p>
                      <a:pPr algn="l"/>
                      <a:r>
                        <a:rPr sz="850" b="1">
                          <a:solidFill>
                            <a:srgbClr val="2B3147"/>
                          </a:solidFill>
                          <a:latin typeface="Calibri"/>
                        </a:rPr>
                        <a:t>Azerion (Display)</a:t>
                      </a:r>
                    </a:p>
                  </a:txBody>
                  <a:tcPr marL="54864" marR="54864" marT="27432" marB="27432">
                    <a:solidFill>
                      <a:srgbClr val="FFFFFF"/>
                    </a:solidFill>
                  </a:tcPr>
                </a:tc>
                <a:tc>
                  <a:txBody>
                    <a:bodyPr/>
                    <a:lstStyle/>
                    <a:p>
                      <a:pPr algn="r"/>
                      <a:r>
                        <a:rPr sz="850" b="0">
                          <a:solidFill>
                            <a:srgbClr val="2B3147"/>
                          </a:solidFill>
                          <a:latin typeface="Calibri"/>
                        </a:rPr>
                        <a:t>$31,477</a:t>
                      </a:r>
                    </a:p>
                  </a:txBody>
                  <a:tcPr marL="54864" marR="54864" marT="27432" marB="27432">
                    <a:solidFill>
                      <a:srgbClr val="FFFFFF"/>
                    </a:solidFill>
                  </a:tcPr>
                </a:tc>
                <a:tc>
                  <a:txBody>
                    <a:bodyPr/>
                    <a:lstStyle/>
                    <a:p>
                      <a:pPr algn="r"/>
                      <a:r>
                        <a:rPr sz="850" b="0">
                          <a:solidFill>
                            <a:srgbClr val="2B3147"/>
                          </a:solidFill>
                          <a:latin typeface="Calibri"/>
                        </a:rPr>
                        <a:t>4.77M</a:t>
                      </a:r>
                    </a:p>
                  </a:txBody>
                  <a:tcPr marL="54864" marR="54864" marT="27432" marB="27432">
                    <a:solidFill>
                      <a:srgbClr val="FFFFFF"/>
                    </a:solidFill>
                  </a:tcPr>
                </a:tc>
                <a:tc>
                  <a:txBody>
                    <a:bodyPr/>
                    <a:lstStyle/>
                    <a:p>
                      <a:pPr algn="r"/>
                      <a:r>
                        <a:rPr sz="850" b="0">
                          <a:solidFill>
                            <a:srgbClr val="2B3147"/>
                          </a:solidFill>
                          <a:latin typeface="Calibri"/>
                        </a:rPr>
                        <a:t>8,892</a:t>
                      </a:r>
                    </a:p>
                  </a:txBody>
                  <a:tcPr marL="54864" marR="54864" marT="27432" marB="27432">
                    <a:solidFill>
                      <a:srgbClr val="FFFFFF"/>
                    </a:solidFill>
                  </a:tcPr>
                </a:tc>
                <a:tc>
                  <a:txBody>
                    <a:bodyPr/>
                    <a:lstStyle/>
                    <a:p>
                      <a:pPr algn="r"/>
                      <a:r>
                        <a:rPr sz="850" b="0">
                          <a:solidFill>
                            <a:srgbClr val="2B3147"/>
                          </a:solidFill>
                          <a:latin typeface="Calibri"/>
                        </a:rPr>
                        <a:t>80</a:t>
                      </a:r>
                    </a:p>
                  </a:txBody>
                  <a:tcPr marL="54864" marR="54864" marT="27432" marB="27432">
                    <a:solidFill>
                      <a:srgbClr val="FFFFFF"/>
                    </a:solidFill>
                  </a:tcPr>
                </a:tc>
                <a:tc>
                  <a:txBody>
                    <a:bodyPr/>
                    <a:lstStyle/>
                    <a:p>
                      <a:pPr algn="r"/>
                      <a:r>
                        <a:rPr sz="850" b="0">
                          <a:solidFill>
                            <a:srgbClr val="2B3147"/>
                          </a:solidFill>
                          <a:latin typeface="Calibri"/>
                        </a:rPr>
                        <a:t>$393.46</a:t>
                      </a:r>
                    </a:p>
                  </a:txBody>
                  <a:tcPr marL="54864" marR="54864" marT="27432" marB="27432">
                    <a:solidFill>
                      <a:srgbClr val="FFFFFF"/>
                    </a:solidFill>
                  </a:tcPr>
                </a:tc>
              </a:tr>
              <a:tr h="348615">
                <a:tc>
                  <a:txBody>
                    <a:bodyPr/>
                    <a:lstStyle/>
                    <a:p>
                      <a:pPr algn="l"/>
                      <a:r>
                        <a:rPr sz="850" b="1">
                          <a:solidFill>
                            <a:srgbClr val="2B3147"/>
                          </a:solidFill>
                          <a:latin typeface="Calibri"/>
                        </a:rPr>
                        <a:t>Native (QC + Azerion)</a:t>
                      </a:r>
                    </a:p>
                  </a:txBody>
                  <a:tcPr marL="54864" marR="54864" marT="27432" marB="27432">
                    <a:solidFill>
                      <a:srgbClr val="F9FAFC"/>
                    </a:solidFill>
                  </a:tcPr>
                </a:tc>
                <a:tc>
                  <a:txBody>
                    <a:bodyPr/>
                    <a:lstStyle/>
                    <a:p>
                      <a:pPr algn="r"/>
                      <a:r>
                        <a:rPr sz="850" b="0">
                          <a:solidFill>
                            <a:srgbClr val="2B3147"/>
                          </a:solidFill>
                          <a:latin typeface="Calibri"/>
                        </a:rPr>
                        <a:t>$20,298</a:t>
                      </a:r>
                    </a:p>
                  </a:txBody>
                  <a:tcPr marL="54864" marR="54864" marT="27432" marB="27432">
                    <a:solidFill>
                      <a:srgbClr val="F9FAFC"/>
                    </a:solidFill>
                  </a:tcPr>
                </a:tc>
                <a:tc>
                  <a:txBody>
                    <a:bodyPr/>
                    <a:lstStyle/>
                    <a:p>
                      <a:pPr algn="r"/>
                      <a:r>
                        <a:rPr sz="850" b="0">
                          <a:solidFill>
                            <a:srgbClr val="2B3147"/>
                          </a:solidFill>
                          <a:latin typeface="Calibri"/>
                        </a:rPr>
                        <a:t>10.58M</a:t>
                      </a:r>
                    </a:p>
                  </a:txBody>
                  <a:tcPr marL="54864" marR="54864" marT="27432" marB="27432">
                    <a:solidFill>
                      <a:srgbClr val="F9FAFC"/>
                    </a:solidFill>
                  </a:tcPr>
                </a:tc>
                <a:tc>
                  <a:txBody>
                    <a:bodyPr/>
                    <a:lstStyle/>
                    <a:p>
                      <a:pPr algn="r"/>
                      <a:r>
                        <a:rPr sz="850" b="0">
                          <a:solidFill>
                            <a:srgbClr val="2B3147"/>
                          </a:solidFill>
                          <a:latin typeface="Calibri"/>
                        </a:rPr>
                        <a:t>2,476</a:t>
                      </a:r>
                    </a:p>
                  </a:txBody>
                  <a:tcPr marL="54864" marR="54864" marT="27432" marB="27432">
                    <a:solidFill>
                      <a:srgbClr val="F9FAFC"/>
                    </a:solidFill>
                  </a:tcPr>
                </a:tc>
                <a:tc>
                  <a:txBody>
                    <a:bodyPr/>
                    <a:lstStyle/>
                    <a:p>
                      <a:pPr algn="r"/>
                      <a:r>
                        <a:rPr sz="850" b="0">
                          <a:solidFill>
                            <a:srgbClr val="2B3147"/>
                          </a:solidFill>
                          <a:latin typeface="Calibri"/>
                        </a:rPr>
                        <a:t>—</a:t>
                      </a:r>
                    </a:p>
                  </a:txBody>
                  <a:tcPr marL="54864" marR="54864" marT="27432" marB="27432">
                    <a:solidFill>
                      <a:srgbClr val="F9FAFC"/>
                    </a:solidFill>
                  </a:tcPr>
                </a:tc>
                <a:tc>
                  <a:txBody>
                    <a:bodyPr/>
                    <a:lstStyle/>
                    <a:p>
                      <a:pPr algn="r"/>
                      <a:r>
                        <a:rPr sz="850" b="0">
                          <a:solidFill>
                            <a:srgbClr val="2B3147"/>
                          </a:solidFill>
                          <a:latin typeface="Calibri"/>
                        </a:rPr>
                        <a:t>—</a:t>
                      </a:r>
                    </a:p>
                  </a:txBody>
                  <a:tcPr marL="54864" marR="54864" marT="27432" marB="27432">
                    <a:solidFill>
                      <a:srgbClr val="F9FAFC"/>
                    </a:solidFill>
                  </a:tcPr>
                </a:tc>
              </a:tr>
              <a:tr h="348615">
                <a:tc>
                  <a:txBody>
                    <a:bodyPr/>
                    <a:lstStyle/>
                    <a:p>
                      <a:pPr algn="l"/>
                      <a:r>
                        <a:rPr sz="850" b="1">
                          <a:solidFill>
                            <a:srgbClr val="1E2761"/>
                          </a:solidFill>
                          <a:latin typeface="Calibri"/>
                        </a:rPr>
                        <a:t>Total</a:t>
                      </a:r>
                    </a:p>
                  </a:txBody>
                  <a:tcPr marL="54864" marR="54864" marT="27432" marB="27432">
                    <a:solidFill>
                      <a:srgbClr val="CADCFC"/>
                    </a:solidFill>
                  </a:tcPr>
                </a:tc>
                <a:tc>
                  <a:txBody>
                    <a:bodyPr/>
                    <a:lstStyle/>
                    <a:p>
                      <a:pPr algn="r"/>
                      <a:r>
                        <a:rPr sz="850" b="1">
                          <a:solidFill>
                            <a:srgbClr val="1E2761"/>
                          </a:solidFill>
                          <a:latin typeface="Calibri"/>
                        </a:rPr>
                        <a:t>$136,224</a:t>
                      </a:r>
                    </a:p>
                  </a:txBody>
                  <a:tcPr marL="54864" marR="54864" marT="27432" marB="27432">
                    <a:solidFill>
                      <a:srgbClr val="CADCFC"/>
                    </a:solidFill>
                  </a:tcPr>
                </a:tc>
                <a:tc>
                  <a:txBody>
                    <a:bodyPr/>
                    <a:lstStyle/>
                    <a:p>
                      <a:pPr algn="r"/>
                      <a:r>
                        <a:rPr sz="850" b="1">
                          <a:solidFill>
                            <a:srgbClr val="1E2761"/>
                          </a:solidFill>
                          <a:latin typeface="Calibri"/>
                        </a:rPr>
                        <a:t>39.25M</a:t>
                      </a:r>
                    </a:p>
                  </a:txBody>
                  <a:tcPr marL="54864" marR="54864" marT="27432" marB="27432">
                    <a:solidFill>
                      <a:srgbClr val="CADCFC"/>
                    </a:solidFill>
                  </a:tcPr>
                </a:tc>
                <a:tc>
                  <a:txBody>
                    <a:bodyPr/>
                    <a:lstStyle/>
                    <a:p>
                      <a:pPr algn="r"/>
                      <a:r>
                        <a:rPr sz="850" b="1">
                          <a:solidFill>
                            <a:srgbClr val="1E2761"/>
                          </a:solidFill>
                          <a:latin typeface="Calibri"/>
                        </a:rPr>
                        <a:t>49,286</a:t>
                      </a:r>
                    </a:p>
                  </a:txBody>
                  <a:tcPr marL="54864" marR="54864" marT="27432" marB="27432">
                    <a:solidFill>
                      <a:srgbClr val="CADCFC"/>
                    </a:solidFill>
                  </a:tcPr>
                </a:tc>
                <a:tc>
                  <a:txBody>
                    <a:bodyPr/>
                    <a:lstStyle/>
                    <a:p>
                      <a:pPr algn="r"/>
                      <a:r>
                        <a:rPr sz="850" b="1">
                          <a:solidFill>
                            <a:srgbClr val="1E2761"/>
                          </a:solidFill>
                          <a:latin typeface="Calibri"/>
                        </a:rPr>
                        <a:t>—</a:t>
                      </a:r>
                    </a:p>
                  </a:txBody>
                  <a:tcPr marL="54864" marR="54864" marT="27432" marB="27432">
                    <a:solidFill>
                      <a:srgbClr val="CADCFC"/>
                    </a:solidFill>
                  </a:tcPr>
                </a:tc>
                <a:tc>
                  <a:txBody>
                    <a:bodyPr/>
                    <a:lstStyle/>
                    <a:p>
                      <a:pPr algn="r"/>
                      <a:r>
                        <a:rPr sz="850" b="1">
                          <a:solidFill>
                            <a:srgbClr val="1E2761"/>
                          </a:solidFill>
                          <a:latin typeface="Calibri"/>
                        </a:rPr>
                        <a:t>—</a:t>
                      </a:r>
                    </a:p>
                  </a:txBody>
                  <a:tcPr marL="54864" marR="54864" marT="27432" marB="27432">
                    <a:solidFill>
                      <a:srgbClr val="CADCFC"/>
                    </a:solidFill>
                  </a:tcPr>
                </a:tc>
              </a:tr>
            </a:tbl>
          </a:graphicData>
        </a:graphic>
      </p:graphicFrame>
      <p:sp>
        <p:nvSpPr>
          <p:cNvPr id="11" name="TextBox 10"/>
          <p:cNvSpPr txBox="1"/>
          <p:nvPr/>
        </p:nvSpPr>
        <p:spPr>
          <a:xfrm>
            <a:off x="457200" y="4572000"/>
            <a:ext cx="6766560" cy="685800"/>
          </a:xfrm>
          <a:prstGeom prst="rect">
            <a:avLst/>
          </a:prstGeom>
          <a:noFill/>
        </p:spPr>
        <p:txBody>
          <a:bodyPr wrap="square" anchor="t" lIns="0" rIns="0" tIns="0" bIns="0">
            <a:spAutoFit/>
          </a:bodyPr>
          <a:lstStyle/>
          <a:p>
            <a:pPr algn="l"/>
            <a:r>
              <a:rPr sz="750" b="0">
                <a:solidFill>
                  <a:srgbClr val="5A6072"/>
                </a:solidFill>
                <a:latin typeface="Calibri"/>
              </a:rPr>
              <a:t>Channel results reflect each platform or partner’s reporting methodology and should be interpreted independently. Cross-channel totals and blended acquisition costs are not used because attribution systems are not directly comparable. Meta clicks are link clicks. Spend per the FOREX.com budget tracker. Channel lines are rounded to whole dollars; the total follows the FOREX.com budget tracker.</a:t>
            </a:r>
          </a:p>
        </p:txBody>
      </p:sp>
      <p:sp>
        <p:nvSpPr>
          <p:cNvPr id="12" name="Rectangle 11"/>
          <p:cNvSpPr/>
          <p:nvPr/>
        </p:nvSpPr>
        <p:spPr>
          <a:xfrm>
            <a:off x="7406640" y="1737360"/>
            <a:ext cx="4297680" cy="2148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1737360"/>
            <a:ext cx="64008" cy="214884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6096" y="1901952"/>
            <a:ext cx="3895344" cy="274320"/>
          </a:xfrm>
          <a:prstGeom prst="rect">
            <a:avLst/>
          </a:prstGeom>
          <a:noFill/>
        </p:spPr>
        <p:txBody>
          <a:bodyPr wrap="square" anchor="t" lIns="0" rIns="0" tIns="0" bIns="0">
            <a:spAutoFit/>
          </a:bodyPr>
          <a:lstStyle/>
          <a:p>
            <a:pPr algn="l"/>
            <a:r>
              <a:rPr sz="1000" b="1">
                <a:solidFill>
                  <a:srgbClr val="1E2761"/>
                </a:solidFill>
                <a:latin typeface="Georgia"/>
              </a:rPr>
              <a:t>THE SCORECARD, BY CHANNEL</a:t>
            </a:r>
          </a:p>
        </p:txBody>
      </p:sp>
      <p:sp>
        <p:nvSpPr>
          <p:cNvPr id="15" name="TextBox 14"/>
          <p:cNvSpPr txBox="1"/>
          <p:nvPr/>
        </p:nvSpPr>
        <p:spPr>
          <a:xfrm>
            <a:off x="7626096" y="2240280"/>
            <a:ext cx="3895344" cy="1463040"/>
          </a:xfrm>
          <a:prstGeom prst="rect">
            <a:avLst/>
          </a:prstGeom>
          <a:noFill/>
        </p:spPr>
        <p:txBody>
          <a:bodyPr wrap="square" anchor="t" lIns="0" rIns="0" tIns="0" bIns="0">
            <a:spAutoFit/>
          </a:bodyPr>
          <a:lstStyle/>
          <a:p>
            <a:pPr algn="l"/>
            <a:r>
              <a:rPr sz="950" b="0">
                <a:solidFill>
                  <a:srgbClr val="2B3147"/>
                </a:solidFill>
                <a:latin typeface="Calibri"/>
              </a:rPr>
              <a:t>Google: 122 submitted applications at $390.60 each across Search and PMax.</a:t>
            </a:r>
          </a:p>
          <a:p>
            <a:pPr algn="l">
              <a:spcBef>
                <a:spcPts val="600"/>
              </a:spcBef>
            </a:pPr>
            <a:r>
              <a:rPr sz="950" b="0">
                <a:solidFill>
                  <a:srgbClr val="2B3147"/>
                </a:solidFill>
                <a:latin typeface="Calibri"/>
              </a:rPr>
              <a:t>Azerion: 80 applications at $393.46 each, up from 58 at $510.10 in June.</a:t>
            </a:r>
          </a:p>
          <a:p>
            <a:pPr algn="l">
              <a:spcBef>
                <a:spcPts val="600"/>
              </a:spcBef>
            </a:pPr>
            <a:r>
              <a:rPr sz="950" b="0">
                <a:solidFill>
                  <a:srgbClr val="2B3147"/>
                </a:solidFill>
                <a:latin typeface="Calibri"/>
              </a:rPr>
              <a:t>Search alone: 73 applications at $403.81, with the ad-position work already making Track A Trust the account’s most efficient audience.</a:t>
            </a:r>
          </a:p>
        </p:txBody>
      </p:sp>
      <p:sp>
        <p:nvSpPr>
          <p:cNvPr id="16" name="Rectangle 15"/>
          <p:cNvSpPr/>
          <p:nvPr/>
        </p:nvSpPr>
        <p:spPr>
          <a:xfrm>
            <a:off x="7406640" y="4069080"/>
            <a:ext cx="4297680" cy="2148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06640" y="4069080"/>
            <a:ext cx="64008" cy="2148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26096" y="4233672"/>
            <a:ext cx="3895344" cy="274320"/>
          </a:xfrm>
          <a:prstGeom prst="rect">
            <a:avLst/>
          </a:prstGeom>
          <a:noFill/>
        </p:spPr>
        <p:txBody>
          <a:bodyPr wrap="square" anchor="t" lIns="0" rIns="0" tIns="0" bIns="0">
            <a:spAutoFit/>
          </a:bodyPr>
          <a:lstStyle/>
          <a:p>
            <a:pPr algn="l"/>
            <a:r>
              <a:rPr sz="1000" b="1">
                <a:solidFill>
                  <a:srgbClr val="1E2761"/>
                </a:solidFill>
                <a:latin typeface="Georgia"/>
              </a:rPr>
              <a:t>NEW THIS MONTH</a:t>
            </a:r>
          </a:p>
        </p:txBody>
      </p:sp>
      <p:sp>
        <p:nvSpPr>
          <p:cNvPr id="19" name="TextBox 18"/>
          <p:cNvSpPr txBox="1"/>
          <p:nvPr/>
        </p:nvSpPr>
        <p:spPr>
          <a:xfrm>
            <a:off x="7626096" y="4572000"/>
            <a:ext cx="3895344" cy="1463040"/>
          </a:xfrm>
          <a:prstGeom prst="rect">
            <a:avLst/>
          </a:prstGeom>
          <a:noFill/>
        </p:spPr>
        <p:txBody>
          <a:bodyPr wrap="square" anchor="t" lIns="0" rIns="0" tIns="0" bIns="0">
            <a:spAutoFit/>
          </a:bodyPr>
          <a:lstStyle/>
          <a:p>
            <a:pPr algn="l"/>
            <a:r>
              <a:rPr sz="950" b="0">
                <a:solidFill>
                  <a:srgbClr val="2B3147"/>
                </a:solidFill>
                <a:latin typeface="Calibri"/>
              </a:rPr>
              <a:t>PMax launched the week of July 13 and matched Search’s efficiency in its first partial month: $370.91 per application.</a:t>
            </a:r>
          </a:p>
          <a:p>
            <a:pPr algn="l">
              <a:spcBef>
                <a:spcPts val="600"/>
              </a:spcBef>
            </a:pPr>
            <a:r>
              <a:rPr sz="950" b="0">
                <a:solidFill>
                  <a:srgbClr val="2B3147"/>
                </a:solidFill>
                <a:latin typeface="Calibri"/>
              </a:rPr>
              <a:t>Meta added a campaign built specifically to drive applications, which carried 44% of a smaller, reallocated Meta budget this month. The account is flagged and paused entering August.</a:t>
            </a:r>
          </a:p>
          <a:p>
            <a:pPr algn="l">
              <a:spcBef>
                <a:spcPts val="600"/>
              </a:spcBef>
            </a:pPr>
            <a:r>
              <a:rPr sz="950" b="0">
                <a:solidFill>
                  <a:srgbClr val="2B3147"/>
                </a:solidFill>
                <a:latin typeface="Calibri"/>
              </a:rPr>
              <a:t>Quantcast Native launched alongside Azerion Native; first full month for both.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8229600" cy="320040"/>
          </a:xfrm>
          <a:prstGeom prst="rect">
            <a:avLst/>
          </a:prstGeom>
          <a:noFill/>
        </p:spPr>
        <p:txBody>
          <a:bodyPr wrap="square" anchor="t" lIns="0" rIns="0" tIns="0" bIns="0">
            <a:spAutoFit/>
          </a:bodyPr>
          <a:lstStyle/>
          <a:p>
            <a:pPr algn="l"/>
            <a:r>
              <a:rPr sz="1100" b="1">
                <a:solidFill>
                  <a:srgbClr val="FFFFFF"/>
                </a:solidFill>
                <a:latin typeface="Georgia"/>
              </a:rPr>
              <a:t>GOOGLE SEARCH  ·  PERFORMANCE</a:t>
            </a:r>
          </a:p>
        </p:txBody>
      </p:sp>
      <p:pic>
        <p:nvPicPr>
          <p:cNvPr id="5" name="Picture 4" descr="berelvant_logo.png"/>
          <p:cNvPicPr>
            <a:picLocks noChangeAspect="1"/>
          </p:cNvPicPr>
          <p:nvPr/>
        </p:nvPicPr>
        <p:blipFill>
          <a:blip r:embed="rId2"/>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Search delivered 73 applications, but CPA rose 20%; Track A Trust improved while the other tracks remain constrained.</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56832"/>
            <a:ext cx="7315200" cy="201168"/>
          </a:xfrm>
          <a:prstGeom prst="rect">
            <a:avLst/>
          </a:prstGeom>
          <a:noFill/>
        </p:spPr>
        <p:txBody>
          <a:bodyPr wrap="square" anchor="t" lIns="0" rIns="0" tIns="0" bIns="0">
            <a:spAutoFit/>
          </a:bodyPr>
          <a:lstStyle/>
          <a:p>
            <a:pPr algn="l"/>
            <a:r>
              <a:rPr sz="800" b="0">
                <a:solidFill>
                  <a:srgbClr val="5A6072"/>
                </a:solidFill>
                <a:latin typeface="Calibri"/>
              </a:rPr>
              <a:t>GCG (US Hispanic)   |   July 2026 Performance Review   |   Berelvant</a:t>
            </a:r>
          </a:p>
        </p:txBody>
      </p:sp>
      <p:sp>
        <p:nvSpPr>
          <p:cNvPr id="9" name="TextBox 8"/>
          <p:cNvSpPr txBox="1"/>
          <p:nvPr/>
        </p:nvSpPr>
        <p:spPr>
          <a:xfrm>
            <a:off x="10820095" y="6656832"/>
            <a:ext cx="914400" cy="201168"/>
          </a:xfrm>
          <a:prstGeom prst="rect">
            <a:avLst/>
          </a:prstGeom>
          <a:noFill/>
        </p:spPr>
        <p:txBody>
          <a:bodyPr wrap="square" anchor="t" lIns="0" rIns="0" tIns="0" bIns="0">
            <a:spAutoFit/>
          </a:bodyPr>
          <a:lstStyle/>
          <a:p>
            <a:pPr algn="r"/>
            <a:r>
              <a:rPr sz="800" b="0">
                <a:solidFill>
                  <a:srgbClr val="5A6072"/>
                </a:solidFill>
                <a:latin typeface="Calibri"/>
              </a:rPr>
              <a:t>4 / 14</a:t>
            </a:r>
          </a:p>
        </p:txBody>
      </p:sp>
      <p:sp>
        <p:nvSpPr>
          <p:cNvPr id="10" name="TextBox 9"/>
          <p:cNvSpPr txBox="1"/>
          <p:nvPr/>
        </p:nvSpPr>
        <p:spPr>
          <a:xfrm>
            <a:off x="457200" y="1417320"/>
            <a:ext cx="11247120" cy="274320"/>
          </a:xfrm>
          <a:prstGeom prst="rect">
            <a:avLst/>
          </a:prstGeom>
          <a:noFill/>
        </p:spPr>
        <p:txBody>
          <a:bodyPr wrap="square" anchor="t" lIns="0" rIns="0" tIns="0" bIns="0">
            <a:spAutoFit/>
          </a:bodyPr>
          <a:lstStyle/>
          <a:p>
            <a:pPr algn="l"/>
            <a:r>
              <a:rPr sz="950" b="0">
                <a:solidFill>
                  <a:srgbClr val="5A6072"/>
                </a:solidFill>
                <a:latin typeface="Calibri"/>
              </a:rPr>
              <a:t>Target: non-brand Spanish-language search across Trust, Authority and Platform, plus a brand track, US only.</a:t>
            </a:r>
          </a:p>
        </p:txBody>
      </p:sp>
      <p:sp>
        <p:nvSpPr>
          <p:cNvPr id="11" name="Rectangle 10"/>
          <p:cNvSpPr/>
          <p:nvPr/>
        </p:nvSpPr>
        <p:spPr>
          <a:xfrm>
            <a:off x="457200" y="1828800"/>
            <a:ext cx="210312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874519"/>
            <a:ext cx="1828799" cy="274320"/>
          </a:xfrm>
          <a:prstGeom prst="rect">
            <a:avLst/>
          </a:prstGeom>
          <a:noFill/>
        </p:spPr>
        <p:txBody>
          <a:bodyPr wrap="square" anchor="t" lIns="0" rIns="0" tIns="0" bIns="0">
            <a:spAutoFit/>
          </a:bodyPr>
          <a:lstStyle/>
          <a:p>
            <a:pPr algn="l"/>
            <a:r>
              <a:rPr sz="800" b="1">
                <a:solidFill>
                  <a:srgbClr val="5A6072"/>
                </a:solidFill>
                <a:latin typeface="Calibri"/>
              </a:rPr>
              <a:t>SPEND</a:t>
            </a:r>
          </a:p>
        </p:txBody>
      </p:sp>
      <p:sp>
        <p:nvSpPr>
          <p:cNvPr id="14" name="TextBox 13"/>
          <p:cNvSpPr txBox="1"/>
          <p:nvPr/>
        </p:nvSpPr>
        <p:spPr>
          <a:xfrm>
            <a:off x="640080" y="2121408"/>
            <a:ext cx="1828799" cy="457200"/>
          </a:xfrm>
          <a:prstGeom prst="rect">
            <a:avLst/>
          </a:prstGeom>
          <a:noFill/>
        </p:spPr>
        <p:txBody>
          <a:bodyPr wrap="square" anchor="t" lIns="0" rIns="0" tIns="0" bIns="0">
            <a:spAutoFit/>
          </a:bodyPr>
          <a:lstStyle/>
          <a:p>
            <a:pPr algn="l"/>
            <a:r>
              <a:rPr sz="1500" b="1">
                <a:solidFill>
                  <a:srgbClr val="1E2761"/>
                </a:solidFill>
                <a:latin typeface="Calibri"/>
              </a:rPr>
              <a:t>$29,478</a:t>
            </a:r>
          </a:p>
        </p:txBody>
      </p:sp>
      <p:sp>
        <p:nvSpPr>
          <p:cNvPr id="15" name="TextBox 14"/>
          <p:cNvSpPr txBox="1"/>
          <p:nvPr/>
        </p:nvSpPr>
        <p:spPr>
          <a:xfrm>
            <a:off x="640080" y="2578608"/>
            <a:ext cx="1828799" cy="219456"/>
          </a:xfrm>
          <a:prstGeom prst="rect">
            <a:avLst/>
          </a:prstGeom>
          <a:noFill/>
        </p:spPr>
        <p:txBody>
          <a:bodyPr wrap="square" anchor="t" lIns="0" rIns="0" tIns="0" bIns="0">
            <a:spAutoFit/>
          </a:bodyPr>
          <a:lstStyle/>
          <a:p>
            <a:pPr algn="l"/>
            <a:r>
              <a:rPr sz="800" b="0">
                <a:solidFill>
                  <a:srgbClr val="5A6072"/>
                </a:solidFill>
                <a:latin typeface="Calibri"/>
              </a:rPr>
              <a:t>+30.9% MoM</a:t>
            </a:r>
          </a:p>
        </p:txBody>
      </p:sp>
      <p:sp>
        <p:nvSpPr>
          <p:cNvPr id="16" name="Rectangle 15"/>
          <p:cNvSpPr/>
          <p:nvPr/>
        </p:nvSpPr>
        <p:spPr>
          <a:xfrm>
            <a:off x="2697480" y="1828800"/>
            <a:ext cx="210312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697480"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80360" y="1874519"/>
            <a:ext cx="1828799" cy="274320"/>
          </a:xfrm>
          <a:prstGeom prst="rect">
            <a:avLst/>
          </a:prstGeom>
          <a:noFill/>
        </p:spPr>
        <p:txBody>
          <a:bodyPr wrap="square" anchor="t" lIns="0" rIns="0" tIns="0" bIns="0">
            <a:spAutoFit/>
          </a:bodyPr>
          <a:lstStyle/>
          <a:p>
            <a:pPr algn="l"/>
            <a:r>
              <a:rPr sz="800" b="1">
                <a:solidFill>
                  <a:srgbClr val="5A6072"/>
                </a:solidFill>
                <a:latin typeface="Calibri"/>
              </a:rPr>
              <a:t>IMPRESSIONS</a:t>
            </a:r>
          </a:p>
        </p:txBody>
      </p:sp>
      <p:sp>
        <p:nvSpPr>
          <p:cNvPr id="19" name="TextBox 18"/>
          <p:cNvSpPr txBox="1"/>
          <p:nvPr/>
        </p:nvSpPr>
        <p:spPr>
          <a:xfrm>
            <a:off x="2880360" y="2121408"/>
            <a:ext cx="1828799" cy="457200"/>
          </a:xfrm>
          <a:prstGeom prst="rect">
            <a:avLst/>
          </a:prstGeom>
          <a:noFill/>
        </p:spPr>
        <p:txBody>
          <a:bodyPr wrap="square" anchor="t" lIns="0" rIns="0" tIns="0" bIns="0">
            <a:spAutoFit/>
          </a:bodyPr>
          <a:lstStyle/>
          <a:p>
            <a:pPr algn="l"/>
            <a:r>
              <a:rPr sz="1500" b="1">
                <a:solidFill>
                  <a:srgbClr val="1E2761"/>
                </a:solidFill>
                <a:latin typeface="Calibri"/>
              </a:rPr>
              <a:t>125,392</a:t>
            </a:r>
          </a:p>
        </p:txBody>
      </p:sp>
      <p:sp>
        <p:nvSpPr>
          <p:cNvPr id="20" name="TextBox 19"/>
          <p:cNvSpPr txBox="1"/>
          <p:nvPr/>
        </p:nvSpPr>
        <p:spPr>
          <a:xfrm>
            <a:off x="2880360" y="2578608"/>
            <a:ext cx="1828799" cy="219456"/>
          </a:xfrm>
          <a:prstGeom prst="rect">
            <a:avLst/>
          </a:prstGeom>
          <a:noFill/>
        </p:spPr>
        <p:txBody>
          <a:bodyPr wrap="square" anchor="t" lIns="0" rIns="0" tIns="0" bIns="0">
            <a:spAutoFit/>
          </a:bodyPr>
          <a:lstStyle/>
          <a:p>
            <a:pPr algn="l"/>
            <a:r>
              <a:rPr sz="800" b="0">
                <a:solidFill>
                  <a:srgbClr val="5A6072"/>
                </a:solidFill>
                <a:latin typeface="Calibri"/>
              </a:rPr>
              <a:t>CTR 7.63%</a:t>
            </a:r>
          </a:p>
        </p:txBody>
      </p:sp>
      <p:sp>
        <p:nvSpPr>
          <p:cNvPr id="21" name="Rectangle 20"/>
          <p:cNvSpPr/>
          <p:nvPr/>
        </p:nvSpPr>
        <p:spPr>
          <a:xfrm>
            <a:off x="4937760" y="1828800"/>
            <a:ext cx="210312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0"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20640" y="1874519"/>
            <a:ext cx="1828799" cy="274320"/>
          </a:xfrm>
          <a:prstGeom prst="rect">
            <a:avLst/>
          </a:prstGeom>
          <a:noFill/>
        </p:spPr>
        <p:txBody>
          <a:bodyPr wrap="square" anchor="t" lIns="0" rIns="0" tIns="0" bIns="0">
            <a:spAutoFit/>
          </a:bodyPr>
          <a:lstStyle/>
          <a:p>
            <a:pPr algn="l"/>
            <a:r>
              <a:rPr sz="800" b="1">
                <a:solidFill>
                  <a:srgbClr val="5A6072"/>
                </a:solidFill>
                <a:latin typeface="Calibri"/>
              </a:rPr>
              <a:t>CLICKS</a:t>
            </a:r>
          </a:p>
        </p:txBody>
      </p:sp>
      <p:sp>
        <p:nvSpPr>
          <p:cNvPr id="24" name="TextBox 23"/>
          <p:cNvSpPr txBox="1"/>
          <p:nvPr/>
        </p:nvSpPr>
        <p:spPr>
          <a:xfrm>
            <a:off x="5120640" y="2121408"/>
            <a:ext cx="1828799" cy="457200"/>
          </a:xfrm>
          <a:prstGeom prst="rect">
            <a:avLst/>
          </a:prstGeom>
          <a:noFill/>
        </p:spPr>
        <p:txBody>
          <a:bodyPr wrap="square" anchor="t" lIns="0" rIns="0" tIns="0" bIns="0">
            <a:spAutoFit/>
          </a:bodyPr>
          <a:lstStyle/>
          <a:p>
            <a:pPr algn="l"/>
            <a:r>
              <a:rPr sz="1500" b="1">
                <a:solidFill>
                  <a:srgbClr val="1E2761"/>
                </a:solidFill>
                <a:latin typeface="Calibri"/>
              </a:rPr>
              <a:t>9,568</a:t>
            </a:r>
          </a:p>
        </p:txBody>
      </p:sp>
      <p:sp>
        <p:nvSpPr>
          <p:cNvPr id="25" name="TextBox 24"/>
          <p:cNvSpPr txBox="1"/>
          <p:nvPr/>
        </p:nvSpPr>
        <p:spPr>
          <a:xfrm>
            <a:off x="5120640" y="2578608"/>
            <a:ext cx="1828799" cy="219456"/>
          </a:xfrm>
          <a:prstGeom prst="rect">
            <a:avLst/>
          </a:prstGeom>
          <a:noFill/>
        </p:spPr>
        <p:txBody>
          <a:bodyPr wrap="square" anchor="t" lIns="0" rIns="0" tIns="0" bIns="0">
            <a:spAutoFit/>
          </a:bodyPr>
          <a:lstStyle/>
          <a:p>
            <a:pPr algn="l"/>
            <a:r>
              <a:rPr sz="800" b="0">
                <a:solidFill>
                  <a:srgbClr val="5A6072"/>
                </a:solidFill>
                <a:latin typeface="Calibri"/>
              </a:rPr>
              <a:t>avg CPC $3.08</a:t>
            </a:r>
          </a:p>
        </p:txBody>
      </p:sp>
      <p:sp>
        <p:nvSpPr>
          <p:cNvPr id="26" name="Rectangle 25"/>
          <p:cNvSpPr/>
          <p:nvPr/>
        </p:nvSpPr>
        <p:spPr>
          <a:xfrm>
            <a:off x="7178040" y="1828800"/>
            <a:ext cx="210312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178040"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60920" y="1874519"/>
            <a:ext cx="1828799" cy="274320"/>
          </a:xfrm>
          <a:prstGeom prst="rect">
            <a:avLst/>
          </a:prstGeom>
          <a:noFill/>
        </p:spPr>
        <p:txBody>
          <a:bodyPr wrap="square" anchor="t" lIns="0" rIns="0" tIns="0" bIns="0">
            <a:spAutoFit/>
          </a:bodyPr>
          <a:lstStyle/>
          <a:p>
            <a:pPr algn="l"/>
            <a:r>
              <a:rPr sz="800" b="1">
                <a:solidFill>
                  <a:srgbClr val="5A6072"/>
                </a:solidFill>
                <a:latin typeface="Calibri"/>
              </a:rPr>
              <a:t>SUBMITTED APPS</a:t>
            </a:r>
          </a:p>
        </p:txBody>
      </p:sp>
      <p:sp>
        <p:nvSpPr>
          <p:cNvPr id="29" name="TextBox 28"/>
          <p:cNvSpPr txBox="1"/>
          <p:nvPr/>
        </p:nvSpPr>
        <p:spPr>
          <a:xfrm>
            <a:off x="7360920" y="2121408"/>
            <a:ext cx="1828799" cy="457200"/>
          </a:xfrm>
          <a:prstGeom prst="rect">
            <a:avLst/>
          </a:prstGeom>
          <a:noFill/>
        </p:spPr>
        <p:txBody>
          <a:bodyPr wrap="square" anchor="t" lIns="0" rIns="0" tIns="0" bIns="0">
            <a:spAutoFit/>
          </a:bodyPr>
          <a:lstStyle/>
          <a:p>
            <a:pPr algn="l"/>
            <a:r>
              <a:rPr sz="1500" b="1">
                <a:solidFill>
                  <a:srgbClr val="1E2761"/>
                </a:solidFill>
                <a:latin typeface="Calibri"/>
              </a:rPr>
              <a:t>73</a:t>
            </a:r>
          </a:p>
        </p:txBody>
      </p:sp>
      <p:sp>
        <p:nvSpPr>
          <p:cNvPr id="30" name="TextBox 29"/>
          <p:cNvSpPr txBox="1"/>
          <p:nvPr/>
        </p:nvSpPr>
        <p:spPr>
          <a:xfrm>
            <a:off x="7360920" y="2578608"/>
            <a:ext cx="1828799" cy="219456"/>
          </a:xfrm>
          <a:prstGeom prst="rect">
            <a:avLst/>
          </a:prstGeom>
          <a:noFill/>
        </p:spPr>
        <p:txBody>
          <a:bodyPr wrap="square" anchor="t" lIns="0" rIns="0" tIns="0" bIns="0">
            <a:spAutoFit/>
          </a:bodyPr>
          <a:lstStyle/>
          <a:p>
            <a:pPr algn="l"/>
            <a:r>
              <a:rPr sz="800" b="0">
                <a:solidFill>
                  <a:srgbClr val="5A6072"/>
                </a:solidFill>
                <a:latin typeface="Calibri"/>
              </a:rPr>
              <a:t>+9.0% MoM</a:t>
            </a:r>
          </a:p>
        </p:txBody>
      </p:sp>
      <p:sp>
        <p:nvSpPr>
          <p:cNvPr id="31" name="Rectangle 30"/>
          <p:cNvSpPr/>
          <p:nvPr/>
        </p:nvSpPr>
        <p:spPr>
          <a:xfrm>
            <a:off x="9418320" y="1828800"/>
            <a:ext cx="210312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18320"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01200" y="1874519"/>
            <a:ext cx="1828799" cy="274320"/>
          </a:xfrm>
          <a:prstGeom prst="rect">
            <a:avLst/>
          </a:prstGeom>
          <a:noFill/>
        </p:spPr>
        <p:txBody>
          <a:bodyPr wrap="square" anchor="t" lIns="0" rIns="0" tIns="0" bIns="0">
            <a:spAutoFit/>
          </a:bodyPr>
          <a:lstStyle/>
          <a:p>
            <a:pPr algn="l"/>
            <a:r>
              <a:rPr sz="800" b="1">
                <a:solidFill>
                  <a:srgbClr val="5A6072"/>
                </a:solidFill>
                <a:latin typeface="Calibri"/>
              </a:rPr>
              <a:t>CPA</a:t>
            </a:r>
          </a:p>
        </p:txBody>
      </p:sp>
      <p:sp>
        <p:nvSpPr>
          <p:cNvPr id="34" name="TextBox 33"/>
          <p:cNvSpPr txBox="1"/>
          <p:nvPr/>
        </p:nvSpPr>
        <p:spPr>
          <a:xfrm>
            <a:off x="9601200" y="2121408"/>
            <a:ext cx="1828799" cy="457200"/>
          </a:xfrm>
          <a:prstGeom prst="rect">
            <a:avLst/>
          </a:prstGeom>
          <a:noFill/>
        </p:spPr>
        <p:txBody>
          <a:bodyPr wrap="square" anchor="t" lIns="0" rIns="0" tIns="0" bIns="0">
            <a:spAutoFit/>
          </a:bodyPr>
          <a:lstStyle/>
          <a:p>
            <a:pPr algn="l"/>
            <a:r>
              <a:rPr sz="1500" b="1">
                <a:solidFill>
                  <a:srgbClr val="1E2761"/>
                </a:solidFill>
                <a:latin typeface="Calibri"/>
              </a:rPr>
              <a:t>$403.81</a:t>
            </a:r>
          </a:p>
        </p:txBody>
      </p:sp>
      <p:sp>
        <p:nvSpPr>
          <p:cNvPr id="35" name="TextBox 34"/>
          <p:cNvSpPr txBox="1"/>
          <p:nvPr/>
        </p:nvSpPr>
        <p:spPr>
          <a:xfrm>
            <a:off x="9601200" y="2578608"/>
            <a:ext cx="1828799" cy="219456"/>
          </a:xfrm>
          <a:prstGeom prst="rect">
            <a:avLst/>
          </a:prstGeom>
          <a:noFill/>
        </p:spPr>
        <p:txBody>
          <a:bodyPr wrap="square" anchor="t" lIns="0" rIns="0" tIns="0" bIns="0">
            <a:spAutoFit/>
          </a:bodyPr>
          <a:lstStyle/>
          <a:p>
            <a:pPr algn="l"/>
            <a:r>
              <a:rPr sz="800" b="0">
                <a:solidFill>
                  <a:srgbClr val="5A6072"/>
                </a:solidFill>
                <a:latin typeface="Calibri"/>
              </a:rPr>
              <a:t>+20.1% MoM</a:t>
            </a:r>
          </a:p>
        </p:txBody>
      </p:sp>
      <p:graphicFrame>
        <p:nvGraphicFramePr>
          <p:cNvPr id="36" name="Table 35"/>
          <p:cNvGraphicFramePr>
            <a:graphicFrameLocks noGrp="1"/>
          </p:cNvGraphicFramePr>
          <p:nvPr/>
        </p:nvGraphicFramePr>
        <p:xfrm>
          <a:off x="457200" y="3383280"/>
          <a:ext cx="6766560" cy="2926080"/>
        </p:xfrm>
        <a:graphic>
          <a:graphicData uri="http://schemas.openxmlformats.org/drawingml/2006/table">
            <a:tbl>
              <a:tblPr>
                <a:tableStyleId>{5C22544A-7EE6-4342-B048-85BDC9FD1C3A}</a:tableStyleId>
              </a:tblPr>
              <a:tblGrid>
                <a:gridCol w="3017520"/>
                <a:gridCol w="1005840"/>
                <a:gridCol w="1097280"/>
                <a:gridCol w="640080"/>
                <a:gridCol w="1005840"/>
              </a:tblGrid>
              <a:tr h="325120">
                <a:tc>
                  <a:txBody>
                    <a:bodyPr/>
                    <a:lstStyle/>
                    <a:p>
                      <a:pPr algn="l"/>
                      <a:r>
                        <a:rPr sz="850" b="1">
                          <a:solidFill>
                            <a:srgbClr val="FFFFFF"/>
                          </a:solidFill>
                          <a:latin typeface="Calibri"/>
                        </a:rPr>
                        <a:t>Keyword</a:t>
                      </a:r>
                    </a:p>
                  </a:txBody>
                  <a:tcPr marL="54864" marR="54864" marT="27432" marB="27432">
                    <a:solidFill>
                      <a:srgbClr val="1E2761"/>
                    </a:solidFill>
                  </a:tcPr>
                </a:tc>
                <a:tc>
                  <a:txBody>
                    <a:bodyPr/>
                    <a:lstStyle/>
                    <a:p>
                      <a:pPr algn="r"/>
                      <a:r>
                        <a:rPr sz="850" b="1">
                          <a:solidFill>
                            <a:srgbClr val="FFFFFF"/>
                          </a:solidFill>
                          <a:latin typeface="Calibri"/>
                        </a:rPr>
                        <a:t>Track</a:t>
                      </a:r>
                    </a:p>
                  </a:txBody>
                  <a:tcPr marL="54864" marR="54864" marT="27432" marB="27432">
                    <a:solidFill>
                      <a:srgbClr val="1E2761"/>
                    </a:solidFill>
                  </a:tcPr>
                </a:tc>
                <a:tc>
                  <a:txBody>
                    <a:bodyPr/>
                    <a:lstStyle/>
                    <a:p>
                      <a:pPr algn="r"/>
                      <a:r>
                        <a:rPr sz="850" b="1">
                          <a:solidFill>
                            <a:srgbClr val="FFFFFF"/>
                          </a:solidFill>
                          <a:latin typeface="Calibri"/>
                        </a:rPr>
                        <a:t>Spend</a:t>
                      </a:r>
                    </a:p>
                  </a:txBody>
                  <a:tcPr marL="54864" marR="54864" marT="27432" marB="27432">
                    <a:solidFill>
                      <a:srgbClr val="1E2761"/>
                    </a:solidFill>
                  </a:tcPr>
                </a:tc>
                <a:tc>
                  <a:txBody>
                    <a:bodyPr/>
                    <a:lstStyle/>
                    <a:p>
                      <a:pPr algn="r"/>
                      <a:r>
                        <a:rPr sz="850" b="1">
                          <a:solidFill>
                            <a:srgbClr val="FFFFFF"/>
                          </a:solidFill>
                          <a:latin typeface="Calibri"/>
                        </a:rPr>
                        <a:t>Apps</a:t>
                      </a:r>
                    </a:p>
                  </a:txBody>
                  <a:tcPr marL="54864" marR="54864" marT="27432" marB="27432">
                    <a:solidFill>
                      <a:srgbClr val="1E2761"/>
                    </a:solidFill>
                  </a:tcPr>
                </a:tc>
                <a:tc>
                  <a:txBody>
                    <a:bodyPr/>
                    <a:lstStyle/>
                    <a:p>
                      <a:pPr algn="r"/>
                      <a:r>
                        <a:rPr sz="850" b="1">
                          <a:solidFill>
                            <a:srgbClr val="FFFFFF"/>
                          </a:solidFill>
                          <a:latin typeface="Calibri"/>
                        </a:rPr>
                        <a:t>CPA</a:t>
                      </a:r>
                    </a:p>
                  </a:txBody>
                  <a:tcPr marL="54864" marR="54864" marT="27432" marB="27432">
                    <a:solidFill>
                      <a:srgbClr val="1E2761"/>
                    </a:solidFill>
                  </a:tcPr>
                </a:tc>
              </a:tr>
              <a:tr h="325120">
                <a:tc>
                  <a:txBody>
                    <a:bodyPr/>
                    <a:lstStyle/>
                    <a:p>
                      <a:pPr algn="l"/>
                      <a:r>
                        <a:rPr sz="850" b="1">
                          <a:solidFill>
                            <a:srgbClr val="2B3147"/>
                          </a:solidFill>
                          <a:latin typeface="Calibri"/>
                        </a:rPr>
                        <a:t>broker forex usa (broad)</a:t>
                      </a:r>
                    </a:p>
                  </a:txBody>
                  <a:tcPr marL="54864" marR="54864" marT="27432" marB="27432">
                    <a:solidFill>
                      <a:srgbClr val="FFFFFF"/>
                    </a:solidFill>
                  </a:tcPr>
                </a:tc>
                <a:tc>
                  <a:txBody>
                    <a:bodyPr/>
                    <a:lstStyle/>
                    <a:p>
                      <a:pPr algn="r"/>
                      <a:r>
                        <a:rPr sz="850" b="0">
                          <a:solidFill>
                            <a:srgbClr val="2B3147"/>
                          </a:solidFill>
                          <a:latin typeface="Calibri"/>
                        </a:rPr>
                        <a:t>Authority</a:t>
                      </a:r>
                    </a:p>
                  </a:txBody>
                  <a:tcPr marL="54864" marR="54864" marT="27432" marB="27432">
                    <a:solidFill>
                      <a:srgbClr val="FFFFFF"/>
                    </a:solidFill>
                  </a:tcPr>
                </a:tc>
                <a:tc>
                  <a:txBody>
                    <a:bodyPr/>
                    <a:lstStyle/>
                    <a:p>
                      <a:pPr algn="r"/>
                      <a:r>
                        <a:rPr sz="850" b="0">
                          <a:solidFill>
                            <a:srgbClr val="2B3147"/>
                          </a:solidFill>
                          <a:latin typeface="Calibri"/>
                        </a:rPr>
                        <a:t>$4,233.86</a:t>
                      </a:r>
                    </a:p>
                  </a:txBody>
                  <a:tcPr marL="54864" marR="54864" marT="27432" marB="27432">
                    <a:solidFill>
                      <a:srgbClr val="FFFFFF"/>
                    </a:solidFill>
                  </a:tcPr>
                </a:tc>
                <a:tc>
                  <a:txBody>
                    <a:bodyPr/>
                    <a:lstStyle/>
                    <a:p>
                      <a:pPr algn="r"/>
                      <a:r>
                        <a:rPr sz="850" b="0">
                          <a:solidFill>
                            <a:srgbClr val="2B3147"/>
                          </a:solidFill>
                          <a:latin typeface="Calibri"/>
                        </a:rPr>
                        <a:t>15</a:t>
                      </a:r>
                    </a:p>
                  </a:txBody>
                  <a:tcPr marL="54864" marR="54864" marT="27432" marB="27432">
                    <a:solidFill>
                      <a:srgbClr val="FFFFFF"/>
                    </a:solidFill>
                  </a:tcPr>
                </a:tc>
                <a:tc>
                  <a:txBody>
                    <a:bodyPr/>
                    <a:lstStyle/>
                    <a:p>
                      <a:pPr algn="r"/>
                      <a:r>
                        <a:rPr sz="850" b="0">
                          <a:solidFill>
                            <a:srgbClr val="2B3147"/>
                          </a:solidFill>
                          <a:latin typeface="Calibri"/>
                        </a:rPr>
                        <a:t>$282.26</a:t>
                      </a:r>
                    </a:p>
                  </a:txBody>
                  <a:tcPr marL="54864" marR="54864" marT="27432" marB="27432">
                    <a:solidFill>
                      <a:srgbClr val="FFFFFF"/>
                    </a:solidFill>
                  </a:tcPr>
                </a:tc>
              </a:tr>
              <a:tr h="325120">
                <a:tc>
                  <a:txBody>
                    <a:bodyPr/>
                    <a:lstStyle/>
                    <a:p>
                      <a:pPr algn="l"/>
                      <a:r>
                        <a:rPr sz="850" b="1">
                          <a:solidFill>
                            <a:srgbClr val="2B3147"/>
                          </a:solidFill>
                          <a:latin typeface="Calibri"/>
                        </a:rPr>
                        <a:t>broker estados unidos</a:t>
                      </a:r>
                    </a:p>
                  </a:txBody>
                  <a:tcPr marL="54864" marR="54864" marT="27432" marB="27432">
                    <a:solidFill>
                      <a:srgbClr val="F9FAFC"/>
                    </a:solidFill>
                  </a:tcPr>
                </a:tc>
                <a:tc>
                  <a:txBody>
                    <a:bodyPr/>
                    <a:lstStyle/>
                    <a:p>
                      <a:pPr algn="r"/>
                      <a:r>
                        <a:rPr sz="850" b="0">
                          <a:solidFill>
                            <a:srgbClr val="2B3147"/>
                          </a:solidFill>
                          <a:latin typeface="Calibri"/>
                        </a:rPr>
                        <a:t>Authority</a:t>
                      </a:r>
                    </a:p>
                  </a:txBody>
                  <a:tcPr marL="54864" marR="54864" marT="27432" marB="27432">
                    <a:solidFill>
                      <a:srgbClr val="F9FAFC"/>
                    </a:solidFill>
                  </a:tcPr>
                </a:tc>
                <a:tc>
                  <a:txBody>
                    <a:bodyPr/>
                    <a:lstStyle/>
                    <a:p>
                      <a:pPr algn="r"/>
                      <a:r>
                        <a:rPr sz="850" b="0">
                          <a:solidFill>
                            <a:srgbClr val="2B3147"/>
                          </a:solidFill>
                          <a:latin typeface="Calibri"/>
                        </a:rPr>
                        <a:t>$2,850.14</a:t>
                      </a:r>
                    </a:p>
                  </a:txBody>
                  <a:tcPr marL="54864" marR="54864" marT="27432" marB="27432">
                    <a:solidFill>
                      <a:srgbClr val="F9FAFC"/>
                    </a:solidFill>
                  </a:tcPr>
                </a:tc>
                <a:tc>
                  <a:txBody>
                    <a:bodyPr/>
                    <a:lstStyle/>
                    <a:p>
                      <a:pPr algn="r"/>
                      <a:r>
                        <a:rPr sz="850" b="0">
                          <a:solidFill>
                            <a:srgbClr val="2B3147"/>
                          </a:solidFill>
                          <a:latin typeface="Calibri"/>
                        </a:rPr>
                        <a:t>3</a:t>
                      </a:r>
                    </a:p>
                  </a:txBody>
                  <a:tcPr marL="54864" marR="54864" marT="27432" marB="27432">
                    <a:solidFill>
                      <a:srgbClr val="F9FAFC"/>
                    </a:solidFill>
                  </a:tcPr>
                </a:tc>
                <a:tc>
                  <a:txBody>
                    <a:bodyPr/>
                    <a:lstStyle/>
                    <a:p>
                      <a:pPr algn="r"/>
                      <a:r>
                        <a:rPr sz="850" b="0">
                          <a:solidFill>
                            <a:srgbClr val="2B3147"/>
                          </a:solidFill>
                          <a:latin typeface="Calibri"/>
                        </a:rPr>
                        <a:t>$950.05</a:t>
                      </a:r>
                    </a:p>
                  </a:txBody>
                  <a:tcPr marL="54864" marR="54864" marT="27432" marB="27432">
                    <a:solidFill>
                      <a:srgbClr val="F9FAFC"/>
                    </a:solidFill>
                  </a:tcPr>
                </a:tc>
              </a:tr>
              <a:tr h="325120">
                <a:tc>
                  <a:txBody>
                    <a:bodyPr/>
                    <a:lstStyle/>
                    <a:p>
                      <a:pPr algn="l"/>
                      <a:r>
                        <a:rPr sz="850" b="1">
                          <a:solidFill>
                            <a:srgbClr val="2B3147"/>
                          </a:solidFill>
                          <a:latin typeface="Calibri"/>
                        </a:rPr>
                        <a:t>plataforma de trading</a:t>
                      </a:r>
                    </a:p>
                  </a:txBody>
                  <a:tcPr marL="54864" marR="54864" marT="27432" marB="27432">
                    <a:solidFill>
                      <a:srgbClr val="FFFFFF"/>
                    </a:solidFill>
                  </a:tcPr>
                </a:tc>
                <a:tc>
                  <a:txBody>
                    <a:bodyPr/>
                    <a:lstStyle/>
                    <a:p>
                      <a:pPr algn="r"/>
                      <a:r>
                        <a:rPr sz="850" b="0">
                          <a:solidFill>
                            <a:srgbClr val="2B3147"/>
                          </a:solidFill>
                          <a:latin typeface="Calibri"/>
                        </a:rPr>
                        <a:t>Platform</a:t>
                      </a:r>
                    </a:p>
                  </a:txBody>
                  <a:tcPr marL="54864" marR="54864" marT="27432" marB="27432">
                    <a:solidFill>
                      <a:srgbClr val="FFFFFF"/>
                    </a:solidFill>
                  </a:tcPr>
                </a:tc>
                <a:tc>
                  <a:txBody>
                    <a:bodyPr/>
                    <a:lstStyle/>
                    <a:p>
                      <a:pPr algn="r"/>
                      <a:r>
                        <a:rPr sz="850" b="0">
                          <a:solidFill>
                            <a:srgbClr val="2B3147"/>
                          </a:solidFill>
                          <a:latin typeface="Calibri"/>
                        </a:rPr>
                        <a:t>$2,445.17</a:t>
                      </a:r>
                    </a:p>
                  </a:txBody>
                  <a:tcPr marL="54864" marR="54864" marT="27432" marB="27432">
                    <a:solidFill>
                      <a:srgbClr val="FFFFFF"/>
                    </a:solidFill>
                  </a:tcPr>
                </a:tc>
                <a:tc>
                  <a:txBody>
                    <a:bodyPr/>
                    <a:lstStyle/>
                    <a:p>
                      <a:pPr algn="r"/>
                      <a:r>
                        <a:rPr sz="850" b="0">
                          <a:solidFill>
                            <a:srgbClr val="2B3147"/>
                          </a:solidFill>
                          <a:latin typeface="Calibri"/>
                        </a:rPr>
                        <a:t>7</a:t>
                      </a:r>
                    </a:p>
                  </a:txBody>
                  <a:tcPr marL="54864" marR="54864" marT="27432" marB="27432">
                    <a:solidFill>
                      <a:srgbClr val="FFFFFF"/>
                    </a:solidFill>
                  </a:tcPr>
                </a:tc>
                <a:tc>
                  <a:txBody>
                    <a:bodyPr/>
                    <a:lstStyle/>
                    <a:p>
                      <a:pPr algn="r"/>
                      <a:r>
                        <a:rPr sz="850" b="0">
                          <a:solidFill>
                            <a:srgbClr val="2B3147"/>
                          </a:solidFill>
                          <a:latin typeface="Calibri"/>
                        </a:rPr>
                        <a:t>$349.31</a:t>
                      </a:r>
                    </a:p>
                  </a:txBody>
                  <a:tcPr marL="54864" marR="54864" marT="27432" marB="27432">
                    <a:solidFill>
                      <a:srgbClr val="FFFFFF"/>
                    </a:solidFill>
                  </a:tcPr>
                </a:tc>
              </a:tr>
              <a:tr h="325120">
                <a:tc>
                  <a:txBody>
                    <a:bodyPr/>
                    <a:lstStyle/>
                    <a:p>
                      <a:pPr algn="l"/>
                      <a:r>
                        <a:rPr sz="850" b="1">
                          <a:solidFill>
                            <a:srgbClr val="2B3147"/>
                          </a:solidFill>
                          <a:latin typeface="Calibri"/>
                        </a:rPr>
                        <a:t>invertir en forex</a:t>
                      </a:r>
                    </a:p>
                  </a:txBody>
                  <a:tcPr marL="54864" marR="54864" marT="27432" marB="27432">
                    <a:solidFill>
                      <a:srgbClr val="F9FAFC"/>
                    </a:solidFill>
                  </a:tcPr>
                </a:tc>
                <a:tc>
                  <a:txBody>
                    <a:bodyPr/>
                    <a:lstStyle/>
                    <a:p>
                      <a:pPr algn="r"/>
                      <a:r>
                        <a:rPr sz="850" b="0">
                          <a:solidFill>
                            <a:srgbClr val="2B3147"/>
                          </a:solidFill>
                          <a:latin typeface="Calibri"/>
                        </a:rPr>
                        <a:t>Trust</a:t>
                      </a:r>
                    </a:p>
                  </a:txBody>
                  <a:tcPr marL="54864" marR="54864" marT="27432" marB="27432">
                    <a:solidFill>
                      <a:srgbClr val="F9FAFC"/>
                    </a:solidFill>
                  </a:tcPr>
                </a:tc>
                <a:tc>
                  <a:txBody>
                    <a:bodyPr/>
                    <a:lstStyle/>
                    <a:p>
                      <a:pPr algn="r"/>
                      <a:r>
                        <a:rPr sz="850" b="0">
                          <a:solidFill>
                            <a:srgbClr val="2B3147"/>
                          </a:solidFill>
                          <a:latin typeface="Calibri"/>
                        </a:rPr>
                        <a:t>$2,331.88</a:t>
                      </a:r>
                    </a:p>
                  </a:txBody>
                  <a:tcPr marL="54864" marR="54864" marT="27432" marB="27432">
                    <a:solidFill>
                      <a:srgbClr val="F9FAFC"/>
                    </a:solidFill>
                  </a:tcPr>
                </a:tc>
                <a:tc>
                  <a:txBody>
                    <a:bodyPr/>
                    <a:lstStyle/>
                    <a:p>
                      <a:pPr algn="r"/>
                      <a:r>
                        <a:rPr sz="850" b="0">
                          <a:solidFill>
                            <a:srgbClr val="2B3147"/>
                          </a:solidFill>
                          <a:latin typeface="Calibri"/>
                        </a:rPr>
                        <a:t>2</a:t>
                      </a:r>
                    </a:p>
                  </a:txBody>
                  <a:tcPr marL="54864" marR="54864" marT="27432" marB="27432">
                    <a:solidFill>
                      <a:srgbClr val="F9FAFC"/>
                    </a:solidFill>
                  </a:tcPr>
                </a:tc>
                <a:tc>
                  <a:txBody>
                    <a:bodyPr/>
                    <a:lstStyle/>
                    <a:p>
                      <a:pPr algn="r"/>
                      <a:r>
                        <a:rPr sz="850" b="0">
                          <a:solidFill>
                            <a:srgbClr val="2B3147"/>
                          </a:solidFill>
                          <a:latin typeface="Calibri"/>
                        </a:rPr>
                        <a:t>$1,165.94</a:t>
                      </a:r>
                    </a:p>
                  </a:txBody>
                  <a:tcPr marL="54864" marR="54864" marT="27432" marB="27432">
                    <a:solidFill>
                      <a:srgbClr val="F9FAFC"/>
                    </a:solidFill>
                  </a:tcPr>
                </a:tc>
              </a:tr>
              <a:tr h="325120">
                <a:tc>
                  <a:txBody>
                    <a:bodyPr/>
                    <a:lstStyle/>
                    <a:p>
                      <a:pPr algn="l"/>
                      <a:r>
                        <a:rPr sz="850" b="1">
                          <a:solidFill>
                            <a:srgbClr val="2B3147"/>
                          </a:solidFill>
                          <a:latin typeface="Calibri"/>
                        </a:rPr>
                        <a:t>forex com español</a:t>
                      </a:r>
                    </a:p>
                  </a:txBody>
                  <a:tcPr marL="54864" marR="54864" marT="27432" marB="27432">
                    <a:solidFill>
                      <a:srgbClr val="FFFFFF"/>
                    </a:solidFill>
                  </a:tcPr>
                </a:tc>
                <a:tc>
                  <a:txBody>
                    <a:bodyPr/>
                    <a:lstStyle/>
                    <a:p>
                      <a:pPr algn="r"/>
                      <a:r>
                        <a:rPr sz="850" b="0">
                          <a:solidFill>
                            <a:srgbClr val="2B3147"/>
                          </a:solidFill>
                          <a:latin typeface="Calibri"/>
                        </a:rPr>
                        <a:t>Brand</a:t>
                      </a:r>
                    </a:p>
                  </a:txBody>
                  <a:tcPr marL="54864" marR="54864" marT="27432" marB="27432">
                    <a:solidFill>
                      <a:srgbClr val="FFFFFF"/>
                    </a:solidFill>
                  </a:tcPr>
                </a:tc>
                <a:tc>
                  <a:txBody>
                    <a:bodyPr/>
                    <a:lstStyle/>
                    <a:p>
                      <a:pPr algn="r"/>
                      <a:r>
                        <a:rPr sz="850" b="0">
                          <a:solidFill>
                            <a:srgbClr val="2B3147"/>
                          </a:solidFill>
                          <a:latin typeface="Calibri"/>
                        </a:rPr>
                        <a:t>$2,061.70</a:t>
                      </a:r>
                    </a:p>
                  </a:txBody>
                  <a:tcPr marL="54864" marR="54864" marT="27432" marB="27432">
                    <a:solidFill>
                      <a:srgbClr val="FFFFFF"/>
                    </a:solidFill>
                  </a:tcPr>
                </a:tc>
                <a:tc>
                  <a:txBody>
                    <a:bodyPr/>
                    <a:lstStyle/>
                    <a:p>
                      <a:pPr algn="r"/>
                      <a:r>
                        <a:rPr sz="850" b="0">
                          <a:solidFill>
                            <a:srgbClr val="2B3147"/>
                          </a:solidFill>
                          <a:latin typeface="Calibri"/>
                        </a:rPr>
                        <a:t>5</a:t>
                      </a:r>
                    </a:p>
                  </a:txBody>
                  <a:tcPr marL="54864" marR="54864" marT="27432" marB="27432">
                    <a:solidFill>
                      <a:srgbClr val="FFFFFF"/>
                    </a:solidFill>
                  </a:tcPr>
                </a:tc>
                <a:tc>
                  <a:txBody>
                    <a:bodyPr/>
                    <a:lstStyle/>
                    <a:p>
                      <a:pPr algn="r"/>
                      <a:r>
                        <a:rPr sz="850" b="0">
                          <a:solidFill>
                            <a:srgbClr val="2B3147"/>
                          </a:solidFill>
                          <a:latin typeface="Calibri"/>
                        </a:rPr>
                        <a:t>$412.34</a:t>
                      </a:r>
                    </a:p>
                  </a:txBody>
                  <a:tcPr marL="54864" marR="54864" marT="27432" marB="27432">
                    <a:solidFill>
                      <a:srgbClr val="FFFFFF"/>
                    </a:solidFill>
                  </a:tcPr>
                </a:tc>
              </a:tr>
              <a:tr h="325120">
                <a:tc>
                  <a:txBody>
                    <a:bodyPr/>
                    <a:lstStyle/>
                    <a:p>
                      <a:pPr algn="l"/>
                      <a:r>
                        <a:rPr sz="850" b="1">
                          <a:solidFill>
                            <a:srgbClr val="2B3147"/>
                          </a:solidFill>
                          <a:latin typeface="Calibri"/>
                        </a:rPr>
                        <a:t>plataforma trading profesional</a:t>
                      </a:r>
                    </a:p>
                  </a:txBody>
                  <a:tcPr marL="54864" marR="54864" marT="27432" marB="27432">
                    <a:solidFill>
                      <a:srgbClr val="F9FAFC"/>
                    </a:solidFill>
                  </a:tcPr>
                </a:tc>
                <a:tc>
                  <a:txBody>
                    <a:bodyPr/>
                    <a:lstStyle/>
                    <a:p>
                      <a:pPr algn="r"/>
                      <a:r>
                        <a:rPr sz="850" b="0">
                          <a:solidFill>
                            <a:srgbClr val="2B3147"/>
                          </a:solidFill>
                          <a:latin typeface="Calibri"/>
                        </a:rPr>
                        <a:t>Platform</a:t>
                      </a:r>
                    </a:p>
                  </a:txBody>
                  <a:tcPr marL="54864" marR="54864" marT="27432" marB="27432">
                    <a:solidFill>
                      <a:srgbClr val="F9FAFC"/>
                    </a:solidFill>
                  </a:tcPr>
                </a:tc>
                <a:tc>
                  <a:txBody>
                    <a:bodyPr/>
                    <a:lstStyle/>
                    <a:p>
                      <a:pPr algn="r"/>
                      <a:r>
                        <a:rPr sz="850" b="0">
                          <a:solidFill>
                            <a:srgbClr val="2B3147"/>
                          </a:solidFill>
                          <a:latin typeface="Calibri"/>
                        </a:rPr>
                        <a:t>$1,367.44</a:t>
                      </a:r>
                    </a:p>
                  </a:txBody>
                  <a:tcPr marL="54864" marR="54864" marT="27432" marB="27432">
                    <a:solidFill>
                      <a:srgbClr val="F9FAFC"/>
                    </a:solidFill>
                  </a:tcPr>
                </a:tc>
                <a:tc>
                  <a:txBody>
                    <a:bodyPr/>
                    <a:lstStyle/>
                    <a:p>
                      <a:pPr algn="r"/>
                      <a:r>
                        <a:rPr sz="850" b="0">
                          <a:solidFill>
                            <a:srgbClr val="2B3147"/>
                          </a:solidFill>
                          <a:latin typeface="Calibri"/>
                        </a:rPr>
                        <a:t>4</a:t>
                      </a:r>
                    </a:p>
                  </a:txBody>
                  <a:tcPr marL="54864" marR="54864" marT="27432" marB="27432">
                    <a:solidFill>
                      <a:srgbClr val="F9FAFC"/>
                    </a:solidFill>
                  </a:tcPr>
                </a:tc>
                <a:tc>
                  <a:txBody>
                    <a:bodyPr/>
                    <a:lstStyle/>
                    <a:p>
                      <a:pPr algn="r"/>
                      <a:r>
                        <a:rPr sz="850" b="0">
                          <a:solidFill>
                            <a:srgbClr val="2B3147"/>
                          </a:solidFill>
                          <a:latin typeface="Calibri"/>
                        </a:rPr>
                        <a:t>$341.86</a:t>
                      </a:r>
                    </a:p>
                  </a:txBody>
                  <a:tcPr marL="54864" marR="54864" marT="27432" marB="27432">
                    <a:solidFill>
                      <a:srgbClr val="F9FAFC"/>
                    </a:solidFill>
                  </a:tcPr>
                </a:tc>
              </a:tr>
              <a:tr h="325120">
                <a:tc>
                  <a:txBody>
                    <a:bodyPr/>
                    <a:lstStyle/>
                    <a:p>
                      <a:pPr algn="l"/>
                      <a:r>
                        <a:rPr sz="850" b="1">
                          <a:solidFill>
                            <a:srgbClr val="2B3147"/>
                          </a:solidFill>
                          <a:latin typeface="Calibri"/>
                        </a:rPr>
                        <a:t>forex confiable</a:t>
                      </a:r>
                    </a:p>
                  </a:txBody>
                  <a:tcPr marL="54864" marR="54864" marT="27432" marB="27432">
                    <a:solidFill>
                      <a:srgbClr val="FFFFFF"/>
                    </a:solidFill>
                  </a:tcPr>
                </a:tc>
                <a:tc>
                  <a:txBody>
                    <a:bodyPr/>
                    <a:lstStyle/>
                    <a:p>
                      <a:pPr algn="r"/>
                      <a:r>
                        <a:rPr sz="850" b="0">
                          <a:solidFill>
                            <a:srgbClr val="2B3147"/>
                          </a:solidFill>
                          <a:latin typeface="Calibri"/>
                        </a:rPr>
                        <a:t>Trust</a:t>
                      </a:r>
                    </a:p>
                  </a:txBody>
                  <a:tcPr marL="54864" marR="54864" marT="27432" marB="27432">
                    <a:solidFill>
                      <a:srgbClr val="FFFFFF"/>
                    </a:solidFill>
                  </a:tcPr>
                </a:tc>
                <a:tc>
                  <a:txBody>
                    <a:bodyPr/>
                    <a:lstStyle/>
                    <a:p>
                      <a:pPr algn="r"/>
                      <a:r>
                        <a:rPr sz="850" b="0">
                          <a:solidFill>
                            <a:srgbClr val="2B3147"/>
                          </a:solidFill>
                          <a:latin typeface="Calibri"/>
                        </a:rPr>
                        <a:t>$1,288.42</a:t>
                      </a:r>
                    </a:p>
                  </a:txBody>
                  <a:tcPr marL="54864" marR="54864" marT="27432" marB="27432">
                    <a:solidFill>
                      <a:srgbClr val="FFFFFF"/>
                    </a:solidFill>
                  </a:tcPr>
                </a:tc>
                <a:tc>
                  <a:txBody>
                    <a:bodyPr/>
                    <a:lstStyle/>
                    <a:p>
                      <a:pPr algn="r"/>
                      <a:r>
                        <a:rPr sz="850" b="0">
                          <a:solidFill>
                            <a:srgbClr val="2B3147"/>
                          </a:solidFill>
                          <a:latin typeface="Calibri"/>
                        </a:rPr>
                        <a:t>9</a:t>
                      </a:r>
                    </a:p>
                  </a:txBody>
                  <a:tcPr marL="54864" marR="54864" marT="27432" marB="27432">
                    <a:solidFill>
                      <a:srgbClr val="FFFFFF"/>
                    </a:solidFill>
                  </a:tcPr>
                </a:tc>
                <a:tc>
                  <a:txBody>
                    <a:bodyPr/>
                    <a:lstStyle/>
                    <a:p>
                      <a:pPr algn="r"/>
                      <a:r>
                        <a:rPr sz="850" b="0">
                          <a:solidFill>
                            <a:srgbClr val="2B3147"/>
                          </a:solidFill>
                          <a:latin typeface="Calibri"/>
                        </a:rPr>
                        <a:t>$143.16</a:t>
                      </a:r>
                    </a:p>
                  </a:txBody>
                  <a:tcPr marL="54864" marR="54864" marT="27432" marB="27432">
                    <a:solidFill>
                      <a:srgbClr val="FFFFFF"/>
                    </a:solidFill>
                  </a:tcPr>
                </a:tc>
              </a:tr>
              <a:tr h="325120">
                <a:tc>
                  <a:txBody>
                    <a:bodyPr/>
                    <a:lstStyle/>
                    <a:p>
                      <a:pPr algn="l"/>
                      <a:r>
                        <a:rPr sz="850" b="1">
                          <a:solidFill>
                            <a:srgbClr val="2B3147"/>
                          </a:solidFill>
                          <a:latin typeface="Calibri"/>
                        </a:rPr>
                        <a:t>como hacer trading (2nd ad group)</a:t>
                      </a:r>
                    </a:p>
                  </a:txBody>
                  <a:tcPr marL="54864" marR="54864" marT="27432" marB="27432">
                    <a:solidFill>
                      <a:srgbClr val="F9FAFC"/>
                    </a:solidFill>
                  </a:tcPr>
                </a:tc>
                <a:tc>
                  <a:txBody>
                    <a:bodyPr/>
                    <a:lstStyle/>
                    <a:p>
                      <a:pPr algn="r"/>
                      <a:r>
                        <a:rPr sz="850" b="0">
                          <a:solidFill>
                            <a:srgbClr val="2B3147"/>
                          </a:solidFill>
                          <a:latin typeface="Calibri"/>
                        </a:rPr>
                        <a:t>Trust</a:t>
                      </a:r>
                    </a:p>
                  </a:txBody>
                  <a:tcPr marL="54864" marR="54864" marT="27432" marB="27432">
                    <a:solidFill>
                      <a:srgbClr val="F9FAFC"/>
                    </a:solidFill>
                  </a:tcPr>
                </a:tc>
                <a:tc>
                  <a:txBody>
                    <a:bodyPr/>
                    <a:lstStyle/>
                    <a:p>
                      <a:pPr algn="r"/>
                      <a:r>
                        <a:rPr sz="850" b="0">
                          <a:solidFill>
                            <a:srgbClr val="2B3147"/>
                          </a:solidFill>
                          <a:latin typeface="Calibri"/>
                        </a:rPr>
                        <a:t>$668.66</a:t>
                      </a:r>
                    </a:p>
                  </a:txBody>
                  <a:tcPr marL="54864" marR="54864" marT="27432" marB="27432">
                    <a:solidFill>
                      <a:srgbClr val="F9FAFC"/>
                    </a:solidFill>
                  </a:tcPr>
                </a:tc>
                <a:tc>
                  <a:txBody>
                    <a:bodyPr/>
                    <a:lstStyle/>
                    <a:p>
                      <a:pPr algn="r"/>
                      <a:r>
                        <a:rPr sz="850" b="0">
                          <a:solidFill>
                            <a:srgbClr val="2B3147"/>
                          </a:solidFill>
                          <a:latin typeface="Calibri"/>
                        </a:rPr>
                        <a:t>6</a:t>
                      </a:r>
                    </a:p>
                  </a:txBody>
                  <a:tcPr marL="54864" marR="54864" marT="27432" marB="27432">
                    <a:solidFill>
                      <a:srgbClr val="F9FAFC"/>
                    </a:solidFill>
                  </a:tcPr>
                </a:tc>
                <a:tc>
                  <a:txBody>
                    <a:bodyPr/>
                    <a:lstStyle/>
                    <a:p>
                      <a:pPr algn="r"/>
                      <a:r>
                        <a:rPr sz="850" b="0">
                          <a:solidFill>
                            <a:srgbClr val="2B3147"/>
                          </a:solidFill>
                          <a:latin typeface="Calibri"/>
                        </a:rPr>
                        <a:t>$111.44</a:t>
                      </a:r>
                    </a:p>
                  </a:txBody>
                  <a:tcPr marL="54864" marR="54864" marT="27432" marB="27432">
                    <a:solidFill>
                      <a:srgbClr val="F9FAFC"/>
                    </a:solidFill>
                  </a:tcPr>
                </a:tc>
              </a:tr>
            </a:tbl>
          </a:graphicData>
        </a:graphic>
      </p:graphicFrame>
      <p:sp>
        <p:nvSpPr>
          <p:cNvPr id="37" name="TextBox 36"/>
          <p:cNvSpPr txBox="1"/>
          <p:nvPr/>
        </p:nvSpPr>
        <p:spPr>
          <a:xfrm>
            <a:off x="457200" y="6382512"/>
            <a:ext cx="6766560" cy="228600"/>
          </a:xfrm>
          <a:prstGeom prst="rect">
            <a:avLst/>
          </a:prstGeom>
          <a:noFill/>
        </p:spPr>
        <p:txBody>
          <a:bodyPr wrap="square" anchor="t" lIns="0" rIns="0" tIns="0" bIns="0">
            <a:spAutoFit/>
          </a:bodyPr>
          <a:lstStyle/>
          <a:p>
            <a:pPr algn="l"/>
            <a:r>
              <a:rPr sz="750" b="0">
                <a:solidFill>
                  <a:srgbClr val="5A6072"/>
                </a:solidFill>
                <a:latin typeface="Calibri"/>
              </a:rPr>
              <a:t>Top 8 of 20 keywords tracked, by spend.</a:t>
            </a:r>
          </a:p>
        </p:txBody>
      </p:sp>
      <p:sp>
        <p:nvSpPr>
          <p:cNvPr id="38" name="Rectangle 37"/>
          <p:cNvSpPr/>
          <p:nvPr/>
        </p:nvSpPr>
        <p:spPr>
          <a:xfrm>
            <a:off x="7406640" y="3383280"/>
            <a:ext cx="4297680" cy="155448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406640" y="3383280"/>
            <a:ext cx="64008" cy="155448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626096" y="3547872"/>
            <a:ext cx="3895344" cy="274320"/>
          </a:xfrm>
          <a:prstGeom prst="rect">
            <a:avLst/>
          </a:prstGeom>
          <a:noFill/>
        </p:spPr>
        <p:txBody>
          <a:bodyPr wrap="square" anchor="t" lIns="0" rIns="0" tIns="0" bIns="0">
            <a:spAutoFit/>
          </a:bodyPr>
          <a:lstStyle/>
          <a:p>
            <a:pPr algn="l"/>
            <a:r>
              <a:rPr sz="1000" b="1">
                <a:solidFill>
                  <a:srgbClr val="1E2761"/>
                </a:solidFill>
                <a:latin typeface="Georgia"/>
              </a:rPr>
              <a:t>TRACK A TRUST: WHAT THE AD-POSITION WORK CHANGED</a:t>
            </a:r>
          </a:p>
        </p:txBody>
      </p:sp>
      <p:sp>
        <p:nvSpPr>
          <p:cNvPr id="41" name="TextBox 40"/>
          <p:cNvSpPr txBox="1"/>
          <p:nvPr/>
        </p:nvSpPr>
        <p:spPr>
          <a:xfrm>
            <a:off x="7626096" y="3886200"/>
            <a:ext cx="3895344" cy="868680"/>
          </a:xfrm>
          <a:prstGeom prst="rect">
            <a:avLst/>
          </a:prstGeom>
          <a:noFill/>
        </p:spPr>
        <p:txBody>
          <a:bodyPr wrap="square" anchor="t" lIns="0" rIns="0" tIns="0" bIns="0">
            <a:spAutoFit/>
          </a:bodyPr>
          <a:lstStyle/>
          <a:p>
            <a:pPr algn="l"/>
            <a:r>
              <a:rPr sz="950" b="0">
                <a:solidFill>
                  <a:srgbClr val="2B3147"/>
                </a:solidFill>
                <a:latin typeface="Calibri"/>
              </a:rPr>
              <a:t>Our ads now show for 32.6% of relevant searches, up from 27%.</a:t>
            </a:r>
          </a:p>
          <a:p>
            <a:pPr algn="l">
              <a:spcBef>
                <a:spcPts val="600"/>
              </a:spcBef>
            </a:pPr>
            <a:r>
              <a:rPr sz="950" b="0">
                <a:solidFill>
                  <a:srgbClr val="2B3147"/>
                </a:solidFill>
                <a:latin typeface="Calibri"/>
              </a:rPr>
              <a:t>Impression share lost to rank fell to 58.7% (the account’s best), down from the 64-76% range every group sat in during June.</a:t>
            </a:r>
          </a:p>
          <a:p>
            <a:pPr algn="l">
              <a:spcBef>
                <a:spcPts val="600"/>
              </a:spcBef>
            </a:pPr>
            <a:r>
              <a:rPr sz="950" b="0">
                <a:solidFill>
                  <a:srgbClr val="2B3147"/>
                </a:solidFill>
                <a:latin typeface="Calibri"/>
              </a:rPr>
              <a:t>Cost per application (CPA): $433 to $390.86, and Trust is now the top-performing group with 28 applications.</a:t>
            </a:r>
          </a:p>
        </p:txBody>
      </p:sp>
      <p:sp>
        <p:nvSpPr>
          <p:cNvPr id="42" name="Rectangle 41"/>
          <p:cNvSpPr/>
          <p:nvPr/>
        </p:nvSpPr>
        <p:spPr>
          <a:xfrm>
            <a:off x="7406640" y="5074920"/>
            <a:ext cx="4297680" cy="141732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406640" y="5074920"/>
            <a:ext cx="64008" cy="14173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26096" y="5239512"/>
            <a:ext cx="3895344" cy="274320"/>
          </a:xfrm>
          <a:prstGeom prst="rect">
            <a:avLst/>
          </a:prstGeom>
          <a:noFill/>
        </p:spPr>
        <p:txBody>
          <a:bodyPr wrap="square" anchor="t" lIns="0" rIns="0" tIns="0" bIns="0">
            <a:spAutoFit/>
          </a:bodyPr>
          <a:lstStyle/>
          <a:p>
            <a:pPr algn="l"/>
            <a:r>
              <a:rPr sz="1000" b="1">
                <a:solidFill>
                  <a:srgbClr val="1E2761"/>
                </a:solidFill>
                <a:latin typeface="Georgia"/>
              </a:rPr>
              <a:t>WHERE THE WORK HAS NOT LANDED YET</a:t>
            </a:r>
          </a:p>
        </p:txBody>
      </p:sp>
      <p:sp>
        <p:nvSpPr>
          <p:cNvPr id="45" name="TextBox 44"/>
          <p:cNvSpPr txBox="1"/>
          <p:nvPr/>
        </p:nvSpPr>
        <p:spPr>
          <a:xfrm>
            <a:off x="7626096" y="5577840"/>
            <a:ext cx="3895344" cy="731520"/>
          </a:xfrm>
          <a:prstGeom prst="rect">
            <a:avLst/>
          </a:prstGeom>
          <a:noFill/>
        </p:spPr>
        <p:txBody>
          <a:bodyPr wrap="square" anchor="t" lIns="0" rIns="0" tIns="0" bIns="0">
            <a:spAutoFit/>
          </a:bodyPr>
          <a:lstStyle/>
          <a:p>
            <a:pPr algn="l"/>
            <a:r>
              <a:rPr sz="950" b="0">
                <a:solidFill>
                  <a:srgbClr val="2B3147"/>
                </a:solidFill>
                <a:latin typeface="Calibri"/>
              </a:rPr>
              <a:t>Authority and Platform still lose 63.5% and 70.3% of impression share due to rank, and Brand 79.0%, all worse than Trust’s 58.7%.</a:t>
            </a:r>
          </a:p>
          <a:p>
            <a:pPr algn="l">
              <a:spcBef>
                <a:spcPts val="600"/>
              </a:spcBef>
            </a:pPr>
            <a:r>
              <a:rPr sz="950" b="0">
                <a:solidFill>
                  <a:srgbClr val="2B3147"/>
                </a:solidFill>
                <a:latin typeface="Calibri"/>
              </a:rPr>
              <a:t>DECISION: extend the same ad-position work to Authority and Platform before adding further budget.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8229600" cy="320040"/>
          </a:xfrm>
          <a:prstGeom prst="rect">
            <a:avLst/>
          </a:prstGeom>
          <a:noFill/>
        </p:spPr>
        <p:txBody>
          <a:bodyPr wrap="square" anchor="t" lIns="0" rIns="0" tIns="0" bIns="0">
            <a:spAutoFit/>
          </a:bodyPr>
          <a:lstStyle/>
          <a:p>
            <a:pPr algn="l"/>
            <a:r>
              <a:rPr sz="1100" b="1">
                <a:solidFill>
                  <a:srgbClr val="FFFFFF"/>
                </a:solidFill>
                <a:latin typeface="Georgia"/>
              </a:rPr>
              <a:t>GOOGLE PMAX (YOUTUBE)  ·  PERFORMANCE</a:t>
            </a:r>
          </a:p>
        </p:txBody>
      </p:sp>
      <p:pic>
        <p:nvPicPr>
          <p:cNvPr id="5" name="Picture 4" descr="berelvant_logo.png"/>
          <p:cNvPicPr>
            <a:picLocks noChangeAspect="1"/>
          </p:cNvPicPr>
          <p:nvPr/>
        </p:nvPicPr>
        <p:blipFill>
          <a:blip r:embed="rId2"/>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49 submitted applications at $370.91 in its first partial month.</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56832"/>
            <a:ext cx="7315200" cy="201168"/>
          </a:xfrm>
          <a:prstGeom prst="rect">
            <a:avLst/>
          </a:prstGeom>
          <a:noFill/>
        </p:spPr>
        <p:txBody>
          <a:bodyPr wrap="square" anchor="t" lIns="0" rIns="0" tIns="0" bIns="0">
            <a:spAutoFit/>
          </a:bodyPr>
          <a:lstStyle/>
          <a:p>
            <a:pPr algn="l"/>
            <a:r>
              <a:rPr sz="800" b="0">
                <a:solidFill>
                  <a:srgbClr val="5A6072"/>
                </a:solidFill>
                <a:latin typeface="Calibri"/>
              </a:rPr>
              <a:t>GCG (US Hispanic)   |   July 2026 Performance Review   |   Berelvant</a:t>
            </a:r>
          </a:p>
        </p:txBody>
      </p:sp>
      <p:sp>
        <p:nvSpPr>
          <p:cNvPr id="9" name="TextBox 8"/>
          <p:cNvSpPr txBox="1"/>
          <p:nvPr/>
        </p:nvSpPr>
        <p:spPr>
          <a:xfrm>
            <a:off x="10820095" y="6656832"/>
            <a:ext cx="914400" cy="201168"/>
          </a:xfrm>
          <a:prstGeom prst="rect">
            <a:avLst/>
          </a:prstGeom>
          <a:noFill/>
        </p:spPr>
        <p:txBody>
          <a:bodyPr wrap="square" anchor="t" lIns="0" rIns="0" tIns="0" bIns="0">
            <a:spAutoFit/>
          </a:bodyPr>
          <a:lstStyle/>
          <a:p>
            <a:pPr algn="r"/>
            <a:r>
              <a:rPr sz="800" b="0">
                <a:solidFill>
                  <a:srgbClr val="5A6072"/>
                </a:solidFill>
                <a:latin typeface="Calibri"/>
              </a:rPr>
              <a:t>5 / 14</a:t>
            </a:r>
          </a:p>
        </p:txBody>
      </p:sp>
      <p:sp>
        <p:nvSpPr>
          <p:cNvPr id="10" name="TextBox 9"/>
          <p:cNvSpPr txBox="1"/>
          <p:nvPr/>
        </p:nvSpPr>
        <p:spPr>
          <a:xfrm>
            <a:off x="457200" y="1417320"/>
            <a:ext cx="11247120" cy="274320"/>
          </a:xfrm>
          <a:prstGeom prst="rect">
            <a:avLst/>
          </a:prstGeom>
          <a:noFill/>
        </p:spPr>
        <p:txBody>
          <a:bodyPr wrap="square" anchor="t" lIns="0" rIns="0" tIns="0" bIns="0">
            <a:spAutoFit/>
          </a:bodyPr>
          <a:lstStyle/>
          <a:p>
            <a:pPr algn="l"/>
            <a:r>
              <a:rPr sz="950" b="0">
                <a:solidFill>
                  <a:srgbClr val="5A6072"/>
                </a:solidFill>
                <a:latin typeface="Calibri"/>
              </a:rPr>
              <a:t>Target: Spanish-language creative, US-only delivery, across Google’s automated Performance Max inventory (labeled “YT” on the FOREX.com budget tracker). New line, launched the week of July 13.</a:t>
            </a:r>
          </a:p>
        </p:txBody>
      </p:sp>
      <p:sp>
        <p:nvSpPr>
          <p:cNvPr id="11" name="Rectangle 10"/>
          <p:cNvSpPr/>
          <p:nvPr/>
        </p:nvSpPr>
        <p:spPr>
          <a:xfrm>
            <a:off x="457200" y="182880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874519"/>
            <a:ext cx="1508760" cy="274320"/>
          </a:xfrm>
          <a:prstGeom prst="rect">
            <a:avLst/>
          </a:prstGeom>
          <a:noFill/>
        </p:spPr>
        <p:txBody>
          <a:bodyPr wrap="square" anchor="t" lIns="0" rIns="0" tIns="0" bIns="0">
            <a:spAutoFit/>
          </a:bodyPr>
          <a:lstStyle/>
          <a:p>
            <a:pPr algn="l"/>
            <a:r>
              <a:rPr sz="800" b="1">
                <a:solidFill>
                  <a:srgbClr val="5A6072"/>
                </a:solidFill>
                <a:latin typeface="Calibri"/>
              </a:rPr>
              <a:t>SPEND</a:t>
            </a:r>
          </a:p>
        </p:txBody>
      </p:sp>
      <p:sp>
        <p:nvSpPr>
          <p:cNvPr id="14" name="TextBox 13"/>
          <p:cNvSpPr txBox="1"/>
          <p:nvPr/>
        </p:nvSpPr>
        <p:spPr>
          <a:xfrm>
            <a:off x="640080" y="2121408"/>
            <a:ext cx="1508760" cy="457200"/>
          </a:xfrm>
          <a:prstGeom prst="rect">
            <a:avLst/>
          </a:prstGeom>
          <a:noFill/>
        </p:spPr>
        <p:txBody>
          <a:bodyPr wrap="square" anchor="t" lIns="0" rIns="0" tIns="0" bIns="0">
            <a:spAutoFit/>
          </a:bodyPr>
          <a:lstStyle/>
          <a:p>
            <a:pPr algn="l"/>
            <a:r>
              <a:rPr sz="1500" b="1">
                <a:solidFill>
                  <a:srgbClr val="1E2761"/>
                </a:solidFill>
                <a:latin typeface="Calibri"/>
              </a:rPr>
              <a:t>$18,175</a:t>
            </a:r>
          </a:p>
        </p:txBody>
      </p:sp>
      <p:sp>
        <p:nvSpPr>
          <p:cNvPr id="15" name="TextBox 14"/>
          <p:cNvSpPr txBox="1"/>
          <p:nvPr/>
        </p:nvSpPr>
        <p:spPr>
          <a:xfrm>
            <a:off x="640080" y="2578608"/>
            <a:ext cx="1508760" cy="219456"/>
          </a:xfrm>
          <a:prstGeom prst="rect">
            <a:avLst/>
          </a:prstGeom>
          <a:noFill/>
        </p:spPr>
        <p:txBody>
          <a:bodyPr wrap="square" anchor="t" lIns="0" rIns="0" tIns="0" bIns="0">
            <a:spAutoFit/>
          </a:bodyPr>
          <a:lstStyle/>
          <a:p>
            <a:pPr algn="l"/>
            <a:r>
              <a:rPr sz="800" b="0">
                <a:solidFill>
                  <a:srgbClr val="5A6072"/>
                </a:solidFill>
                <a:latin typeface="Calibri"/>
              </a:rPr>
              <a:t>~18 days of delivery</a:t>
            </a:r>
          </a:p>
        </p:txBody>
      </p:sp>
      <p:sp>
        <p:nvSpPr>
          <p:cNvPr id="16" name="Rectangle 15"/>
          <p:cNvSpPr/>
          <p:nvPr/>
        </p:nvSpPr>
        <p:spPr>
          <a:xfrm>
            <a:off x="2359152" y="182880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359152"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42032" y="1874519"/>
            <a:ext cx="1508760" cy="274320"/>
          </a:xfrm>
          <a:prstGeom prst="rect">
            <a:avLst/>
          </a:prstGeom>
          <a:noFill/>
        </p:spPr>
        <p:txBody>
          <a:bodyPr wrap="square" anchor="t" lIns="0" rIns="0" tIns="0" bIns="0">
            <a:spAutoFit/>
          </a:bodyPr>
          <a:lstStyle/>
          <a:p>
            <a:pPr algn="l"/>
            <a:r>
              <a:rPr sz="800" b="1">
                <a:solidFill>
                  <a:srgbClr val="5A6072"/>
                </a:solidFill>
                <a:latin typeface="Calibri"/>
              </a:rPr>
              <a:t>IMPRESSIONS</a:t>
            </a:r>
          </a:p>
        </p:txBody>
      </p:sp>
      <p:sp>
        <p:nvSpPr>
          <p:cNvPr id="19" name="TextBox 18"/>
          <p:cNvSpPr txBox="1"/>
          <p:nvPr/>
        </p:nvSpPr>
        <p:spPr>
          <a:xfrm>
            <a:off x="2542032" y="2121408"/>
            <a:ext cx="1508760" cy="457200"/>
          </a:xfrm>
          <a:prstGeom prst="rect">
            <a:avLst/>
          </a:prstGeom>
          <a:noFill/>
        </p:spPr>
        <p:txBody>
          <a:bodyPr wrap="square" anchor="t" lIns="0" rIns="0" tIns="0" bIns="0">
            <a:spAutoFit/>
          </a:bodyPr>
          <a:lstStyle/>
          <a:p>
            <a:pPr algn="l"/>
            <a:r>
              <a:rPr sz="1500" b="1">
                <a:solidFill>
                  <a:srgbClr val="1E2761"/>
                </a:solidFill>
                <a:latin typeface="Calibri"/>
              </a:rPr>
              <a:t>792,667</a:t>
            </a:r>
          </a:p>
        </p:txBody>
      </p:sp>
      <p:sp>
        <p:nvSpPr>
          <p:cNvPr id="20" name="TextBox 19"/>
          <p:cNvSpPr txBox="1"/>
          <p:nvPr/>
        </p:nvSpPr>
        <p:spPr>
          <a:xfrm>
            <a:off x="2542032" y="2578608"/>
            <a:ext cx="1508760" cy="219456"/>
          </a:xfrm>
          <a:prstGeom prst="rect">
            <a:avLst/>
          </a:prstGeom>
          <a:noFill/>
        </p:spPr>
        <p:txBody>
          <a:bodyPr wrap="square" anchor="t" lIns="0" rIns="0" tIns="0" bIns="0">
            <a:spAutoFit/>
          </a:bodyPr>
          <a:lstStyle/>
          <a:p>
            <a:pPr algn="l"/>
            <a:r>
              <a:rPr sz="800" b="0">
                <a:solidFill>
                  <a:srgbClr val="5A6072"/>
                </a:solidFill>
                <a:latin typeface="Calibri"/>
              </a:rPr>
              <a:t>CTR 1.77%</a:t>
            </a:r>
          </a:p>
        </p:txBody>
      </p:sp>
      <p:sp>
        <p:nvSpPr>
          <p:cNvPr id="21" name="Rectangle 20"/>
          <p:cNvSpPr/>
          <p:nvPr/>
        </p:nvSpPr>
        <p:spPr>
          <a:xfrm>
            <a:off x="4261104" y="182880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61104"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43984" y="1874519"/>
            <a:ext cx="1508760" cy="274320"/>
          </a:xfrm>
          <a:prstGeom prst="rect">
            <a:avLst/>
          </a:prstGeom>
          <a:noFill/>
        </p:spPr>
        <p:txBody>
          <a:bodyPr wrap="square" anchor="t" lIns="0" rIns="0" tIns="0" bIns="0">
            <a:spAutoFit/>
          </a:bodyPr>
          <a:lstStyle/>
          <a:p>
            <a:pPr algn="l"/>
            <a:r>
              <a:rPr sz="800" b="1">
                <a:solidFill>
                  <a:srgbClr val="5A6072"/>
                </a:solidFill>
                <a:latin typeface="Calibri"/>
              </a:rPr>
              <a:t>CLICKS</a:t>
            </a:r>
          </a:p>
        </p:txBody>
      </p:sp>
      <p:sp>
        <p:nvSpPr>
          <p:cNvPr id="24" name="TextBox 23"/>
          <p:cNvSpPr txBox="1"/>
          <p:nvPr/>
        </p:nvSpPr>
        <p:spPr>
          <a:xfrm>
            <a:off x="4443984" y="2121408"/>
            <a:ext cx="1508760" cy="457200"/>
          </a:xfrm>
          <a:prstGeom prst="rect">
            <a:avLst/>
          </a:prstGeom>
          <a:noFill/>
        </p:spPr>
        <p:txBody>
          <a:bodyPr wrap="square" anchor="t" lIns="0" rIns="0" tIns="0" bIns="0">
            <a:spAutoFit/>
          </a:bodyPr>
          <a:lstStyle/>
          <a:p>
            <a:pPr algn="l"/>
            <a:r>
              <a:rPr sz="1500" b="1">
                <a:solidFill>
                  <a:srgbClr val="1E2761"/>
                </a:solidFill>
                <a:latin typeface="Calibri"/>
              </a:rPr>
              <a:t>14,009</a:t>
            </a:r>
          </a:p>
        </p:txBody>
      </p:sp>
      <p:sp>
        <p:nvSpPr>
          <p:cNvPr id="25" name="TextBox 24"/>
          <p:cNvSpPr txBox="1"/>
          <p:nvPr/>
        </p:nvSpPr>
        <p:spPr>
          <a:xfrm>
            <a:off x="4443984" y="2578608"/>
            <a:ext cx="1508760" cy="219456"/>
          </a:xfrm>
          <a:prstGeom prst="rect">
            <a:avLst/>
          </a:prstGeom>
          <a:noFill/>
        </p:spPr>
        <p:txBody>
          <a:bodyPr wrap="square" anchor="t" lIns="0" rIns="0" tIns="0" bIns="0">
            <a:spAutoFit/>
          </a:bodyPr>
          <a:lstStyle/>
          <a:p>
            <a:pPr algn="l"/>
            <a:r>
              <a:rPr sz="800" b="0">
                <a:solidFill>
                  <a:srgbClr val="5A6072"/>
                </a:solidFill>
                <a:latin typeface="Calibri"/>
              </a:rPr>
              <a:t>avg CPC $1.30</a:t>
            </a:r>
          </a:p>
        </p:txBody>
      </p:sp>
      <p:sp>
        <p:nvSpPr>
          <p:cNvPr id="26" name="Rectangle 25"/>
          <p:cNvSpPr/>
          <p:nvPr/>
        </p:nvSpPr>
        <p:spPr>
          <a:xfrm>
            <a:off x="6163056" y="182880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45936" y="1874519"/>
            <a:ext cx="1508760" cy="274320"/>
          </a:xfrm>
          <a:prstGeom prst="rect">
            <a:avLst/>
          </a:prstGeom>
          <a:noFill/>
        </p:spPr>
        <p:txBody>
          <a:bodyPr wrap="square" anchor="t" lIns="0" rIns="0" tIns="0" bIns="0">
            <a:spAutoFit/>
          </a:bodyPr>
          <a:lstStyle/>
          <a:p>
            <a:pPr algn="l"/>
            <a:r>
              <a:rPr sz="800" b="1">
                <a:solidFill>
                  <a:srgbClr val="5A6072"/>
                </a:solidFill>
                <a:latin typeface="Calibri"/>
              </a:rPr>
              <a:t>SUBMITTED APPS</a:t>
            </a:r>
          </a:p>
        </p:txBody>
      </p:sp>
      <p:sp>
        <p:nvSpPr>
          <p:cNvPr id="29" name="TextBox 28"/>
          <p:cNvSpPr txBox="1"/>
          <p:nvPr/>
        </p:nvSpPr>
        <p:spPr>
          <a:xfrm>
            <a:off x="6345936" y="2121408"/>
            <a:ext cx="1508760" cy="457200"/>
          </a:xfrm>
          <a:prstGeom prst="rect">
            <a:avLst/>
          </a:prstGeom>
          <a:noFill/>
        </p:spPr>
        <p:txBody>
          <a:bodyPr wrap="square" anchor="t" lIns="0" rIns="0" tIns="0" bIns="0">
            <a:spAutoFit/>
          </a:bodyPr>
          <a:lstStyle/>
          <a:p>
            <a:pPr algn="l"/>
            <a:r>
              <a:rPr sz="1500" b="1">
                <a:solidFill>
                  <a:srgbClr val="1E2761"/>
                </a:solidFill>
                <a:latin typeface="Calibri"/>
              </a:rPr>
              <a:t>49</a:t>
            </a:r>
          </a:p>
        </p:txBody>
      </p:sp>
      <p:sp>
        <p:nvSpPr>
          <p:cNvPr id="30" name="TextBox 29"/>
          <p:cNvSpPr txBox="1"/>
          <p:nvPr/>
        </p:nvSpPr>
        <p:spPr>
          <a:xfrm>
            <a:off x="6345936" y="2578608"/>
            <a:ext cx="1508760" cy="219456"/>
          </a:xfrm>
          <a:prstGeom prst="rect">
            <a:avLst/>
          </a:prstGeom>
          <a:noFill/>
        </p:spPr>
        <p:txBody>
          <a:bodyPr wrap="square" anchor="t" lIns="0" rIns="0" tIns="0" bIns="0">
            <a:spAutoFit/>
          </a:bodyPr>
          <a:lstStyle/>
          <a:p>
            <a:pPr algn="l"/>
            <a:r>
              <a:rPr sz="800" b="0">
                <a:solidFill>
                  <a:srgbClr val="5A6072"/>
                </a:solidFill>
                <a:latin typeface="Calibri"/>
              </a:rPr>
              <a:t>final application step</a:t>
            </a:r>
          </a:p>
        </p:txBody>
      </p:sp>
      <p:sp>
        <p:nvSpPr>
          <p:cNvPr id="31" name="Rectangle 30"/>
          <p:cNvSpPr/>
          <p:nvPr/>
        </p:nvSpPr>
        <p:spPr>
          <a:xfrm>
            <a:off x="8065008" y="182880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65008"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47888" y="1874519"/>
            <a:ext cx="1508760" cy="274320"/>
          </a:xfrm>
          <a:prstGeom prst="rect">
            <a:avLst/>
          </a:prstGeom>
          <a:noFill/>
        </p:spPr>
        <p:txBody>
          <a:bodyPr wrap="square" anchor="t" lIns="0" rIns="0" tIns="0" bIns="0">
            <a:spAutoFit/>
          </a:bodyPr>
          <a:lstStyle/>
          <a:p>
            <a:pPr algn="l"/>
            <a:r>
              <a:rPr sz="800" b="1">
                <a:solidFill>
                  <a:srgbClr val="5A6072"/>
                </a:solidFill>
                <a:latin typeface="Calibri"/>
              </a:rPr>
              <a:t>CPA</a:t>
            </a:r>
          </a:p>
        </p:txBody>
      </p:sp>
      <p:sp>
        <p:nvSpPr>
          <p:cNvPr id="34" name="TextBox 33"/>
          <p:cNvSpPr txBox="1"/>
          <p:nvPr/>
        </p:nvSpPr>
        <p:spPr>
          <a:xfrm>
            <a:off x="8247888" y="2121408"/>
            <a:ext cx="1508760" cy="457200"/>
          </a:xfrm>
          <a:prstGeom prst="rect">
            <a:avLst/>
          </a:prstGeom>
          <a:noFill/>
        </p:spPr>
        <p:txBody>
          <a:bodyPr wrap="square" anchor="t" lIns="0" rIns="0" tIns="0" bIns="0">
            <a:spAutoFit/>
          </a:bodyPr>
          <a:lstStyle/>
          <a:p>
            <a:pPr algn="l"/>
            <a:r>
              <a:rPr sz="1500" b="1">
                <a:solidFill>
                  <a:srgbClr val="1E2761"/>
                </a:solidFill>
                <a:latin typeface="Calibri"/>
              </a:rPr>
              <a:t>$370.91</a:t>
            </a:r>
          </a:p>
        </p:txBody>
      </p:sp>
      <p:sp>
        <p:nvSpPr>
          <p:cNvPr id="35" name="TextBox 34"/>
          <p:cNvSpPr txBox="1"/>
          <p:nvPr/>
        </p:nvSpPr>
        <p:spPr>
          <a:xfrm>
            <a:off x="8247888" y="2578608"/>
            <a:ext cx="1508760" cy="219456"/>
          </a:xfrm>
          <a:prstGeom prst="rect">
            <a:avLst/>
          </a:prstGeom>
          <a:noFill/>
        </p:spPr>
        <p:txBody>
          <a:bodyPr wrap="square" anchor="t" lIns="0" rIns="0" tIns="0" bIns="0">
            <a:spAutoFit/>
          </a:bodyPr>
          <a:lstStyle/>
          <a:p>
            <a:pPr algn="l"/>
            <a:r>
              <a:rPr sz="800" b="0">
                <a:solidFill>
                  <a:srgbClr val="5A6072"/>
                </a:solidFill>
                <a:latin typeface="Calibri"/>
              </a:rPr>
              <a:t>vs Search $403.81</a:t>
            </a:r>
          </a:p>
        </p:txBody>
      </p:sp>
      <p:sp>
        <p:nvSpPr>
          <p:cNvPr id="36" name="Rectangle 35"/>
          <p:cNvSpPr/>
          <p:nvPr/>
        </p:nvSpPr>
        <p:spPr>
          <a:xfrm>
            <a:off x="9966960" y="1828800"/>
            <a:ext cx="1783080" cy="91440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966960" y="1828800"/>
            <a:ext cx="54864" cy="9144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49840" y="1874519"/>
            <a:ext cx="1508760" cy="274320"/>
          </a:xfrm>
          <a:prstGeom prst="rect">
            <a:avLst/>
          </a:prstGeom>
          <a:noFill/>
        </p:spPr>
        <p:txBody>
          <a:bodyPr wrap="square" anchor="t" lIns="0" rIns="0" tIns="0" bIns="0">
            <a:spAutoFit/>
          </a:bodyPr>
          <a:lstStyle/>
          <a:p>
            <a:pPr algn="l"/>
            <a:r>
              <a:rPr sz="800" b="1">
                <a:solidFill>
                  <a:srgbClr val="5A6072"/>
                </a:solidFill>
                <a:latin typeface="Calibri"/>
              </a:rPr>
              <a:t>APP SOURCE</a:t>
            </a:r>
          </a:p>
        </p:txBody>
      </p:sp>
      <p:sp>
        <p:nvSpPr>
          <p:cNvPr id="39" name="TextBox 38"/>
          <p:cNvSpPr txBox="1"/>
          <p:nvPr/>
        </p:nvSpPr>
        <p:spPr>
          <a:xfrm>
            <a:off x="10149840" y="2121408"/>
            <a:ext cx="1508760" cy="457200"/>
          </a:xfrm>
          <a:prstGeom prst="rect">
            <a:avLst/>
          </a:prstGeom>
          <a:noFill/>
        </p:spPr>
        <p:txBody>
          <a:bodyPr wrap="square" anchor="t" lIns="0" rIns="0" tIns="0" bIns="0">
            <a:spAutoFit/>
          </a:bodyPr>
          <a:lstStyle/>
          <a:p>
            <a:pPr algn="l"/>
            <a:r>
              <a:rPr sz="1500" b="1">
                <a:solidFill>
                  <a:srgbClr val="1E2761"/>
                </a:solidFill>
                <a:latin typeface="Calibri"/>
              </a:rPr>
              <a:t>48 click / 1 view</a:t>
            </a:r>
          </a:p>
        </p:txBody>
      </p:sp>
      <p:graphicFrame>
        <p:nvGraphicFramePr>
          <p:cNvPr id="40" name="Table 39"/>
          <p:cNvGraphicFramePr>
            <a:graphicFrameLocks noGrp="1"/>
          </p:cNvGraphicFramePr>
          <p:nvPr/>
        </p:nvGraphicFramePr>
        <p:xfrm>
          <a:off x="457200" y="3383280"/>
          <a:ext cx="5394960" cy="1600200"/>
        </p:xfrm>
        <a:graphic>
          <a:graphicData uri="http://schemas.openxmlformats.org/drawingml/2006/table">
            <a:tbl>
              <a:tblPr>
                <a:tableStyleId>{5C22544A-7EE6-4342-B048-85BDC9FD1C3A}</a:tableStyleId>
              </a:tblPr>
              <a:tblGrid>
                <a:gridCol w="3108960"/>
                <a:gridCol w="2286000"/>
              </a:tblGrid>
              <a:tr h="400050">
                <a:tc>
                  <a:txBody>
                    <a:bodyPr/>
                    <a:lstStyle/>
                    <a:p>
                      <a:pPr algn="l"/>
                      <a:r>
                        <a:rPr sz="850" b="1">
                          <a:solidFill>
                            <a:srgbClr val="FFFFFF"/>
                          </a:solidFill>
                          <a:latin typeface="Calibri"/>
                        </a:rPr>
                        <a:t>Week of delivery</a:t>
                      </a:r>
                    </a:p>
                  </a:txBody>
                  <a:tcPr marL="54864" marR="54864" marT="27432" marB="27432">
                    <a:solidFill>
                      <a:srgbClr val="1E2761"/>
                    </a:solidFill>
                  </a:tcPr>
                </a:tc>
                <a:tc>
                  <a:txBody>
                    <a:bodyPr/>
                    <a:lstStyle/>
                    <a:p>
                      <a:pPr algn="r"/>
                      <a:r>
                        <a:rPr sz="850" b="1">
                          <a:solidFill>
                            <a:srgbClr val="FFFFFF"/>
                          </a:solidFill>
                          <a:latin typeface="Calibri"/>
                        </a:rPr>
                        <a:t>Spend</a:t>
                      </a:r>
                    </a:p>
                  </a:txBody>
                  <a:tcPr marL="54864" marR="54864" marT="27432" marB="27432">
                    <a:solidFill>
                      <a:srgbClr val="1E2761"/>
                    </a:solidFill>
                  </a:tcPr>
                </a:tc>
              </a:tr>
              <a:tr h="400050">
                <a:tc>
                  <a:txBody>
                    <a:bodyPr/>
                    <a:lstStyle/>
                    <a:p>
                      <a:pPr algn="l"/>
                      <a:r>
                        <a:rPr sz="850" b="1">
                          <a:solidFill>
                            <a:srgbClr val="2B3147"/>
                          </a:solidFill>
                          <a:latin typeface="Calibri"/>
                        </a:rPr>
                        <a:t>Jul 13-19</a:t>
                      </a:r>
                    </a:p>
                  </a:txBody>
                  <a:tcPr marL="54864" marR="54864" marT="27432" marB="27432">
                    <a:solidFill>
                      <a:srgbClr val="FFFFFF"/>
                    </a:solidFill>
                  </a:tcPr>
                </a:tc>
                <a:tc>
                  <a:txBody>
                    <a:bodyPr/>
                    <a:lstStyle/>
                    <a:p>
                      <a:pPr algn="r"/>
                      <a:r>
                        <a:rPr sz="850" b="0">
                          <a:solidFill>
                            <a:srgbClr val="2B3147"/>
                          </a:solidFill>
                          <a:latin typeface="Calibri"/>
                        </a:rPr>
                        <a:t>$7,449</a:t>
                      </a:r>
                    </a:p>
                  </a:txBody>
                  <a:tcPr marL="54864" marR="54864" marT="27432" marB="27432">
                    <a:solidFill>
                      <a:srgbClr val="FFFFFF"/>
                    </a:solidFill>
                  </a:tcPr>
                </a:tc>
              </a:tr>
              <a:tr h="400050">
                <a:tc>
                  <a:txBody>
                    <a:bodyPr/>
                    <a:lstStyle/>
                    <a:p>
                      <a:pPr algn="l"/>
                      <a:r>
                        <a:rPr sz="850" b="1">
                          <a:solidFill>
                            <a:srgbClr val="2B3147"/>
                          </a:solidFill>
                          <a:latin typeface="Calibri"/>
                        </a:rPr>
                        <a:t>Jul 20-26</a:t>
                      </a:r>
                    </a:p>
                  </a:txBody>
                  <a:tcPr marL="54864" marR="54864" marT="27432" marB="27432">
                    <a:solidFill>
                      <a:srgbClr val="F9FAFC"/>
                    </a:solidFill>
                  </a:tcPr>
                </a:tc>
                <a:tc>
                  <a:txBody>
                    <a:bodyPr/>
                    <a:lstStyle/>
                    <a:p>
                      <a:pPr algn="r"/>
                      <a:r>
                        <a:rPr sz="850" b="0">
                          <a:solidFill>
                            <a:srgbClr val="2B3147"/>
                          </a:solidFill>
                          <a:latin typeface="Calibri"/>
                        </a:rPr>
                        <a:t>$5,597</a:t>
                      </a:r>
                    </a:p>
                  </a:txBody>
                  <a:tcPr marL="54864" marR="54864" marT="27432" marB="27432">
                    <a:solidFill>
                      <a:srgbClr val="F9FAFC"/>
                    </a:solidFill>
                  </a:tcPr>
                </a:tc>
              </a:tr>
              <a:tr h="400050">
                <a:tc>
                  <a:txBody>
                    <a:bodyPr/>
                    <a:lstStyle/>
                    <a:p>
                      <a:pPr algn="l"/>
                      <a:r>
                        <a:rPr sz="850" b="1">
                          <a:solidFill>
                            <a:srgbClr val="2B3147"/>
                          </a:solidFill>
                          <a:latin typeface="Calibri"/>
                        </a:rPr>
                        <a:t>Jul 27-31 (partial)</a:t>
                      </a:r>
                    </a:p>
                  </a:txBody>
                  <a:tcPr marL="54864" marR="54864" marT="27432" marB="27432">
                    <a:solidFill>
                      <a:srgbClr val="FFFFFF"/>
                    </a:solidFill>
                  </a:tcPr>
                </a:tc>
                <a:tc>
                  <a:txBody>
                    <a:bodyPr/>
                    <a:lstStyle/>
                    <a:p>
                      <a:pPr algn="r"/>
                      <a:r>
                        <a:rPr sz="850" b="0">
                          <a:solidFill>
                            <a:srgbClr val="2B3147"/>
                          </a:solidFill>
                          <a:latin typeface="Calibri"/>
                        </a:rPr>
                        <a:t>$5,129</a:t>
                      </a:r>
                    </a:p>
                  </a:txBody>
                  <a:tcPr marL="54864" marR="54864" marT="27432" marB="27432">
                    <a:solidFill>
                      <a:srgbClr val="FFFFFF"/>
                    </a:solidFill>
                  </a:tcPr>
                </a:tc>
              </a:tr>
            </a:tbl>
          </a:graphicData>
        </a:graphic>
      </p:graphicFrame>
      <p:sp>
        <p:nvSpPr>
          <p:cNvPr id="41" name="TextBox 40"/>
          <p:cNvSpPr txBox="1"/>
          <p:nvPr/>
        </p:nvSpPr>
        <p:spPr>
          <a:xfrm>
            <a:off x="457200" y="5074920"/>
            <a:ext cx="5394960" cy="274320"/>
          </a:xfrm>
          <a:prstGeom prst="rect">
            <a:avLst/>
          </a:prstGeom>
          <a:noFill/>
        </p:spPr>
        <p:txBody>
          <a:bodyPr wrap="square" anchor="t" lIns="0" rIns="0" tIns="0" bIns="0">
            <a:spAutoFit/>
          </a:bodyPr>
          <a:lstStyle/>
          <a:p>
            <a:pPr algn="l"/>
            <a:r>
              <a:rPr sz="750" b="0">
                <a:solidFill>
                  <a:srgbClr val="5A6072"/>
                </a:solidFill>
                <a:latin typeface="Calibri"/>
              </a:rPr>
              <a:t>Campaign launched July 13; July reflects ~18 days of delivery.</a:t>
            </a:r>
          </a:p>
        </p:txBody>
      </p:sp>
      <p:sp>
        <p:nvSpPr>
          <p:cNvPr id="42" name="Rectangle 41"/>
          <p:cNvSpPr/>
          <p:nvPr/>
        </p:nvSpPr>
        <p:spPr>
          <a:xfrm>
            <a:off x="6583680" y="3383280"/>
            <a:ext cx="5120640" cy="274320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583680" y="3383280"/>
            <a:ext cx="64008" cy="2743200"/>
          </a:xfrm>
          <a:prstGeom prst="rect">
            <a:avLst/>
          </a:prstGeom>
          <a:solidFill>
            <a:srgbClr val="E9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03136" y="3547872"/>
            <a:ext cx="4718303" cy="274320"/>
          </a:xfrm>
          <a:prstGeom prst="rect">
            <a:avLst/>
          </a:prstGeom>
          <a:noFill/>
        </p:spPr>
        <p:txBody>
          <a:bodyPr wrap="square" anchor="t" lIns="0" rIns="0" tIns="0" bIns="0">
            <a:spAutoFit/>
          </a:bodyPr>
          <a:lstStyle/>
          <a:p>
            <a:pPr algn="l"/>
            <a:r>
              <a:rPr sz="1000" b="1">
                <a:solidFill>
                  <a:srgbClr val="1E2761"/>
                </a:solidFill>
                <a:latin typeface="Georgia"/>
              </a:rPr>
              <a:t>WHAT THE DATA SHOWS</a:t>
            </a:r>
          </a:p>
        </p:txBody>
      </p:sp>
      <p:sp>
        <p:nvSpPr>
          <p:cNvPr id="45" name="TextBox 44"/>
          <p:cNvSpPr txBox="1"/>
          <p:nvPr/>
        </p:nvSpPr>
        <p:spPr>
          <a:xfrm>
            <a:off x="6803136" y="3886200"/>
            <a:ext cx="4718303" cy="2057400"/>
          </a:xfrm>
          <a:prstGeom prst="rect">
            <a:avLst/>
          </a:prstGeom>
          <a:noFill/>
        </p:spPr>
        <p:txBody>
          <a:bodyPr wrap="square" anchor="t" lIns="0" rIns="0" tIns="0" bIns="0">
            <a:spAutoFit/>
          </a:bodyPr>
          <a:lstStyle/>
          <a:p>
            <a:pPr algn="l"/>
            <a:r>
              <a:rPr sz="950" b="0">
                <a:solidFill>
                  <a:srgbClr val="2B3147"/>
                </a:solidFill>
                <a:latin typeface="Calibri"/>
              </a:rPr>
              <a:t>PMax matched Search’s per-application efficiency within its first three weeks. It’s tracked the same way, the final submit step of the application form: 48 of 49 applications followed an ad click, and 1 came from someone who saw the ad and applied later.</a:t>
            </a:r>
          </a:p>
          <a:p>
            <a:pPr algn="l">
              <a:spcBef>
                <a:spcPts val="600"/>
              </a:spcBef>
            </a:pPr>
            <a:r>
              <a:rPr sz="950" b="0">
                <a:solidFill>
                  <a:srgbClr val="2B3147"/>
                </a:solidFill>
                <a:latin typeface="Calibri"/>
              </a:rPr>
              <a:t>No June comparison; this is the line’s first month.</a:t>
            </a:r>
          </a:p>
          <a:p>
            <a:pPr algn="l">
              <a:spcBef>
                <a:spcPts val="600"/>
              </a:spcBef>
            </a:pPr>
            <a:r>
              <a:rPr sz="950" b="0">
                <a:solidFill>
                  <a:srgbClr val="2B3147"/>
                </a:solidFill>
                <a:latin typeface="Calibri"/>
              </a:rPr>
              <a:t>DECISION: give PMax a second full month before rebalancing spend between it and Search.</a:t>
            </a:r>
          </a:p>
        </p:txBody>
      </p:sp>
      <p:sp>
        <p:nvSpPr>
          <p:cNvPr id="46" name="TextBox 45"/>
          <p:cNvSpPr txBox="1"/>
          <p:nvPr/>
        </p:nvSpPr>
        <p:spPr>
          <a:xfrm>
            <a:off x="457200" y="6172200"/>
            <a:ext cx="11247120" cy="274320"/>
          </a:xfrm>
          <a:prstGeom prst="rect">
            <a:avLst/>
          </a:prstGeom>
          <a:noFill/>
        </p:spPr>
        <p:txBody>
          <a:bodyPr wrap="square" anchor="t" lIns="0" rIns="0" tIns="0" bIns="0">
            <a:spAutoFit/>
          </a:bodyPr>
          <a:lstStyle/>
          <a:p>
            <a:pPr algn="l"/>
            <a:r>
              <a:rPr sz="750" b="0">
                <a:solidFill>
                  <a:srgbClr val="5A6072"/>
                </a:solidFill>
                <a:latin typeface="Calibri"/>
              </a:rPr>
              <a:t>Google combined (Search + PMax): 918,059 impressions, 100% US delivery.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8229600" cy="320040"/>
          </a:xfrm>
          <a:prstGeom prst="rect">
            <a:avLst/>
          </a:prstGeom>
          <a:noFill/>
        </p:spPr>
        <p:txBody>
          <a:bodyPr wrap="square" anchor="t" lIns="0" rIns="0" tIns="0" bIns="0">
            <a:spAutoFit/>
          </a:bodyPr>
          <a:lstStyle/>
          <a:p>
            <a:pPr algn="l"/>
            <a:r>
              <a:rPr sz="1100" b="1">
                <a:solidFill>
                  <a:srgbClr val="FFFFFF"/>
                </a:solidFill>
                <a:latin typeface="Georgia"/>
              </a:rPr>
              <a:t>META  ·  CAMPAIGNS BY OBJECTIVE</a:t>
            </a:r>
          </a:p>
        </p:txBody>
      </p:sp>
      <p:pic>
        <p:nvPicPr>
          <p:cNvPr id="5" name="Picture 4" descr="berelvant_logo.png"/>
          <p:cNvPicPr>
            <a:picLocks noChangeAspect="1"/>
          </p:cNvPicPr>
          <p:nvPr/>
        </p:nvPicPr>
        <p:blipFill>
          <a:blip r:embed="rId2"/>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Meta spend came in at $6,940, down 77.4%, on the planned budget shift.</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56832"/>
            <a:ext cx="7315200" cy="201168"/>
          </a:xfrm>
          <a:prstGeom prst="rect">
            <a:avLst/>
          </a:prstGeom>
          <a:noFill/>
        </p:spPr>
        <p:txBody>
          <a:bodyPr wrap="square" anchor="t" lIns="0" rIns="0" tIns="0" bIns="0">
            <a:spAutoFit/>
          </a:bodyPr>
          <a:lstStyle/>
          <a:p>
            <a:pPr algn="l"/>
            <a:r>
              <a:rPr sz="800" b="0">
                <a:solidFill>
                  <a:srgbClr val="5A6072"/>
                </a:solidFill>
                <a:latin typeface="Calibri"/>
              </a:rPr>
              <a:t>GCG (US Hispanic)   |   July 2026 Performance Review   |   Berelvant</a:t>
            </a:r>
          </a:p>
        </p:txBody>
      </p:sp>
      <p:sp>
        <p:nvSpPr>
          <p:cNvPr id="9" name="TextBox 8"/>
          <p:cNvSpPr txBox="1"/>
          <p:nvPr/>
        </p:nvSpPr>
        <p:spPr>
          <a:xfrm>
            <a:off x="10820095" y="6656832"/>
            <a:ext cx="914400" cy="201168"/>
          </a:xfrm>
          <a:prstGeom prst="rect">
            <a:avLst/>
          </a:prstGeom>
          <a:noFill/>
        </p:spPr>
        <p:txBody>
          <a:bodyPr wrap="square" anchor="t" lIns="0" rIns="0" tIns="0" bIns="0">
            <a:spAutoFit/>
          </a:bodyPr>
          <a:lstStyle/>
          <a:p>
            <a:pPr algn="r"/>
            <a:r>
              <a:rPr sz="800" b="0">
                <a:solidFill>
                  <a:srgbClr val="5A6072"/>
                </a:solidFill>
                <a:latin typeface="Calibri"/>
              </a:rPr>
              <a:t>6 / 14</a:t>
            </a:r>
          </a:p>
        </p:txBody>
      </p:sp>
      <p:sp>
        <p:nvSpPr>
          <p:cNvPr id="10" name="TextBox 9"/>
          <p:cNvSpPr txBox="1"/>
          <p:nvPr/>
        </p:nvSpPr>
        <p:spPr>
          <a:xfrm>
            <a:off x="457200" y="1417320"/>
            <a:ext cx="11247120" cy="274320"/>
          </a:xfrm>
          <a:prstGeom prst="rect">
            <a:avLst/>
          </a:prstGeom>
          <a:noFill/>
        </p:spPr>
        <p:txBody>
          <a:bodyPr wrap="square" anchor="t" lIns="0" rIns="0" tIns="0" bIns="0">
            <a:spAutoFit/>
          </a:bodyPr>
          <a:lstStyle/>
          <a:p>
            <a:pPr algn="l"/>
            <a:r>
              <a:rPr sz="950" b="0">
                <a:solidFill>
                  <a:srgbClr val="5A6072"/>
                </a:solidFill>
                <a:latin typeface="Calibri"/>
              </a:rPr>
              <a:t>Target: Spanish-speaking US audiences, Spanish-language ads on both campaign types.</a:t>
            </a:r>
          </a:p>
        </p:txBody>
      </p:sp>
      <p:graphicFrame>
        <p:nvGraphicFramePr>
          <p:cNvPr id="11" name="Table 10"/>
          <p:cNvGraphicFramePr>
            <a:graphicFrameLocks noGrp="1"/>
          </p:cNvGraphicFramePr>
          <p:nvPr/>
        </p:nvGraphicFramePr>
        <p:xfrm>
          <a:off x="457200" y="1874519"/>
          <a:ext cx="10360152" cy="1691640"/>
        </p:xfrm>
        <a:graphic>
          <a:graphicData uri="http://schemas.openxmlformats.org/drawingml/2006/table">
            <a:tbl>
              <a:tblPr>
                <a:tableStyleId>{5C22544A-7EE6-4342-B048-85BDC9FD1C3A}</a:tableStyleId>
              </a:tblPr>
              <a:tblGrid>
                <a:gridCol w="2743200"/>
                <a:gridCol w="941832"/>
                <a:gridCol w="1005840"/>
                <a:gridCol w="1280160"/>
                <a:gridCol w="1188720"/>
                <a:gridCol w="1005840"/>
                <a:gridCol w="822960"/>
                <a:gridCol w="1371600"/>
              </a:tblGrid>
              <a:tr h="422910">
                <a:tc>
                  <a:txBody>
                    <a:bodyPr/>
                    <a:lstStyle/>
                    <a:p>
                      <a:pPr algn="l"/>
                      <a:r>
                        <a:rPr sz="850" b="1">
                          <a:solidFill>
                            <a:srgbClr val="FFFFFF"/>
                          </a:solidFill>
                          <a:latin typeface="Calibri"/>
                        </a:rPr>
                        <a:t>Campaign</a:t>
                      </a:r>
                    </a:p>
                  </a:txBody>
                  <a:tcPr marL="54864" marR="54864" marT="27432" marB="27432">
                    <a:solidFill>
                      <a:srgbClr val="1E2761"/>
                    </a:solidFill>
                  </a:tcPr>
                </a:tc>
                <a:tc>
                  <a:txBody>
                    <a:bodyPr/>
                    <a:lstStyle/>
                    <a:p>
                      <a:pPr algn="r"/>
                      <a:r>
                        <a:rPr sz="850" b="1">
                          <a:solidFill>
                            <a:srgbClr val="FFFFFF"/>
                          </a:solidFill>
                          <a:latin typeface="Calibri"/>
                        </a:rPr>
                        <a:t>Objective</a:t>
                      </a:r>
                    </a:p>
                  </a:txBody>
                  <a:tcPr marL="54864" marR="54864" marT="27432" marB="27432">
                    <a:solidFill>
                      <a:srgbClr val="1E2761"/>
                    </a:solidFill>
                  </a:tcPr>
                </a:tc>
                <a:tc>
                  <a:txBody>
                    <a:bodyPr/>
                    <a:lstStyle/>
                    <a:p>
                      <a:pPr algn="r"/>
                      <a:r>
                        <a:rPr sz="850" b="1">
                          <a:solidFill>
                            <a:srgbClr val="FFFFFF"/>
                          </a:solidFill>
                          <a:latin typeface="Calibri"/>
                        </a:rPr>
                        <a:t>Spend</a:t>
                      </a:r>
                    </a:p>
                  </a:txBody>
                  <a:tcPr marL="54864" marR="54864" marT="27432" marB="27432">
                    <a:solidFill>
                      <a:srgbClr val="1E2761"/>
                    </a:solidFill>
                  </a:tcPr>
                </a:tc>
                <a:tc>
                  <a:txBody>
                    <a:bodyPr/>
                    <a:lstStyle/>
                    <a:p>
                      <a:pPr algn="r"/>
                      <a:r>
                        <a:rPr sz="850" b="1">
                          <a:solidFill>
                            <a:srgbClr val="FFFFFF"/>
                          </a:solidFill>
                          <a:latin typeface="Calibri"/>
                        </a:rPr>
                        <a:t>Impr</a:t>
                      </a:r>
                    </a:p>
                  </a:txBody>
                  <a:tcPr marL="54864" marR="54864" marT="27432" marB="27432">
                    <a:solidFill>
                      <a:srgbClr val="1E2761"/>
                    </a:solidFill>
                  </a:tcPr>
                </a:tc>
                <a:tc>
                  <a:txBody>
                    <a:bodyPr/>
                    <a:lstStyle/>
                    <a:p>
                      <a:pPr algn="r"/>
                      <a:r>
                        <a:rPr sz="850" b="1">
                          <a:solidFill>
                            <a:srgbClr val="FFFFFF"/>
                          </a:solidFill>
                          <a:latin typeface="Calibri"/>
                        </a:rPr>
                        <a:t>Reach</a:t>
                      </a:r>
                    </a:p>
                  </a:txBody>
                  <a:tcPr marL="54864" marR="54864" marT="27432" marB="27432">
                    <a:solidFill>
                      <a:srgbClr val="1E2761"/>
                    </a:solidFill>
                  </a:tcPr>
                </a:tc>
                <a:tc>
                  <a:txBody>
                    <a:bodyPr/>
                    <a:lstStyle/>
                    <a:p>
                      <a:pPr algn="r"/>
                      <a:r>
                        <a:rPr sz="850" b="1">
                          <a:solidFill>
                            <a:srgbClr val="FFFFFF"/>
                          </a:solidFill>
                          <a:latin typeface="Calibri"/>
                        </a:rPr>
                        <a:t>CPM</a:t>
                      </a:r>
                    </a:p>
                  </a:txBody>
                  <a:tcPr marL="54864" marR="54864" marT="27432" marB="27432">
                    <a:solidFill>
                      <a:srgbClr val="1E2761"/>
                    </a:solidFill>
                  </a:tcPr>
                </a:tc>
                <a:tc>
                  <a:txBody>
                    <a:bodyPr/>
                    <a:lstStyle/>
                    <a:p>
                      <a:pPr algn="r"/>
                      <a:r>
                        <a:rPr sz="850" b="1">
                          <a:solidFill>
                            <a:srgbClr val="FFFFFF"/>
                          </a:solidFill>
                          <a:latin typeface="Calibri"/>
                        </a:rPr>
                        <a:t>CTR</a:t>
                      </a:r>
                    </a:p>
                  </a:txBody>
                  <a:tcPr marL="54864" marR="54864" marT="27432" marB="27432">
                    <a:solidFill>
                      <a:srgbClr val="1E2761"/>
                    </a:solidFill>
                  </a:tcPr>
                </a:tc>
                <a:tc>
                  <a:txBody>
                    <a:bodyPr/>
                    <a:lstStyle/>
                    <a:p>
                      <a:pPr algn="r"/>
                      <a:r>
                        <a:rPr sz="850" b="1">
                          <a:solidFill>
                            <a:srgbClr val="FFFFFF"/>
                          </a:solidFill>
                          <a:latin typeface="Calibri"/>
                        </a:rPr>
                        <a:t>Link clicks</a:t>
                      </a:r>
                    </a:p>
                  </a:txBody>
                  <a:tcPr marL="54864" marR="54864" marT="27432" marB="27432">
                    <a:solidFill>
                      <a:srgbClr val="1E2761"/>
                    </a:solidFill>
                  </a:tcPr>
                </a:tc>
              </a:tr>
              <a:tr h="422910">
                <a:tc>
                  <a:txBody>
                    <a:bodyPr/>
                    <a:lstStyle/>
                    <a:p>
                      <a:pPr algn="l"/>
                      <a:r>
                        <a:rPr sz="850" b="1">
                          <a:solidFill>
                            <a:srgbClr val="2B3147"/>
                          </a:solidFill>
                          <a:latin typeface="Calibri"/>
                        </a:rPr>
                        <a:t>0426 Q2 · Traffic (paused after Jul)</a:t>
                      </a:r>
                    </a:p>
                  </a:txBody>
                  <a:tcPr marL="54864" marR="54864" marT="27432" marB="27432">
                    <a:solidFill>
                      <a:srgbClr val="FFFFFF"/>
                    </a:solidFill>
                  </a:tcPr>
                </a:tc>
                <a:tc>
                  <a:txBody>
                    <a:bodyPr/>
                    <a:lstStyle/>
                    <a:p>
                      <a:pPr algn="r"/>
                      <a:r>
                        <a:rPr sz="850" b="0">
                          <a:solidFill>
                            <a:srgbClr val="2B3147"/>
                          </a:solidFill>
                          <a:latin typeface="Calibri"/>
                        </a:rPr>
                        <a:t>Traffic</a:t>
                      </a:r>
                    </a:p>
                  </a:txBody>
                  <a:tcPr marL="54864" marR="54864" marT="27432" marB="27432">
                    <a:solidFill>
                      <a:srgbClr val="FFFFFF"/>
                    </a:solidFill>
                  </a:tcPr>
                </a:tc>
                <a:tc>
                  <a:txBody>
                    <a:bodyPr/>
                    <a:lstStyle/>
                    <a:p>
                      <a:pPr algn="r"/>
                      <a:r>
                        <a:rPr sz="850" b="0">
                          <a:solidFill>
                            <a:srgbClr val="2B3147"/>
                          </a:solidFill>
                          <a:latin typeface="Calibri"/>
                        </a:rPr>
                        <a:t>$2,104</a:t>
                      </a:r>
                    </a:p>
                  </a:txBody>
                  <a:tcPr marL="54864" marR="54864" marT="27432" marB="27432">
                    <a:solidFill>
                      <a:srgbClr val="FFFFFF"/>
                    </a:solidFill>
                  </a:tcPr>
                </a:tc>
                <a:tc>
                  <a:txBody>
                    <a:bodyPr/>
                    <a:lstStyle/>
                    <a:p>
                      <a:pPr algn="r"/>
                      <a:r>
                        <a:rPr sz="850" b="0">
                          <a:solidFill>
                            <a:srgbClr val="2B3147"/>
                          </a:solidFill>
                          <a:latin typeface="Calibri"/>
                        </a:rPr>
                        <a:t>206,014</a:t>
                      </a:r>
                    </a:p>
                  </a:txBody>
                  <a:tcPr marL="54864" marR="54864" marT="27432" marB="27432">
                    <a:solidFill>
                      <a:srgbClr val="FFFFFF"/>
                    </a:solidFill>
                  </a:tcPr>
                </a:tc>
                <a:tc>
                  <a:txBody>
                    <a:bodyPr/>
                    <a:lstStyle/>
                    <a:p>
                      <a:pPr algn="r"/>
                      <a:r>
                        <a:rPr sz="850" b="0">
                          <a:solidFill>
                            <a:srgbClr val="2B3147"/>
                          </a:solidFill>
                          <a:latin typeface="Calibri"/>
                        </a:rPr>
                        <a:t>173,989</a:t>
                      </a:r>
                    </a:p>
                  </a:txBody>
                  <a:tcPr marL="54864" marR="54864" marT="27432" marB="27432">
                    <a:solidFill>
                      <a:srgbClr val="FFFFFF"/>
                    </a:solidFill>
                  </a:tcPr>
                </a:tc>
                <a:tc>
                  <a:txBody>
                    <a:bodyPr/>
                    <a:lstStyle/>
                    <a:p>
                      <a:pPr algn="r"/>
                      <a:r>
                        <a:rPr sz="850" b="0">
                          <a:solidFill>
                            <a:srgbClr val="2B3147"/>
                          </a:solidFill>
                          <a:latin typeface="Calibri"/>
                        </a:rPr>
                        <a:t>$10.21</a:t>
                      </a:r>
                    </a:p>
                  </a:txBody>
                  <a:tcPr marL="54864" marR="54864" marT="27432" marB="27432">
                    <a:solidFill>
                      <a:srgbClr val="FFFFFF"/>
                    </a:solidFill>
                  </a:tcPr>
                </a:tc>
                <a:tc>
                  <a:txBody>
                    <a:bodyPr/>
                    <a:lstStyle/>
                    <a:p>
                      <a:pPr algn="r"/>
                      <a:r>
                        <a:rPr sz="850" b="0">
                          <a:solidFill>
                            <a:srgbClr val="2B3147"/>
                          </a:solidFill>
                          <a:latin typeface="Calibri"/>
                        </a:rPr>
                        <a:t>2.72%</a:t>
                      </a:r>
                    </a:p>
                  </a:txBody>
                  <a:tcPr marL="54864" marR="54864" marT="27432" marB="27432">
                    <a:solidFill>
                      <a:srgbClr val="FFFFFF"/>
                    </a:solidFill>
                  </a:tcPr>
                </a:tc>
                <a:tc>
                  <a:txBody>
                    <a:bodyPr/>
                    <a:lstStyle/>
                    <a:p>
                      <a:pPr algn="r"/>
                      <a:r>
                        <a:rPr sz="850" b="0">
                          <a:solidFill>
                            <a:srgbClr val="2B3147"/>
                          </a:solidFill>
                          <a:latin typeface="Calibri"/>
                        </a:rPr>
                        <a:t>4,988</a:t>
                      </a:r>
                    </a:p>
                  </a:txBody>
                  <a:tcPr marL="54864" marR="54864" marT="27432" marB="27432">
                    <a:solidFill>
                      <a:srgbClr val="FFFFFF"/>
                    </a:solidFill>
                  </a:tcPr>
                </a:tc>
              </a:tr>
              <a:tr h="422910">
                <a:tc>
                  <a:txBody>
                    <a:bodyPr/>
                    <a:lstStyle/>
                    <a:p>
                      <a:pPr algn="l"/>
                      <a:r>
                        <a:rPr sz="850" b="1">
                          <a:solidFill>
                            <a:srgbClr val="2B3147"/>
                          </a:solidFill>
                          <a:latin typeface="Calibri"/>
                        </a:rPr>
                        <a:t>0726 Q3 · Traffic</a:t>
                      </a:r>
                    </a:p>
                  </a:txBody>
                  <a:tcPr marL="54864" marR="54864" marT="27432" marB="27432">
                    <a:solidFill>
                      <a:srgbClr val="F9FAFC"/>
                    </a:solidFill>
                  </a:tcPr>
                </a:tc>
                <a:tc>
                  <a:txBody>
                    <a:bodyPr/>
                    <a:lstStyle/>
                    <a:p>
                      <a:pPr algn="r"/>
                      <a:r>
                        <a:rPr sz="850" b="0">
                          <a:solidFill>
                            <a:srgbClr val="2B3147"/>
                          </a:solidFill>
                          <a:latin typeface="Calibri"/>
                        </a:rPr>
                        <a:t>Traffic</a:t>
                      </a:r>
                    </a:p>
                  </a:txBody>
                  <a:tcPr marL="54864" marR="54864" marT="27432" marB="27432">
                    <a:solidFill>
                      <a:srgbClr val="F9FAFC"/>
                    </a:solidFill>
                  </a:tcPr>
                </a:tc>
                <a:tc>
                  <a:txBody>
                    <a:bodyPr/>
                    <a:lstStyle/>
                    <a:p>
                      <a:pPr algn="r"/>
                      <a:r>
                        <a:rPr sz="850" b="0">
                          <a:solidFill>
                            <a:srgbClr val="2B3147"/>
                          </a:solidFill>
                          <a:latin typeface="Calibri"/>
                        </a:rPr>
                        <a:t>$1,784</a:t>
                      </a:r>
                    </a:p>
                  </a:txBody>
                  <a:tcPr marL="54864" marR="54864" marT="27432" marB="27432">
                    <a:solidFill>
                      <a:srgbClr val="F9FAFC"/>
                    </a:solidFill>
                  </a:tcPr>
                </a:tc>
                <a:tc>
                  <a:txBody>
                    <a:bodyPr/>
                    <a:lstStyle/>
                    <a:p>
                      <a:pPr algn="r"/>
                      <a:r>
                        <a:rPr sz="850" b="0">
                          <a:solidFill>
                            <a:srgbClr val="2B3147"/>
                          </a:solidFill>
                          <a:latin typeface="Calibri"/>
                        </a:rPr>
                        <a:t>169,241</a:t>
                      </a:r>
                    </a:p>
                  </a:txBody>
                  <a:tcPr marL="54864" marR="54864" marT="27432" marB="27432">
                    <a:solidFill>
                      <a:srgbClr val="F9FAFC"/>
                    </a:solidFill>
                  </a:tcPr>
                </a:tc>
                <a:tc>
                  <a:txBody>
                    <a:bodyPr/>
                    <a:lstStyle/>
                    <a:p>
                      <a:pPr algn="r"/>
                      <a:r>
                        <a:rPr sz="850" b="0">
                          <a:solidFill>
                            <a:srgbClr val="2B3147"/>
                          </a:solidFill>
                          <a:latin typeface="Calibri"/>
                        </a:rPr>
                        <a:t>130,525</a:t>
                      </a:r>
                    </a:p>
                  </a:txBody>
                  <a:tcPr marL="54864" marR="54864" marT="27432" marB="27432">
                    <a:solidFill>
                      <a:srgbClr val="F9FAFC"/>
                    </a:solidFill>
                  </a:tcPr>
                </a:tc>
                <a:tc>
                  <a:txBody>
                    <a:bodyPr/>
                    <a:lstStyle/>
                    <a:p>
                      <a:pPr algn="r"/>
                      <a:r>
                        <a:rPr sz="850" b="0">
                          <a:solidFill>
                            <a:srgbClr val="2B3147"/>
                          </a:solidFill>
                          <a:latin typeface="Calibri"/>
                        </a:rPr>
                        <a:t>$10.54</a:t>
                      </a:r>
                    </a:p>
                  </a:txBody>
                  <a:tcPr marL="54864" marR="54864" marT="27432" marB="27432">
                    <a:solidFill>
                      <a:srgbClr val="F9FAFC"/>
                    </a:solidFill>
                  </a:tcPr>
                </a:tc>
                <a:tc>
                  <a:txBody>
                    <a:bodyPr/>
                    <a:lstStyle/>
                    <a:p>
                      <a:pPr algn="r"/>
                      <a:r>
                        <a:rPr sz="850" b="0">
                          <a:solidFill>
                            <a:srgbClr val="2B3147"/>
                          </a:solidFill>
                          <a:latin typeface="Calibri"/>
                        </a:rPr>
                        <a:t>3.47%</a:t>
                      </a:r>
                    </a:p>
                  </a:txBody>
                  <a:tcPr marL="54864" marR="54864" marT="27432" marB="27432">
                    <a:solidFill>
                      <a:srgbClr val="F9FAFC"/>
                    </a:solidFill>
                  </a:tcPr>
                </a:tc>
                <a:tc>
                  <a:txBody>
                    <a:bodyPr/>
                    <a:lstStyle/>
                    <a:p>
                      <a:pPr algn="r"/>
                      <a:r>
                        <a:rPr sz="850" b="0">
                          <a:solidFill>
                            <a:srgbClr val="2B3147"/>
                          </a:solidFill>
                          <a:latin typeface="Calibri"/>
                        </a:rPr>
                        <a:t>5,521</a:t>
                      </a:r>
                    </a:p>
                  </a:txBody>
                  <a:tcPr marL="54864" marR="54864" marT="27432" marB="27432">
                    <a:solidFill>
                      <a:srgbClr val="F9FAFC"/>
                    </a:solidFill>
                  </a:tcPr>
                </a:tc>
              </a:tr>
              <a:tr h="422910">
                <a:tc>
                  <a:txBody>
                    <a:bodyPr/>
                    <a:lstStyle/>
                    <a:p>
                      <a:pPr algn="l"/>
                      <a:r>
                        <a:rPr sz="850" b="1">
                          <a:solidFill>
                            <a:srgbClr val="2B3147"/>
                          </a:solidFill>
                          <a:latin typeface="Calibri"/>
                        </a:rPr>
                        <a:t>0726 Q3 · Conversion</a:t>
                      </a:r>
                    </a:p>
                  </a:txBody>
                  <a:tcPr marL="54864" marR="54864" marT="27432" marB="27432">
                    <a:solidFill>
                      <a:srgbClr val="FFFFFF"/>
                    </a:solidFill>
                  </a:tcPr>
                </a:tc>
                <a:tc>
                  <a:txBody>
                    <a:bodyPr/>
                    <a:lstStyle/>
                    <a:p>
                      <a:pPr algn="r"/>
                      <a:r>
                        <a:rPr sz="850" b="0">
                          <a:solidFill>
                            <a:srgbClr val="2B3147"/>
                          </a:solidFill>
                          <a:latin typeface="Calibri"/>
                        </a:rPr>
                        <a:t>Conversion</a:t>
                      </a:r>
                    </a:p>
                  </a:txBody>
                  <a:tcPr marL="54864" marR="54864" marT="27432" marB="27432">
                    <a:solidFill>
                      <a:srgbClr val="FFFFFF"/>
                    </a:solidFill>
                  </a:tcPr>
                </a:tc>
                <a:tc>
                  <a:txBody>
                    <a:bodyPr/>
                    <a:lstStyle/>
                    <a:p>
                      <a:pPr algn="r"/>
                      <a:r>
                        <a:rPr sz="850" b="0">
                          <a:solidFill>
                            <a:srgbClr val="2B3147"/>
                          </a:solidFill>
                          <a:latin typeface="Calibri"/>
                        </a:rPr>
                        <a:t>$3,052</a:t>
                      </a:r>
                    </a:p>
                  </a:txBody>
                  <a:tcPr marL="54864" marR="54864" marT="27432" marB="27432">
                    <a:solidFill>
                      <a:srgbClr val="FFFFFF"/>
                    </a:solidFill>
                  </a:tcPr>
                </a:tc>
                <a:tc>
                  <a:txBody>
                    <a:bodyPr/>
                    <a:lstStyle/>
                    <a:p>
                      <a:pPr algn="r"/>
                      <a:r>
                        <a:rPr sz="850" b="0">
                          <a:solidFill>
                            <a:srgbClr val="2B3147"/>
                          </a:solidFill>
                          <a:latin typeface="Calibri"/>
                        </a:rPr>
                        <a:t>117,772</a:t>
                      </a:r>
                    </a:p>
                  </a:txBody>
                  <a:tcPr marL="54864" marR="54864" marT="27432" marB="27432">
                    <a:solidFill>
                      <a:srgbClr val="FFFFFF"/>
                    </a:solidFill>
                  </a:tcPr>
                </a:tc>
                <a:tc>
                  <a:txBody>
                    <a:bodyPr/>
                    <a:lstStyle/>
                    <a:p>
                      <a:pPr algn="r"/>
                      <a:r>
                        <a:rPr sz="850" b="0">
                          <a:solidFill>
                            <a:srgbClr val="2B3147"/>
                          </a:solidFill>
                          <a:latin typeface="Calibri"/>
                        </a:rPr>
                        <a:t>73,539</a:t>
                      </a:r>
                    </a:p>
                  </a:txBody>
                  <a:tcPr marL="54864" marR="54864" marT="27432" marB="27432">
                    <a:solidFill>
                      <a:srgbClr val="FFFFFF"/>
                    </a:solidFill>
                  </a:tcPr>
                </a:tc>
                <a:tc>
                  <a:txBody>
                    <a:bodyPr/>
                    <a:lstStyle/>
                    <a:p>
                      <a:pPr algn="r"/>
                      <a:r>
                        <a:rPr sz="850" b="0">
                          <a:solidFill>
                            <a:srgbClr val="2B3147"/>
                          </a:solidFill>
                          <a:latin typeface="Calibri"/>
                        </a:rPr>
                        <a:t>$25.91</a:t>
                      </a:r>
                    </a:p>
                  </a:txBody>
                  <a:tcPr marL="54864" marR="54864" marT="27432" marB="27432">
                    <a:solidFill>
                      <a:srgbClr val="FFFFFF"/>
                    </a:solidFill>
                  </a:tcPr>
                </a:tc>
                <a:tc>
                  <a:txBody>
                    <a:bodyPr/>
                    <a:lstStyle/>
                    <a:p>
                      <a:pPr algn="r"/>
                      <a:r>
                        <a:rPr sz="850" b="0">
                          <a:solidFill>
                            <a:srgbClr val="2B3147"/>
                          </a:solidFill>
                          <a:latin typeface="Calibri"/>
                        </a:rPr>
                        <a:t>1.69%</a:t>
                      </a:r>
                    </a:p>
                  </a:txBody>
                  <a:tcPr marL="54864" marR="54864" marT="27432" marB="27432">
                    <a:solidFill>
                      <a:srgbClr val="FFFFFF"/>
                    </a:solidFill>
                  </a:tcPr>
                </a:tc>
                <a:tc>
                  <a:txBody>
                    <a:bodyPr/>
                    <a:lstStyle/>
                    <a:p>
                      <a:pPr algn="r"/>
                      <a:r>
                        <a:rPr sz="850" b="0">
                          <a:solidFill>
                            <a:srgbClr val="2B3147"/>
                          </a:solidFill>
                          <a:latin typeface="Calibri"/>
                        </a:rPr>
                        <a:t>1,258</a:t>
                      </a:r>
                    </a:p>
                  </a:txBody>
                  <a:tcPr marL="54864" marR="54864" marT="27432" marB="27432">
                    <a:solidFill>
                      <a:srgbClr val="FFFFFF"/>
                    </a:solidFill>
                  </a:tcPr>
                </a:tc>
              </a:tr>
            </a:tbl>
          </a:graphicData>
        </a:graphic>
      </p:graphicFrame>
      <p:sp>
        <p:nvSpPr>
          <p:cNvPr id="12" name="TextBox 11"/>
          <p:cNvSpPr txBox="1"/>
          <p:nvPr/>
        </p:nvSpPr>
        <p:spPr>
          <a:xfrm>
            <a:off x="457200" y="3566160"/>
            <a:ext cx="11247120" cy="685800"/>
          </a:xfrm>
          <a:prstGeom prst="rect">
            <a:avLst/>
          </a:prstGeom>
          <a:noFill/>
        </p:spPr>
        <p:txBody>
          <a:bodyPr wrap="square" anchor="t" lIns="0" rIns="0" tIns="0" bIns="0">
            <a:spAutoFit/>
          </a:bodyPr>
          <a:lstStyle/>
          <a:p>
            <a:pPr algn="l"/>
            <a:r>
              <a:rPr sz="750" b="0">
                <a:solidFill>
                  <a:srgbClr val="5A6072"/>
                </a:solidFill>
                <a:latin typeface="Calibri"/>
              </a:rPr>
              <a:t>Reach (unique people reached) is counted per campaign and never added together across campaigns. The traffic campaigns and the application campaign are measured differently and never compared to each other. Traffic campaigns spent $3,888. The application campaign recorded 284 actions from Meta’s own site tracking, not submitted applications, directional only. Google Analytics recorded 7,902 site visits from all three Meta campaigns combined, two-thirds (67.2%) of Meta’s reported clicks; this month’s data can’t isolate visits to just the application campaign.</a:t>
            </a:r>
          </a:p>
        </p:txBody>
      </p:sp>
      <p:sp>
        <p:nvSpPr>
          <p:cNvPr id="13" name="Rectangle 12"/>
          <p:cNvSpPr/>
          <p:nvPr/>
        </p:nvSpPr>
        <p:spPr>
          <a:xfrm>
            <a:off x="457200" y="4343400"/>
            <a:ext cx="5486400" cy="137160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4343400"/>
            <a:ext cx="64008" cy="137160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4507992"/>
            <a:ext cx="5084064" cy="274320"/>
          </a:xfrm>
          <a:prstGeom prst="rect">
            <a:avLst/>
          </a:prstGeom>
          <a:noFill/>
        </p:spPr>
        <p:txBody>
          <a:bodyPr wrap="square" anchor="t" lIns="0" rIns="0" tIns="0" bIns="0">
            <a:spAutoFit/>
          </a:bodyPr>
          <a:lstStyle/>
          <a:p>
            <a:pPr algn="l"/>
            <a:r>
              <a:rPr sz="1000" b="1">
                <a:solidFill>
                  <a:srgbClr val="1E2761"/>
                </a:solidFill>
                <a:latin typeface="Georgia"/>
              </a:rPr>
              <a:t>TRAFFIC CAMPAIGNS VS JUNE</a:t>
            </a:r>
          </a:p>
        </p:txBody>
      </p:sp>
      <p:sp>
        <p:nvSpPr>
          <p:cNvPr id="16" name="TextBox 15"/>
          <p:cNvSpPr txBox="1"/>
          <p:nvPr/>
        </p:nvSpPr>
        <p:spPr>
          <a:xfrm>
            <a:off x="676656" y="4846320"/>
            <a:ext cx="5084064" cy="685800"/>
          </a:xfrm>
          <a:prstGeom prst="rect">
            <a:avLst/>
          </a:prstGeom>
          <a:noFill/>
        </p:spPr>
        <p:txBody>
          <a:bodyPr wrap="square" anchor="t" lIns="0" rIns="0" tIns="0" bIns="0">
            <a:spAutoFit/>
          </a:bodyPr>
          <a:lstStyle/>
          <a:p>
            <a:pPr algn="l"/>
            <a:r>
              <a:rPr sz="950" b="0">
                <a:solidFill>
                  <a:srgbClr val="2B3147"/>
                </a:solidFill>
                <a:latin typeface="Calibri"/>
              </a:rPr>
              <a:t>Cost per thousand impressions (CPM) across both traffic campaigns was $10.36, down from $11.35 in June.</a:t>
            </a:r>
          </a:p>
          <a:p>
            <a:pPr algn="l">
              <a:spcBef>
                <a:spcPts val="600"/>
              </a:spcBef>
            </a:pPr>
            <a:r>
              <a:rPr sz="950" b="0">
                <a:solidFill>
                  <a:srgbClr val="2B3147"/>
                </a:solidFill>
                <a:latin typeface="Calibri"/>
              </a:rPr>
              <a:t>Click-through rate (CTR), the share of people who saw the ad and clicked it, held at 2.72% and 3.47%, against 2.76% in June.</a:t>
            </a:r>
          </a:p>
        </p:txBody>
      </p:sp>
      <p:sp>
        <p:nvSpPr>
          <p:cNvPr id="17" name="Rectangle 16"/>
          <p:cNvSpPr/>
          <p:nvPr/>
        </p:nvSpPr>
        <p:spPr>
          <a:xfrm>
            <a:off x="6126480" y="4343400"/>
            <a:ext cx="5148072" cy="137160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0" y="4343400"/>
            <a:ext cx="64008" cy="1371600"/>
          </a:xfrm>
          <a:prstGeom prst="rect">
            <a:avLst/>
          </a:prstGeom>
          <a:solidFill>
            <a:srgbClr val="0F1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45936" y="4507992"/>
            <a:ext cx="4745736" cy="274320"/>
          </a:xfrm>
          <a:prstGeom prst="rect">
            <a:avLst/>
          </a:prstGeom>
          <a:noFill/>
        </p:spPr>
        <p:txBody>
          <a:bodyPr wrap="square" anchor="t" lIns="0" rIns="0" tIns="0" bIns="0">
            <a:spAutoFit/>
          </a:bodyPr>
          <a:lstStyle/>
          <a:p>
            <a:pPr algn="l"/>
            <a:r>
              <a:rPr sz="1000" b="1">
                <a:solidFill>
                  <a:srgbClr val="1E2761"/>
                </a:solidFill>
                <a:latin typeface="Georgia"/>
              </a:rPr>
              <a:t>REACH, COUNTED SEPARATELY</a:t>
            </a:r>
          </a:p>
        </p:txBody>
      </p:sp>
      <p:sp>
        <p:nvSpPr>
          <p:cNvPr id="20" name="TextBox 19"/>
          <p:cNvSpPr txBox="1"/>
          <p:nvPr/>
        </p:nvSpPr>
        <p:spPr>
          <a:xfrm>
            <a:off x="6345936" y="4846320"/>
            <a:ext cx="4745736" cy="685800"/>
          </a:xfrm>
          <a:prstGeom prst="rect">
            <a:avLst/>
          </a:prstGeom>
          <a:noFill/>
        </p:spPr>
        <p:txBody>
          <a:bodyPr wrap="square" anchor="t" lIns="0" rIns="0" tIns="0" bIns="0">
            <a:spAutoFit/>
          </a:bodyPr>
          <a:lstStyle/>
          <a:p>
            <a:pPr algn="l"/>
            <a:r>
              <a:rPr sz="950" b="0">
                <a:solidFill>
                  <a:srgbClr val="2B3147"/>
                </a:solidFill>
                <a:latin typeface="Calibri"/>
              </a:rPr>
              <a:t>The two traffic campaigns reached 173,989 and 130,525 people this month, each person seeing the ad 1.2 to 1.3 times on average. June’s single campaign reached 1,527,444 people at 2.0 times each, the drop matching the 77.4% pullback in spend.</a:t>
            </a:r>
          </a:p>
        </p:txBody>
      </p:sp>
      <p:sp>
        <p:nvSpPr>
          <p:cNvPr id="21" name="Rectangle 20"/>
          <p:cNvSpPr/>
          <p:nvPr/>
        </p:nvSpPr>
        <p:spPr>
          <a:xfrm>
            <a:off x="457200" y="5715000"/>
            <a:ext cx="11274552" cy="731520"/>
          </a:xfrm>
          <a:prstGeom prst="rect">
            <a:avLst/>
          </a:prstGeom>
          <a:solidFill>
            <a:srgbClr val="F9FAFC"/>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5715000"/>
            <a:ext cx="11274552" cy="292608"/>
          </a:xfrm>
          <a:prstGeom prst="rect">
            <a:avLst/>
          </a:prstGeom>
          <a:solidFill>
            <a:srgbClr val="0F1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 y="5769864"/>
            <a:ext cx="10981944" cy="219456"/>
          </a:xfrm>
          <a:prstGeom prst="rect">
            <a:avLst/>
          </a:prstGeom>
          <a:noFill/>
        </p:spPr>
        <p:txBody>
          <a:bodyPr wrap="square" anchor="t" lIns="0" rIns="0" tIns="0" bIns="0">
            <a:spAutoFit/>
          </a:bodyPr>
          <a:lstStyle/>
          <a:p>
            <a:pPr algn="l"/>
            <a:r>
              <a:rPr sz="950" b="1">
                <a:solidFill>
                  <a:srgbClr val="FFFFFF"/>
                </a:solidFill>
                <a:latin typeface="Georgia"/>
              </a:rPr>
              <a:t>AUGUST OPERATING STATUS</a:t>
            </a:r>
          </a:p>
        </p:txBody>
      </p:sp>
      <p:sp>
        <p:nvSpPr>
          <p:cNvPr id="24" name="TextBox 23"/>
          <p:cNvSpPr txBox="1"/>
          <p:nvPr/>
        </p:nvSpPr>
        <p:spPr>
          <a:xfrm>
            <a:off x="603504" y="6117336"/>
            <a:ext cx="10981944" cy="182880"/>
          </a:xfrm>
          <a:prstGeom prst="rect">
            <a:avLst/>
          </a:prstGeom>
          <a:noFill/>
        </p:spPr>
        <p:txBody>
          <a:bodyPr wrap="square" anchor="t" lIns="0" rIns="0" tIns="0" bIns="0">
            <a:spAutoFit/>
          </a:bodyPr>
          <a:lstStyle/>
          <a:p>
            <a:pPr algn="l"/>
            <a:r>
              <a:rPr sz="900" b="0">
                <a:solidFill>
                  <a:srgbClr val="2B3147"/>
                </a:solidFill>
                <a:latin typeface="Calibri"/>
              </a:rPr>
              <a:t>The Meta account is flagged and delivery is paused entering August. July figures above reflect delivered activity for the month.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8229600" cy="320040"/>
          </a:xfrm>
          <a:prstGeom prst="rect">
            <a:avLst/>
          </a:prstGeom>
          <a:noFill/>
        </p:spPr>
        <p:txBody>
          <a:bodyPr wrap="square" anchor="t" lIns="0" rIns="0" tIns="0" bIns="0">
            <a:spAutoFit/>
          </a:bodyPr>
          <a:lstStyle/>
          <a:p>
            <a:pPr algn="l"/>
            <a:r>
              <a:rPr sz="1100" b="1">
                <a:solidFill>
                  <a:srgbClr val="FFFFFF"/>
                </a:solidFill>
                <a:latin typeface="Georgia"/>
              </a:rPr>
              <a:t>META  ·  CREATIVE PERFORMANCE</a:t>
            </a:r>
          </a:p>
        </p:txBody>
      </p:sp>
      <p:pic>
        <p:nvPicPr>
          <p:cNvPr id="5" name="Picture 4" descr="berelvant_logo.png"/>
          <p:cNvPicPr>
            <a:picLocks noChangeAspect="1"/>
          </p:cNvPicPr>
          <p:nvPr/>
        </p:nvPicPr>
        <p:blipFill>
          <a:blip r:embed="rId2"/>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The strongest ad creative for each campaign type, ranked for whenever delivery resumes.</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56832"/>
            <a:ext cx="7315200" cy="201168"/>
          </a:xfrm>
          <a:prstGeom prst="rect">
            <a:avLst/>
          </a:prstGeom>
          <a:noFill/>
        </p:spPr>
        <p:txBody>
          <a:bodyPr wrap="square" anchor="t" lIns="0" rIns="0" tIns="0" bIns="0">
            <a:spAutoFit/>
          </a:bodyPr>
          <a:lstStyle/>
          <a:p>
            <a:pPr algn="l"/>
            <a:r>
              <a:rPr sz="800" b="0">
                <a:solidFill>
                  <a:srgbClr val="5A6072"/>
                </a:solidFill>
                <a:latin typeface="Calibri"/>
              </a:rPr>
              <a:t>GCG (US Hispanic)   |   July 2026 Performance Review   |   Berelvant</a:t>
            </a:r>
          </a:p>
        </p:txBody>
      </p:sp>
      <p:sp>
        <p:nvSpPr>
          <p:cNvPr id="9" name="TextBox 8"/>
          <p:cNvSpPr txBox="1"/>
          <p:nvPr/>
        </p:nvSpPr>
        <p:spPr>
          <a:xfrm>
            <a:off x="10820095" y="6656832"/>
            <a:ext cx="914400" cy="201168"/>
          </a:xfrm>
          <a:prstGeom prst="rect">
            <a:avLst/>
          </a:prstGeom>
          <a:noFill/>
        </p:spPr>
        <p:txBody>
          <a:bodyPr wrap="square" anchor="t" lIns="0" rIns="0" tIns="0" bIns="0">
            <a:spAutoFit/>
          </a:bodyPr>
          <a:lstStyle/>
          <a:p>
            <a:pPr algn="r"/>
            <a:r>
              <a:rPr sz="800" b="0">
                <a:solidFill>
                  <a:srgbClr val="5A6072"/>
                </a:solidFill>
                <a:latin typeface="Calibri"/>
              </a:rPr>
              <a:t>7 / 14</a:t>
            </a:r>
          </a:p>
        </p:txBody>
      </p:sp>
      <p:graphicFrame>
        <p:nvGraphicFramePr>
          <p:cNvPr id="10" name="Table 9"/>
          <p:cNvGraphicFramePr>
            <a:graphicFrameLocks noGrp="1"/>
          </p:cNvGraphicFramePr>
          <p:nvPr/>
        </p:nvGraphicFramePr>
        <p:xfrm>
          <a:off x="457200" y="1737360"/>
          <a:ext cx="5486400" cy="2011680"/>
        </p:xfrm>
        <a:graphic>
          <a:graphicData uri="http://schemas.openxmlformats.org/drawingml/2006/table">
            <a:tbl>
              <a:tblPr>
                <a:tableStyleId>{5C22544A-7EE6-4342-B048-85BDC9FD1C3A}</a:tableStyleId>
              </a:tblPr>
              <a:tblGrid>
                <a:gridCol w="1920240"/>
                <a:gridCol w="822960"/>
                <a:gridCol w="777240"/>
                <a:gridCol w="868680"/>
                <a:gridCol w="1097280"/>
              </a:tblGrid>
              <a:tr h="335280">
                <a:tc>
                  <a:txBody>
                    <a:bodyPr/>
                    <a:lstStyle/>
                    <a:p>
                      <a:pPr algn="l"/>
                      <a:r>
                        <a:rPr sz="850" b="1">
                          <a:solidFill>
                            <a:srgbClr val="FFFFFF"/>
                          </a:solidFill>
                          <a:latin typeface="Calibri"/>
                        </a:rPr>
                        <a:t>Conversion creative</a:t>
                      </a:r>
                    </a:p>
                  </a:txBody>
                  <a:tcPr marL="54864" marR="54864" marT="27432" marB="27432">
                    <a:solidFill>
                      <a:srgbClr val="1E2761"/>
                    </a:solidFill>
                  </a:tcPr>
                </a:tc>
                <a:tc>
                  <a:txBody>
                    <a:bodyPr/>
                    <a:lstStyle/>
                    <a:p>
                      <a:pPr algn="r"/>
                      <a:r>
                        <a:rPr sz="850" b="1">
                          <a:solidFill>
                            <a:srgbClr val="FFFFFF"/>
                          </a:solidFill>
                          <a:latin typeface="Calibri"/>
                        </a:rPr>
                        <a:t>Spend</a:t>
                      </a:r>
                    </a:p>
                  </a:txBody>
                  <a:tcPr marL="54864" marR="54864" marT="27432" marB="27432">
                    <a:solidFill>
                      <a:srgbClr val="1E2761"/>
                    </a:solidFill>
                  </a:tcPr>
                </a:tc>
                <a:tc>
                  <a:txBody>
                    <a:bodyPr/>
                    <a:lstStyle/>
                    <a:p>
                      <a:pPr algn="r"/>
                      <a:r>
                        <a:rPr sz="850" b="1">
                          <a:solidFill>
                            <a:srgbClr val="FFFFFF"/>
                          </a:solidFill>
                          <a:latin typeface="Calibri"/>
                        </a:rPr>
                        <a:t>Events</a:t>
                      </a:r>
                    </a:p>
                  </a:txBody>
                  <a:tcPr marL="54864" marR="54864" marT="27432" marB="27432">
                    <a:solidFill>
                      <a:srgbClr val="1E2761"/>
                    </a:solidFill>
                  </a:tcPr>
                </a:tc>
                <a:tc>
                  <a:txBody>
                    <a:bodyPr/>
                    <a:lstStyle/>
                    <a:p>
                      <a:pPr algn="r"/>
                      <a:r>
                        <a:rPr sz="850" b="1">
                          <a:solidFill>
                            <a:srgbClr val="FFFFFF"/>
                          </a:solidFill>
                          <a:latin typeface="Calibri"/>
                        </a:rPr>
                        <a:t>Cost/event</a:t>
                      </a:r>
                    </a:p>
                  </a:txBody>
                  <a:tcPr marL="54864" marR="54864" marT="27432" marB="27432">
                    <a:solidFill>
                      <a:srgbClr val="1E2761"/>
                    </a:solidFill>
                  </a:tcPr>
                </a:tc>
                <a:tc>
                  <a:txBody>
                    <a:bodyPr/>
                    <a:lstStyle/>
                    <a:p>
                      <a:pPr algn="r"/>
                      <a:r>
                        <a:rPr sz="850" b="1">
                          <a:solidFill>
                            <a:srgbClr val="FFFFFF"/>
                          </a:solidFill>
                          <a:latin typeface="Calibri"/>
                        </a:rPr>
                        <a:t>Ranking</a:t>
                      </a:r>
                    </a:p>
                  </a:txBody>
                  <a:tcPr marL="54864" marR="54864" marT="27432" marB="27432">
                    <a:solidFill>
                      <a:srgbClr val="1E2761"/>
                    </a:solidFill>
                  </a:tcPr>
                </a:tc>
              </a:tr>
              <a:tr h="335280">
                <a:tc>
                  <a:txBody>
                    <a:bodyPr/>
                    <a:lstStyle/>
                    <a:p>
                      <a:pPr algn="l"/>
                      <a:r>
                        <a:rPr sz="850" b="1">
                          <a:solidFill>
                            <a:srgbClr val="2B3147"/>
                          </a:solidFill>
                          <a:latin typeface="Calibri"/>
                        </a:rPr>
                        <a:t>broker_trust_q2_trackA</a:t>
                      </a:r>
                    </a:p>
                  </a:txBody>
                  <a:tcPr marL="54864" marR="54864" marT="27432" marB="27432">
                    <a:solidFill>
                      <a:srgbClr val="FFFFFF"/>
                    </a:solidFill>
                  </a:tcPr>
                </a:tc>
                <a:tc>
                  <a:txBody>
                    <a:bodyPr/>
                    <a:lstStyle/>
                    <a:p>
                      <a:pPr algn="r"/>
                      <a:r>
                        <a:rPr sz="850" b="0">
                          <a:solidFill>
                            <a:srgbClr val="2B3147"/>
                          </a:solidFill>
                          <a:latin typeface="Calibri"/>
                        </a:rPr>
                        <a:t>$1,656</a:t>
                      </a:r>
                    </a:p>
                  </a:txBody>
                  <a:tcPr marL="54864" marR="54864" marT="27432" marB="27432">
                    <a:solidFill>
                      <a:srgbClr val="FFFFFF"/>
                    </a:solidFill>
                  </a:tcPr>
                </a:tc>
                <a:tc>
                  <a:txBody>
                    <a:bodyPr/>
                    <a:lstStyle/>
                    <a:p>
                      <a:pPr algn="r"/>
                      <a:r>
                        <a:rPr sz="850" b="0">
                          <a:solidFill>
                            <a:srgbClr val="2B3147"/>
                          </a:solidFill>
                          <a:latin typeface="Calibri"/>
                        </a:rPr>
                        <a:t>177</a:t>
                      </a:r>
                    </a:p>
                  </a:txBody>
                  <a:tcPr marL="54864" marR="54864" marT="27432" marB="27432">
                    <a:solidFill>
                      <a:srgbClr val="FFFFFF"/>
                    </a:solidFill>
                  </a:tcPr>
                </a:tc>
                <a:tc>
                  <a:txBody>
                    <a:bodyPr/>
                    <a:lstStyle/>
                    <a:p>
                      <a:pPr algn="r"/>
                      <a:r>
                        <a:rPr sz="850" b="0">
                          <a:solidFill>
                            <a:srgbClr val="2B3147"/>
                          </a:solidFill>
                          <a:latin typeface="Calibri"/>
                        </a:rPr>
                        <a:t>$9.36</a:t>
                      </a:r>
                    </a:p>
                  </a:txBody>
                  <a:tcPr marL="54864" marR="54864" marT="27432" marB="27432">
                    <a:solidFill>
                      <a:srgbClr val="FFFFFF"/>
                    </a:solidFill>
                  </a:tcPr>
                </a:tc>
                <a:tc>
                  <a:txBody>
                    <a:bodyPr/>
                    <a:lstStyle/>
                    <a:p>
                      <a:pPr algn="r"/>
                      <a:r>
                        <a:rPr sz="850" b="0">
                          <a:solidFill>
                            <a:srgbClr val="2B3147"/>
                          </a:solidFill>
                          <a:latin typeface="Calibri"/>
                        </a:rPr>
                        <a:t>LEADER</a:t>
                      </a:r>
                    </a:p>
                  </a:txBody>
                  <a:tcPr marL="54864" marR="54864" marT="27432" marB="27432">
                    <a:solidFill>
                      <a:srgbClr val="FFFFFF"/>
                    </a:solidFill>
                  </a:tcPr>
                </a:tc>
              </a:tr>
              <a:tr h="335280">
                <a:tc>
                  <a:txBody>
                    <a:bodyPr/>
                    <a:lstStyle/>
                    <a:p>
                      <a:pPr algn="l"/>
                      <a:r>
                        <a:rPr sz="850" b="1">
                          <a:solidFill>
                            <a:srgbClr val="2B3147"/>
                          </a:solidFill>
                          <a:latin typeface="Calibri"/>
                        </a:rPr>
                        <a:t>forex_plat_q2_trackB</a:t>
                      </a:r>
                    </a:p>
                  </a:txBody>
                  <a:tcPr marL="54864" marR="54864" marT="27432" marB="27432">
                    <a:solidFill>
                      <a:srgbClr val="F9FAFC"/>
                    </a:solidFill>
                  </a:tcPr>
                </a:tc>
                <a:tc>
                  <a:txBody>
                    <a:bodyPr/>
                    <a:lstStyle/>
                    <a:p>
                      <a:pPr algn="r"/>
                      <a:r>
                        <a:rPr sz="850" b="0">
                          <a:solidFill>
                            <a:srgbClr val="2B3147"/>
                          </a:solidFill>
                          <a:latin typeface="Calibri"/>
                        </a:rPr>
                        <a:t>$236</a:t>
                      </a:r>
                    </a:p>
                  </a:txBody>
                  <a:tcPr marL="54864" marR="54864" marT="27432" marB="27432">
                    <a:solidFill>
                      <a:srgbClr val="F9FAFC"/>
                    </a:solidFill>
                  </a:tcPr>
                </a:tc>
                <a:tc>
                  <a:txBody>
                    <a:bodyPr/>
                    <a:lstStyle/>
                    <a:p>
                      <a:pPr algn="r"/>
                      <a:r>
                        <a:rPr sz="850" b="0">
                          <a:solidFill>
                            <a:srgbClr val="2B3147"/>
                          </a:solidFill>
                          <a:latin typeface="Calibri"/>
                        </a:rPr>
                        <a:t>32</a:t>
                      </a:r>
                    </a:p>
                  </a:txBody>
                  <a:tcPr marL="54864" marR="54864" marT="27432" marB="27432">
                    <a:solidFill>
                      <a:srgbClr val="F9FAFC"/>
                    </a:solidFill>
                  </a:tcPr>
                </a:tc>
                <a:tc>
                  <a:txBody>
                    <a:bodyPr/>
                    <a:lstStyle/>
                    <a:p>
                      <a:pPr algn="r"/>
                      <a:r>
                        <a:rPr sz="850" b="0">
                          <a:solidFill>
                            <a:srgbClr val="2B3147"/>
                          </a:solidFill>
                          <a:latin typeface="Calibri"/>
                        </a:rPr>
                        <a:t>$7.38</a:t>
                      </a:r>
                    </a:p>
                  </a:txBody>
                  <a:tcPr marL="54864" marR="54864" marT="27432" marB="27432">
                    <a:solidFill>
                      <a:srgbClr val="F9FAFC"/>
                    </a:solidFill>
                  </a:tcPr>
                </a:tc>
                <a:tc>
                  <a:txBody>
                    <a:bodyPr/>
                    <a:lstStyle/>
                    <a:p>
                      <a:pPr algn="r"/>
                      <a:r>
                        <a:rPr sz="850" b="0">
                          <a:solidFill>
                            <a:srgbClr val="2B3147"/>
                          </a:solidFill>
                          <a:latin typeface="Calibri"/>
                        </a:rPr>
                        <a:t>LEADER</a:t>
                      </a:r>
                    </a:p>
                  </a:txBody>
                  <a:tcPr marL="54864" marR="54864" marT="27432" marB="27432">
                    <a:solidFill>
                      <a:srgbClr val="F9FAFC"/>
                    </a:solidFill>
                  </a:tcPr>
                </a:tc>
              </a:tr>
              <a:tr h="335280">
                <a:tc>
                  <a:txBody>
                    <a:bodyPr/>
                    <a:lstStyle/>
                    <a:p>
                      <a:pPr algn="l"/>
                      <a:r>
                        <a:rPr sz="850" b="1">
                          <a:solidFill>
                            <a:srgbClr val="2B3147"/>
                          </a:solidFill>
                          <a:latin typeface="Calibri"/>
                        </a:rPr>
                        <a:t>exp_plat_q2_trackB</a:t>
                      </a:r>
                    </a:p>
                  </a:txBody>
                  <a:tcPr marL="54864" marR="54864" marT="27432" marB="27432">
                    <a:solidFill>
                      <a:srgbClr val="FFFFFF"/>
                    </a:solidFill>
                  </a:tcPr>
                </a:tc>
                <a:tc>
                  <a:txBody>
                    <a:bodyPr/>
                    <a:lstStyle/>
                    <a:p>
                      <a:pPr algn="r"/>
                      <a:r>
                        <a:rPr sz="850" b="0">
                          <a:solidFill>
                            <a:srgbClr val="2B3147"/>
                          </a:solidFill>
                          <a:latin typeface="Calibri"/>
                        </a:rPr>
                        <a:t>$743</a:t>
                      </a:r>
                    </a:p>
                  </a:txBody>
                  <a:tcPr marL="54864" marR="54864" marT="27432" marB="27432">
                    <a:solidFill>
                      <a:srgbClr val="FFFFFF"/>
                    </a:solidFill>
                  </a:tcPr>
                </a:tc>
                <a:tc>
                  <a:txBody>
                    <a:bodyPr/>
                    <a:lstStyle/>
                    <a:p>
                      <a:pPr algn="r"/>
                      <a:r>
                        <a:rPr sz="850" b="0">
                          <a:solidFill>
                            <a:srgbClr val="2B3147"/>
                          </a:solidFill>
                          <a:latin typeface="Calibri"/>
                        </a:rPr>
                        <a:t>58</a:t>
                      </a:r>
                    </a:p>
                  </a:txBody>
                  <a:tcPr marL="54864" marR="54864" marT="27432" marB="27432">
                    <a:solidFill>
                      <a:srgbClr val="FFFFFF"/>
                    </a:solidFill>
                  </a:tcPr>
                </a:tc>
                <a:tc>
                  <a:txBody>
                    <a:bodyPr/>
                    <a:lstStyle/>
                    <a:p>
                      <a:pPr algn="r"/>
                      <a:r>
                        <a:rPr sz="850" b="0">
                          <a:solidFill>
                            <a:srgbClr val="2B3147"/>
                          </a:solidFill>
                          <a:latin typeface="Calibri"/>
                        </a:rPr>
                        <a:t>$12.81</a:t>
                      </a:r>
                    </a:p>
                  </a:txBody>
                  <a:tcPr marL="54864" marR="54864" marT="27432" marB="27432">
                    <a:solidFill>
                      <a:srgbClr val="FFFFFF"/>
                    </a:solidFill>
                  </a:tcPr>
                </a:tc>
                <a:tc>
                  <a:txBody>
                    <a:bodyPr/>
                    <a:lstStyle/>
                    <a:p>
                      <a:pPr algn="r"/>
                      <a:r>
                        <a:rPr sz="850" b="0">
                          <a:solidFill>
                            <a:srgbClr val="2B3147"/>
                          </a:solidFill>
                          <a:latin typeface="Calibri"/>
                        </a:rPr>
                        <a:t>STEADY</a:t>
                      </a:r>
                    </a:p>
                  </a:txBody>
                  <a:tcPr marL="54864" marR="54864" marT="27432" marB="27432">
                    <a:solidFill>
                      <a:srgbClr val="FFFFFF"/>
                    </a:solidFill>
                  </a:tcPr>
                </a:tc>
              </a:tr>
              <a:tr h="335280">
                <a:tc>
                  <a:txBody>
                    <a:bodyPr/>
                    <a:lstStyle/>
                    <a:p>
                      <a:pPr algn="l"/>
                      <a:r>
                        <a:rPr sz="850" b="1">
                          <a:solidFill>
                            <a:srgbClr val="2B3147"/>
                          </a:solidFill>
                          <a:latin typeface="Calibri"/>
                        </a:rPr>
                        <a:t>edu_trust_q2_trackA</a:t>
                      </a:r>
                    </a:p>
                  </a:txBody>
                  <a:tcPr marL="54864" marR="54864" marT="27432" marB="27432">
                    <a:solidFill>
                      <a:srgbClr val="F9FAFC"/>
                    </a:solidFill>
                  </a:tcPr>
                </a:tc>
                <a:tc>
                  <a:txBody>
                    <a:bodyPr/>
                    <a:lstStyle/>
                    <a:p>
                      <a:pPr algn="r"/>
                      <a:r>
                        <a:rPr sz="850" b="0">
                          <a:solidFill>
                            <a:srgbClr val="2B3147"/>
                          </a:solidFill>
                          <a:latin typeface="Calibri"/>
                        </a:rPr>
                        <a:t>$382</a:t>
                      </a:r>
                    </a:p>
                  </a:txBody>
                  <a:tcPr marL="54864" marR="54864" marT="27432" marB="27432">
                    <a:solidFill>
                      <a:srgbClr val="F9FAFC"/>
                    </a:solidFill>
                  </a:tcPr>
                </a:tc>
                <a:tc>
                  <a:txBody>
                    <a:bodyPr/>
                    <a:lstStyle/>
                    <a:p>
                      <a:pPr algn="r"/>
                      <a:r>
                        <a:rPr sz="850" b="0">
                          <a:solidFill>
                            <a:srgbClr val="2B3147"/>
                          </a:solidFill>
                          <a:latin typeface="Calibri"/>
                        </a:rPr>
                        <a:t>11</a:t>
                      </a:r>
                    </a:p>
                  </a:txBody>
                  <a:tcPr marL="54864" marR="54864" marT="27432" marB="27432">
                    <a:solidFill>
                      <a:srgbClr val="F9FAFC"/>
                    </a:solidFill>
                  </a:tcPr>
                </a:tc>
                <a:tc>
                  <a:txBody>
                    <a:bodyPr/>
                    <a:lstStyle/>
                    <a:p>
                      <a:pPr algn="r"/>
                      <a:r>
                        <a:rPr sz="850" b="0">
                          <a:solidFill>
                            <a:srgbClr val="2B3147"/>
                          </a:solidFill>
                          <a:latin typeface="Calibri"/>
                        </a:rPr>
                        <a:t>$34.75</a:t>
                      </a:r>
                    </a:p>
                  </a:txBody>
                  <a:tcPr marL="54864" marR="54864" marT="27432" marB="27432">
                    <a:solidFill>
                      <a:srgbClr val="F9FAFC"/>
                    </a:solidFill>
                  </a:tcPr>
                </a:tc>
                <a:tc>
                  <a:txBody>
                    <a:bodyPr/>
                    <a:lstStyle/>
                    <a:p>
                      <a:pPr algn="r"/>
                      <a:r>
                        <a:rPr sz="850" b="0">
                          <a:solidFill>
                            <a:srgbClr val="2B3147"/>
                          </a:solidFill>
                          <a:latin typeface="Calibri"/>
                        </a:rPr>
                        <a:t>WEAKEST</a:t>
                      </a:r>
                    </a:p>
                  </a:txBody>
                  <a:tcPr marL="54864" marR="54864" marT="27432" marB="27432">
                    <a:solidFill>
                      <a:srgbClr val="F9FAFC"/>
                    </a:solidFill>
                  </a:tcPr>
                </a:tc>
              </a:tr>
              <a:tr h="335280">
                <a:tc>
                  <a:txBody>
                    <a:bodyPr/>
                    <a:lstStyle/>
                    <a:p>
                      <a:pPr algn="l"/>
                      <a:r>
                        <a:rPr sz="850" b="1">
                          <a:solidFill>
                            <a:srgbClr val="2B3147"/>
                          </a:solidFill>
                          <a:latin typeface="Calibri"/>
                        </a:rPr>
                        <a:t>trading_proof_q2_trackA</a:t>
                      </a:r>
                    </a:p>
                  </a:txBody>
                  <a:tcPr marL="54864" marR="54864" marT="27432" marB="27432">
                    <a:solidFill>
                      <a:srgbClr val="FFFFFF"/>
                    </a:solidFill>
                  </a:tcPr>
                </a:tc>
                <a:tc>
                  <a:txBody>
                    <a:bodyPr/>
                    <a:lstStyle/>
                    <a:p>
                      <a:pPr algn="r"/>
                      <a:r>
                        <a:rPr sz="850" b="0">
                          <a:solidFill>
                            <a:srgbClr val="2B3147"/>
                          </a:solidFill>
                          <a:latin typeface="Calibri"/>
                        </a:rPr>
                        <a:t>$33</a:t>
                      </a:r>
                    </a:p>
                  </a:txBody>
                  <a:tcPr marL="54864" marR="54864" marT="27432" marB="27432">
                    <a:solidFill>
                      <a:srgbClr val="FFFFFF"/>
                    </a:solidFill>
                  </a:tcPr>
                </a:tc>
                <a:tc>
                  <a:txBody>
                    <a:bodyPr/>
                    <a:lstStyle/>
                    <a:p>
                      <a:pPr algn="r"/>
                      <a:r>
                        <a:rPr sz="850" b="0">
                          <a:solidFill>
                            <a:srgbClr val="2B3147"/>
                          </a:solidFill>
                          <a:latin typeface="Calibri"/>
                        </a:rPr>
                        <a:t>6</a:t>
                      </a:r>
                    </a:p>
                  </a:txBody>
                  <a:tcPr marL="54864" marR="54864" marT="27432" marB="27432">
                    <a:solidFill>
                      <a:srgbClr val="FFFFFF"/>
                    </a:solidFill>
                  </a:tcPr>
                </a:tc>
                <a:tc>
                  <a:txBody>
                    <a:bodyPr/>
                    <a:lstStyle/>
                    <a:p>
                      <a:pPr algn="r"/>
                      <a:r>
                        <a:rPr sz="850" b="0">
                          <a:solidFill>
                            <a:srgbClr val="2B3147"/>
                          </a:solidFill>
                          <a:latin typeface="Calibri"/>
                        </a:rPr>
                        <a:t>—</a:t>
                      </a:r>
                    </a:p>
                  </a:txBody>
                  <a:tcPr marL="54864" marR="54864" marT="27432" marB="27432">
                    <a:solidFill>
                      <a:srgbClr val="FFFFFF"/>
                    </a:solidFill>
                  </a:tcPr>
                </a:tc>
                <a:tc>
                  <a:txBody>
                    <a:bodyPr/>
                    <a:lstStyle/>
                    <a:p>
                      <a:pPr algn="r"/>
                      <a:r>
                        <a:rPr sz="850" b="0">
                          <a:solidFill>
                            <a:srgbClr val="2B3147"/>
                          </a:solidFill>
                          <a:latin typeface="Calibri"/>
                        </a:rPr>
                        <a:t>STEADY</a:t>
                      </a:r>
                    </a:p>
                  </a:txBody>
                  <a:tcPr marL="54864" marR="54864" marT="27432" marB="27432">
                    <a:solidFill>
                      <a:srgbClr val="FFFFFF"/>
                    </a:solidFill>
                  </a:tcPr>
                </a:tc>
              </a:tr>
            </a:tbl>
          </a:graphicData>
        </a:graphic>
      </p:graphicFrame>
      <p:graphicFrame>
        <p:nvGraphicFramePr>
          <p:cNvPr id="11" name="Table 10"/>
          <p:cNvGraphicFramePr>
            <a:graphicFrameLocks noGrp="1"/>
          </p:cNvGraphicFramePr>
          <p:nvPr/>
        </p:nvGraphicFramePr>
        <p:xfrm>
          <a:off x="6126480" y="1737360"/>
          <a:ext cx="5148072" cy="1417320"/>
        </p:xfrm>
        <a:graphic>
          <a:graphicData uri="http://schemas.openxmlformats.org/drawingml/2006/table">
            <a:tbl>
              <a:tblPr>
                <a:tableStyleId>{5C22544A-7EE6-4342-B048-85BDC9FD1C3A}</a:tableStyleId>
              </a:tblPr>
              <a:tblGrid>
                <a:gridCol w="2011680"/>
                <a:gridCol w="777240"/>
                <a:gridCol w="731520"/>
                <a:gridCol w="621792"/>
                <a:gridCol w="1005840"/>
              </a:tblGrid>
              <a:tr h="354330">
                <a:tc>
                  <a:txBody>
                    <a:bodyPr/>
                    <a:lstStyle/>
                    <a:p>
                      <a:pPr algn="l"/>
                      <a:r>
                        <a:rPr sz="850" b="1">
                          <a:solidFill>
                            <a:srgbClr val="FFFFFF"/>
                          </a:solidFill>
                          <a:latin typeface="Calibri"/>
                        </a:rPr>
                        <a:t>Traffic creative (live campaign)</a:t>
                      </a:r>
                    </a:p>
                  </a:txBody>
                  <a:tcPr marL="54864" marR="54864" marT="27432" marB="27432">
                    <a:solidFill>
                      <a:srgbClr val="1E2761"/>
                    </a:solidFill>
                  </a:tcPr>
                </a:tc>
                <a:tc>
                  <a:txBody>
                    <a:bodyPr/>
                    <a:lstStyle/>
                    <a:p>
                      <a:pPr algn="r"/>
                      <a:r>
                        <a:rPr sz="850" b="1">
                          <a:solidFill>
                            <a:srgbClr val="FFFFFF"/>
                          </a:solidFill>
                          <a:latin typeface="Calibri"/>
                        </a:rPr>
                        <a:t>Spend</a:t>
                      </a:r>
                    </a:p>
                  </a:txBody>
                  <a:tcPr marL="54864" marR="54864" marT="27432" marB="27432">
                    <a:solidFill>
                      <a:srgbClr val="1E2761"/>
                    </a:solidFill>
                  </a:tcPr>
                </a:tc>
                <a:tc>
                  <a:txBody>
                    <a:bodyPr/>
                    <a:lstStyle/>
                    <a:p>
                      <a:pPr algn="r"/>
                      <a:r>
                        <a:rPr sz="850" b="1">
                          <a:solidFill>
                            <a:srgbClr val="FFFFFF"/>
                          </a:solidFill>
                          <a:latin typeface="Calibri"/>
                        </a:rPr>
                        <a:t>Clicks</a:t>
                      </a:r>
                    </a:p>
                  </a:txBody>
                  <a:tcPr marL="54864" marR="54864" marT="27432" marB="27432">
                    <a:solidFill>
                      <a:srgbClr val="1E2761"/>
                    </a:solidFill>
                  </a:tcPr>
                </a:tc>
                <a:tc>
                  <a:txBody>
                    <a:bodyPr/>
                    <a:lstStyle/>
                    <a:p>
                      <a:pPr algn="r"/>
                      <a:r>
                        <a:rPr sz="850" b="1">
                          <a:solidFill>
                            <a:srgbClr val="FFFFFF"/>
                          </a:solidFill>
                          <a:latin typeface="Calibri"/>
                        </a:rPr>
                        <a:t>CTR</a:t>
                      </a:r>
                    </a:p>
                  </a:txBody>
                  <a:tcPr marL="54864" marR="54864" marT="27432" marB="27432">
                    <a:solidFill>
                      <a:srgbClr val="1E2761"/>
                    </a:solidFill>
                  </a:tcPr>
                </a:tc>
                <a:tc>
                  <a:txBody>
                    <a:bodyPr/>
                    <a:lstStyle/>
                    <a:p>
                      <a:pPr algn="r"/>
                      <a:r>
                        <a:rPr sz="850" b="1">
                          <a:solidFill>
                            <a:srgbClr val="FFFFFF"/>
                          </a:solidFill>
                          <a:latin typeface="Calibri"/>
                        </a:rPr>
                        <a:t>Ranking</a:t>
                      </a:r>
                    </a:p>
                  </a:txBody>
                  <a:tcPr marL="54864" marR="54864" marT="27432" marB="27432">
                    <a:solidFill>
                      <a:srgbClr val="1E2761"/>
                    </a:solidFill>
                  </a:tcPr>
                </a:tc>
              </a:tr>
              <a:tr h="354330">
                <a:tc>
                  <a:txBody>
                    <a:bodyPr/>
                    <a:lstStyle/>
                    <a:p>
                      <a:pPr algn="l"/>
                      <a:r>
                        <a:rPr sz="850" b="1">
                          <a:solidFill>
                            <a:srgbClr val="2B3147"/>
                          </a:solidFill>
                          <a:latin typeface="Calibri"/>
                        </a:rPr>
                        <a:t>forex_plat_q2_trackB</a:t>
                      </a:r>
                    </a:p>
                  </a:txBody>
                  <a:tcPr marL="54864" marR="54864" marT="27432" marB="27432">
                    <a:solidFill>
                      <a:srgbClr val="FFFFFF"/>
                    </a:solidFill>
                  </a:tcPr>
                </a:tc>
                <a:tc>
                  <a:txBody>
                    <a:bodyPr/>
                    <a:lstStyle/>
                    <a:p>
                      <a:pPr algn="r"/>
                      <a:r>
                        <a:rPr sz="850" b="0">
                          <a:solidFill>
                            <a:srgbClr val="2B3147"/>
                          </a:solidFill>
                          <a:latin typeface="Calibri"/>
                        </a:rPr>
                        <a:t>$1,033</a:t>
                      </a:r>
                    </a:p>
                  </a:txBody>
                  <a:tcPr marL="54864" marR="54864" marT="27432" marB="27432">
                    <a:solidFill>
                      <a:srgbClr val="FFFFFF"/>
                    </a:solidFill>
                  </a:tcPr>
                </a:tc>
                <a:tc>
                  <a:txBody>
                    <a:bodyPr/>
                    <a:lstStyle/>
                    <a:p>
                      <a:pPr algn="r"/>
                      <a:r>
                        <a:rPr sz="850" b="0">
                          <a:solidFill>
                            <a:srgbClr val="2B3147"/>
                          </a:solidFill>
                          <a:latin typeface="Calibri"/>
                        </a:rPr>
                        <a:t>3,171</a:t>
                      </a:r>
                    </a:p>
                  </a:txBody>
                  <a:tcPr marL="54864" marR="54864" marT="27432" marB="27432">
                    <a:solidFill>
                      <a:srgbClr val="FFFFFF"/>
                    </a:solidFill>
                  </a:tcPr>
                </a:tc>
                <a:tc>
                  <a:txBody>
                    <a:bodyPr/>
                    <a:lstStyle/>
                    <a:p>
                      <a:pPr algn="r"/>
                      <a:r>
                        <a:rPr sz="850" b="0">
                          <a:solidFill>
                            <a:srgbClr val="2B3147"/>
                          </a:solidFill>
                          <a:latin typeface="Calibri"/>
                        </a:rPr>
                        <a:t>5.32%</a:t>
                      </a:r>
                    </a:p>
                  </a:txBody>
                  <a:tcPr marL="54864" marR="54864" marT="27432" marB="27432">
                    <a:solidFill>
                      <a:srgbClr val="FFFFFF"/>
                    </a:solidFill>
                  </a:tcPr>
                </a:tc>
                <a:tc>
                  <a:txBody>
                    <a:bodyPr/>
                    <a:lstStyle/>
                    <a:p>
                      <a:pPr algn="r"/>
                      <a:r>
                        <a:rPr sz="850" b="0">
                          <a:solidFill>
                            <a:srgbClr val="2B3147"/>
                          </a:solidFill>
                          <a:latin typeface="Calibri"/>
                        </a:rPr>
                        <a:t>LEADER</a:t>
                      </a:r>
                    </a:p>
                  </a:txBody>
                  <a:tcPr marL="54864" marR="54864" marT="27432" marB="27432">
                    <a:solidFill>
                      <a:srgbClr val="FFFFFF"/>
                    </a:solidFill>
                  </a:tcPr>
                </a:tc>
              </a:tr>
              <a:tr h="354330">
                <a:tc>
                  <a:txBody>
                    <a:bodyPr/>
                    <a:lstStyle/>
                    <a:p>
                      <a:pPr algn="l"/>
                      <a:r>
                        <a:rPr sz="850" b="1">
                          <a:solidFill>
                            <a:srgbClr val="2B3147"/>
                          </a:solidFill>
                          <a:latin typeface="Calibri"/>
                        </a:rPr>
                        <a:t>broker_trust_q2_trackA</a:t>
                      </a:r>
                    </a:p>
                  </a:txBody>
                  <a:tcPr marL="54864" marR="54864" marT="27432" marB="27432">
                    <a:solidFill>
                      <a:srgbClr val="F9FAFC"/>
                    </a:solidFill>
                  </a:tcPr>
                </a:tc>
                <a:tc>
                  <a:txBody>
                    <a:bodyPr/>
                    <a:lstStyle/>
                    <a:p>
                      <a:pPr algn="r"/>
                      <a:r>
                        <a:rPr sz="850" b="0">
                          <a:solidFill>
                            <a:srgbClr val="2B3147"/>
                          </a:solidFill>
                          <a:latin typeface="Calibri"/>
                        </a:rPr>
                        <a:t>$571</a:t>
                      </a:r>
                    </a:p>
                  </a:txBody>
                  <a:tcPr marL="54864" marR="54864" marT="27432" marB="27432">
                    <a:solidFill>
                      <a:srgbClr val="F9FAFC"/>
                    </a:solidFill>
                  </a:tcPr>
                </a:tc>
                <a:tc>
                  <a:txBody>
                    <a:bodyPr/>
                    <a:lstStyle/>
                    <a:p>
                      <a:pPr algn="r"/>
                      <a:r>
                        <a:rPr sz="850" b="0">
                          <a:solidFill>
                            <a:srgbClr val="2B3147"/>
                          </a:solidFill>
                          <a:latin typeface="Calibri"/>
                        </a:rPr>
                        <a:t>1,597</a:t>
                      </a:r>
                    </a:p>
                  </a:txBody>
                  <a:tcPr marL="54864" marR="54864" marT="27432" marB="27432">
                    <a:solidFill>
                      <a:srgbClr val="F9FAFC"/>
                    </a:solidFill>
                  </a:tcPr>
                </a:tc>
                <a:tc>
                  <a:txBody>
                    <a:bodyPr/>
                    <a:lstStyle/>
                    <a:p>
                      <a:pPr algn="r"/>
                      <a:r>
                        <a:rPr sz="850" b="0">
                          <a:solidFill>
                            <a:srgbClr val="2B3147"/>
                          </a:solidFill>
                          <a:latin typeface="Calibri"/>
                        </a:rPr>
                        <a:t>2.77%</a:t>
                      </a:r>
                    </a:p>
                  </a:txBody>
                  <a:tcPr marL="54864" marR="54864" marT="27432" marB="27432">
                    <a:solidFill>
                      <a:srgbClr val="F9FAFC"/>
                    </a:solidFill>
                  </a:tcPr>
                </a:tc>
                <a:tc>
                  <a:txBody>
                    <a:bodyPr/>
                    <a:lstStyle/>
                    <a:p>
                      <a:pPr algn="r"/>
                      <a:r>
                        <a:rPr sz="850" b="0">
                          <a:solidFill>
                            <a:srgbClr val="2B3147"/>
                          </a:solidFill>
                          <a:latin typeface="Calibri"/>
                        </a:rPr>
                        <a:t>STEADY</a:t>
                      </a:r>
                    </a:p>
                  </a:txBody>
                  <a:tcPr marL="54864" marR="54864" marT="27432" marB="27432">
                    <a:solidFill>
                      <a:srgbClr val="F9FAFC"/>
                    </a:solidFill>
                  </a:tcPr>
                </a:tc>
              </a:tr>
              <a:tr h="354330">
                <a:tc>
                  <a:txBody>
                    <a:bodyPr/>
                    <a:lstStyle/>
                    <a:p>
                      <a:pPr algn="l"/>
                      <a:r>
                        <a:rPr sz="850" b="1">
                          <a:solidFill>
                            <a:srgbClr val="2B3147"/>
                          </a:solidFill>
                          <a:latin typeface="Calibri"/>
                        </a:rPr>
                        <a:t>exp_plat_q2_trackB</a:t>
                      </a:r>
                    </a:p>
                  </a:txBody>
                  <a:tcPr marL="54864" marR="54864" marT="27432" marB="27432">
                    <a:solidFill>
                      <a:srgbClr val="FFFFFF"/>
                    </a:solidFill>
                  </a:tcPr>
                </a:tc>
                <a:tc>
                  <a:txBody>
                    <a:bodyPr/>
                    <a:lstStyle/>
                    <a:p>
                      <a:pPr algn="r"/>
                      <a:r>
                        <a:rPr sz="850" b="0">
                          <a:solidFill>
                            <a:srgbClr val="2B3147"/>
                          </a:solidFill>
                          <a:latin typeface="Calibri"/>
                        </a:rPr>
                        <a:t>$153</a:t>
                      </a:r>
                    </a:p>
                  </a:txBody>
                  <a:tcPr marL="54864" marR="54864" marT="27432" marB="27432">
                    <a:solidFill>
                      <a:srgbClr val="FFFFFF"/>
                    </a:solidFill>
                  </a:tcPr>
                </a:tc>
                <a:tc>
                  <a:txBody>
                    <a:bodyPr/>
                    <a:lstStyle/>
                    <a:p>
                      <a:pPr algn="r"/>
                      <a:r>
                        <a:rPr sz="850" b="0">
                          <a:solidFill>
                            <a:srgbClr val="2B3147"/>
                          </a:solidFill>
                          <a:latin typeface="Calibri"/>
                        </a:rPr>
                        <a:t>649</a:t>
                      </a:r>
                    </a:p>
                  </a:txBody>
                  <a:tcPr marL="54864" marR="54864" marT="27432" marB="27432">
                    <a:solidFill>
                      <a:srgbClr val="FFFFFF"/>
                    </a:solidFill>
                  </a:tcPr>
                </a:tc>
                <a:tc>
                  <a:txBody>
                    <a:bodyPr/>
                    <a:lstStyle/>
                    <a:p>
                      <a:pPr algn="r"/>
                      <a:r>
                        <a:rPr sz="850" b="0">
                          <a:solidFill>
                            <a:srgbClr val="2B3147"/>
                          </a:solidFill>
                          <a:latin typeface="Calibri"/>
                        </a:rPr>
                        <a:t>1.51%</a:t>
                      </a:r>
                    </a:p>
                  </a:txBody>
                  <a:tcPr marL="54864" marR="54864" marT="27432" marB="27432">
                    <a:solidFill>
                      <a:srgbClr val="FFFFFF"/>
                    </a:solidFill>
                  </a:tcPr>
                </a:tc>
                <a:tc>
                  <a:txBody>
                    <a:bodyPr/>
                    <a:lstStyle/>
                    <a:p>
                      <a:pPr algn="r"/>
                      <a:r>
                        <a:rPr sz="850" b="0">
                          <a:solidFill>
                            <a:srgbClr val="2B3147"/>
                          </a:solidFill>
                          <a:latin typeface="Calibri"/>
                        </a:rPr>
                        <a:t>STEADY</a:t>
                      </a:r>
                    </a:p>
                  </a:txBody>
                  <a:tcPr marL="54864" marR="54864" marT="27432" marB="27432">
                    <a:solidFill>
                      <a:srgbClr val="FFFFFF"/>
                    </a:solidFill>
                  </a:tcPr>
                </a:tc>
              </a:tr>
            </a:tbl>
          </a:graphicData>
        </a:graphic>
      </p:graphicFrame>
      <p:sp>
        <p:nvSpPr>
          <p:cNvPr id="12" name="TextBox 11"/>
          <p:cNvSpPr txBox="1"/>
          <p:nvPr/>
        </p:nvSpPr>
        <p:spPr>
          <a:xfrm>
            <a:off x="457200" y="3794760"/>
            <a:ext cx="5486400" cy="457200"/>
          </a:xfrm>
          <a:prstGeom prst="rect">
            <a:avLst/>
          </a:prstGeom>
          <a:noFill/>
        </p:spPr>
        <p:txBody>
          <a:bodyPr wrap="square" anchor="t" lIns="0" rIns="0" tIns="0" bIns="0">
            <a:spAutoFit/>
          </a:bodyPr>
          <a:lstStyle/>
          <a:p>
            <a:pPr algn="l"/>
            <a:r>
              <a:rPr sz="750" b="0">
                <a:solidFill>
                  <a:srgbClr val="5A6072"/>
                </a:solidFill>
                <a:latin typeface="Calibri"/>
              </a:rPr>
              <a:t>Events are actions recorded by Meta’s own site tracking, not submitted applications.</a:t>
            </a:r>
          </a:p>
        </p:txBody>
      </p:sp>
      <p:sp>
        <p:nvSpPr>
          <p:cNvPr id="13" name="TextBox 12"/>
          <p:cNvSpPr txBox="1"/>
          <p:nvPr/>
        </p:nvSpPr>
        <p:spPr>
          <a:xfrm>
            <a:off x="6126480" y="3246120"/>
            <a:ext cx="5148072" cy="457200"/>
          </a:xfrm>
          <a:prstGeom prst="rect">
            <a:avLst/>
          </a:prstGeom>
          <a:noFill/>
        </p:spPr>
        <p:txBody>
          <a:bodyPr wrap="square" anchor="t" lIns="0" rIns="0" tIns="0" bIns="0">
            <a:spAutoFit/>
          </a:bodyPr>
          <a:lstStyle/>
          <a:p>
            <a:pPr algn="l"/>
            <a:r>
              <a:rPr sz="750" b="0">
                <a:solidFill>
                  <a:srgbClr val="5A6072"/>
                </a:solidFill>
                <a:latin typeface="Calibri"/>
              </a:rPr>
              <a:t>The paused Q2 traffic campaign’s creative rows are historical only and carry no forward call.</a:t>
            </a:r>
          </a:p>
        </p:txBody>
      </p:sp>
      <p:sp>
        <p:nvSpPr>
          <p:cNvPr id="14" name="Rectangle 13"/>
          <p:cNvSpPr/>
          <p:nvPr/>
        </p:nvSpPr>
        <p:spPr>
          <a:xfrm>
            <a:off x="457200" y="4297680"/>
            <a:ext cx="11274552" cy="173736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4297680"/>
            <a:ext cx="64008" cy="1737360"/>
          </a:xfrm>
          <a:prstGeom prst="rect">
            <a:avLst/>
          </a:prstGeom>
          <a:solidFill>
            <a:srgbClr val="E9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 y="4462272"/>
            <a:ext cx="10872216" cy="274320"/>
          </a:xfrm>
          <a:prstGeom prst="rect">
            <a:avLst/>
          </a:prstGeom>
          <a:noFill/>
        </p:spPr>
        <p:txBody>
          <a:bodyPr wrap="square" anchor="t" lIns="0" rIns="0" tIns="0" bIns="0">
            <a:spAutoFit/>
          </a:bodyPr>
          <a:lstStyle/>
          <a:p>
            <a:pPr algn="l"/>
            <a:r>
              <a:rPr sz="1000" b="1">
                <a:solidFill>
                  <a:srgbClr val="1E2761"/>
                </a:solidFill>
                <a:latin typeface="Georgia"/>
              </a:rPr>
              <a:t>THE ORDER TO REVISIT</a:t>
            </a:r>
          </a:p>
        </p:txBody>
      </p:sp>
      <p:sp>
        <p:nvSpPr>
          <p:cNvPr id="17" name="TextBox 16"/>
          <p:cNvSpPr txBox="1"/>
          <p:nvPr/>
        </p:nvSpPr>
        <p:spPr>
          <a:xfrm>
            <a:off x="676656" y="4800600"/>
            <a:ext cx="10872216" cy="1051560"/>
          </a:xfrm>
          <a:prstGeom prst="rect">
            <a:avLst/>
          </a:prstGeom>
          <a:noFill/>
        </p:spPr>
        <p:txBody>
          <a:bodyPr wrap="square" anchor="t" lIns="0" rIns="0" tIns="0" bIns="0">
            <a:spAutoFit/>
          </a:bodyPr>
          <a:lstStyle/>
          <a:p>
            <a:pPr algn="l"/>
            <a:r>
              <a:rPr sz="950" b="0">
                <a:solidFill>
                  <a:srgbClr val="2B3147"/>
                </a:solidFill>
                <a:latin typeface="Calibri"/>
              </a:rPr>
              <a:t>Meta is paused entering August; the ranking above applies once delivery resumes. The forex_plat_q2_trackB ad performed best on both campaign types. The broker_trust_q2_trackA ad carried most of the application-campaign volume. The edu_trust_q2_trackA ad cost 3.7 times more per action than the stronger ads, on meaningful spend.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8229600" cy="320040"/>
          </a:xfrm>
          <a:prstGeom prst="rect">
            <a:avLst/>
          </a:prstGeom>
          <a:noFill/>
        </p:spPr>
        <p:txBody>
          <a:bodyPr wrap="square" anchor="t" lIns="0" rIns="0" tIns="0" bIns="0">
            <a:spAutoFit/>
          </a:bodyPr>
          <a:lstStyle/>
          <a:p>
            <a:pPr algn="l"/>
            <a:r>
              <a:rPr sz="1100" b="1">
                <a:solidFill>
                  <a:srgbClr val="FFFFFF"/>
                </a:solidFill>
                <a:latin typeface="Georgia"/>
              </a:rPr>
              <a:t>QUANTCAST  ·  DISPLAY AND NATIVE</a:t>
            </a:r>
          </a:p>
        </p:txBody>
      </p:sp>
      <p:pic>
        <p:nvPicPr>
          <p:cNvPr id="5" name="Picture 4" descr="berelvant_logo.png"/>
          <p:cNvPicPr>
            <a:picLocks noChangeAspect="1"/>
          </p:cNvPicPr>
          <p:nvPr/>
        </p:nvPicPr>
        <p:blipFill>
          <a:blip r:embed="rId2"/>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Display spend held near flat at $29,857; Native ran its first full month.</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56832"/>
            <a:ext cx="7315200" cy="201168"/>
          </a:xfrm>
          <a:prstGeom prst="rect">
            <a:avLst/>
          </a:prstGeom>
          <a:noFill/>
        </p:spPr>
        <p:txBody>
          <a:bodyPr wrap="square" anchor="t" lIns="0" rIns="0" tIns="0" bIns="0">
            <a:spAutoFit/>
          </a:bodyPr>
          <a:lstStyle/>
          <a:p>
            <a:pPr algn="l"/>
            <a:r>
              <a:rPr sz="800" b="0">
                <a:solidFill>
                  <a:srgbClr val="5A6072"/>
                </a:solidFill>
                <a:latin typeface="Calibri"/>
              </a:rPr>
              <a:t>GCG (US Hispanic)   |   July 2026 Performance Review   |   Berelvant</a:t>
            </a:r>
          </a:p>
        </p:txBody>
      </p:sp>
      <p:sp>
        <p:nvSpPr>
          <p:cNvPr id="9" name="TextBox 8"/>
          <p:cNvSpPr txBox="1"/>
          <p:nvPr/>
        </p:nvSpPr>
        <p:spPr>
          <a:xfrm>
            <a:off x="10820095" y="6656832"/>
            <a:ext cx="914400" cy="201168"/>
          </a:xfrm>
          <a:prstGeom prst="rect">
            <a:avLst/>
          </a:prstGeom>
          <a:noFill/>
        </p:spPr>
        <p:txBody>
          <a:bodyPr wrap="square" anchor="t" lIns="0" rIns="0" tIns="0" bIns="0">
            <a:spAutoFit/>
          </a:bodyPr>
          <a:lstStyle/>
          <a:p>
            <a:pPr algn="r"/>
            <a:r>
              <a:rPr sz="800" b="0">
                <a:solidFill>
                  <a:srgbClr val="5A6072"/>
                </a:solidFill>
                <a:latin typeface="Calibri"/>
              </a:rPr>
              <a:t>8 / 14</a:t>
            </a:r>
          </a:p>
        </p:txBody>
      </p:sp>
      <p:sp>
        <p:nvSpPr>
          <p:cNvPr id="10" name="TextBox 9"/>
          <p:cNvSpPr txBox="1"/>
          <p:nvPr/>
        </p:nvSpPr>
        <p:spPr>
          <a:xfrm>
            <a:off x="457200" y="1417320"/>
            <a:ext cx="11247120" cy="274320"/>
          </a:xfrm>
          <a:prstGeom prst="rect">
            <a:avLst/>
          </a:prstGeom>
          <a:noFill/>
        </p:spPr>
        <p:txBody>
          <a:bodyPr wrap="square" anchor="t" lIns="0" rIns="0" tIns="0" bIns="0">
            <a:spAutoFit/>
          </a:bodyPr>
          <a:lstStyle/>
          <a:p>
            <a:pPr algn="l"/>
            <a:r>
              <a:rPr sz="950" b="0">
                <a:solidFill>
                  <a:srgbClr val="5A6072"/>
                </a:solidFill>
                <a:latin typeface="Calibri"/>
              </a:rPr>
              <a:t>Target: Spanish-language US audiences reached through finance and trading websites in Quantcast’s network.</a:t>
            </a:r>
          </a:p>
        </p:txBody>
      </p:sp>
      <p:sp>
        <p:nvSpPr>
          <p:cNvPr id="11" name="Rectangle 10"/>
          <p:cNvSpPr/>
          <p:nvPr/>
        </p:nvSpPr>
        <p:spPr>
          <a:xfrm>
            <a:off x="457200" y="1828800"/>
            <a:ext cx="210312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874519"/>
            <a:ext cx="1828799" cy="274320"/>
          </a:xfrm>
          <a:prstGeom prst="rect">
            <a:avLst/>
          </a:prstGeom>
          <a:noFill/>
        </p:spPr>
        <p:txBody>
          <a:bodyPr wrap="square" anchor="t" lIns="0" rIns="0" tIns="0" bIns="0">
            <a:spAutoFit/>
          </a:bodyPr>
          <a:lstStyle/>
          <a:p>
            <a:pPr algn="l"/>
            <a:r>
              <a:rPr sz="800" b="1">
                <a:solidFill>
                  <a:srgbClr val="5A6072"/>
                </a:solidFill>
                <a:latin typeface="Calibri"/>
              </a:rPr>
              <a:t>DISPLAY SPEND</a:t>
            </a:r>
          </a:p>
        </p:txBody>
      </p:sp>
      <p:sp>
        <p:nvSpPr>
          <p:cNvPr id="14" name="TextBox 13"/>
          <p:cNvSpPr txBox="1"/>
          <p:nvPr/>
        </p:nvSpPr>
        <p:spPr>
          <a:xfrm>
            <a:off x="640080" y="2121408"/>
            <a:ext cx="1828799" cy="457200"/>
          </a:xfrm>
          <a:prstGeom prst="rect">
            <a:avLst/>
          </a:prstGeom>
          <a:noFill/>
        </p:spPr>
        <p:txBody>
          <a:bodyPr wrap="square" anchor="t" lIns="0" rIns="0" tIns="0" bIns="0">
            <a:spAutoFit/>
          </a:bodyPr>
          <a:lstStyle/>
          <a:p>
            <a:pPr algn="l"/>
            <a:r>
              <a:rPr sz="1500" b="1">
                <a:solidFill>
                  <a:srgbClr val="1E2761"/>
                </a:solidFill>
                <a:latin typeface="Calibri"/>
              </a:rPr>
              <a:t>$29,857</a:t>
            </a:r>
          </a:p>
        </p:txBody>
      </p:sp>
      <p:sp>
        <p:nvSpPr>
          <p:cNvPr id="15" name="TextBox 14"/>
          <p:cNvSpPr txBox="1"/>
          <p:nvPr/>
        </p:nvSpPr>
        <p:spPr>
          <a:xfrm>
            <a:off x="640080" y="2578608"/>
            <a:ext cx="1828799" cy="219456"/>
          </a:xfrm>
          <a:prstGeom prst="rect">
            <a:avLst/>
          </a:prstGeom>
          <a:noFill/>
        </p:spPr>
        <p:txBody>
          <a:bodyPr wrap="square" anchor="t" lIns="0" rIns="0" tIns="0" bIns="0">
            <a:spAutoFit/>
          </a:bodyPr>
          <a:lstStyle/>
          <a:p>
            <a:pPr algn="l"/>
            <a:r>
              <a:rPr sz="800" b="0">
                <a:solidFill>
                  <a:srgbClr val="5A6072"/>
                </a:solidFill>
                <a:latin typeface="Calibri"/>
              </a:rPr>
              <a:t>Jul 1-31</a:t>
            </a:r>
          </a:p>
        </p:txBody>
      </p:sp>
      <p:sp>
        <p:nvSpPr>
          <p:cNvPr id="16" name="Rectangle 15"/>
          <p:cNvSpPr/>
          <p:nvPr/>
        </p:nvSpPr>
        <p:spPr>
          <a:xfrm>
            <a:off x="2697480" y="1828800"/>
            <a:ext cx="2103120" cy="91440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697480" y="1828800"/>
            <a:ext cx="54864" cy="9144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80360" y="1874519"/>
            <a:ext cx="1828799" cy="274320"/>
          </a:xfrm>
          <a:prstGeom prst="rect">
            <a:avLst/>
          </a:prstGeom>
          <a:noFill/>
        </p:spPr>
        <p:txBody>
          <a:bodyPr wrap="square" anchor="t" lIns="0" rIns="0" tIns="0" bIns="0">
            <a:spAutoFit/>
          </a:bodyPr>
          <a:lstStyle/>
          <a:p>
            <a:pPr algn="l"/>
            <a:r>
              <a:rPr sz="800" b="1">
                <a:solidFill>
                  <a:srgbClr val="5A6072"/>
                </a:solidFill>
                <a:latin typeface="Calibri"/>
              </a:rPr>
              <a:t>DISPLAY IMPR</a:t>
            </a:r>
          </a:p>
        </p:txBody>
      </p:sp>
      <p:sp>
        <p:nvSpPr>
          <p:cNvPr id="19" name="TextBox 18"/>
          <p:cNvSpPr txBox="1"/>
          <p:nvPr/>
        </p:nvSpPr>
        <p:spPr>
          <a:xfrm>
            <a:off x="2880360" y="2121408"/>
            <a:ext cx="1828799" cy="457200"/>
          </a:xfrm>
          <a:prstGeom prst="rect">
            <a:avLst/>
          </a:prstGeom>
          <a:noFill/>
        </p:spPr>
        <p:txBody>
          <a:bodyPr wrap="square" anchor="t" lIns="0" rIns="0" tIns="0" bIns="0">
            <a:spAutoFit/>
          </a:bodyPr>
          <a:lstStyle/>
          <a:p>
            <a:pPr algn="l"/>
            <a:r>
              <a:rPr sz="1500" b="1">
                <a:solidFill>
                  <a:srgbClr val="1E2761"/>
                </a:solidFill>
                <a:latin typeface="Calibri"/>
              </a:rPr>
              <a:t>22.49M</a:t>
            </a:r>
          </a:p>
        </p:txBody>
      </p:sp>
      <p:sp>
        <p:nvSpPr>
          <p:cNvPr id="20" name="Rectangle 19"/>
          <p:cNvSpPr/>
          <p:nvPr/>
        </p:nvSpPr>
        <p:spPr>
          <a:xfrm>
            <a:off x="4937760" y="1828800"/>
            <a:ext cx="2103120" cy="91440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37760" y="1828800"/>
            <a:ext cx="54864" cy="9144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20640" y="1874519"/>
            <a:ext cx="1828799" cy="274320"/>
          </a:xfrm>
          <a:prstGeom prst="rect">
            <a:avLst/>
          </a:prstGeom>
          <a:noFill/>
        </p:spPr>
        <p:txBody>
          <a:bodyPr wrap="square" anchor="t" lIns="0" rIns="0" tIns="0" bIns="0">
            <a:spAutoFit/>
          </a:bodyPr>
          <a:lstStyle/>
          <a:p>
            <a:pPr algn="l"/>
            <a:r>
              <a:rPr sz="800" b="1">
                <a:solidFill>
                  <a:srgbClr val="5A6072"/>
                </a:solidFill>
                <a:latin typeface="Calibri"/>
              </a:rPr>
              <a:t>DISPLAY CLICKS</a:t>
            </a:r>
          </a:p>
        </p:txBody>
      </p:sp>
      <p:sp>
        <p:nvSpPr>
          <p:cNvPr id="23" name="TextBox 22"/>
          <p:cNvSpPr txBox="1"/>
          <p:nvPr/>
        </p:nvSpPr>
        <p:spPr>
          <a:xfrm>
            <a:off x="5120640" y="2121408"/>
            <a:ext cx="1828799" cy="457200"/>
          </a:xfrm>
          <a:prstGeom prst="rect">
            <a:avLst/>
          </a:prstGeom>
          <a:noFill/>
        </p:spPr>
        <p:txBody>
          <a:bodyPr wrap="square" anchor="t" lIns="0" rIns="0" tIns="0" bIns="0">
            <a:spAutoFit/>
          </a:bodyPr>
          <a:lstStyle/>
          <a:p>
            <a:pPr algn="l"/>
            <a:r>
              <a:rPr sz="1500" b="1">
                <a:solidFill>
                  <a:srgbClr val="1E2761"/>
                </a:solidFill>
                <a:latin typeface="Calibri"/>
              </a:rPr>
              <a:t>2,574</a:t>
            </a:r>
          </a:p>
        </p:txBody>
      </p:sp>
      <p:sp>
        <p:nvSpPr>
          <p:cNvPr id="24" name="Rectangle 23"/>
          <p:cNvSpPr/>
          <p:nvPr/>
        </p:nvSpPr>
        <p:spPr>
          <a:xfrm>
            <a:off x="7178040" y="1828800"/>
            <a:ext cx="2103120" cy="91440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178040" y="1828800"/>
            <a:ext cx="54864" cy="9144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60920" y="1874519"/>
            <a:ext cx="1828799" cy="274320"/>
          </a:xfrm>
          <a:prstGeom prst="rect">
            <a:avLst/>
          </a:prstGeom>
          <a:noFill/>
        </p:spPr>
        <p:txBody>
          <a:bodyPr wrap="square" anchor="t" lIns="0" rIns="0" tIns="0" bIns="0">
            <a:spAutoFit/>
          </a:bodyPr>
          <a:lstStyle/>
          <a:p>
            <a:pPr algn="l"/>
            <a:r>
              <a:rPr sz="800" b="1">
                <a:solidFill>
                  <a:srgbClr val="5A6072"/>
                </a:solidFill>
                <a:latin typeface="Calibri"/>
              </a:rPr>
              <a:t>NATIVE IMPR</a:t>
            </a:r>
          </a:p>
        </p:txBody>
      </p:sp>
      <p:sp>
        <p:nvSpPr>
          <p:cNvPr id="27" name="TextBox 26"/>
          <p:cNvSpPr txBox="1"/>
          <p:nvPr/>
        </p:nvSpPr>
        <p:spPr>
          <a:xfrm>
            <a:off x="7360920" y="2121408"/>
            <a:ext cx="1828799" cy="457200"/>
          </a:xfrm>
          <a:prstGeom prst="rect">
            <a:avLst/>
          </a:prstGeom>
          <a:noFill/>
        </p:spPr>
        <p:txBody>
          <a:bodyPr wrap="square" anchor="t" lIns="0" rIns="0" tIns="0" bIns="0">
            <a:spAutoFit/>
          </a:bodyPr>
          <a:lstStyle/>
          <a:p>
            <a:pPr algn="l"/>
            <a:r>
              <a:rPr sz="1500" b="1">
                <a:solidFill>
                  <a:srgbClr val="1E2761"/>
                </a:solidFill>
                <a:latin typeface="Calibri"/>
              </a:rPr>
              <a:t>9.41M</a:t>
            </a:r>
          </a:p>
        </p:txBody>
      </p:sp>
      <p:sp>
        <p:nvSpPr>
          <p:cNvPr id="28" name="Rectangle 27"/>
          <p:cNvSpPr/>
          <p:nvPr/>
        </p:nvSpPr>
        <p:spPr>
          <a:xfrm>
            <a:off x="9418320" y="1828800"/>
            <a:ext cx="2103120" cy="91440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418320" y="1828800"/>
            <a:ext cx="54864" cy="9144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0" y="1874519"/>
            <a:ext cx="1828799" cy="274320"/>
          </a:xfrm>
          <a:prstGeom prst="rect">
            <a:avLst/>
          </a:prstGeom>
          <a:noFill/>
        </p:spPr>
        <p:txBody>
          <a:bodyPr wrap="square" anchor="t" lIns="0" rIns="0" tIns="0" bIns="0">
            <a:spAutoFit/>
          </a:bodyPr>
          <a:lstStyle/>
          <a:p>
            <a:pPr algn="l"/>
            <a:r>
              <a:rPr sz="800" b="1">
                <a:solidFill>
                  <a:srgbClr val="5A6072"/>
                </a:solidFill>
                <a:latin typeface="Calibri"/>
              </a:rPr>
              <a:t>NATIVE CLICKS</a:t>
            </a:r>
          </a:p>
        </p:txBody>
      </p:sp>
      <p:sp>
        <p:nvSpPr>
          <p:cNvPr id="31" name="TextBox 30"/>
          <p:cNvSpPr txBox="1"/>
          <p:nvPr/>
        </p:nvSpPr>
        <p:spPr>
          <a:xfrm>
            <a:off x="9601200" y="2121408"/>
            <a:ext cx="1828799" cy="457200"/>
          </a:xfrm>
          <a:prstGeom prst="rect">
            <a:avLst/>
          </a:prstGeom>
          <a:noFill/>
        </p:spPr>
        <p:txBody>
          <a:bodyPr wrap="square" anchor="t" lIns="0" rIns="0" tIns="0" bIns="0">
            <a:spAutoFit/>
          </a:bodyPr>
          <a:lstStyle/>
          <a:p>
            <a:pPr algn="l"/>
            <a:r>
              <a:rPr sz="1500" b="1">
                <a:solidFill>
                  <a:srgbClr val="1E2761"/>
                </a:solidFill>
                <a:latin typeface="Calibri"/>
              </a:rPr>
              <a:t>1,660</a:t>
            </a:r>
          </a:p>
        </p:txBody>
      </p:sp>
      <p:sp>
        <p:nvSpPr>
          <p:cNvPr id="32" name="Rectangle 31"/>
          <p:cNvSpPr/>
          <p:nvPr/>
        </p:nvSpPr>
        <p:spPr>
          <a:xfrm>
            <a:off x="457200" y="3383280"/>
            <a:ext cx="5486400" cy="274320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3383280"/>
            <a:ext cx="64008" cy="274320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547872"/>
            <a:ext cx="5084064" cy="274320"/>
          </a:xfrm>
          <a:prstGeom prst="rect">
            <a:avLst/>
          </a:prstGeom>
          <a:noFill/>
        </p:spPr>
        <p:txBody>
          <a:bodyPr wrap="square" anchor="t" lIns="0" rIns="0" tIns="0" bIns="0">
            <a:spAutoFit/>
          </a:bodyPr>
          <a:lstStyle/>
          <a:p>
            <a:pPr algn="l"/>
            <a:r>
              <a:rPr sz="1000" b="1">
                <a:solidFill>
                  <a:srgbClr val="1E2761"/>
                </a:solidFill>
                <a:latin typeface="Georgia"/>
              </a:rPr>
              <a:t>WHAT THE DATA SHOWS</a:t>
            </a:r>
          </a:p>
        </p:txBody>
      </p:sp>
      <p:sp>
        <p:nvSpPr>
          <p:cNvPr id="35" name="TextBox 34"/>
          <p:cNvSpPr txBox="1"/>
          <p:nvPr/>
        </p:nvSpPr>
        <p:spPr>
          <a:xfrm>
            <a:off x="676656" y="3886200"/>
            <a:ext cx="5084064" cy="2057400"/>
          </a:xfrm>
          <a:prstGeom prst="rect">
            <a:avLst/>
          </a:prstGeom>
          <a:noFill/>
        </p:spPr>
        <p:txBody>
          <a:bodyPr wrap="square" anchor="t" lIns="0" rIns="0" tIns="0" bIns="0">
            <a:spAutoFit/>
          </a:bodyPr>
          <a:lstStyle/>
          <a:p>
            <a:pPr algn="l"/>
            <a:r>
              <a:rPr sz="950" b="0">
                <a:solidFill>
                  <a:srgbClr val="2B3147"/>
                </a:solidFill>
                <a:latin typeface="Calibri"/>
              </a:rPr>
              <a:t>Display spend held close to flat, down 2.3% from June to $29,857; every dollar on both campaigns delivered in the United States.</a:t>
            </a:r>
          </a:p>
          <a:p>
            <a:pPr algn="l">
              <a:spcBef>
                <a:spcPts val="600"/>
              </a:spcBef>
            </a:pPr>
            <a:r>
              <a:rPr sz="950" b="0">
                <a:solidFill>
                  <a:srgbClr val="2B3147"/>
                </a:solidFill>
                <a:latin typeface="Calibri"/>
              </a:rPr>
              <a:t>Native, within the shared $20,298 Native line, ran 9,411,481 impressions and 1,660 clicks in its first full month.</a:t>
            </a:r>
          </a:p>
          <a:p>
            <a:pPr algn="l">
              <a:spcBef>
                <a:spcPts val="600"/>
              </a:spcBef>
            </a:pPr>
            <a:r>
              <a:rPr sz="950" b="0">
                <a:solidFill>
                  <a:srgbClr val="2B3147"/>
                </a:solidFill>
                <a:latin typeface="Calibri"/>
              </a:rPr>
              <a:t>Viewability was 49.26% on display (46.9% June) and 57.98% on native.</a:t>
            </a:r>
          </a:p>
        </p:txBody>
      </p:sp>
      <p:sp>
        <p:nvSpPr>
          <p:cNvPr id="36" name="Rectangle 35"/>
          <p:cNvSpPr/>
          <p:nvPr/>
        </p:nvSpPr>
        <p:spPr>
          <a:xfrm>
            <a:off x="6126480" y="3383280"/>
            <a:ext cx="5148072" cy="274320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126480" y="3383280"/>
            <a:ext cx="64008" cy="27432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45936" y="3547872"/>
            <a:ext cx="4745736" cy="274320"/>
          </a:xfrm>
          <a:prstGeom prst="rect">
            <a:avLst/>
          </a:prstGeom>
          <a:noFill/>
        </p:spPr>
        <p:txBody>
          <a:bodyPr wrap="square" anchor="t" lIns="0" rIns="0" tIns="0" bIns="0">
            <a:spAutoFit/>
          </a:bodyPr>
          <a:lstStyle/>
          <a:p>
            <a:pPr algn="l"/>
            <a:r>
              <a:rPr sz="1000" b="1">
                <a:solidFill>
                  <a:srgbClr val="1E2761"/>
                </a:solidFill>
                <a:latin typeface="Georgia"/>
              </a:rPr>
              <a:t>THE SITE LIST</a:t>
            </a:r>
          </a:p>
        </p:txBody>
      </p:sp>
      <p:sp>
        <p:nvSpPr>
          <p:cNvPr id="39" name="TextBox 38"/>
          <p:cNvSpPr txBox="1"/>
          <p:nvPr/>
        </p:nvSpPr>
        <p:spPr>
          <a:xfrm>
            <a:off x="6345936" y="3886200"/>
            <a:ext cx="4745736" cy="2057400"/>
          </a:xfrm>
          <a:prstGeom prst="rect">
            <a:avLst/>
          </a:prstGeom>
          <a:noFill/>
        </p:spPr>
        <p:txBody>
          <a:bodyPr wrap="square" anchor="t" lIns="0" rIns="0" tIns="0" bIns="0">
            <a:spAutoFit/>
          </a:bodyPr>
          <a:lstStyle/>
          <a:p>
            <a:pPr algn="l"/>
            <a:r>
              <a:rPr sz="950" b="0">
                <a:solidFill>
                  <a:srgbClr val="2B3147"/>
                </a:solidFill>
                <a:latin typeface="Calibri"/>
              </a:rPr>
              <a:t>A refreshed 35-domain site list accompanies this cycle for Quantcast, built on July delivery.</a:t>
            </a:r>
          </a:p>
          <a:p>
            <a:pPr algn="l">
              <a:spcBef>
                <a:spcPts val="600"/>
              </a:spcBef>
            </a:pPr>
            <a:r>
              <a:rPr sz="950" b="0">
                <a:solidFill>
                  <a:srgbClr val="2B3147"/>
                </a:solidFill>
                <a:latin typeface="Calibri"/>
              </a:rPr>
              <a:t>Applying it concentrates spend on better-performing inventory.</a:t>
            </a:r>
          </a:p>
          <a:p>
            <a:pPr algn="l">
              <a:spcBef>
                <a:spcPts val="600"/>
              </a:spcBef>
            </a:pPr>
            <a:r>
              <a:rPr sz="950" b="0">
                <a:solidFill>
                  <a:srgbClr val="2B3147"/>
                </a:solidFill>
                <a:latin typeface="Calibri"/>
              </a:rPr>
              <a:t>DECISION: send the refreshed list to Quantcast ahead of August.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8229600" cy="320040"/>
          </a:xfrm>
          <a:prstGeom prst="rect">
            <a:avLst/>
          </a:prstGeom>
          <a:noFill/>
        </p:spPr>
        <p:txBody>
          <a:bodyPr wrap="square" anchor="t" lIns="0" rIns="0" tIns="0" bIns="0">
            <a:spAutoFit/>
          </a:bodyPr>
          <a:lstStyle/>
          <a:p>
            <a:pPr algn="l"/>
            <a:r>
              <a:rPr sz="1100" b="1">
                <a:solidFill>
                  <a:srgbClr val="FFFFFF"/>
                </a:solidFill>
                <a:latin typeface="Georgia"/>
              </a:rPr>
              <a:t>AZERION DISPLAY  ·  PERFORMANCE</a:t>
            </a:r>
          </a:p>
        </p:txBody>
      </p:sp>
      <p:pic>
        <p:nvPicPr>
          <p:cNvPr id="5" name="Picture 4" descr="berelvant_logo.png"/>
          <p:cNvPicPr>
            <a:picLocks noChangeAspect="1"/>
          </p:cNvPicPr>
          <p:nvPr/>
        </p:nvPicPr>
        <p:blipFill>
          <a:blip r:embed="rId2"/>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80 submitted applications at $393.46, the line’s best application month.</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56832"/>
            <a:ext cx="7315200" cy="201168"/>
          </a:xfrm>
          <a:prstGeom prst="rect">
            <a:avLst/>
          </a:prstGeom>
          <a:noFill/>
        </p:spPr>
        <p:txBody>
          <a:bodyPr wrap="square" anchor="t" lIns="0" rIns="0" tIns="0" bIns="0">
            <a:spAutoFit/>
          </a:bodyPr>
          <a:lstStyle/>
          <a:p>
            <a:pPr algn="l"/>
            <a:r>
              <a:rPr sz="800" b="0">
                <a:solidFill>
                  <a:srgbClr val="5A6072"/>
                </a:solidFill>
                <a:latin typeface="Calibri"/>
              </a:rPr>
              <a:t>GCG (US Hispanic)   |   July 2026 Performance Review   |   Berelvant</a:t>
            </a:r>
          </a:p>
        </p:txBody>
      </p:sp>
      <p:sp>
        <p:nvSpPr>
          <p:cNvPr id="9" name="TextBox 8"/>
          <p:cNvSpPr txBox="1"/>
          <p:nvPr/>
        </p:nvSpPr>
        <p:spPr>
          <a:xfrm>
            <a:off x="10820095" y="6656832"/>
            <a:ext cx="914400" cy="201168"/>
          </a:xfrm>
          <a:prstGeom prst="rect">
            <a:avLst/>
          </a:prstGeom>
          <a:noFill/>
        </p:spPr>
        <p:txBody>
          <a:bodyPr wrap="square" anchor="t" lIns="0" rIns="0" tIns="0" bIns="0">
            <a:spAutoFit/>
          </a:bodyPr>
          <a:lstStyle/>
          <a:p>
            <a:pPr algn="r"/>
            <a:r>
              <a:rPr sz="800" b="0">
                <a:solidFill>
                  <a:srgbClr val="5A6072"/>
                </a:solidFill>
                <a:latin typeface="Calibri"/>
              </a:rPr>
              <a:t>9 / 14</a:t>
            </a:r>
          </a:p>
        </p:txBody>
      </p:sp>
      <p:sp>
        <p:nvSpPr>
          <p:cNvPr id="10" name="TextBox 9"/>
          <p:cNvSpPr txBox="1"/>
          <p:nvPr/>
        </p:nvSpPr>
        <p:spPr>
          <a:xfrm>
            <a:off x="457200" y="1417320"/>
            <a:ext cx="11247120" cy="274320"/>
          </a:xfrm>
          <a:prstGeom prst="rect">
            <a:avLst/>
          </a:prstGeom>
          <a:noFill/>
        </p:spPr>
        <p:txBody>
          <a:bodyPr wrap="square" anchor="t" lIns="0" rIns="0" tIns="0" bIns="0">
            <a:spAutoFit/>
          </a:bodyPr>
          <a:lstStyle/>
          <a:p>
            <a:pPr algn="l"/>
            <a:r>
              <a:rPr sz="950" b="0">
                <a:solidFill>
                  <a:srgbClr val="5A6072"/>
                </a:solidFill>
                <a:latin typeface="Calibri"/>
              </a:rPr>
              <a:t>Target: six Spanish-language audience segments reached through finance and trading websites in Azerion’s network, US-only delivery.</a:t>
            </a:r>
          </a:p>
        </p:txBody>
      </p:sp>
      <p:sp>
        <p:nvSpPr>
          <p:cNvPr id="11" name="Rectangle 10"/>
          <p:cNvSpPr/>
          <p:nvPr/>
        </p:nvSpPr>
        <p:spPr>
          <a:xfrm>
            <a:off x="457200" y="182880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874519"/>
            <a:ext cx="1508760" cy="274320"/>
          </a:xfrm>
          <a:prstGeom prst="rect">
            <a:avLst/>
          </a:prstGeom>
          <a:noFill/>
        </p:spPr>
        <p:txBody>
          <a:bodyPr wrap="square" anchor="t" lIns="0" rIns="0" tIns="0" bIns="0">
            <a:spAutoFit/>
          </a:bodyPr>
          <a:lstStyle/>
          <a:p>
            <a:pPr algn="l"/>
            <a:r>
              <a:rPr sz="800" b="1">
                <a:solidFill>
                  <a:srgbClr val="5A6072"/>
                </a:solidFill>
                <a:latin typeface="Calibri"/>
              </a:rPr>
              <a:t>SPEND</a:t>
            </a:r>
          </a:p>
        </p:txBody>
      </p:sp>
      <p:sp>
        <p:nvSpPr>
          <p:cNvPr id="14" name="TextBox 13"/>
          <p:cNvSpPr txBox="1"/>
          <p:nvPr/>
        </p:nvSpPr>
        <p:spPr>
          <a:xfrm>
            <a:off x="640080" y="2121408"/>
            <a:ext cx="1508760" cy="457200"/>
          </a:xfrm>
          <a:prstGeom prst="rect">
            <a:avLst/>
          </a:prstGeom>
          <a:noFill/>
        </p:spPr>
        <p:txBody>
          <a:bodyPr wrap="square" anchor="t" lIns="0" rIns="0" tIns="0" bIns="0">
            <a:spAutoFit/>
          </a:bodyPr>
          <a:lstStyle/>
          <a:p>
            <a:pPr algn="l"/>
            <a:r>
              <a:rPr sz="1500" b="1">
                <a:solidFill>
                  <a:srgbClr val="1E2761"/>
                </a:solidFill>
                <a:latin typeface="Calibri"/>
              </a:rPr>
              <a:t>$31,477</a:t>
            </a:r>
          </a:p>
        </p:txBody>
      </p:sp>
      <p:sp>
        <p:nvSpPr>
          <p:cNvPr id="15" name="TextBox 14"/>
          <p:cNvSpPr txBox="1"/>
          <p:nvPr/>
        </p:nvSpPr>
        <p:spPr>
          <a:xfrm>
            <a:off x="640080" y="2578608"/>
            <a:ext cx="1508760" cy="219456"/>
          </a:xfrm>
          <a:prstGeom prst="rect">
            <a:avLst/>
          </a:prstGeom>
          <a:noFill/>
        </p:spPr>
        <p:txBody>
          <a:bodyPr wrap="square" anchor="t" lIns="0" rIns="0" tIns="0" bIns="0">
            <a:spAutoFit/>
          </a:bodyPr>
          <a:lstStyle/>
          <a:p>
            <a:pPr algn="l"/>
            <a:r>
              <a:rPr sz="800" b="0">
                <a:solidFill>
                  <a:srgbClr val="5A6072"/>
                </a:solidFill>
                <a:latin typeface="Calibri"/>
              </a:rPr>
              <a:t>Jul 1-31</a:t>
            </a:r>
          </a:p>
        </p:txBody>
      </p:sp>
      <p:sp>
        <p:nvSpPr>
          <p:cNvPr id="16" name="Rectangle 15"/>
          <p:cNvSpPr/>
          <p:nvPr/>
        </p:nvSpPr>
        <p:spPr>
          <a:xfrm>
            <a:off x="2359152" y="1828800"/>
            <a:ext cx="1783080" cy="91440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359152" y="1828800"/>
            <a:ext cx="54864" cy="9144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42032" y="1874519"/>
            <a:ext cx="1508760" cy="274320"/>
          </a:xfrm>
          <a:prstGeom prst="rect">
            <a:avLst/>
          </a:prstGeom>
          <a:noFill/>
        </p:spPr>
        <p:txBody>
          <a:bodyPr wrap="square" anchor="t" lIns="0" rIns="0" tIns="0" bIns="0">
            <a:spAutoFit/>
          </a:bodyPr>
          <a:lstStyle/>
          <a:p>
            <a:pPr algn="l"/>
            <a:r>
              <a:rPr sz="800" b="1">
                <a:solidFill>
                  <a:srgbClr val="5A6072"/>
                </a:solidFill>
                <a:latin typeface="Calibri"/>
              </a:rPr>
              <a:t>IMPRESSIONS</a:t>
            </a:r>
          </a:p>
        </p:txBody>
      </p:sp>
      <p:sp>
        <p:nvSpPr>
          <p:cNvPr id="19" name="TextBox 18"/>
          <p:cNvSpPr txBox="1"/>
          <p:nvPr/>
        </p:nvSpPr>
        <p:spPr>
          <a:xfrm>
            <a:off x="2542032" y="2121408"/>
            <a:ext cx="1508760" cy="457200"/>
          </a:xfrm>
          <a:prstGeom prst="rect">
            <a:avLst/>
          </a:prstGeom>
          <a:noFill/>
        </p:spPr>
        <p:txBody>
          <a:bodyPr wrap="square" anchor="t" lIns="0" rIns="0" tIns="0" bIns="0">
            <a:spAutoFit/>
          </a:bodyPr>
          <a:lstStyle/>
          <a:p>
            <a:pPr algn="l"/>
            <a:r>
              <a:rPr sz="1500" b="1">
                <a:solidFill>
                  <a:srgbClr val="1E2761"/>
                </a:solidFill>
                <a:latin typeface="Calibri"/>
              </a:rPr>
              <a:t>4.77M</a:t>
            </a:r>
          </a:p>
        </p:txBody>
      </p:sp>
      <p:sp>
        <p:nvSpPr>
          <p:cNvPr id="20" name="Rectangle 19"/>
          <p:cNvSpPr/>
          <p:nvPr/>
        </p:nvSpPr>
        <p:spPr>
          <a:xfrm>
            <a:off x="4261104" y="1828800"/>
            <a:ext cx="1783080" cy="91440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61104" y="1828800"/>
            <a:ext cx="54864" cy="9144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43984" y="1874519"/>
            <a:ext cx="1508760" cy="274320"/>
          </a:xfrm>
          <a:prstGeom prst="rect">
            <a:avLst/>
          </a:prstGeom>
          <a:noFill/>
        </p:spPr>
        <p:txBody>
          <a:bodyPr wrap="square" anchor="t" lIns="0" rIns="0" tIns="0" bIns="0">
            <a:spAutoFit/>
          </a:bodyPr>
          <a:lstStyle/>
          <a:p>
            <a:pPr algn="l"/>
            <a:r>
              <a:rPr sz="800" b="1">
                <a:solidFill>
                  <a:srgbClr val="5A6072"/>
                </a:solidFill>
                <a:latin typeface="Calibri"/>
              </a:rPr>
              <a:t>CLICKS</a:t>
            </a:r>
          </a:p>
        </p:txBody>
      </p:sp>
      <p:sp>
        <p:nvSpPr>
          <p:cNvPr id="23" name="TextBox 22"/>
          <p:cNvSpPr txBox="1"/>
          <p:nvPr/>
        </p:nvSpPr>
        <p:spPr>
          <a:xfrm>
            <a:off x="4443984" y="2121408"/>
            <a:ext cx="1508760" cy="457200"/>
          </a:xfrm>
          <a:prstGeom prst="rect">
            <a:avLst/>
          </a:prstGeom>
          <a:noFill/>
        </p:spPr>
        <p:txBody>
          <a:bodyPr wrap="square" anchor="t" lIns="0" rIns="0" tIns="0" bIns="0">
            <a:spAutoFit/>
          </a:bodyPr>
          <a:lstStyle/>
          <a:p>
            <a:pPr algn="l"/>
            <a:r>
              <a:rPr sz="1500" b="1">
                <a:solidFill>
                  <a:srgbClr val="1E2761"/>
                </a:solidFill>
                <a:latin typeface="Calibri"/>
              </a:rPr>
              <a:t>8,892</a:t>
            </a:r>
          </a:p>
        </p:txBody>
      </p:sp>
      <p:sp>
        <p:nvSpPr>
          <p:cNvPr id="24" name="Rectangle 23"/>
          <p:cNvSpPr/>
          <p:nvPr/>
        </p:nvSpPr>
        <p:spPr>
          <a:xfrm>
            <a:off x="6163056" y="182880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63056"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45936" y="1874519"/>
            <a:ext cx="1508760" cy="274320"/>
          </a:xfrm>
          <a:prstGeom prst="rect">
            <a:avLst/>
          </a:prstGeom>
          <a:noFill/>
        </p:spPr>
        <p:txBody>
          <a:bodyPr wrap="square" anchor="t" lIns="0" rIns="0" tIns="0" bIns="0">
            <a:spAutoFit/>
          </a:bodyPr>
          <a:lstStyle/>
          <a:p>
            <a:pPr algn="l"/>
            <a:r>
              <a:rPr sz="800" b="1">
                <a:solidFill>
                  <a:srgbClr val="5A6072"/>
                </a:solidFill>
                <a:latin typeface="Calibri"/>
              </a:rPr>
              <a:t>APPLICATIONS</a:t>
            </a:r>
          </a:p>
        </p:txBody>
      </p:sp>
      <p:sp>
        <p:nvSpPr>
          <p:cNvPr id="27" name="TextBox 26"/>
          <p:cNvSpPr txBox="1"/>
          <p:nvPr/>
        </p:nvSpPr>
        <p:spPr>
          <a:xfrm>
            <a:off x="6345936" y="2121408"/>
            <a:ext cx="1508760" cy="457200"/>
          </a:xfrm>
          <a:prstGeom prst="rect">
            <a:avLst/>
          </a:prstGeom>
          <a:noFill/>
        </p:spPr>
        <p:txBody>
          <a:bodyPr wrap="square" anchor="t" lIns="0" rIns="0" tIns="0" bIns="0">
            <a:spAutoFit/>
          </a:bodyPr>
          <a:lstStyle/>
          <a:p>
            <a:pPr algn="l"/>
            <a:r>
              <a:rPr sz="1500" b="1">
                <a:solidFill>
                  <a:srgbClr val="1E2761"/>
                </a:solidFill>
                <a:latin typeface="Calibri"/>
              </a:rPr>
              <a:t>80</a:t>
            </a:r>
          </a:p>
        </p:txBody>
      </p:sp>
      <p:sp>
        <p:nvSpPr>
          <p:cNvPr id="28" name="TextBox 27"/>
          <p:cNvSpPr txBox="1"/>
          <p:nvPr/>
        </p:nvSpPr>
        <p:spPr>
          <a:xfrm>
            <a:off x="6345936" y="2578608"/>
            <a:ext cx="1508760" cy="219456"/>
          </a:xfrm>
          <a:prstGeom prst="rect">
            <a:avLst/>
          </a:prstGeom>
          <a:noFill/>
        </p:spPr>
        <p:txBody>
          <a:bodyPr wrap="square" anchor="t" lIns="0" rIns="0" tIns="0" bIns="0">
            <a:spAutoFit/>
          </a:bodyPr>
          <a:lstStyle/>
          <a:p>
            <a:pPr algn="l"/>
            <a:r>
              <a:rPr sz="800" b="0">
                <a:solidFill>
                  <a:srgbClr val="5A6072"/>
                </a:solidFill>
                <a:latin typeface="Calibri"/>
              </a:rPr>
              <a:t>June: 58</a:t>
            </a:r>
          </a:p>
        </p:txBody>
      </p:sp>
      <p:sp>
        <p:nvSpPr>
          <p:cNvPr id="29" name="Rectangle 28"/>
          <p:cNvSpPr/>
          <p:nvPr/>
        </p:nvSpPr>
        <p:spPr>
          <a:xfrm>
            <a:off x="8065008" y="182880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65008"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47888" y="1874519"/>
            <a:ext cx="1508760" cy="274320"/>
          </a:xfrm>
          <a:prstGeom prst="rect">
            <a:avLst/>
          </a:prstGeom>
          <a:noFill/>
        </p:spPr>
        <p:txBody>
          <a:bodyPr wrap="square" anchor="t" lIns="0" rIns="0" tIns="0" bIns="0">
            <a:spAutoFit/>
          </a:bodyPr>
          <a:lstStyle/>
          <a:p>
            <a:pPr algn="l"/>
            <a:r>
              <a:rPr sz="800" b="1">
                <a:solidFill>
                  <a:srgbClr val="5A6072"/>
                </a:solidFill>
                <a:latin typeface="Calibri"/>
              </a:rPr>
              <a:t>COST / APP</a:t>
            </a:r>
          </a:p>
        </p:txBody>
      </p:sp>
      <p:sp>
        <p:nvSpPr>
          <p:cNvPr id="32" name="TextBox 31"/>
          <p:cNvSpPr txBox="1"/>
          <p:nvPr/>
        </p:nvSpPr>
        <p:spPr>
          <a:xfrm>
            <a:off x="8247888" y="2121408"/>
            <a:ext cx="1508760" cy="457200"/>
          </a:xfrm>
          <a:prstGeom prst="rect">
            <a:avLst/>
          </a:prstGeom>
          <a:noFill/>
        </p:spPr>
        <p:txBody>
          <a:bodyPr wrap="square" anchor="t" lIns="0" rIns="0" tIns="0" bIns="0">
            <a:spAutoFit/>
          </a:bodyPr>
          <a:lstStyle/>
          <a:p>
            <a:pPr algn="l"/>
            <a:r>
              <a:rPr sz="1500" b="1">
                <a:solidFill>
                  <a:srgbClr val="1E2761"/>
                </a:solidFill>
                <a:latin typeface="Calibri"/>
              </a:rPr>
              <a:t>$393.46</a:t>
            </a:r>
          </a:p>
        </p:txBody>
      </p:sp>
      <p:sp>
        <p:nvSpPr>
          <p:cNvPr id="33" name="TextBox 32"/>
          <p:cNvSpPr txBox="1"/>
          <p:nvPr/>
        </p:nvSpPr>
        <p:spPr>
          <a:xfrm>
            <a:off x="8247888" y="2578608"/>
            <a:ext cx="1508760" cy="219456"/>
          </a:xfrm>
          <a:prstGeom prst="rect">
            <a:avLst/>
          </a:prstGeom>
          <a:noFill/>
        </p:spPr>
        <p:txBody>
          <a:bodyPr wrap="square" anchor="t" lIns="0" rIns="0" tIns="0" bIns="0">
            <a:spAutoFit/>
          </a:bodyPr>
          <a:lstStyle/>
          <a:p>
            <a:pPr algn="l"/>
            <a:r>
              <a:rPr sz="800" b="0">
                <a:solidFill>
                  <a:srgbClr val="5A6072"/>
                </a:solidFill>
                <a:latin typeface="Calibri"/>
              </a:rPr>
              <a:t>June: $510.10</a:t>
            </a:r>
          </a:p>
        </p:txBody>
      </p:sp>
      <p:sp>
        <p:nvSpPr>
          <p:cNvPr id="34" name="Rectangle 33"/>
          <p:cNvSpPr/>
          <p:nvPr/>
        </p:nvSpPr>
        <p:spPr>
          <a:xfrm>
            <a:off x="9966960" y="182880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966960"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149840" y="1874519"/>
            <a:ext cx="1508760" cy="274320"/>
          </a:xfrm>
          <a:prstGeom prst="rect">
            <a:avLst/>
          </a:prstGeom>
          <a:noFill/>
        </p:spPr>
        <p:txBody>
          <a:bodyPr wrap="square" anchor="t" lIns="0" rIns="0" tIns="0" bIns="0">
            <a:spAutoFit/>
          </a:bodyPr>
          <a:lstStyle/>
          <a:p>
            <a:pPr algn="l"/>
            <a:r>
              <a:rPr sz="800" b="1">
                <a:solidFill>
                  <a:srgbClr val="5A6072"/>
                </a:solidFill>
                <a:latin typeface="Calibri"/>
              </a:rPr>
              <a:t>CPM</a:t>
            </a:r>
          </a:p>
        </p:txBody>
      </p:sp>
      <p:sp>
        <p:nvSpPr>
          <p:cNvPr id="37" name="TextBox 36"/>
          <p:cNvSpPr txBox="1"/>
          <p:nvPr/>
        </p:nvSpPr>
        <p:spPr>
          <a:xfrm>
            <a:off x="10149840" y="2121408"/>
            <a:ext cx="1508760" cy="457200"/>
          </a:xfrm>
          <a:prstGeom prst="rect">
            <a:avLst/>
          </a:prstGeom>
          <a:noFill/>
        </p:spPr>
        <p:txBody>
          <a:bodyPr wrap="square" anchor="t" lIns="0" rIns="0" tIns="0" bIns="0">
            <a:spAutoFit/>
          </a:bodyPr>
          <a:lstStyle/>
          <a:p>
            <a:pPr algn="l"/>
            <a:r>
              <a:rPr sz="1500" b="1">
                <a:solidFill>
                  <a:srgbClr val="1E2761"/>
                </a:solidFill>
                <a:latin typeface="Calibri"/>
              </a:rPr>
              <a:t>$6.60</a:t>
            </a:r>
          </a:p>
        </p:txBody>
      </p:sp>
      <p:sp>
        <p:nvSpPr>
          <p:cNvPr id="38" name="TextBox 37"/>
          <p:cNvSpPr txBox="1"/>
          <p:nvPr/>
        </p:nvSpPr>
        <p:spPr>
          <a:xfrm>
            <a:off x="10149840" y="2578608"/>
            <a:ext cx="1508760" cy="219456"/>
          </a:xfrm>
          <a:prstGeom prst="rect">
            <a:avLst/>
          </a:prstGeom>
          <a:noFill/>
        </p:spPr>
        <p:txBody>
          <a:bodyPr wrap="square" anchor="t" lIns="0" rIns="0" tIns="0" bIns="0">
            <a:spAutoFit/>
          </a:bodyPr>
          <a:lstStyle/>
          <a:p>
            <a:pPr algn="l"/>
            <a:r>
              <a:rPr sz="800" b="0">
                <a:solidFill>
                  <a:srgbClr val="5A6072"/>
                </a:solidFill>
                <a:latin typeface="Calibri"/>
              </a:rPr>
              <a:t>June: $6.55</a:t>
            </a:r>
          </a:p>
        </p:txBody>
      </p:sp>
      <p:graphicFrame>
        <p:nvGraphicFramePr>
          <p:cNvPr id="39" name="Table 38"/>
          <p:cNvGraphicFramePr>
            <a:graphicFrameLocks noGrp="1"/>
          </p:cNvGraphicFramePr>
          <p:nvPr/>
        </p:nvGraphicFramePr>
        <p:xfrm>
          <a:off x="457200" y="3383280"/>
          <a:ext cx="5394960" cy="2103120"/>
        </p:xfrm>
        <a:graphic>
          <a:graphicData uri="http://schemas.openxmlformats.org/drawingml/2006/table">
            <a:tbl>
              <a:tblPr>
                <a:tableStyleId>{5C22544A-7EE6-4342-B048-85BDC9FD1C3A}</a:tableStyleId>
              </a:tblPr>
              <a:tblGrid>
                <a:gridCol w="1463040"/>
                <a:gridCol w="1371600"/>
                <a:gridCol w="1097280"/>
                <a:gridCol w="1463040"/>
              </a:tblGrid>
              <a:tr h="350520">
                <a:tc>
                  <a:txBody>
                    <a:bodyPr/>
                    <a:lstStyle/>
                    <a:p>
                      <a:pPr algn="l"/>
                      <a:r>
                        <a:rPr sz="850" b="1">
                          <a:solidFill>
                            <a:srgbClr val="FFFFFF"/>
                          </a:solidFill>
                          <a:latin typeface="Calibri"/>
                        </a:rPr>
                        <a:t>Week</a:t>
                      </a:r>
                    </a:p>
                  </a:txBody>
                  <a:tcPr marL="54864" marR="54864" marT="27432" marB="27432">
                    <a:solidFill>
                      <a:srgbClr val="1E2761"/>
                    </a:solidFill>
                  </a:tcPr>
                </a:tc>
                <a:tc>
                  <a:txBody>
                    <a:bodyPr/>
                    <a:lstStyle/>
                    <a:p>
                      <a:pPr algn="r"/>
                      <a:r>
                        <a:rPr sz="850" b="1">
                          <a:solidFill>
                            <a:srgbClr val="FFFFFF"/>
                          </a:solidFill>
                          <a:latin typeface="Calibri"/>
                        </a:rPr>
                        <a:t>Spend</a:t>
                      </a:r>
                    </a:p>
                  </a:txBody>
                  <a:tcPr marL="54864" marR="54864" marT="27432" marB="27432">
                    <a:solidFill>
                      <a:srgbClr val="1E2761"/>
                    </a:solidFill>
                  </a:tcPr>
                </a:tc>
                <a:tc>
                  <a:txBody>
                    <a:bodyPr/>
                    <a:lstStyle/>
                    <a:p>
                      <a:pPr algn="r"/>
                      <a:r>
                        <a:rPr sz="850" b="1">
                          <a:solidFill>
                            <a:srgbClr val="FFFFFF"/>
                          </a:solidFill>
                          <a:latin typeface="Calibri"/>
                        </a:rPr>
                        <a:t>Apps</a:t>
                      </a:r>
                    </a:p>
                  </a:txBody>
                  <a:tcPr marL="54864" marR="54864" marT="27432" marB="27432">
                    <a:solidFill>
                      <a:srgbClr val="1E2761"/>
                    </a:solidFill>
                  </a:tcPr>
                </a:tc>
                <a:tc>
                  <a:txBody>
                    <a:bodyPr/>
                    <a:lstStyle/>
                    <a:p>
                      <a:pPr algn="r"/>
                      <a:r>
                        <a:rPr sz="850" b="1">
                          <a:solidFill>
                            <a:srgbClr val="FFFFFF"/>
                          </a:solidFill>
                          <a:latin typeface="Calibri"/>
                        </a:rPr>
                        <a:t>CPA</a:t>
                      </a:r>
                    </a:p>
                  </a:txBody>
                  <a:tcPr marL="54864" marR="54864" marT="27432" marB="27432">
                    <a:solidFill>
                      <a:srgbClr val="1E2761"/>
                    </a:solidFill>
                  </a:tcPr>
                </a:tc>
              </a:tr>
              <a:tr h="350520">
                <a:tc>
                  <a:txBody>
                    <a:bodyPr/>
                    <a:lstStyle/>
                    <a:p>
                      <a:pPr algn="l"/>
                      <a:r>
                        <a:rPr sz="850" b="1">
                          <a:solidFill>
                            <a:srgbClr val="2B3147"/>
                          </a:solidFill>
                          <a:latin typeface="Calibri"/>
                        </a:rPr>
                        <a:t>Jul 1-7</a:t>
                      </a:r>
                    </a:p>
                  </a:txBody>
                  <a:tcPr marL="54864" marR="54864" marT="27432" marB="27432">
                    <a:solidFill>
                      <a:srgbClr val="FFFFFF"/>
                    </a:solidFill>
                  </a:tcPr>
                </a:tc>
                <a:tc>
                  <a:txBody>
                    <a:bodyPr/>
                    <a:lstStyle/>
                    <a:p>
                      <a:pPr algn="r"/>
                      <a:r>
                        <a:rPr sz="850" b="0">
                          <a:solidFill>
                            <a:srgbClr val="2B3147"/>
                          </a:solidFill>
                          <a:latin typeface="Calibri"/>
                        </a:rPr>
                        <a:t>$9,711</a:t>
                      </a:r>
                    </a:p>
                  </a:txBody>
                  <a:tcPr marL="54864" marR="54864" marT="27432" marB="27432">
                    <a:solidFill>
                      <a:srgbClr val="FFFFFF"/>
                    </a:solidFill>
                  </a:tcPr>
                </a:tc>
                <a:tc>
                  <a:txBody>
                    <a:bodyPr/>
                    <a:lstStyle/>
                    <a:p>
                      <a:pPr algn="r"/>
                      <a:r>
                        <a:rPr sz="850" b="0">
                          <a:solidFill>
                            <a:srgbClr val="2B3147"/>
                          </a:solidFill>
                          <a:latin typeface="Calibri"/>
                        </a:rPr>
                        <a:t>23</a:t>
                      </a:r>
                    </a:p>
                  </a:txBody>
                  <a:tcPr marL="54864" marR="54864" marT="27432" marB="27432">
                    <a:solidFill>
                      <a:srgbClr val="FFFFFF"/>
                    </a:solidFill>
                  </a:tcPr>
                </a:tc>
                <a:tc>
                  <a:txBody>
                    <a:bodyPr/>
                    <a:lstStyle/>
                    <a:p>
                      <a:pPr algn="r"/>
                      <a:r>
                        <a:rPr sz="850" b="0">
                          <a:solidFill>
                            <a:srgbClr val="2B3147"/>
                          </a:solidFill>
                          <a:latin typeface="Calibri"/>
                        </a:rPr>
                        <a:t>$422.22</a:t>
                      </a:r>
                    </a:p>
                  </a:txBody>
                  <a:tcPr marL="54864" marR="54864" marT="27432" marB="27432">
                    <a:solidFill>
                      <a:srgbClr val="FFFFFF"/>
                    </a:solidFill>
                  </a:tcPr>
                </a:tc>
              </a:tr>
              <a:tr h="350520">
                <a:tc>
                  <a:txBody>
                    <a:bodyPr/>
                    <a:lstStyle/>
                    <a:p>
                      <a:pPr algn="l"/>
                      <a:r>
                        <a:rPr sz="850" b="1">
                          <a:solidFill>
                            <a:srgbClr val="2B3147"/>
                          </a:solidFill>
                          <a:latin typeface="Calibri"/>
                        </a:rPr>
                        <a:t>Jul 8-14</a:t>
                      </a:r>
                    </a:p>
                  </a:txBody>
                  <a:tcPr marL="54864" marR="54864" marT="27432" marB="27432">
                    <a:solidFill>
                      <a:srgbClr val="F9FAFC"/>
                    </a:solidFill>
                  </a:tcPr>
                </a:tc>
                <a:tc>
                  <a:txBody>
                    <a:bodyPr/>
                    <a:lstStyle/>
                    <a:p>
                      <a:pPr algn="r"/>
                      <a:r>
                        <a:rPr sz="850" b="0">
                          <a:solidFill>
                            <a:srgbClr val="2B3147"/>
                          </a:solidFill>
                          <a:latin typeface="Calibri"/>
                        </a:rPr>
                        <a:t>$8,752</a:t>
                      </a:r>
                    </a:p>
                  </a:txBody>
                  <a:tcPr marL="54864" marR="54864" marT="27432" marB="27432">
                    <a:solidFill>
                      <a:srgbClr val="F9FAFC"/>
                    </a:solidFill>
                  </a:tcPr>
                </a:tc>
                <a:tc>
                  <a:txBody>
                    <a:bodyPr/>
                    <a:lstStyle/>
                    <a:p>
                      <a:pPr algn="r"/>
                      <a:r>
                        <a:rPr sz="850" b="0">
                          <a:solidFill>
                            <a:srgbClr val="2B3147"/>
                          </a:solidFill>
                          <a:latin typeface="Calibri"/>
                        </a:rPr>
                        <a:t>15</a:t>
                      </a:r>
                    </a:p>
                  </a:txBody>
                  <a:tcPr marL="54864" marR="54864" marT="27432" marB="27432">
                    <a:solidFill>
                      <a:srgbClr val="F9FAFC"/>
                    </a:solidFill>
                  </a:tcPr>
                </a:tc>
                <a:tc>
                  <a:txBody>
                    <a:bodyPr/>
                    <a:lstStyle/>
                    <a:p>
                      <a:pPr algn="r"/>
                      <a:r>
                        <a:rPr sz="850" b="0">
                          <a:solidFill>
                            <a:srgbClr val="2B3147"/>
                          </a:solidFill>
                          <a:latin typeface="Calibri"/>
                        </a:rPr>
                        <a:t>$583.47</a:t>
                      </a:r>
                    </a:p>
                  </a:txBody>
                  <a:tcPr marL="54864" marR="54864" marT="27432" marB="27432">
                    <a:solidFill>
                      <a:srgbClr val="F9FAFC"/>
                    </a:solidFill>
                  </a:tcPr>
                </a:tc>
              </a:tr>
              <a:tr h="350520">
                <a:tc>
                  <a:txBody>
                    <a:bodyPr/>
                    <a:lstStyle/>
                    <a:p>
                      <a:pPr algn="l"/>
                      <a:r>
                        <a:rPr sz="850" b="1">
                          <a:solidFill>
                            <a:srgbClr val="2B3147"/>
                          </a:solidFill>
                          <a:latin typeface="Calibri"/>
                        </a:rPr>
                        <a:t>Jul 15-21</a:t>
                      </a:r>
                    </a:p>
                  </a:txBody>
                  <a:tcPr marL="54864" marR="54864" marT="27432" marB="27432">
                    <a:solidFill>
                      <a:srgbClr val="FFFFFF"/>
                    </a:solidFill>
                  </a:tcPr>
                </a:tc>
                <a:tc>
                  <a:txBody>
                    <a:bodyPr/>
                    <a:lstStyle/>
                    <a:p>
                      <a:pPr algn="r"/>
                      <a:r>
                        <a:rPr sz="850" b="0">
                          <a:solidFill>
                            <a:srgbClr val="2B3147"/>
                          </a:solidFill>
                          <a:latin typeface="Calibri"/>
                        </a:rPr>
                        <a:t>$8,837</a:t>
                      </a:r>
                    </a:p>
                  </a:txBody>
                  <a:tcPr marL="54864" marR="54864" marT="27432" marB="27432">
                    <a:solidFill>
                      <a:srgbClr val="FFFFFF"/>
                    </a:solidFill>
                  </a:tcPr>
                </a:tc>
                <a:tc>
                  <a:txBody>
                    <a:bodyPr/>
                    <a:lstStyle/>
                    <a:p>
                      <a:pPr algn="r"/>
                      <a:r>
                        <a:rPr sz="850" b="0">
                          <a:solidFill>
                            <a:srgbClr val="2B3147"/>
                          </a:solidFill>
                          <a:latin typeface="Calibri"/>
                        </a:rPr>
                        <a:t>22</a:t>
                      </a:r>
                    </a:p>
                  </a:txBody>
                  <a:tcPr marL="54864" marR="54864" marT="27432" marB="27432">
                    <a:solidFill>
                      <a:srgbClr val="FFFFFF"/>
                    </a:solidFill>
                  </a:tcPr>
                </a:tc>
                <a:tc>
                  <a:txBody>
                    <a:bodyPr/>
                    <a:lstStyle/>
                    <a:p>
                      <a:pPr algn="r"/>
                      <a:r>
                        <a:rPr sz="850" b="0">
                          <a:solidFill>
                            <a:srgbClr val="2B3147"/>
                          </a:solidFill>
                          <a:latin typeface="Calibri"/>
                        </a:rPr>
                        <a:t>$401.68</a:t>
                      </a:r>
                    </a:p>
                  </a:txBody>
                  <a:tcPr marL="54864" marR="54864" marT="27432" marB="27432">
                    <a:solidFill>
                      <a:srgbClr val="FFFFFF"/>
                    </a:solidFill>
                  </a:tcPr>
                </a:tc>
              </a:tr>
              <a:tr h="350520">
                <a:tc>
                  <a:txBody>
                    <a:bodyPr/>
                    <a:lstStyle/>
                    <a:p>
                      <a:pPr algn="l"/>
                      <a:r>
                        <a:rPr sz="850" b="1">
                          <a:solidFill>
                            <a:srgbClr val="2B3147"/>
                          </a:solidFill>
                          <a:latin typeface="Calibri"/>
                        </a:rPr>
                        <a:t>Jul 22-28</a:t>
                      </a:r>
                    </a:p>
                  </a:txBody>
                  <a:tcPr marL="54864" marR="54864" marT="27432" marB="27432">
                    <a:solidFill>
                      <a:srgbClr val="F9FAFC"/>
                    </a:solidFill>
                  </a:tcPr>
                </a:tc>
                <a:tc>
                  <a:txBody>
                    <a:bodyPr/>
                    <a:lstStyle/>
                    <a:p>
                      <a:pPr algn="r"/>
                      <a:r>
                        <a:rPr sz="850" b="0">
                          <a:solidFill>
                            <a:srgbClr val="2B3147"/>
                          </a:solidFill>
                          <a:latin typeface="Calibri"/>
                        </a:rPr>
                        <a:t>$3,185</a:t>
                      </a:r>
                    </a:p>
                  </a:txBody>
                  <a:tcPr marL="54864" marR="54864" marT="27432" marB="27432">
                    <a:solidFill>
                      <a:srgbClr val="F9FAFC"/>
                    </a:solidFill>
                  </a:tcPr>
                </a:tc>
                <a:tc>
                  <a:txBody>
                    <a:bodyPr/>
                    <a:lstStyle/>
                    <a:p>
                      <a:pPr algn="r"/>
                      <a:r>
                        <a:rPr sz="850" b="0">
                          <a:solidFill>
                            <a:srgbClr val="2B3147"/>
                          </a:solidFill>
                          <a:latin typeface="Calibri"/>
                        </a:rPr>
                        <a:t>20</a:t>
                      </a:r>
                    </a:p>
                  </a:txBody>
                  <a:tcPr marL="54864" marR="54864" marT="27432" marB="27432">
                    <a:solidFill>
                      <a:srgbClr val="F9FAFC"/>
                    </a:solidFill>
                  </a:tcPr>
                </a:tc>
                <a:tc>
                  <a:txBody>
                    <a:bodyPr/>
                    <a:lstStyle/>
                    <a:p>
                      <a:pPr algn="r"/>
                      <a:r>
                        <a:rPr sz="850" b="0">
                          <a:solidFill>
                            <a:srgbClr val="2B3147"/>
                          </a:solidFill>
                          <a:latin typeface="Calibri"/>
                        </a:rPr>
                        <a:t>$159.25</a:t>
                      </a:r>
                    </a:p>
                  </a:txBody>
                  <a:tcPr marL="54864" marR="54864" marT="27432" marB="27432">
                    <a:solidFill>
                      <a:srgbClr val="F9FAFC"/>
                    </a:solidFill>
                  </a:tcPr>
                </a:tc>
              </a:tr>
              <a:tr h="350520">
                <a:tc>
                  <a:txBody>
                    <a:bodyPr/>
                    <a:lstStyle/>
                    <a:p>
                      <a:pPr algn="l"/>
                      <a:r>
                        <a:rPr sz="850" b="1">
                          <a:solidFill>
                            <a:srgbClr val="2B3147"/>
                          </a:solidFill>
                          <a:latin typeface="Calibri"/>
                        </a:rPr>
                        <a:t>Jul 29-31</a:t>
                      </a:r>
                    </a:p>
                  </a:txBody>
                  <a:tcPr marL="54864" marR="54864" marT="27432" marB="27432">
                    <a:solidFill>
                      <a:srgbClr val="FFFFFF"/>
                    </a:solidFill>
                  </a:tcPr>
                </a:tc>
                <a:tc>
                  <a:txBody>
                    <a:bodyPr/>
                    <a:lstStyle/>
                    <a:p>
                      <a:pPr algn="r"/>
                      <a:r>
                        <a:rPr sz="850" b="0">
                          <a:solidFill>
                            <a:srgbClr val="2B3147"/>
                          </a:solidFill>
                          <a:latin typeface="Calibri"/>
                        </a:rPr>
                        <a:t>$992</a:t>
                      </a:r>
                    </a:p>
                  </a:txBody>
                  <a:tcPr marL="54864" marR="54864" marT="27432" marB="27432">
                    <a:solidFill>
                      <a:srgbClr val="FFFFFF"/>
                    </a:solidFill>
                  </a:tcPr>
                </a:tc>
                <a:tc>
                  <a:txBody>
                    <a:bodyPr/>
                    <a:lstStyle/>
                    <a:p>
                      <a:pPr algn="r"/>
                      <a:r>
                        <a:rPr sz="850" b="0">
                          <a:solidFill>
                            <a:srgbClr val="2B3147"/>
                          </a:solidFill>
                          <a:latin typeface="Calibri"/>
                        </a:rPr>
                        <a:t>0</a:t>
                      </a:r>
                    </a:p>
                  </a:txBody>
                  <a:tcPr marL="54864" marR="54864" marT="27432" marB="27432">
                    <a:solidFill>
                      <a:srgbClr val="FFFFFF"/>
                    </a:solidFill>
                  </a:tcPr>
                </a:tc>
                <a:tc>
                  <a:txBody>
                    <a:bodyPr/>
                    <a:lstStyle/>
                    <a:p>
                      <a:pPr algn="r"/>
                      <a:r>
                        <a:rPr sz="850" b="0">
                          <a:solidFill>
                            <a:srgbClr val="2B3147"/>
                          </a:solidFill>
                          <a:latin typeface="Calibri"/>
                        </a:rPr>
                        <a:t>—</a:t>
                      </a:r>
                    </a:p>
                  </a:txBody>
                  <a:tcPr marL="54864" marR="54864" marT="27432" marB="27432">
                    <a:solidFill>
                      <a:srgbClr val="FFFFFF"/>
                    </a:solidFill>
                  </a:tcPr>
                </a:tc>
              </a:tr>
            </a:tbl>
          </a:graphicData>
        </a:graphic>
      </p:graphicFrame>
      <p:sp>
        <p:nvSpPr>
          <p:cNvPr id="40" name="Rectangle 39"/>
          <p:cNvSpPr/>
          <p:nvPr/>
        </p:nvSpPr>
        <p:spPr>
          <a:xfrm>
            <a:off x="6583680" y="3383280"/>
            <a:ext cx="5120640" cy="274320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583680" y="3383280"/>
            <a:ext cx="64008" cy="274320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03136" y="3547872"/>
            <a:ext cx="4718303" cy="274320"/>
          </a:xfrm>
          <a:prstGeom prst="rect">
            <a:avLst/>
          </a:prstGeom>
          <a:noFill/>
        </p:spPr>
        <p:txBody>
          <a:bodyPr wrap="square" anchor="t" lIns="0" rIns="0" tIns="0" bIns="0">
            <a:spAutoFit/>
          </a:bodyPr>
          <a:lstStyle/>
          <a:p>
            <a:pPr algn="l"/>
            <a:r>
              <a:rPr sz="1000" b="1">
                <a:solidFill>
                  <a:srgbClr val="1E2761"/>
                </a:solidFill>
                <a:latin typeface="Georgia"/>
              </a:rPr>
              <a:t>WHAT THE DATA SHOWS</a:t>
            </a:r>
          </a:p>
        </p:txBody>
      </p:sp>
      <p:sp>
        <p:nvSpPr>
          <p:cNvPr id="43" name="TextBox 42"/>
          <p:cNvSpPr txBox="1"/>
          <p:nvPr/>
        </p:nvSpPr>
        <p:spPr>
          <a:xfrm>
            <a:off x="6803136" y="3886200"/>
            <a:ext cx="4718303" cy="2057400"/>
          </a:xfrm>
          <a:prstGeom prst="rect">
            <a:avLst/>
          </a:prstGeom>
          <a:noFill/>
        </p:spPr>
        <p:txBody>
          <a:bodyPr wrap="square" anchor="t" lIns="0" rIns="0" tIns="0" bIns="0">
            <a:spAutoFit/>
          </a:bodyPr>
          <a:lstStyle/>
          <a:p>
            <a:pPr algn="l"/>
            <a:r>
              <a:rPr sz="950" b="0">
                <a:solidFill>
                  <a:srgbClr val="2B3147"/>
                </a:solidFill>
                <a:latin typeface="Calibri"/>
              </a:rPr>
              <a:t>Spend rose 6.4% to fund the added volume: applications rose 37.9% (58 to 80) while cost per application fell 22.8% ($510.10 to $393.46).</a:t>
            </a:r>
          </a:p>
          <a:p>
            <a:pPr algn="l">
              <a:spcBef>
                <a:spcPts val="600"/>
              </a:spcBef>
            </a:pPr>
            <a:r>
              <a:rPr sz="950" b="0">
                <a:solidFill>
                  <a:srgbClr val="2B3147"/>
                </a:solidFill>
                <a:latin typeface="Calibri"/>
              </a:rPr>
              <a:t>July 22-28 produced the strongest weekly reported CPA. Confirm whether the result holds after reconciling conversion timing. Viewability rose 6.15 points to 64.95%.</a:t>
            </a:r>
          </a:p>
          <a:p>
            <a:pPr algn="l">
              <a:spcBef>
                <a:spcPts val="600"/>
              </a:spcBef>
            </a:pPr>
            <a:r>
              <a:rPr sz="950" b="0">
                <a:solidFill>
                  <a:srgbClr val="2B3147"/>
                </a:solidFill>
                <a:latin typeface="Calibri"/>
              </a:rPr>
              <a:t>Cost per thousand impressions (CPM), what display advertising is priced on, came in at $6.60, up from $6.55 in June.</a:t>
            </a:r>
          </a:p>
          <a:p>
            <a:pPr algn="l">
              <a:spcBef>
                <a:spcPts val="600"/>
              </a:spcBef>
            </a:pPr>
            <a:r>
              <a:rPr sz="950" b="0">
                <a:solidFill>
                  <a:srgbClr val="2B3147"/>
                </a:solidFill>
                <a:latin typeface="Calibri"/>
              </a:rPr>
              <a:t>DECISION: rebalance spend toward the strongest audiences, detailed on the next slide.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8229600" cy="320040"/>
          </a:xfrm>
          <a:prstGeom prst="rect">
            <a:avLst/>
          </a:prstGeom>
          <a:noFill/>
        </p:spPr>
        <p:txBody>
          <a:bodyPr wrap="square" anchor="t" lIns="0" rIns="0" tIns="0" bIns="0">
            <a:spAutoFit/>
          </a:bodyPr>
          <a:lstStyle/>
          <a:p>
            <a:pPr algn="l"/>
            <a:r>
              <a:rPr sz="1100" b="1">
                <a:solidFill>
                  <a:srgbClr val="FFFFFF"/>
                </a:solidFill>
                <a:latin typeface="Georgia"/>
              </a:rPr>
              <a:t>AZERION DISPLAY  ·  AUDIENCE RANKING</a:t>
            </a:r>
          </a:p>
        </p:txBody>
      </p:sp>
      <p:pic>
        <p:nvPicPr>
          <p:cNvPr id="5" name="Picture 4" descr="berelvant_logo.png"/>
          <p:cNvPicPr>
            <a:picLocks noChangeAspect="1"/>
          </p:cNvPicPr>
          <p:nvPr/>
        </p:nvPicPr>
        <p:blipFill>
          <a:blip r:embed="rId2"/>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Professional Tools and Trust lead on cost per application.</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56832"/>
            <a:ext cx="7315200" cy="201168"/>
          </a:xfrm>
          <a:prstGeom prst="rect">
            <a:avLst/>
          </a:prstGeom>
          <a:noFill/>
        </p:spPr>
        <p:txBody>
          <a:bodyPr wrap="square" anchor="t" lIns="0" rIns="0" tIns="0" bIns="0">
            <a:spAutoFit/>
          </a:bodyPr>
          <a:lstStyle/>
          <a:p>
            <a:pPr algn="l"/>
            <a:r>
              <a:rPr sz="800" b="0">
                <a:solidFill>
                  <a:srgbClr val="5A6072"/>
                </a:solidFill>
                <a:latin typeface="Calibri"/>
              </a:rPr>
              <a:t>GCG (US Hispanic)   |   July 2026 Performance Review   |   Berelvant</a:t>
            </a:r>
          </a:p>
        </p:txBody>
      </p:sp>
      <p:sp>
        <p:nvSpPr>
          <p:cNvPr id="9" name="TextBox 8"/>
          <p:cNvSpPr txBox="1"/>
          <p:nvPr/>
        </p:nvSpPr>
        <p:spPr>
          <a:xfrm>
            <a:off x="10820095" y="6656832"/>
            <a:ext cx="914400" cy="201168"/>
          </a:xfrm>
          <a:prstGeom prst="rect">
            <a:avLst/>
          </a:prstGeom>
          <a:noFill/>
        </p:spPr>
        <p:txBody>
          <a:bodyPr wrap="square" anchor="t" lIns="0" rIns="0" tIns="0" bIns="0">
            <a:spAutoFit/>
          </a:bodyPr>
          <a:lstStyle/>
          <a:p>
            <a:pPr algn="r"/>
            <a:r>
              <a:rPr sz="800" b="0">
                <a:solidFill>
                  <a:srgbClr val="5A6072"/>
                </a:solidFill>
                <a:latin typeface="Calibri"/>
              </a:rPr>
              <a:t>10 / 14</a:t>
            </a:r>
          </a:p>
        </p:txBody>
      </p:sp>
      <p:graphicFrame>
        <p:nvGraphicFramePr>
          <p:cNvPr id="10" name="Table 9"/>
          <p:cNvGraphicFramePr>
            <a:graphicFrameLocks noGrp="1"/>
          </p:cNvGraphicFramePr>
          <p:nvPr/>
        </p:nvGraphicFramePr>
        <p:xfrm>
          <a:off x="457200" y="1828800"/>
          <a:ext cx="7040880" cy="2743200"/>
        </p:xfrm>
        <a:graphic>
          <a:graphicData uri="http://schemas.openxmlformats.org/drawingml/2006/table">
            <a:tbl>
              <a:tblPr>
                <a:tableStyleId>{5C22544A-7EE6-4342-B048-85BDC9FD1C3A}</a:tableStyleId>
              </a:tblPr>
              <a:tblGrid>
                <a:gridCol w="2468880"/>
                <a:gridCol w="1554480"/>
                <a:gridCol w="1417320"/>
                <a:gridCol w="1600200"/>
              </a:tblGrid>
              <a:tr h="391885">
                <a:tc>
                  <a:txBody>
                    <a:bodyPr/>
                    <a:lstStyle/>
                    <a:p>
                      <a:pPr algn="l"/>
                      <a:r>
                        <a:rPr sz="850" b="1">
                          <a:solidFill>
                            <a:srgbClr val="FFFFFF"/>
                          </a:solidFill>
                          <a:latin typeface="Calibri"/>
                        </a:rPr>
                        <a:t>Audience</a:t>
                      </a:r>
                    </a:p>
                  </a:txBody>
                  <a:tcPr marL="54864" marR="54864" marT="27432" marB="27432">
                    <a:solidFill>
                      <a:srgbClr val="1E2761"/>
                    </a:solidFill>
                  </a:tcPr>
                </a:tc>
                <a:tc>
                  <a:txBody>
                    <a:bodyPr/>
                    <a:lstStyle/>
                    <a:p>
                      <a:pPr algn="r"/>
                      <a:r>
                        <a:rPr sz="850" b="1">
                          <a:solidFill>
                            <a:srgbClr val="FFFFFF"/>
                          </a:solidFill>
                          <a:latin typeface="Calibri"/>
                        </a:rPr>
                        <a:t>Applications</a:t>
                      </a:r>
                    </a:p>
                  </a:txBody>
                  <a:tcPr marL="54864" marR="54864" marT="27432" marB="27432">
                    <a:solidFill>
                      <a:srgbClr val="1E2761"/>
                    </a:solidFill>
                  </a:tcPr>
                </a:tc>
                <a:tc>
                  <a:txBody>
                    <a:bodyPr/>
                    <a:lstStyle/>
                    <a:p>
                      <a:pPr algn="r"/>
                      <a:r>
                        <a:rPr sz="850" b="1">
                          <a:solidFill>
                            <a:srgbClr val="FFFFFF"/>
                          </a:solidFill>
                          <a:latin typeface="Calibri"/>
                        </a:rPr>
                        <a:t>Cost / app</a:t>
                      </a:r>
                    </a:p>
                  </a:txBody>
                  <a:tcPr marL="54864" marR="54864" marT="27432" marB="27432">
                    <a:solidFill>
                      <a:srgbClr val="1E2761"/>
                    </a:solidFill>
                  </a:tcPr>
                </a:tc>
                <a:tc>
                  <a:txBody>
                    <a:bodyPr/>
                    <a:lstStyle/>
                    <a:p>
                      <a:pPr algn="r"/>
                      <a:r>
                        <a:rPr sz="850" b="1">
                          <a:solidFill>
                            <a:srgbClr val="FFFFFF"/>
                          </a:solidFill>
                          <a:latin typeface="Calibri"/>
                        </a:rPr>
                        <a:t>August status</a:t>
                      </a:r>
                    </a:p>
                  </a:txBody>
                  <a:tcPr marL="54864" marR="54864" marT="27432" marB="27432">
                    <a:solidFill>
                      <a:srgbClr val="1E2761"/>
                    </a:solidFill>
                  </a:tcPr>
                </a:tc>
              </a:tr>
              <a:tr h="391885">
                <a:tc>
                  <a:txBody>
                    <a:bodyPr/>
                    <a:lstStyle/>
                    <a:p>
                      <a:pPr algn="l"/>
                      <a:r>
                        <a:rPr sz="850" b="1">
                          <a:solidFill>
                            <a:srgbClr val="2B3147"/>
                          </a:solidFill>
                          <a:latin typeface="Calibri"/>
                        </a:rPr>
                        <a:t>Professional Tools</a:t>
                      </a:r>
                    </a:p>
                  </a:txBody>
                  <a:tcPr marL="54864" marR="54864" marT="27432" marB="27432">
                    <a:solidFill>
                      <a:srgbClr val="FFFFFF"/>
                    </a:solidFill>
                  </a:tcPr>
                </a:tc>
                <a:tc>
                  <a:txBody>
                    <a:bodyPr/>
                    <a:lstStyle/>
                    <a:p>
                      <a:pPr algn="r"/>
                      <a:r>
                        <a:rPr sz="850" b="0">
                          <a:solidFill>
                            <a:srgbClr val="2B3147"/>
                          </a:solidFill>
                          <a:latin typeface="Calibri"/>
                        </a:rPr>
                        <a:t>18</a:t>
                      </a:r>
                    </a:p>
                  </a:txBody>
                  <a:tcPr marL="54864" marR="54864" marT="27432" marB="27432">
                    <a:solidFill>
                      <a:srgbClr val="FFFFFF"/>
                    </a:solidFill>
                  </a:tcPr>
                </a:tc>
                <a:tc>
                  <a:txBody>
                    <a:bodyPr/>
                    <a:lstStyle/>
                    <a:p>
                      <a:pPr algn="r"/>
                      <a:r>
                        <a:rPr sz="850" b="0">
                          <a:solidFill>
                            <a:srgbClr val="2B3147"/>
                          </a:solidFill>
                          <a:latin typeface="Calibri"/>
                        </a:rPr>
                        <a:t>$217.17</a:t>
                      </a:r>
                    </a:p>
                  </a:txBody>
                  <a:tcPr marL="54864" marR="54864" marT="27432" marB="27432">
                    <a:solidFill>
                      <a:srgbClr val="FFFFFF"/>
                    </a:solidFill>
                  </a:tcPr>
                </a:tc>
                <a:tc>
                  <a:txBody>
                    <a:bodyPr/>
                    <a:lstStyle/>
                    <a:p>
                      <a:pPr algn="r"/>
                      <a:r>
                        <a:rPr sz="850" b="0">
                          <a:solidFill>
                            <a:srgbClr val="2B3147"/>
                          </a:solidFill>
                          <a:latin typeface="Calibri"/>
                        </a:rPr>
                        <a:t>PRIORITIZE</a:t>
                      </a:r>
                    </a:p>
                  </a:txBody>
                  <a:tcPr marL="54864" marR="54864" marT="27432" marB="27432">
                    <a:solidFill>
                      <a:srgbClr val="FFFFFF"/>
                    </a:solidFill>
                  </a:tcPr>
                </a:tc>
              </a:tr>
              <a:tr h="391885">
                <a:tc>
                  <a:txBody>
                    <a:bodyPr/>
                    <a:lstStyle/>
                    <a:p>
                      <a:pPr algn="l"/>
                      <a:r>
                        <a:rPr sz="850" b="1">
                          <a:solidFill>
                            <a:srgbClr val="2B3147"/>
                          </a:solidFill>
                          <a:latin typeface="Calibri"/>
                        </a:rPr>
                        <a:t>Trust</a:t>
                      </a:r>
                    </a:p>
                  </a:txBody>
                  <a:tcPr marL="54864" marR="54864" marT="27432" marB="27432">
                    <a:solidFill>
                      <a:srgbClr val="F9FAFC"/>
                    </a:solidFill>
                  </a:tcPr>
                </a:tc>
                <a:tc>
                  <a:txBody>
                    <a:bodyPr/>
                    <a:lstStyle/>
                    <a:p>
                      <a:pPr algn="r"/>
                      <a:r>
                        <a:rPr sz="850" b="0">
                          <a:solidFill>
                            <a:srgbClr val="2B3147"/>
                          </a:solidFill>
                          <a:latin typeface="Calibri"/>
                        </a:rPr>
                        <a:t>13</a:t>
                      </a:r>
                    </a:p>
                  </a:txBody>
                  <a:tcPr marL="54864" marR="54864" marT="27432" marB="27432">
                    <a:solidFill>
                      <a:srgbClr val="F9FAFC"/>
                    </a:solidFill>
                  </a:tcPr>
                </a:tc>
                <a:tc>
                  <a:txBody>
                    <a:bodyPr/>
                    <a:lstStyle/>
                    <a:p>
                      <a:pPr algn="r"/>
                      <a:r>
                        <a:rPr sz="850" b="0">
                          <a:solidFill>
                            <a:srgbClr val="2B3147"/>
                          </a:solidFill>
                          <a:latin typeface="Calibri"/>
                        </a:rPr>
                        <a:t>$294.31</a:t>
                      </a:r>
                    </a:p>
                  </a:txBody>
                  <a:tcPr marL="54864" marR="54864" marT="27432" marB="27432">
                    <a:solidFill>
                      <a:srgbClr val="F9FAFC"/>
                    </a:solidFill>
                  </a:tcPr>
                </a:tc>
                <a:tc>
                  <a:txBody>
                    <a:bodyPr/>
                    <a:lstStyle/>
                    <a:p>
                      <a:pPr algn="r"/>
                      <a:r>
                        <a:rPr sz="850" b="0">
                          <a:solidFill>
                            <a:srgbClr val="2B3147"/>
                          </a:solidFill>
                          <a:latin typeface="Calibri"/>
                        </a:rPr>
                        <a:t>PRIORITIZE</a:t>
                      </a:r>
                    </a:p>
                  </a:txBody>
                  <a:tcPr marL="54864" marR="54864" marT="27432" marB="27432">
                    <a:solidFill>
                      <a:srgbClr val="F9FAFC"/>
                    </a:solidFill>
                  </a:tcPr>
                </a:tc>
              </a:tr>
              <a:tr h="391885">
                <a:tc>
                  <a:txBody>
                    <a:bodyPr/>
                    <a:lstStyle/>
                    <a:p>
                      <a:pPr algn="l"/>
                      <a:r>
                        <a:rPr sz="850" b="1">
                          <a:solidFill>
                            <a:srgbClr val="2B3147"/>
                          </a:solidFill>
                          <a:latin typeface="Calibri"/>
                        </a:rPr>
                        <a:t>Trusted Broker</a:t>
                      </a:r>
                    </a:p>
                  </a:txBody>
                  <a:tcPr marL="54864" marR="54864" marT="27432" marB="27432">
                    <a:solidFill>
                      <a:srgbClr val="FFFFFF"/>
                    </a:solidFill>
                  </a:tcPr>
                </a:tc>
                <a:tc>
                  <a:txBody>
                    <a:bodyPr/>
                    <a:lstStyle/>
                    <a:p>
                      <a:pPr algn="r"/>
                      <a:r>
                        <a:rPr sz="850" b="0">
                          <a:solidFill>
                            <a:srgbClr val="2B3147"/>
                          </a:solidFill>
                          <a:latin typeface="Calibri"/>
                        </a:rPr>
                        <a:t>11</a:t>
                      </a:r>
                    </a:p>
                  </a:txBody>
                  <a:tcPr marL="54864" marR="54864" marT="27432" marB="27432">
                    <a:solidFill>
                      <a:srgbClr val="FFFFFF"/>
                    </a:solidFill>
                  </a:tcPr>
                </a:tc>
                <a:tc>
                  <a:txBody>
                    <a:bodyPr/>
                    <a:lstStyle/>
                    <a:p>
                      <a:pPr algn="r"/>
                      <a:r>
                        <a:rPr sz="850" b="0">
                          <a:solidFill>
                            <a:srgbClr val="2B3147"/>
                          </a:solidFill>
                          <a:latin typeface="Calibri"/>
                        </a:rPr>
                        <a:t>$343.18</a:t>
                      </a:r>
                    </a:p>
                  </a:txBody>
                  <a:tcPr marL="54864" marR="54864" marT="27432" marB="27432">
                    <a:solidFill>
                      <a:srgbClr val="FFFFFF"/>
                    </a:solidFill>
                  </a:tcPr>
                </a:tc>
                <a:tc>
                  <a:txBody>
                    <a:bodyPr/>
                    <a:lstStyle/>
                    <a:p>
                      <a:pPr algn="r"/>
                      <a:r>
                        <a:rPr sz="850" b="0">
                          <a:solidFill>
                            <a:srgbClr val="2B3147"/>
                          </a:solidFill>
                          <a:latin typeface="Calibri"/>
                        </a:rPr>
                        <a:t>MAINTAIN</a:t>
                      </a:r>
                    </a:p>
                  </a:txBody>
                  <a:tcPr marL="54864" marR="54864" marT="27432" marB="27432">
                    <a:solidFill>
                      <a:srgbClr val="FFFFFF"/>
                    </a:solidFill>
                  </a:tcPr>
                </a:tc>
              </a:tr>
              <a:tr h="391885">
                <a:tc>
                  <a:txBody>
                    <a:bodyPr/>
                    <a:lstStyle/>
                    <a:p>
                      <a:pPr algn="l"/>
                      <a:r>
                        <a:rPr sz="850" b="1">
                          <a:solidFill>
                            <a:srgbClr val="2B3147"/>
                          </a:solidFill>
                          <a:latin typeface="Calibri"/>
                        </a:rPr>
                        <a:t>Broker 1</a:t>
                      </a:r>
                    </a:p>
                  </a:txBody>
                  <a:tcPr marL="54864" marR="54864" marT="27432" marB="27432">
                    <a:solidFill>
                      <a:srgbClr val="F9FAFC"/>
                    </a:solidFill>
                  </a:tcPr>
                </a:tc>
                <a:tc>
                  <a:txBody>
                    <a:bodyPr/>
                    <a:lstStyle/>
                    <a:p>
                      <a:pPr algn="r"/>
                      <a:r>
                        <a:rPr sz="850" b="0">
                          <a:solidFill>
                            <a:srgbClr val="2B3147"/>
                          </a:solidFill>
                          <a:latin typeface="Calibri"/>
                        </a:rPr>
                        <a:t>13</a:t>
                      </a:r>
                    </a:p>
                  </a:txBody>
                  <a:tcPr marL="54864" marR="54864" marT="27432" marB="27432">
                    <a:solidFill>
                      <a:srgbClr val="F9FAFC"/>
                    </a:solidFill>
                  </a:tcPr>
                </a:tc>
                <a:tc>
                  <a:txBody>
                    <a:bodyPr/>
                    <a:lstStyle/>
                    <a:p>
                      <a:pPr algn="r"/>
                      <a:r>
                        <a:rPr sz="850" b="0">
                          <a:solidFill>
                            <a:srgbClr val="2B3147"/>
                          </a:solidFill>
                          <a:latin typeface="Calibri"/>
                        </a:rPr>
                        <a:t>$348.00</a:t>
                      </a:r>
                    </a:p>
                  </a:txBody>
                  <a:tcPr marL="54864" marR="54864" marT="27432" marB="27432">
                    <a:solidFill>
                      <a:srgbClr val="F9FAFC"/>
                    </a:solidFill>
                  </a:tcPr>
                </a:tc>
                <a:tc>
                  <a:txBody>
                    <a:bodyPr/>
                    <a:lstStyle/>
                    <a:p>
                      <a:pPr algn="r"/>
                      <a:r>
                        <a:rPr sz="850" b="0">
                          <a:solidFill>
                            <a:srgbClr val="2B3147"/>
                          </a:solidFill>
                          <a:latin typeface="Calibri"/>
                        </a:rPr>
                        <a:t>MAINTAIN</a:t>
                      </a:r>
                    </a:p>
                  </a:txBody>
                  <a:tcPr marL="54864" marR="54864" marT="27432" marB="27432">
                    <a:solidFill>
                      <a:srgbClr val="F9FAFC"/>
                    </a:solidFill>
                  </a:tcPr>
                </a:tc>
              </a:tr>
              <a:tr h="391885">
                <a:tc>
                  <a:txBody>
                    <a:bodyPr/>
                    <a:lstStyle/>
                    <a:p>
                      <a:pPr algn="l"/>
                      <a:r>
                        <a:rPr sz="850" b="1">
                          <a:solidFill>
                            <a:srgbClr val="2B3147"/>
                          </a:solidFill>
                          <a:latin typeface="Calibri"/>
                        </a:rPr>
                        <a:t>Language Broker</a:t>
                      </a:r>
                    </a:p>
                  </a:txBody>
                  <a:tcPr marL="54864" marR="54864" marT="27432" marB="27432">
                    <a:solidFill>
                      <a:srgbClr val="FFFFFF"/>
                    </a:solidFill>
                  </a:tcPr>
                </a:tc>
                <a:tc>
                  <a:txBody>
                    <a:bodyPr/>
                    <a:lstStyle/>
                    <a:p>
                      <a:pPr algn="r"/>
                      <a:r>
                        <a:rPr sz="850" b="0">
                          <a:solidFill>
                            <a:srgbClr val="2B3147"/>
                          </a:solidFill>
                          <a:latin typeface="Calibri"/>
                        </a:rPr>
                        <a:t>16</a:t>
                      </a:r>
                    </a:p>
                  </a:txBody>
                  <a:tcPr marL="54864" marR="54864" marT="27432" marB="27432">
                    <a:solidFill>
                      <a:srgbClr val="FFFFFF"/>
                    </a:solidFill>
                  </a:tcPr>
                </a:tc>
                <a:tc>
                  <a:txBody>
                    <a:bodyPr/>
                    <a:lstStyle/>
                    <a:p>
                      <a:pPr algn="r"/>
                      <a:r>
                        <a:rPr sz="850" b="0">
                          <a:solidFill>
                            <a:srgbClr val="2B3147"/>
                          </a:solidFill>
                          <a:latin typeface="Calibri"/>
                        </a:rPr>
                        <a:t>$462.50</a:t>
                      </a:r>
                    </a:p>
                  </a:txBody>
                  <a:tcPr marL="54864" marR="54864" marT="27432" marB="27432">
                    <a:solidFill>
                      <a:srgbClr val="FFFFFF"/>
                    </a:solidFill>
                  </a:tcPr>
                </a:tc>
                <a:tc>
                  <a:txBody>
                    <a:bodyPr/>
                    <a:lstStyle/>
                    <a:p>
                      <a:pPr algn="r"/>
                      <a:r>
                        <a:rPr sz="850" b="0">
                          <a:solidFill>
                            <a:srgbClr val="2B3147"/>
                          </a:solidFill>
                          <a:latin typeface="Calibri"/>
                        </a:rPr>
                        <a:t>MAINTAIN</a:t>
                      </a:r>
                    </a:p>
                  </a:txBody>
                  <a:tcPr marL="54864" marR="54864" marT="27432" marB="27432">
                    <a:solidFill>
                      <a:srgbClr val="FFFFFF"/>
                    </a:solidFill>
                  </a:tcPr>
                </a:tc>
              </a:tr>
              <a:tr h="391890">
                <a:tc>
                  <a:txBody>
                    <a:bodyPr/>
                    <a:lstStyle/>
                    <a:p>
                      <a:pPr algn="l"/>
                      <a:r>
                        <a:rPr sz="850" b="1">
                          <a:solidFill>
                            <a:srgbClr val="2B3147"/>
                          </a:solidFill>
                          <a:latin typeface="Calibri"/>
                        </a:rPr>
                        <a:t>Spanish Platform</a:t>
                      </a:r>
                    </a:p>
                  </a:txBody>
                  <a:tcPr marL="54864" marR="54864" marT="27432" marB="27432">
                    <a:solidFill>
                      <a:srgbClr val="F9FAFC"/>
                    </a:solidFill>
                  </a:tcPr>
                </a:tc>
                <a:tc>
                  <a:txBody>
                    <a:bodyPr/>
                    <a:lstStyle/>
                    <a:p>
                      <a:pPr algn="r"/>
                      <a:r>
                        <a:rPr sz="850" b="0">
                          <a:solidFill>
                            <a:srgbClr val="2B3147"/>
                          </a:solidFill>
                          <a:latin typeface="Calibri"/>
                        </a:rPr>
                        <a:t>9</a:t>
                      </a:r>
                    </a:p>
                  </a:txBody>
                  <a:tcPr marL="54864" marR="54864" marT="27432" marB="27432">
                    <a:solidFill>
                      <a:srgbClr val="F9FAFC"/>
                    </a:solidFill>
                  </a:tcPr>
                </a:tc>
                <a:tc>
                  <a:txBody>
                    <a:bodyPr/>
                    <a:lstStyle/>
                    <a:p>
                      <a:pPr algn="r"/>
                      <a:r>
                        <a:rPr sz="850" b="0">
                          <a:solidFill>
                            <a:srgbClr val="2B3147"/>
                          </a:solidFill>
                          <a:latin typeface="Calibri"/>
                        </a:rPr>
                        <a:t>$893.67</a:t>
                      </a:r>
                    </a:p>
                  </a:txBody>
                  <a:tcPr marL="54864" marR="54864" marT="27432" marB="27432">
                    <a:solidFill>
                      <a:srgbClr val="F9FAFC"/>
                    </a:solidFill>
                  </a:tcPr>
                </a:tc>
                <a:tc>
                  <a:txBody>
                    <a:bodyPr/>
                    <a:lstStyle/>
                    <a:p>
                      <a:pPr algn="r"/>
                      <a:r>
                        <a:rPr sz="850" b="0">
                          <a:solidFill>
                            <a:srgbClr val="2B3147"/>
                          </a:solidFill>
                          <a:latin typeface="Calibri"/>
                        </a:rPr>
                        <a:t>REDUCE-REMOVE</a:t>
                      </a:r>
                    </a:p>
                  </a:txBody>
                  <a:tcPr marL="54864" marR="54864" marT="27432" marB="27432">
                    <a:solidFill>
                      <a:srgbClr val="F9FAFC"/>
                    </a:solidFill>
                  </a:tcPr>
                </a:tc>
              </a:tr>
            </a:tbl>
          </a:graphicData>
        </a:graphic>
      </p:graphicFrame>
      <p:sp>
        <p:nvSpPr>
          <p:cNvPr id="11" name="Rectangle 10"/>
          <p:cNvSpPr/>
          <p:nvPr/>
        </p:nvSpPr>
        <p:spPr>
          <a:xfrm>
            <a:off x="7680960" y="1828800"/>
            <a:ext cx="3593592" cy="274320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1828800"/>
            <a:ext cx="64008" cy="2743200"/>
          </a:xfrm>
          <a:prstGeom prst="rect">
            <a:avLst/>
          </a:prstGeom>
          <a:solidFill>
            <a:srgbClr val="E9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0416" y="1993392"/>
            <a:ext cx="3191256" cy="274320"/>
          </a:xfrm>
          <a:prstGeom prst="rect">
            <a:avLst/>
          </a:prstGeom>
          <a:noFill/>
        </p:spPr>
        <p:txBody>
          <a:bodyPr wrap="square" anchor="t" lIns="0" rIns="0" tIns="0" bIns="0">
            <a:spAutoFit/>
          </a:bodyPr>
          <a:lstStyle/>
          <a:p>
            <a:pPr algn="l"/>
            <a:r>
              <a:rPr sz="1000" b="1">
                <a:solidFill>
                  <a:srgbClr val="1E2761"/>
                </a:solidFill>
                <a:latin typeface="Georgia"/>
              </a:rPr>
              <a:t>WHAT WE RECOMMEND</a:t>
            </a:r>
          </a:p>
        </p:txBody>
      </p:sp>
      <p:sp>
        <p:nvSpPr>
          <p:cNvPr id="14" name="TextBox 13"/>
          <p:cNvSpPr txBox="1"/>
          <p:nvPr/>
        </p:nvSpPr>
        <p:spPr>
          <a:xfrm>
            <a:off x="7900416" y="2331720"/>
            <a:ext cx="3191256" cy="2057400"/>
          </a:xfrm>
          <a:prstGeom prst="rect">
            <a:avLst/>
          </a:prstGeom>
          <a:noFill/>
        </p:spPr>
        <p:txBody>
          <a:bodyPr wrap="square" anchor="t" lIns="0" rIns="0" tIns="0" bIns="0">
            <a:spAutoFit/>
          </a:bodyPr>
          <a:lstStyle/>
          <a:p>
            <a:pPr algn="l"/>
            <a:r>
              <a:rPr sz="950" b="0">
                <a:solidFill>
                  <a:srgbClr val="2B3147"/>
                </a:solidFill>
                <a:latin typeface="Calibri"/>
              </a:rPr>
              <a:t>Spanish Platform carries the line’s largest spend and its weakest cost per application. It’s the candidate to shift budget away from.</a:t>
            </a:r>
          </a:p>
          <a:p>
            <a:pPr algn="l">
              <a:spcBef>
                <a:spcPts val="600"/>
              </a:spcBef>
            </a:pPr>
            <a:r>
              <a:rPr sz="950" b="0">
                <a:solidFill>
                  <a:srgbClr val="2B3147"/>
                </a:solidFill>
                <a:latin typeface="Calibri"/>
              </a:rPr>
              <a:t>Professional Tools and Trust both improved sharply from June, when Trust was the line’s weakest performer.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8229600" cy="320040"/>
          </a:xfrm>
          <a:prstGeom prst="rect">
            <a:avLst/>
          </a:prstGeom>
          <a:noFill/>
        </p:spPr>
        <p:txBody>
          <a:bodyPr wrap="square" anchor="t" lIns="0" rIns="0" tIns="0" bIns="0">
            <a:spAutoFit/>
          </a:bodyPr>
          <a:lstStyle/>
          <a:p>
            <a:pPr algn="l"/>
            <a:r>
              <a:rPr sz="1100" b="1">
                <a:solidFill>
                  <a:srgbClr val="FFFFFF"/>
                </a:solidFill>
                <a:latin typeface="Georgia"/>
              </a:rPr>
              <a:t>AZERION NATIVE  ·  CREATIVE PERFORMANCE</a:t>
            </a:r>
          </a:p>
        </p:txBody>
      </p:sp>
      <p:pic>
        <p:nvPicPr>
          <p:cNvPr id="5" name="Picture 4" descr="berelvant_logo.png"/>
          <p:cNvPicPr>
            <a:picLocks noChangeAspect="1"/>
          </p:cNvPicPr>
          <p:nvPr/>
        </p:nvPicPr>
        <p:blipFill>
          <a:blip r:embed="rId2"/>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First full month for six ad creatives on Azerion’s share of the Native line.</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56832"/>
            <a:ext cx="7315200" cy="201168"/>
          </a:xfrm>
          <a:prstGeom prst="rect">
            <a:avLst/>
          </a:prstGeom>
          <a:noFill/>
        </p:spPr>
        <p:txBody>
          <a:bodyPr wrap="square" anchor="t" lIns="0" rIns="0" tIns="0" bIns="0">
            <a:spAutoFit/>
          </a:bodyPr>
          <a:lstStyle/>
          <a:p>
            <a:pPr algn="l"/>
            <a:r>
              <a:rPr sz="800" b="0">
                <a:solidFill>
                  <a:srgbClr val="5A6072"/>
                </a:solidFill>
                <a:latin typeface="Calibri"/>
              </a:rPr>
              <a:t>GCG (US Hispanic)   |   July 2026 Performance Review   |   Berelvant</a:t>
            </a:r>
          </a:p>
        </p:txBody>
      </p:sp>
      <p:sp>
        <p:nvSpPr>
          <p:cNvPr id="9" name="TextBox 8"/>
          <p:cNvSpPr txBox="1"/>
          <p:nvPr/>
        </p:nvSpPr>
        <p:spPr>
          <a:xfrm>
            <a:off x="10820095" y="6656832"/>
            <a:ext cx="914400" cy="201168"/>
          </a:xfrm>
          <a:prstGeom prst="rect">
            <a:avLst/>
          </a:prstGeom>
          <a:noFill/>
        </p:spPr>
        <p:txBody>
          <a:bodyPr wrap="square" anchor="t" lIns="0" rIns="0" tIns="0" bIns="0">
            <a:spAutoFit/>
          </a:bodyPr>
          <a:lstStyle/>
          <a:p>
            <a:pPr algn="r"/>
            <a:r>
              <a:rPr sz="800" b="0">
                <a:solidFill>
                  <a:srgbClr val="5A6072"/>
                </a:solidFill>
                <a:latin typeface="Calibri"/>
              </a:rPr>
              <a:t>11 / 14</a:t>
            </a:r>
          </a:p>
        </p:txBody>
      </p:sp>
      <p:graphicFrame>
        <p:nvGraphicFramePr>
          <p:cNvPr id="10" name="Table 9"/>
          <p:cNvGraphicFramePr>
            <a:graphicFrameLocks noGrp="1"/>
          </p:cNvGraphicFramePr>
          <p:nvPr/>
        </p:nvGraphicFramePr>
        <p:xfrm>
          <a:off x="457200" y="1828800"/>
          <a:ext cx="7040880" cy="2743200"/>
        </p:xfrm>
        <a:graphic>
          <a:graphicData uri="http://schemas.openxmlformats.org/drawingml/2006/table">
            <a:tbl>
              <a:tblPr>
                <a:tableStyleId>{5C22544A-7EE6-4342-B048-85BDC9FD1C3A}</a:tableStyleId>
              </a:tblPr>
              <a:tblGrid>
                <a:gridCol w="2651760"/>
                <a:gridCol w="1005840"/>
                <a:gridCol w="822960"/>
                <a:gridCol w="914400"/>
                <a:gridCol w="1645920"/>
              </a:tblGrid>
              <a:tr h="391885">
                <a:tc>
                  <a:txBody>
                    <a:bodyPr/>
                    <a:lstStyle/>
                    <a:p>
                      <a:pPr algn="l"/>
                      <a:r>
                        <a:rPr sz="850" b="1">
                          <a:solidFill>
                            <a:srgbClr val="FFFFFF"/>
                          </a:solidFill>
                          <a:latin typeface="Calibri"/>
                        </a:rPr>
                        <a:t>Creative</a:t>
                      </a:r>
                    </a:p>
                  </a:txBody>
                  <a:tcPr marL="54864" marR="54864" marT="27432" marB="27432">
                    <a:solidFill>
                      <a:srgbClr val="1E2761"/>
                    </a:solidFill>
                  </a:tcPr>
                </a:tc>
                <a:tc>
                  <a:txBody>
                    <a:bodyPr/>
                    <a:lstStyle/>
                    <a:p>
                      <a:pPr algn="r"/>
                      <a:r>
                        <a:rPr sz="850" b="1">
                          <a:solidFill>
                            <a:srgbClr val="FFFFFF"/>
                          </a:solidFill>
                          <a:latin typeface="Calibri"/>
                        </a:rPr>
                        <a:t>Spend</a:t>
                      </a:r>
                    </a:p>
                  </a:txBody>
                  <a:tcPr marL="54864" marR="54864" marT="27432" marB="27432">
                    <a:solidFill>
                      <a:srgbClr val="1E2761"/>
                    </a:solidFill>
                  </a:tcPr>
                </a:tc>
                <a:tc>
                  <a:txBody>
                    <a:bodyPr/>
                    <a:lstStyle/>
                    <a:p>
                      <a:pPr algn="r"/>
                      <a:r>
                        <a:rPr sz="850" b="1">
                          <a:solidFill>
                            <a:srgbClr val="FFFFFF"/>
                          </a:solidFill>
                          <a:latin typeface="Calibri"/>
                        </a:rPr>
                        <a:t>Clicks</a:t>
                      </a:r>
                    </a:p>
                  </a:txBody>
                  <a:tcPr marL="54864" marR="54864" marT="27432" marB="27432">
                    <a:solidFill>
                      <a:srgbClr val="1E2761"/>
                    </a:solidFill>
                  </a:tcPr>
                </a:tc>
                <a:tc>
                  <a:txBody>
                    <a:bodyPr/>
                    <a:lstStyle/>
                    <a:p>
                      <a:pPr algn="r"/>
                      <a:r>
                        <a:rPr sz="850" b="1">
                          <a:solidFill>
                            <a:srgbClr val="FFFFFF"/>
                          </a:solidFill>
                          <a:latin typeface="Calibri"/>
                        </a:rPr>
                        <a:t>CTR</a:t>
                      </a:r>
                    </a:p>
                  </a:txBody>
                  <a:tcPr marL="54864" marR="54864" marT="27432" marB="27432">
                    <a:solidFill>
                      <a:srgbClr val="1E2761"/>
                    </a:solidFill>
                  </a:tcPr>
                </a:tc>
                <a:tc>
                  <a:txBody>
                    <a:bodyPr/>
                    <a:lstStyle/>
                    <a:p>
                      <a:pPr algn="r"/>
                      <a:r>
                        <a:rPr sz="850" b="1">
                          <a:solidFill>
                            <a:srgbClr val="FFFFFF"/>
                          </a:solidFill>
                          <a:latin typeface="Calibri"/>
                        </a:rPr>
                        <a:t>August status</a:t>
                      </a:r>
                    </a:p>
                  </a:txBody>
                  <a:tcPr marL="54864" marR="54864" marT="27432" marB="27432">
                    <a:solidFill>
                      <a:srgbClr val="1E2761"/>
                    </a:solidFill>
                  </a:tcPr>
                </a:tc>
              </a:tr>
              <a:tr h="391885">
                <a:tc>
                  <a:txBody>
                    <a:bodyPr/>
                    <a:lstStyle/>
                    <a:p>
                      <a:pPr algn="l"/>
                      <a:r>
                        <a:rPr sz="850" b="1">
                          <a:solidFill>
                            <a:srgbClr val="2B3147"/>
                          </a:solidFill>
                          <a:latin typeface="Calibri"/>
                        </a:rPr>
                        <a:t>City_view_MHTN</a:t>
                      </a:r>
                    </a:p>
                  </a:txBody>
                  <a:tcPr marL="54864" marR="54864" marT="27432" marB="27432">
                    <a:solidFill>
                      <a:srgbClr val="FFFFFF"/>
                    </a:solidFill>
                  </a:tcPr>
                </a:tc>
                <a:tc>
                  <a:txBody>
                    <a:bodyPr/>
                    <a:lstStyle/>
                    <a:p>
                      <a:pPr algn="r"/>
                      <a:r>
                        <a:rPr sz="850" b="0">
                          <a:solidFill>
                            <a:srgbClr val="2B3147"/>
                          </a:solidFill>
                          <a:latin typeface="Calibri"/>
                        </a:rPr>
                        <a:t>$1,517</a:t>
                      </a:r>
                    </a:p>
                  </a:txBody>
                  <a:tcPr marL="54864" marR="54864" marT="27432" marB="27432">
                    <a:solidFill>
                      <a:srgbClr val="FFFFFF"/>
                    </a:solidFill>
                  </a:tcPr>
                </a:tc>
                <a:tc>
                  <a:txBody>
                    <a:bodyPr/>
                    <a:lstStyle/>
                    <a:p>
                      <a:pPr algn="r"/>
                      <a:r>
                        <a:rPr sz="850" b="0">
                          <a:solidFill>
                            <a:srgbClr val="2B3147"/>
                          </a:solidFill>
                          <a:latin typeface="Calibri"/>
                        </a:rPr>
                        <a:t>143</a:t>
                      </a:r>
                    </a:p>
                  </a:txBody>
                  <a:tcPr marL="54864" marR="54864" marT="27432" marB="27432">
                    <a:solidFill>
                      <a:srgbClr val="FFFFFF"/>
                    </a:solidFill>
                  </a:tcPr>
                </a:tc>
                <a:tc>
                  <a:txBody>
                    <a:bodyPr/>
                    <a:lstStyle/>
                    <a:p>
                      <a:pPr algn="r"/>
                      <a:r>
                        <a:rPr sz="850" b="0">
                          <a:solidFill>
                            <a:srgbClr val="2B3147"/>
                          </a:solidFill>
                          <a:latin typeface="Calibri"/>
                        </a:rPr>
                        <a:t>0.075%</a:t>
                      </a:r>
                    </a:p>
                  </a:txBody>
                  <a:tcPr marL="54864" marR="54864" marT="27432" marB="27432">
                    <a:solidFill>
                      <a:srgbClr val="FFFFFF"/>
                    </a:solidFill>
                  </a:tcPr>
                </a:tc>
                <a:tc>
                  <a:txBody>
                    <a:bodyPr/>
                    <a:lstStyle/>
                    <a:p>
                      <a:pPr algn="r"/>
                      <a:r>
                        <a:rPr sz="850" b="0">
                          <a:solidFill>
                            <a:srgbClr val="2B3147"/>
                          </a:solidFill>
                          <a:latin typeface="Calibri"/>
                        </a:rPr>
                        <a:t>MAINTAIN</a:t>
                      </a:r>
                    </a:p>
                  </a:txBody>
                  <a:tcPr marL="54864" marR="54864" marT="27432" marB="27432">
                    <a:solidFill>
                      <a:srgbClr val="FFFFFF"/>
                    </a:solidFill>
                  </a:tcPr>
                </a:tc>
              </a:tr>
              <a:tr h="391885">
                <a:tc>
                  <a:txBody>
                    <a:bodyPr/>
                    <a:lstStyle/>
                    <a:p>
                      <a:pPr algn="l"/>
                      <a:r>
                        <a:rPr sz="850" b="1">
                          <a:solidFill>
                            <a:srgbClr val="2B3147"/>
                          </a:solidFill>
                          <a:latin typeface="Calibri"/>
                        </a:rPr>
                        <a:t>Mobile_desktop_view</a:t>
                      </a:r>
                    </a:p>
                  </a:txBody>
                  <a:tcPr marL="54864" marR="54864" marT="27432" marB="27432">
                    <a:solidFill>
                      <a:srgbClr val="F9FAFC"/>
                    </a:solidFill>
                  </a:tcPr>
                </a:tc>
                <a:tc>
                  <a:txBody>
                    <a:bodyPr/>
                    <a:lstStyle/>
                    <a:p>
                      <a:pPr algn="r"/>
                      <a:r>
                        <a:rPr sz="850" b="0">
                          <a:solidFill>
                            <a:srgbClr val="2B3147"/>
                          </a:solidFill>
                          <a:latin typeface="Calibri"/>
                        </a:rPr>
                        <a:t>$1,576</a:t>
                      </a:r>
                    </a:p>
                  </a:txBody>
                  <a:tcPr marL="54864" marR="54864" marT="27432" marB="27432">
                    <a:solidFill>
                      <a:srgbClr val="F9FAFC"/>
                    </a:solidFill>
                  </a:tcPr>
                </a:tc>
                <a:tc>
                  <a:txBody>
                    <a:bodyPr/>
                    <a:lstStyle/>
                    <a:p>
                      <a:pPr algn="r"/>
                      <a:r>
                        <a:rPr sz="850" b="0">
                          <a:solidFill>
                            <a:srgbClr val="2B3147"/>
                          </a:solidFill>
                          <a:latin typeface="Calibri"/>
                        </a:rPr>
                        <a:t>143</a:t>
                      </a:r>
                    </a:p>
                  </a:txBody>
                  <a:tcPr marL="54864" marR="54864" marT="27432" marB="27432">
                    <a:solidFill>
                      <a:srgbClr val="F9FAFC"/>
                    </a:solidFill>
                  </a:tcPr>
                </a:tc>
                <a:tc>
                  <a:txBody>
                    <a:bodyPr/>
                    <a:lstStyle/>
                    <a:p>
                      <a:pPr algn="r"/>
                      <a:r>
                        <a:rPr sz="850" b="0">
                          <a:solidFill>
                            <a:srgbClr val="2B3147"/>
                          </a:solidFill>
                          <a:latin typeface="Calibri"/>
                        </a:rPr>
                        <a:t>0.073%</a:t>
                      </a:r>
                    </a:p>
                  </a:txBody>
                  <a:tcPr marL="54864" marR="54864" marT="27432" marB="27432">
                    <a:solidFill>
                      <a:srgbClr val="F9FAFC"/>
                    </a:solidFill>
                  </a:tcPr>
                </a:tc>
                <a:tc>
                  <a:txBody>
                    <a:bodyPr/>
                    <a:lstStyle/>
                    <a:p>
                      <a:pPr algn="r"/>
                      <a:r>
                        <a:rPr sz="850" b="0">
                          <a:solidFill>
                            <a:srgbClr val="2B3147"/>
                          </a:solidFill>
                          <a:latin typeface="Calibri"/>
                        </a:rPr>
                        <a:t>MAINTAIN</a:t>
                      </a:r>
                    </a:p>
                  </a:txBody>
                  <a:tcPr marL="54864" marR="54864" marT="27432" marB="27432">
                    <a:solidFill>
                      <a:srgbClr val="F9FAFC"/>
                    </a:solidFill>
                  </a:tcPr>
                </a:tc>
              </a:tr>
              <a:tr h="391885">
                <a:tc>
                  <a:txBody>
                    <a:bodyPr/>
                    <a:lstStyle/>
                    <a:p>
                      <a:pPr algn="l"/>
                      <a:r>
                        <a:rPr sz="850" b="1">
                          <a:solidFill>
                            <a:srgbClr val="2B3147"/>
                          </a:solidFill>
                          <a:latin typeface="Calibri"/>
                        </a:rPr>
                        <a:t>Phone_closeup</a:t>
                      </a:r>
                    </a:p>
                  </a:txBody>
                  <a:tcPr marL="54864" marR="54864" marT="27432" marB="27432">
                    <a:solidFill>
                      <a:srgbClr val="FFFFFF"/>
                    </a:solidFill>
                  </a:tcPr>
                </a:tc>
                <a:tc>
                  <a:txBody>
                    <a:bodyPr/>
                    <a:lstStyle/>
                    <a:p>
                      <a:pPr algn="r"/>
                      <a:r>
                        <a:rPr sz="850" b="0">
                          <a:solidFill>
                            <a:srgbClr val="2B3147"/>
                          </a:solidFill>
                          <a:latin typeface="Calibri"/>
                        </a:rPr>
                        <a:t>$1,570</a:t>
                      </a:r>
                    </a:p>
                  </a:txBody>
                  <a:tcPr marL="54864" marR="54864" marT="27432" marB="27432">
                    <a:solidFill>
                      <a:srgbClr val="FFFFFF"/>
                    </a:solidFill>
                  </a:tcPr>
                </a:tc>
                <a:tc>
                  <a:txBody>
                    <a:bodyPr/>
                    <a:lstStyle/>
                    <a:p>
                      <a:pPr algn="r"/>
                      <a:r>
                        <a:rPr sz="850" b="0">
                          <a:solidFill>
                            <a:srgbClr val="2B3147"/>
                          </a:solidFill>
                          <a:latin typeface="Calibri"/>
                        </a:rPr>
                        <a:t>139</a:t>
                      </a:r>
                    </a:p>
                  </a:txBody>
                  <a:tcPr marL="54864" marR="54864" marT="27432" marB="27432">
                    <a:solidFill>
                      <a:srgbClr val="FFFFFF"/>
                    </a:solidFill>
                  </a:tcPr>
                </a:tc>
                <a:tc>
                  <a:txBody>
                    <a:bodyPr/>
                    <a:lstStyle/>
                    <a:p>
                      <a:pPr algn="r"/>
                      <a:r>
                        <a:rPr sz="850" b="0">
                          <a:solidFill>
                            <a:srgbClr val="2B3147"/>
                          </a:solidFill>
                          <a:latin typeface="Calibri"/>
                        </a:rPr>
                        <a:t>0.071%</a:t>
                      </a:r>
                    </a:p>
                  </a:txBody>
                  <a:tcPr marL="54864" marR="54864" marT="27432" marB="27432">
                    <a:solidFill>
                      <a:srgbClr val="FFFFFF"/>
                    </a:solidFill>
                  </a:tcPr>
                </a:tc>
                <a:tc>
                  <a:txBody>
                    <a:bodyPr/>
                    <a:lstStyle/>
                    <a:p>
                      <a:pPr algn="r"/>
                      <a:r>
                        <a:rPr sz="850" b="0">
                          <a:solidFill>
                            <a:srgbClr val="2B3147"/>
                          </a:solidFill>
                          <a:latin typeface="Calibri"/>
                        </a:rPr>
                        <a:t>CONTINUE TEST</a:t>
                      </a:r>
                    </a:p>
                  </a:txBody>
                  <a:tcPr marL="54864" marR="54864" marT="27432" marB="27432">
                    <a:solidFill>
                      <a:srgbClr val="FFFFFF"/>
                    </a:solidFill>
                  </a:tcPr>
                </a:tc>
              </a:tr>
              <a:tr h="391885">
                <a:tc>
                  <a:txBody>
                    <a:bodyPr/>
                    <a:lstStyle/>
                    <a:p>
                      <a:pPr algn="l"/>
                      <a:r>
                        <a:rPr sz="850" b="1">
                          <a:solidFill>
                            <a:srgbClr val="2B3147"/>
                          </a:solidFill>
                          <a:latin typeface="Calibri"/>
                        </a:rPr>
                        <a:t>Third_person_perspective_mobile</a:t>
                      </a:r>
                    </a:p>
                  </a:txBody>
                  <a:tcPr marL="54864" marR="54864" marT="27432" marB="27432">
                    <a:solidFill>
                      <a:srgbClr val="F9FAFC"/>
                    </a:solidFill>
                  </a:tcPr>
                </a:tc>
                <a:tc>
                  <a:txBody>
                    <a:bodyPr/>
                    <a:lstStyle/>
                    <a:p>
                      <a:pPr algn="r"/>
                      <a:r>
                        <a:rPr sz="850" b="0">
                          <a:solidFill>
                            <a:srgbClr val="2B3147"/>
                          </a:solidFill>
                          <a:latin typeface="Calibri"/>
                        </a:rPr>
                        <a:t>$1,503</a:t>
                      </a:r>
                    </a:p>
                  </a:txBody>
                  <a:tcPr marL="54864" marR="54864" marT="27432" marB="27432">
                    <a:solidFill>
                      <a:srgbClr val="F9FAFC"/>
                    </a:solidFill>
                  </a:tcPr>
                </a:tc>
                <a:tc>
                  <a:txBody>
                    <a:bodyPr/>
                    <a:lstStyle/>
                    <a:p>
                      <a:pPr algn="r"/>
                      <a:r>
                        <a:rPr sz="850" b="0">
                          <a:solidFill>
                            <a:srgbClr val="2B3147"/>
                          </a:solidFill>
                          <a:latin typeface="Calibri"/>
                        </a:rPr>
                        <a:t>134</a:t>
                      </a:r>
                    </a:p>
                  </a:txBody>
                  <a:tcPr marL="54864" marR="54864" marT="27432" marB="27432">
                    <a:solidFill>
                      <a:srgbClr val="F9FAFC"/>
                    </a:solidFill>
                  </a:tcPr>
                </a:tc>
                <a:tc>
                  <a:txBody>
                    <a:bodyPr/>
                    <a:lstStyle/>
                    <a:p>
                      <a:pPr algn="r"/>
                      <a:r>
                        <a:rPr sz="850" b="0">
                          <a:solidFill>
                            <a:srgbClr val="2B3147"/>
                          </a:solidFill>
                          <a:latin typeface="Calibri"/>
                        </a:rPr>
                        <a:t>0.071%</a:t>
                      </a:r>
                    </a:p>
                  </a:txBody>
                  <a:tcPr marL="54864" marR="54864" marT="27432" marB="27432">
                    <a:solidFill>
                      <a:srgbClr val="F9FAFC"/>
                    </a:solidFill>
                  </a:tcPr>
                </a:tc>
                <a:tc>
                  <a:txBody>
                    <a:bodyPr/>
                    <a:lstStyle/>
                    <a:p>
                      <a:pPr algn="r"/>
                      <a:r>
                        <a:rPr sz="850" b="0">
                          <a:solidFill>
                            <a:srgbClr val="2B3147"/>
                          </a:solidFill>
                          <a:latin typeface="Calibri"/>
                        </a:rPr>
                        <a:t>CONTINUE TEST</a:t>
                      </a:r>
                    </a:p>
                  </a:txBody>
                  <a:tcPr marL="54864" marR="54864" marT="27432" marB="27432">
                    <a:solidFill>
                      <a:srgbClr val="F9FAFC"/>
                    </a:solidFill>
                  </a:tcPr>
                </a:tc>
              </a:tr>
              <a:tr h="391885">
                <a:tc>
                  <a:txBody>
                    <a:bodyPr/>
                    <a:lstStyle/>
                    <a:p>
                      <a:pPr algn="l"/>
                      <a:r>
                        <a:rPr sz="850" b="1">
                          <a:solidFill>
                            <a:srgbClr val="2B3147"/>
                          </a:solidFill>
                          <a:latin typeface="Calibri"/>
                        </a:rPr>
                        <a:t>Trader_laptop_thinking</a:t>
                      </a:r>
                    </a:p>
                  </a:txBody>
                  <a:tcPr marL="54864" marR="54864" marT="27432" marB="27432">
                    <a:solidFill>
                      <a:srgbClr val="FFFFFF"/>
                    </a:solidFill>
                  </a:tcPr>
                </a:tc>
                <a:tc>
                  <a:txBody>
                    <a:bodyPr/>
                    <a:lstStyle/>
                    <a:p>
                      <a:pPr algn="r"/>
                      <a:r>
                        <a:rPr sz="850" b="0">
                          <a:solidFill>
                            <a:srgbClr val="2B3147"/>
                          </a:solidFill>
                          <a:latin typeface="Calibri"/>
                        </a:rPr>
                        <a:t>$1,598</a:t>
                      </a:r>
                    </a:p>
                  </a:txBody>
                  <a:tcPr marL="54864" marR="54864" marT="27432" marB="27432">
                    <a:solidFill>
                      <a:srgbClr val="FFFFFF"/>
                    </a:solidFill>
                  </a:tcPr>
                </a:tc>
                <a:tc>
                  <a:txBody>
                    <a:bodyPr/>
                    <a:lstStyle/>
                    <a:p>
                      <a:pPr algn="r"/>
                      <a:r>
                        <a:rPr sz="850" b="0">
                          <a:solidFill>
                            <a:srgbClr val="2B3147"/>
                          </a:solidFill>
                          <a:latin typeface="Calibri"/>
                        </a:rPr>
                        <a:t>132</a:t>
                      </a:r>
                    </a:p>
                  </a:txBody>
                  <a:tcPr marL="54864" marR="54864" marT="27432" marB="27432">
                    <a:solidFill>
                      <a:srgbClr val="FFFFFF"/>
                    </a:solidFill>
                  </a:tcPr>
                </a:tc>
                <a:tc>
                  <a:txBody>
                    <a:bodyPr/>
                    <a:lstStyle/>
                    <a:p>
                      <a:pPr algn="r"/>
                      <a:r>
                        <a:rPr sz="850" b="0">
                          <a:solidFill>
                            <a:srgbClr val="2B3147"/>
                          </a:solidFill>
                          <a:latin typeface="Calibri"/>
                        </a:rPr>
                        <a:t>0.066%</a:t>
                      </a:r>
                    </a:p>
                  </a:txBody>
                  <a:tcPr marL="54864" marR="54864" marT="27432" marB="27432">
                    <a:solidFill>
                      <a:srgbClr val="FFFFFF"/>
                    </a:solidFill>
                  </a:tcPr>
                </a:tc>
                <a:tc>
                  <a:txBody>
                    <a:bodyPr/>
                    <a:lstStyle/>
                    <a:p>
                      <a:pPr algn="r"/>
                      <a:r>
                        <a:rPr sz="850" b="0">
                          <a:solidFill>
                            <a:srgbClr val="2B3147"/>
                          </a:solidFill>
                          <a:latin typeface="Calibri"/>
                        </a:rPr>
                        <a:t>CONTINUE TEST</a:t>
                      </a:r>
                    </a:p>
                  </a:txBody>
                  <a:tcPr marL="54864" marR="54864" marT="27432" marB="27432">
                    <a:solidFill>
                      <a:srgbClr val="FFFFFF"/>
                    </a:solidFill>
                  </a:tcPr>
                </a:tc>
              </a:tr>
              <a:tr h="391890">
                <a:tc>
                  <a:txBody>
                    <a:bodyPr/>
                    <a:lstStyle/>
                    <a:p>
                      <a:pPr algn="l"/>
                      <a:r>
                        <a:rPr sz="850" b="1">
                          <a:solidFill>
                            <a:srgbClr val="2B3147"/>
                          </a:solidFill>
                          <a:latin typeface="Calibri"/>
                        </a:rPr>
                        <a:t>Multiple_screens_graph</a:t>
                      </a:r>
                    </a:p>
                  </a:txBody>
                  <a:tcPr marL="54864" marR="54864" marT="27432" marB="27432">
                    <a:solidFill>
                      <a:srgbClr val="F9FAFC"/>
                    </a:solidFill>
                  </a:tcPr>
                </a:tc>
                <a:tc>
                  <a:txBody>
                    <a:bodyPr/>
                    <a:lstStyle/>
                    <a:p>
                      <a:pPr algn="r"/>
                      <a:r>
                        <a:rPr sz="850" b="0">
                          <a:solidFill>
                            <a:srgbClr val="2B3147"/>
                          </a:solidFill>
                          <a:latin typeface="Calibri"/>
                        </a:rPr>
                        <a:t>$1,598</a:t>
                      </a:r>
                    </a:p>
                  </a:txBody>
                  <a:tcPr marL="54864" marR="54864" marT="27432" marB="27432">
                    <a:solidFill>
                      <a:srgbClr val="F9FAFC"/>
                    </a:solidFill>
                  </a:tcPr>
                </a:tc>
                <a:tc>
                  <a:txBody>
                    <a:bodyPr/>
                    <a:lstStyle/>
                    <a:p>
                      <a:pPr algn="r"/>
                      <a:r>
                        <a:rPr sz="850" b="0">
                          <a:solidFill>
                            <a:srgbClr val="2B3147"/>
                          </a:solidFill>
                          <a:latin typeface="Calibri"/>
                        </a:rPr>
                        <a:t>125</a:t>
                      </a:r>
                    </a:p>
                  </a:txBody>
                  <a:tcPr marL="54864" marR="54864" marT="27432" marB="27432">
                    <a:solidFill>
                      <a:srgbClr val="F9FAFC"/>
                    </a:solidFill>
                  </a:tcPr>
                </a:tc>
                <a:tc>
                  <a:txBody>
                    <a:bodyPr/>
                    <a:lstStyle/>
                    <a:p>
                      <a:pPr algn="r"/>
                      <a:r>
                        <a:rPr sz="850" b="0">
                          <a:solidFill>
                            <a:srgbClr val="2B3147"/>
                          </a:solidFill>
                          <a:latin typeface="Calibri"/>
                        </a:rPr>
                        <a:t>0.063%</a:t>
                      </a:r>
                    </a:p>
                  </a:txBody>
                  <a:tcPr marL="54864" marR="54864" marT="27432" marB="27432">
                    <a:solidFill>
                      <a:srgbClr val="F9FAFC"/>
                    </a:solidFill>
                  </a:tcPr>
                </a:tc>
                <a:tc>
                  <a:txBody>
                    <a:bodyPr/>
                    <a:lstStyle/>
                    <a:p>
                      <a:pPr algn="r"/>
                      <a:r>
                        <a:rPr sz="850" b="0">
                          <a:solidFill>
                            <a:srgbClr val="2B3147"/>
                          </a:solidFill>
                          <a:latin typeface="Calibri"/>
                        </a:rPr>
                        <a:t>CONTINUE TEST</a:t>
                      </a:r>
                    </a:p>
                  </a:txBody>
                  <a:tcPr marL="54864" marR="54864" marT="27432" marB="27432">
                    <a:solidFill>
                      <a:srgbClr val="F9FAFC"/>
                    </a:solidFill>
                  </a:tcPr>
                </a:tc>
              </a:tr>
            </a:tbl>
          </a:graphicData>
        </a:graphic>
      </p:graphicFrame>
      <p:sp>
        <p:nvSpPr>
          <p:cNvPr id="11" name="TextBox 10"/>
          <p:cNvSpPr txBox="1"/>
          <p:nvPr/>
        </p:nvSpPr>
        <p:spPr>
          <a:xfrm>
            <a:off x="457200" y="4617720"/>
            <a:ext cx="7040880" cy="274320"/>
          </a:xfrm>
          <a:prstGeom prst="rect">
            <a:avLst/>
          </a:prstGeom>
          <a:noFill/>
        </p:spPr>
        <p:txBody>
          <a:bodyPr wrap="square" anchor="t" lIns="0" rIns="0" tIns="0" bIns="0">
            <a:spAutoFit/>
          </a:bodyPr>
          <a:lstStyle/>
          <a:p>
            <a:pPr algn="l"/>
            <a:r>
              <a:rPr sz="750" b="0">
                <a:solidFill>
                  <a:srgbClr val="5A6072"/>
                </a:solidFill>
                <a:latin typeface="Calibri"/>
              </a:rPr>
              <a:t>Native total: 1,170,255 impressions, 816 clicks, 72.68% viewability.</a:t>
            </a:r>
          </a:p>
        </p:txBody>
      </p:sp>
      <p:sp>
        <p:nvSpPr>
          <p:cNvPr id="12" name="Rectangle 11"/>
          <p:cNvSpPr/>
          <p:nvPr/>
        </p:nvSpPr>
        <p:spPr>
          <a:xfrm>
            <a:off x="7680960" y="1828800"/>
            <a:ext cx="3593592" cy="274320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680960" y="1828800"/>
            <a:ext cx="64008" cy="2743200"/>
          </a:xfrm>
          <a:prstGeom prst="rect">
            <a:avLst/>
          </a:prstGeom>
          <a:solidFill>
            <a:srgbClr val="E9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0416" y="1993392"/>
            <a:ext cx="3191256" cy="274320"/>
          </a:xfrm>
          <a:prstGeom prst="rect">
            <a:avLst/>
          </a:prstGeom>
          <a:noFill/>
        </p:spPr>
        <p:txBody>
          <a:bodyPr wrap="square" anchor="t" lIns="0" rIns="0" tIns="0" bIns="0">
            <a:spAutoFit/>
          </a:bodyPr>
          <a:lstStyle/>
          <a:p>
            <a:pPr algn="l"/>
            <a:r>
              <a:rPr sz="1000" b="1">
                <a:solidFill>
                  <a:srgbClr val="1E2761"/>
                </a:solidFill>
                <a:latin typeface="Georgia"/>
              </a:rPr>
              <a:t>WHAT WE RECOMMEND</a:t>
            </a:r>
          </a:p>
        </p:txBody>
      </p:sp>
      <p:sp>
        <p:nvSpPr>
          <p:cNvPr id="15" name="TextBox 14"/>
          <p:cNvSpPr txBox="1"/>
          <p:nvPr/>
        </p:nvSpPr>
        <p:spPr>
          <a:xfrm>
            <a:off x="7900416" y="2331720"/>
            <a:ext cx="3191256" cy="2057400"/>
          </a:xfrm>
          <a:prstGeom prst="rect">
            <a:avLst/>
          </a:prstGeom>
          <a:noFill/>
        </p:spPr>
        <p:txBody>
          <a:bodyPr wrap="square" anchor="t" lIns="0" rIns="0" tIns="0" bIns="0">
            <a:spAutoFit/>
          </a:bodyPr>
          <a:lstStyle/>
          <a:p>
            <a:pPr algn="l"/>
            <a:r>
              <a:rPr sz="950" b="0">
                <a:solidFill>
                  <a:srgbClr val="2B3147"/>
                </a:solidFill>
                <a:latin typeface="Calibri"/>
              </a:rPr>
              <a:t>Azerion’s Native reporting covers delivery metrics only, so this line is read on delivery quality. Click-through rate fell as delivery scaled, from 0.33% in week two to 0.05% in the final week.</a:t>
            </a:r>
          </a:p>
          <a:p>
            <a:pPr algn="l">
              <a:spcBef>
                <a:spcPts val="600"/>
              </a:spcBef>
            </a:pPr>
            <a:r>
              <a:rPr sz="950" b="0">
                <a:solidFill>
                  <a:srgbClr val="2B3147"/>
                </a:solidFill>
                <a:latin typeface="Calibri"/>
              </a:rPr>
              <a:t>DECISION: creative performance was tightly clustered. Maintain the leading creatives at a modestly higher weight and continue testing before removing the others.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8229600" cy="320040"/>
          </a:xfrm>
          <a:prstGeom prst="rect">
            <a:avLst/>
          </a:prstGeom>
          <a:noFill/>
        </p:spPr>
        <p:txBody>
          <a:bodyPr wrap="square" anchor="t" lIns="0" rIns="0" tIns="0" bIns="0">
            <a:spAutoFit/>
          </a:bodyPr>
          <a:lstStyle/>
          <a:p>
            <a:pPr algn="l"/>
            <a:r>
              <a:rPr sz="1100" b="1">
                <a:solidFill>
                  <a:srgbClr val="FFFFFF"/>
                </a:solidFill>
                <a:latin typeface="Georgia"/>
              </a:rPr>
              <a:t>SITE TRAFFIC  ·  GA4 (SPANISH AUDIENCE)</a:t>
            </a:r>
          </a:p>
        </p:txBody>
      </p:sp>
      <p:pic>
        <p:nvPicPr>
          <p:cNvPr id="5" name="Picture 4" descr="berelvant_logo.png"/>
          <p:cNvPicPr>
            <a:picLocks noChangeAspect="1"/>
          </p:cNvPicPr>
          <p:nvPr/>
        </p:nvPicPr>
        <p:blipFill>
          <a:blip r:embed="rId2"/>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Sessions fell 17.2% to 66,398 as Meta spend pulled back by design.</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56832"/>
            <a:ext cx="7315200" cy="201168"/>
          </a:xfrm>
          <a:prstGeom prst="rect">
            <a:avLst/>
          </a:prstGeom>
          <a:noFill/>
        </p:spPr>
        <p:txBody>
          <a:bodyPr wrap="square" anchor="t" lIns="0" rIns="0" tIns="0" bIns="0">
            <a:spAutoFit/>
          </a:bodyPr>
          <a:lstStyle/>
          <a:p>
            <a:pPr algn="l"/>
            <a:r>
              <a:rPr sz="800" b="0">
                <a:solidFill>
                  <a:srgbClr val="5A6072"/>
                </a:solidFill>
                <a:latin typeface="Calibri"/>
              </a:rPr>
              <a:t>GCG (US Hispanic)   |   July 2026 Performance Review   |   Berelvant</a:t>
            </a:r>
          </a:p>
        </p:txBody>
      </p:sp>
      <p:sp>
        <p:nvSpPr>
          <p:cNvPr id="9" name="TextBox 8"/>
          <p:cNvSpPr txBox="1"/>
          <p:nvPr/>
        </p:nvSpPr>
        <p:spPr>
          <a:xfrm>
            <a:off x="10820095" y="6656832"/>
            <a:ext cx="914400" cy="201168"/>
          </a:xfrm>
          <a:prstGeom prst="rect">
            <a:avLst/>
          </a:prstGeom>
          <a:noFill/>
        </p:spPr>
        <p:txBody>
          <a:bodyPr wrap="square" anchor="t" lIns="0" rIns="0" tIns="0" bIns="0">
            <a:spAutoFit/>
          </a:bodyPr>
          <a:lstStyle/>
          <a:p>
            <a:pPr algn="r"/>
            <a:r>
              <a:rPr sz="800" b="0">
                <a:solidFill>
                  <a:srgbClr val="5A6072"/>
                </a:solidFill>
                <a:latin typeface="Calibri"/>
              </a:rPr>
              <a:t>12 / 14</a:t>
            </a:r>
          </a:p>
        </p:txBody>
      </p:sp>
      <p:sp>
        <p:nvSpPr>
          <p:cNvPr id="10" name="Rectangle 9"/>
          <p:cNvSpPr/>
          <p:nvPr/>
        </p:nvSpPr>
        <p:spPr>
          <a:xfrm>
            <a:off x="457200" y="1828800"/>
            <a:ext cx="160020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874519"/>
            <a:ext cx="1325880" cy="274320"/>
          </a:xfrm>
          <a:prstGeom prst="rect">
            <a:avLst/>
          </a:prstGeom>
          <a:noFill/>
        </p:spPr>
        <p:txBody>
          <a:bodyPr wrap="square" anchor="t" lIns="0" rIns="0" tIns="0" bIns="0">
            <a:spAutoFit/>
          </a:bodyPr>
          <a:lstStyle/>
          <a:p>
            <a:pPr algn="l"/>
            <a:r>
              <a:rPr sz="800" b="1">
                <a:solidFill>
                  <a:srgbClr val="5A6072"/>
                </a:solidFill>
                <a:latin typeface="Calibri"/>
              </a:rPr>
              <a:t>ES SESSIONS</a:t>
            </a:r>
          </a:p>
        </p:txBody>
      </p:sp>
      <p:sp>
        <p:nvSpPr>
          <p:cNvPr id="13" name="TextBox 12"/>
          <p:cNvSpPr txBox="1"/>
          <p:nvPr/>
        </p:nvSpPr>
        <p:spPr>
          <a:xfrm>
            <a:off x="640080" y="2121408"/>
            <a:ext cx="1325880" cy="457200"/>
          </a:xfrm>
          <a:prstGeom prst="rect">
            <a:avLst/>
          </a:prstGeom>
          <a:noFill/>
        </p:spPr>
        <p:txBody>
          <a:bodyPr wrap="square" anchor="t" lIns="0" rIns="0" tIns="0" bIns="0">
            <a:spAutoFit/>
          </a:bodyPr>
          <a:lstStyle/>
          <a:p>
            <a:pPr algn="l"/>
            <a:r>
              <a:rPr sz="1500" b="1">
                <a:solidFill>
                  <a:srgbClr val="1E2761"/>
                </a:solidFill>
                <a:latin typeface="Calibri"/>
              </a:rPr>
              <a:t>66,398</a:t>
            </a:r>
          </a:p>
        </p:txBody>
      </p:sp>
      <p:sp>
        <p:nvSpPr>
          <p:cNvPr id="14" name="TextBox 13"/>
          <p:cNvSpPr txBox="1"/>
          <p:nvPr/>
        </p:nvSpPr>
        <p:spPr>
          <a:xfrm>
            <a:off x="640080" y="2578608"/>
            <a:ext cx="1325880" cy="219456"/>
          </a:xfrm>
          <a:prstGeom prst="rect">
            <a:avLst/>
          </a:prstGeom>
          <a:noFill/>
        </p:spPr>
        <p:txBody>
          <a:bodyPr wrap="square" anchor="t" lIns="0" rIns="0" tIns="0" bIns="0">
            <a:spAutoFit/>
          </a:bodyPr>
          <a:lstStyle/>
          <a:p>
            <a:pPr algn="l"/>
            <a:r>
              <a:rPr sz="800" b="0">
                <a:solidFill>
                  <a:srgbClr val="5A6072"/>
                </a:solidFill>
                <a:latin typeface="Calibri"/>
              </a:rPr>
              <a:t>June: 80,231</a:t>
            </a:r>
          </a:p>
        </p:txBody>
      </p:sp>
      <p:sp>
        <p:nvSpPr>
          <p:cNvPr id="15" name="Rectangle 14"/>
          <p:cNvSpPr/>
          <p:nvPr/>
        </p:nvSpPr>
        <p:spPr>
          <a:xfrm>
            <a:off x="2167128" y="1828800"/>
            <a:ext cx="160020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67128"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50008" y="1874519"/>
            <a:ext cx="1325880" cy="274320"/>
          </a:xfrm>
          <a:prstGeom prst="rect">
            <a:avLst/>
          </a:prstGeom>
          <a:noFill/>
        </p:spPr>
        <p:txBody>
          <a:bodyPr wrap="square" anchor="t" lIns="0" rIns="0" tIns="0" bIns="0">
            <a:spAutoFit/>
          </a:bodyPr>
          <a:lstStyle/>
          <a:p>
            <a:pPr algn="l"/>
            <a:r>
              <a:rPr sz="800" b="1">
                <a:solidFill>
                  <a:srgbClr val="5A6072"/>
                </a:solidFill>
                <a:latin typeface="Calibri"/>
              </a:rPr>
              <a:t>ES USERS</a:t>
            </a:r>
          </a:p>
        </p:txBody>
      </p:sp>
      <p:sp>
        <p:nvSpPr>
          <p:cNvPr id="18" name="TextBox 17"/>
          <p:cNvSpPr txBox="1"/>
          <p:nvPr/>
        </p:nvSpPr>
        <p:spPr>
          <a:xfrm>
            <a:off x="2350008" y="2121408"/>
            <a:ext cx="1325880" cy="457200"/>
          </a:xfrm>
          <a:prstGeom prst="rect">
            <a:avLst/>
          </a:prstGeom>
          <a:noFill/>
        </p:spPr>
        <p:txBody>
          <a:bodyPr wrap="square" anchor="t" lIns="0" rIns="0" tIns="0" bIns="0">
            <a:spAutoFit/>
          </a:bodyPr>
          <a:lstStyle/>
          <a:p>
            <a:pPr algn="l"/>
            <a:r>
              <a:rPr sz="1500" b="1">
                <a:solidFill>
                  <a:srgbClr val="1E2761"/>
                </a:solidFill>
                <a:latin typeface="Calibri"/>
              </a:rPr>
              <a:t>29,901</a:t>
            </a:r>
          </a:p>
        </p:txBody>
      </p:sp>
      <p:sp>
        <p:nvSpPr>
          <p:cNvPr id="19" name="TextBox 18"/>
          <p:cNvSpPr txBox="1"/>
          <p:nvPr/>
        </p:nvSpPr>
        <p:spPr>
          <a:xfrm>
            <a:off x="2350008" y="2578608"/>
            <a:ext cx="1325880" cy="219456"/>
          </a:xfrm>
          <a:prstGeom prst="rect">
            <a:avLst/>
          </a:prstGeom>
          <a:noFill/>
        </p:spPr>
        <p:txBody>
          <a:bodyPr wrap="square" anchor="t" lIns="0" rIns="0" tIns="0" bIns="0">
            <a:spAutoFit/>
          </a:bodyPr>
          <a:lstStyle/>
          <a:p>
            <a:pPr algn="l"/>
            <a:r>
              <a:rPr sz="800" b="0">
                <a:solidFill>
                  <a:srgbClr val="5A6072"/>
                </a:solidFill>
                <a:latin typeface="Calibri"/>
              </a:rPr>
              <a:t>June: 41,795</a:t>
            </a:r>
          </a:p>
        </p:txBody>
      </p:sp>
      <p:sp>
        <p:nvSpPr>
          <p:cNvPr id="20" name="Rectangle 19"/>
          <p:cNvSpPr/>
          <p:nvPr/>
        </p:nvSpPr>
        <p:spPr>
          <a:xfrm>
            <a:off x="3877056" y="1828800"/>
            <a:ext cx="160020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877056"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59936" y="1874519"/>
            <a:ext cx="1325880" cy="274320"/>
          </a:xfrm>
          <a:prstGeom prst="rect">
            <a:avLst/>
          </a:prstGeom>
          <a:noFill/>
        </p:spPr>
        <p:txBody>
          <a:bodyPr wrap="square" anchor="t" lIns="0" rIns="0" tIns="0" bIns="0">
            <a:spAutoFit/>
          </a:bodyPr>
          <a:lstStyle/>
          <a:p>
            <a:pPr algn="l"/>
            <a:r>
              <a:rPr sz="800" b="1">
                <a:solidFill>
                  <a:srgbClr val="5A6072"/>
                </a:solidFill>
                <a:latin typeface="Calibri"/>
              </a:rPr>
              <a:t>META CAPTURE</a:t>
            </a:r>
          </a:p>
        </p:txBody>
      </p:sp>
      <p:sp>
        <p:nvSpPr>
          <p:cNvPr id="23" name="TextBox 22"/>
          <p:cNvSpPr txBox="1"/>
          <p:nvPr/>
        </p:nvSpPr>
        <p:spPr>
          <a:xfrm>
            <a:off x="4059936" y="2121408"/>
            <a:ext cx="1325880" cy="457200"/>
          </a:xfrm>
          <a:prstGeom prst="rect">
            <a:avLst/>
          </a:prstGeom>
          <a:noFill/>
        </p:spPr>
        <p:txBody>
          <a:bodyPr wrap="square" anchor="t" lIns="0" rIns="0" tIns="0" bIns="0">
            <a:spAutoFit/>
          </a:bodyPr>
          <a:lstStyle/>
          <a:p>
            <a:pPr algn="l"/>
            <a:r>
              <a:rPr sz="1500" b="1">
                <a:solidFill>
                  <a:srgbClr val="1E2761"/>
                </a:solidFill>
                <a:latin typeface="Calibri"/>
              </a:rPr>
              <a:t>67.2%</a:t>
            </a:r>
          </a:p>
        </p:txBody>
      </p:sp>
      <p:sp>
        <p:nvSpPr>
          <p:cNvPr id="24" name="TextBox 23"/>
          <p:cNvSpPr txBox="1"/>
          <p:nvPr/>
        </p:nvSpPr>
        <p:spPr>
          <a:xfrm>
            <a:off x="4059936" y="2578608"/>
            <a:ext cx="1325880" cy="219456"/>
          </a:xfrm>
          <a:prstGeom prst="rect">
            <a:avLst/>
          </a:prstGeom>
          <a:noFill/>
        </p:spPr>
        <p:txBody>
          <a:bodyPr wrap="square" anchor="t" lIns="0" rIns="0" tIns="0" bIns="0">
            <a:spAutoFit/>
          </a:bodyPr>
          <a:lstStyle/>
          <a:p>
            <a:pPr algn="l"/>
            <a:r>
              <a:rPr sz="800" b="0">
                <a:solidFill>
                  <a:srgbClr val="5A6072"/>
                </a:solidFill>
                <a:latin typeface="Calibri"/>
              </a:rPr>
              <a:t>June: ~57%</a:t>
            </a:r>
          </a:p>
        </p:txBody>
      </p:sp>
      <p:sp>
        <p:nvSpPr>
          <p:cNvPr id="25" name="Rectangle 24"/>
          <p:cNvSpPr/>
          <p:nvPr/>
        </p:nvSpPr>
        <p:spPr>
          <a:xfrm>
            <a:off x="5586984" y="1828800"/>
            <a:ext cx="160020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86984"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69864" y="1874519"/>
            <a:ext cx="1325880" cy="274320"/>
          </a:xfrm>
          <a:prstGeom prst="rect">
            <a:avLst/>
          </a:prstGeom>
          <a:noFill/>
        </p:spPr>
        <p:txBody>
          <a:bodyPr wrap="square" anchor="t" lIns="0" rIns="0" tIns="0" bIns="0">
            <a:spAutoFit/>
          </a:bodyPr>
          <a:lstStyle/>
          <a:p>
            <a:pPr algn="l"/>
            <a:r>
              <a:rPr sz="800" b="1">
                <a:solidFill>
                  <a:srgbClr val="5A6072"/>
                </a:solidFill>
                <a:latin typeface="Calibri"/>
              </a:rPr>
              <a:t>JAN-MAY BASE</a:t>
            </a:r>
          </a:p>
        </p:txBody>
      </p:sp>
      <p:sp>
        <p:nvSpPr>
          <p:cNvPr id="28" name="TextBox 27"/>
          <p:cNvSpPr txBox="1"/>
          <p:nvPr/>
        </p:nvSpPr>
        <p:spPr>
          <a:xfrm>
            <a:off x="5769864" y="2121408"/>
            <a:ext cx="1325880" cy="457200"/>
          </a:xfrm>
          <a:prstGeom prst="rect">
            <a:avLst/>
          </a:prstGeom>
          <a:noFill/>
        </p:spPr>
        <p:txBody>
          <a:bodyPr wrap="square" anchor="t" lIns="0" rIns="0" tIns="0" bIns="0">
            <a:spAutoFit/>
          </a:bodyPr>
          <a:lstStyle/>
          <a:p>
            <a:pPr algn="l"/>
            <a:r>
              <a:rPr sz="1500" b="1">
                <a:solidFill>
                  <a:srgbClr val="1E2761"/>
                </a:solidFill>
                <a:latin typeface="Calibri"/>
              </a:rPr>
              <a:t>~70K</a:t>
            </a:r>
          </a:p>
        </p:txBody>
      </p:sp>
      <p:sp>
        <p:nvSpPr>
          <p:cNvPr id="29" name="TextBox 28"/>
          <p:cNvSpPr txBox="1"/>
          <p:nvPr/>
        </p:nvSpPr>
        <p:spPr>
          <a:xfrm>
            <a:off x="5769864" y="2578608"/>
            <a:ext cx="1325880" cy="219456"/>
          </a:xfrm>
          <a:prstGeom prst="rect">
            <a:avLst/>
          </a:prstGeom>
          <a:noFill/>
        </p:spPr>
        <p:txBody>
          <a:bodyPr wrap="square" anchor="t" lIns="0" rIns="0" tIns="0" bIns="0">
            <a:spAutoFit/>
          </a:bodyPr>
          <a:lstStyle/>
          <a:p>
            <a:pPr algn="l"/>
            <a:r>
              <a:rPr sz="800" b="0">
                <a:solidFill>
                  <a:srgbClr val="5A6072"/>
                </a:solidFill>
                <a:latin typeface="Calibri"/>
              </a:rPr>
              <a:t>sessions, range</a:t>
            </a:r>
          </a:p>
        </p:txBody>
      </p:sp>
      <p:sp>
        <p:nvSpPr>
          <p:cNvPr id="30" name="Rectangle 29"/>
          <p:cNvSpPr/>
          <p:nvPr/>
        </p:nvSpPr>
        <p:spPr>
          <a:xfrm>
            <a:off x="457200" y="3108960"/>
            <a:ext cx="5486400" cy="292608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3108960"/>
            <a:ext cx="64008" cy="292608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6656" y="3273552"/>
            <a:ext cx="5084064" cy="274320"/>
          </a:xfrm>
          <a:prstGeom prst="rect">
            <a:avLst/>
          </a:prstGeom>
          <a:noFill/>
        </p:spPr>
        <p:txBody>
          <a:bodyPr wrap="square" anchor="t" lIns="0" rIns="0" tIns="0" bIns="0">
            <a:spAutoFit/>
          </a:bodyPr>
          <a:lstStyle/>
          <a:p>
            <a:pPr algn="l"/>
            <a:r>
              <a:rPr sz="1000" b="1">
                <a:solidFill>
                  <a:srgbClr val="1E2761"/>
                </a:solidFill>
                <a:latin typeface="Georgia"/>
              </a:rPr>
              <a:t>WHAT THE DATA SHOWS</a:t>
            </a:r>
          </a:p>
        </p:txBody>
      </p:sp>
      <p:sp>
        <p:nvSpPr>
          <p:cNvPr id="33" name="TextBox 32"/>
          <p:cNvSpPr txBox="1"/>
          <p:nvPr/>
        </p:nvSpPr>
        <p:spPr>
          <a:xfrm>
            <a:off x="676656" y="3611880"/>
            <a:ext cx="5084064" cy="2240280"/>
          </a:xfrm>
          <a:prstGeom prst="rect">
            <a:avLst/>
          </a:prstGeom>
          <a:noFill/>
        </p:spPr>
        <p:txBody>
          <a:bodyPr wrap="square" anchor="t" lIns="0" rIns="0" tIns="0" bIns="0">
            <a:spAutoFit/>
          </a:bodyPr>
          <a:lstStyle/>
          <a:p>
            <a:pPr algn="l"/>
            <a:r>
              <a:rPr sz="950" b="0">
                <a:solidFill>
                  <a:srgbClr val="2B3147"/>
                </a:solidFill>
                <a:latin typeface="Calibri"/>
              </a:rPr>
              <a:t>Site visits gave back June’s paid-driven lift as Meta spend fell 77%, landing just under the roughly 70,000 base the channel held from January through May.</a:t>
            </a:r>
          </a:p>
          <a:p>
            <a:pPr algn="l">
              <a:spcBef>
                <a:spcPts val="600"/>
              </a:spcBef>
            </a:pPr>
            <a:r>
              <a:rPr sz="950" b="0">
                <a:solidFill>
                  <a:srgbClr val="2B3147"/>
                </a:solidFill>
                <a:latin typeface="Calibri"/>
              </a:rPr>
              <a:t>The decline is consistent with the Meta spend reduction, but the GA4 source and medium breakdown is needed to confirm how much came from paid versus unpaid traffic.</a:t>
            </a:r>
          </a:p>
          <a:p>
            <a:pPr algn="l">
              <a:spcBef>
                <a:spcPts val="600"/>
              </a:spcBef>
            </a:pPr>
            <a:r>
              <a:rPr sz="950" b="0">
                <a:solidFill>
                  <a:srgbClr val="2B3147"/>
                </a:solidFill>
                <a:latin typeface="Calibri"/>
              </a:rPr>
              <a:t>GA4 recorded two-thirds (67.2%) of Meta’s reported clicks as site visits, up from about 57% in June.</a:t>
            </a:r>
          </a:p>
        </p:txBody>
      </p:sp>
      <p:sp>
        <p:nvSpPr>
          <p:cNvPr id="34" name="Rectangle 33"/>
          <p:cNvSpPr/>
          <p:nvPr/>
        </p:nvSpPr>
        <p:spPr>
          <a:xfrm>
            <a:off x="6126480" y="3108960"/>
            <a:ext cx="5148072" cy="292608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26480" y="3108960"/>
            <a:ext cx="64008" cy="2926080"/>
          </a:xfrm>
          <a:prstGeom prst="rect">
            <a:avLst/>
          </a:prstGeom>
          <a:solidFill>
            <a:srgbClr val="E9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45936" y="3273552"/>
            <a:ext cx="4745736" cy="274320"/>
          </a:xfrm>
          <a:prstGeom prst="rect">
            <a:avLst/>
          </a:prstGeom>
          <a:noFill/>
        </p:spPr>
        <p:txBody>
          <a:bodyPr wrap="square" anchor="t" lIns="0" rIns="0" tIns="0" bIns="0">
            <a:spAutoFit/>
          </a:bodyPr>
          <a:lstStyle/>
          <a:p>
            <a:pPr algn="l"/>
            <a:r>
              <a:rPr sz="1000" b="1">
                <a:solidFill>
                  <a:srgbClr val="1E2761"/>
                </a:solidFill>
                <a:latin typeface="Georgia"/>
              </a:rPr>
              <a:t>WHAT TO EXPECT</a:t>
            </a:r>
          </a:p>
        </p:txBody>
      </p:sp>
      <p:sp>
        <p:nvSpPr>
          <p:cNvPr id="37" name="TextBox 36"/>
          <p:cNvSpPr txBox="1"/>
          <p:nvPr/>
        </p:nvSpPr>
        <p:spPr>
          <a:xfrm>
            <a:off x="6345936" y="3611880"/>
            <a:ext cx="4745736" cy="2240280"/>
          </a:xfrm>
          <a:prstGeom prst="rect">
            <a:avLst/>
          </a:prstGeom>
          <a:noFill/>
        </p:spPr>
        <p:txBody>
          <a:bodyPr wrap="square" anchor="t" lIns="0" rIns="0" tIns="0" bIns="0">
            <a:spAutoFit/>
          </a:bodyPr>
          <a:lstStyle/>
          <a:p>
            <a:pPr algn="l"/>
            <a:r>
              <a:rPr sz="950" b="0">
                <a:solidFill>
                  <a:srgbClr val="2B3147"/>
                </a:solidFill>
                <a:latin typeface="Calibri"/>
              </a:rPr>
              <a:t>TAKEAWAY: Meta is paused entering August; expect site visits to run lower without Meta’s contribution until delivery resumes.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8229600" cy="320040"/>
          </a:xfrm>
          <a:prstGeom prst="rect">
            <a:avLst/>
          </a:prstGeom>
          <a:noFill/>
        </p:spPr>
        <p:txBody>
          <a:bodyPr wrap="square" anchor="t" lIns="0" rIns="0" tIns="0" bIns="0">
            <a:spAutoFit/>
          </a:bodyPr>
          <a:lstStyle/>
          <a:p>
            <a:pPr algn="l"/>
            <a:r>
              <a:rPr sz="1100" b="1">
                <a:solidFill>
                  <a:srgbClr val="FFFFFF"/>
                </a:solidFill>
                <a:latin typeface="Georgia"/>
              </a:rPr>
              <a:t>APPLICATION FUNNEL  ·  JULY VIEW</a:t>
            </a:r>
          </a:p>
        </p:txBody>
      </p:sp>
      <p:pic>
        <p:nvPicPr>
          <p:cNvPr id="5" name="Picture 4" descr="berelvant_logo.png"/>
          <p:cNvPicPr>
            <a:picLocks noChangeAspect="1"/>
          </p:cNvPicPr>
          <p:nvPr/>
        </p:nvPicPr>
        <p:blipFill>
          <a:blip r:embed="rId2"/>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Submitted applications rose 24.3% to 404 while website sessions fell 41.6%.</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56832"/>
            <a:ext cx="7315200" cy="201168"/>
          </a:xfrm>
          <a:prstGeom prst="rect">
            <a:avLst/>
          </a:prstGeom>
          <a:noFill/>
        </p:spPr>
        <p:txBody>
          <a:bodyPr wrap="square" anchor="t" lIns="0" rIns="0" tIns="0" bIns="0">
            <a:spAutoFit/>
          </a:bodyPr>
          <a:lstStyle/>
          <a:p>
            <a:pPr algn="l"/>
            <a:r>
              <a:rPr sz="800" b="0">
                <a:solidFill>
                  <a:srgbClr val="5A6072"/>
                </a:solidFill>
                <a:latin typeface="Calibri"/>
              </a:rPr>
              <a:t>GCG (US Hispanic)   |   July 2026 Performance Review   |   Berelvant</a:t>
            </a:r>
          </a:p>
        </p:txBody>
      </p:sp>
      <p:sp>
        <p:nvSpPr>
          <p:cNvPr id="9" name="TextBox 8"/>
          <p:cNvSpPr txBox="1"/>
          <p:nvPr/>
        </p:nvSpPr>
        <p:spPr>
          <a:xfrm>
            <a:off x="10820095" y="6656832"/>
            <a:ext cx="914400" cy="201168"/>
          </a:xfrm>
          <a:prstGeom prst="rect">
            <a:avLst/>
          </a:prstGeom>
          <a:noFill/>
        </p:spPr>
        <p:txBody>
          <a:bodyPr wrap="square" anchor="t" lIns="0" rIns="0" tIns="0" bIns="0">
            <a:spAutoFit/>
          </a:bodyPr>
          <a:lstStyle/>
          <a:p>
            <a:pPr algn="r"/>
            <a:r>
              <a:rPr sz="800" b="0">
                <a:solidFill>
                  <a:srgbClr val="5A6072"/>
                </a:solidFill>
                <a:latin typeface="Calibri"/>
              </a:rPr>
              <a:t>13 / 14</a:t>
            </a:r>
          </a:p>
        </p:txBody>
      </p:sp>
      <p:sp>
        <p:nvSpPr>
          <p:cNvPr id="10" name="TextBox 9"/>
          <p:cNvSpPr txBox="1"/>
          <p:nvPr/>
        </p:nvSpPr>
        <p:spPr>
          <a:xfrm>
            <a:off x="457200" y="1572768"/>
            <a:ext cx="11247120" cy="365760"/>
          </a:xfrm>
          <a:prstGeom prst="rect">
            <a:avLst/>
          </a:prstGeom>
          <a:noFill/>
        </p:spPr>
        <p:txBody>
          <a:bodyPr wrap="square" anchor="t" lIns="0" rIns="0" tIns="0" bIns="0">
            <a:spAutoFit/>
          </a:bodyPr>
          <a:lstStyle/>
          <a:p>
            <a:pPr algn="l"/>
            <a:r>
              <a:rPr sz="950" b="0">
                <a:solidFill>
                  <a:srgbClr val="5A6072"/>
                </a:solidFill>
                <a:latin typeface="Calibri"/>
              </a:rPr>
              <a:t>Source: the FOREX.com application funnel export, Website = Forex.com US Spanish, Jan-Jul 2026. This is FOREX.com’s own website view; its session count differs in scope from the GA4 Spanish-audience cut on the prior slide.</a:t>
            </a:r>
          </a:p>
        </p:txBody>
      </p:sp>
      <p:graphicFrame>
        <p:nvGraphicFramePr>
          <p:cNvPr id="11" name="Table 10"/>
          <p:cNvGraphicFramePr>
            <a:graphicFrameLocks noGrp="1"/>
          </p:cNvGraphicFramePr>
          <p:nvPr/>
        </p:nvGraphicFramePr>
        <p:xfrm>
          <a:off x="457200" y="1965960"/>
          <a:ext cx="7315200" cy="3063240"/>
        </p:xfrm>
        <a:graphic>
          <a:graphicData uri="http://schemas.openxmlformats.org/drawingml/2006/table">
            <a:tbl>
              <a:tblPr>
                <a:tableStyleId>{5C22544A-7EE6-4342-B048-85BDC9FD1C3A}</a:tableStyleId>
              </a:tblPr>
              <a:tblGrid>
                <a:gridCol w="2103120"/>
                <a:gridCol w="1828800"/>
                <a:gridCol w="1828800"/>
                <a:gridCol w="1554480"/>
              </a:tblGrid>
              <a:tr h="278476">
                <a:tc>
                  <a:txBody>
                    <a:bodyPr/>
                    <a:lstStyle/>
                    <a:p>
                      <a:pPr algn="l"/>
                      <a:r>
                        <a:rPr sz="850" b="1">
                          <a:solidFill>
                            <a:srgbClr val="FFFFFF"/>
                          </a:solidFill>
                          <a:latin typeface="Calibri"/>
                        </a:rPr>
                        <a:t>Metric</a:t>
                      </a:r>
                    </a:p>
                  </a:txBody>
                  <a:tcPr marL="54864" marR="54864" marT="27432" marB="27432">
                    <a:solidFill>
                      <a:srgbClr val="1E2761"/>
                    </a:solidFill>
                  </a:tcPr>
                </a:tc>
                <a:tc>
                  <a:txBody>
                    <a:bodyPr/>
                    <a:lstStyle/>
                    <a:p>
                      <a:pPr algn="r"/>
                      <a:r>
                        <a:rPr sz="850" b="1">
                          <a:solidFill>
                            <a:srgbClr val="FFFFFF"/>
                          </a:solidFill>
                          <a:latin typeface="Calibri"/>
                        </a:rPr>
                        <a:t>Q1 (Jan-Mar)</a:t>
                      </a:r>
                    </a:p>
                  </a:txBody>
                  <a:tcPr marL="54864" marR="54864" marT="27432" marB="27432">
                    <a:solidFill>
                      <a:srgbClr val="1E2761"/>
                    </a:solidFill>
                  </a:tcPr>
                </a:tc>
                <a:tc>
                  <a:txBody>
                    <a:bodyPr/>
                    <a:lstStyle/>
                    <a:p>
                      <a:pPr algn="r"/>
                      <a:r>
                        <a:rPr sz="850" b="1">
                          <a:solidFill>
                            <a:srgbClr val="FFFFFF"/>
                          </a:solidFill>
                          <a:latin typeface="Calibri"/>
                        </a:rPr>
                        <a:t>Q2 (Apr-Jun)</a:t>
                      </a:r>
                    </a:p>
                  </a:txBody>
                  <a:tcPr marL="54864" marR="54864" marT="27432" marB="27432">
                    <a:solidFill>
                      <a:srgbClr val="1E2761"/>
                    </a:solidFill>
                  </a:tcPr>
                </a:tc>
                <a:tc>
                  <a:txBody>
                    <a:bodyPr/>
                    <a:lstStyle/>
                    <a:p>
                      <a:pPr algn="r"/>
                      <a:r>
                        <a:rPr sz="850" b="1">
                          <a:solidFill>
                            <a:srgbClr val="FFFFFF"/>
                          </a:solidFill>
                          <a:latin typeface="Calibri"/>
                        </a:rPr>
                        <a:t>July</a:t>
                      </a:r>
                    </a:p>
                  </a:txBody>
                  <a:tcPr marL="54864" marR="54864" marT="27432" marB="27432">
                    <a:solidFill>
                      <a:srgbClr val="1E2761"/>
                    </a:solidFill>
                  </a:tcPr>
                </a:tc>
              </a:tr>
              <a:tr h="278476">
                <a:tc>
                  <a:txBody>
                    <a:bodyPr/>
                    <a:lstStyle/>
                    <a:p>
                      <a:pPr algn="l"/>
                      <a:r>
                        <a:rPr sz="850" b="1">
                          <a:solidFill>
                            <a:srgbClr val="2B3147"/>
                          </a:solidFill>
                          <a:latin typeface="Calibri"/>
                        </a:rPr>
                        <a:t>Unique Sessions</a:t>
                      </a:r>
                    </a:p>
                  </a:txBody>
                  <a:tcPr marL="54864" marR="54864" marT="27432" marB="27432">
                    <a:solidFill>
                      <a:srgbClr val="FFFFFF"/>
                    </a:solidFill>
                  </a:tcPr>
                </a:tc>
                <a:tc>
                  <a:txBody>
                    <a:bodyPr/>
                    <a:lstStyle/>
                    <a:p>
                      <a:pPr algn="r"/>
                      <a:r>
                        <a:rPr sz="850" b="0">
                          <a:solidFill>
                            <a:srgbClr val="2B3147"/>
                          </a:solidFill>
                          <a:latin typeface="Calibri"/>
                        </a:rPr>
                        <a:t>41,047</a:t>
                      </a:r>
                    </a:p>
                  </a:txBody>
                  <a:tcPr marL="54864" marR="54864" marT="27432" marB="27432">
                    <a:solidFill>
                      <a:srgbClr val="FFFFFF"/>
                    </a:solidFill>
                  </a:tcPr>
                </a:tc>
                <a:tc>
                  <a:txBody>
                    <a:bodyPr/>
                    <a:lstStyle/>
                    <a:p>
                      <a:pPr algn="r"/>
                      <a:r>
                        <a:rPr sz="850" b="0">
                          <a:solidFill>
                            <a:srgbClr val="2B3147"/>
                          </a:solidFill>
                          <a:latin typeface="Calibri"/>
                        </a:rPr>
                        <a:t>162,874</a:t>
                      </a:r>
                    </a:p>
                  </a:txBody>
                  <a:tcPr marL="54864" marR="54864" marT="27432" marB="27432">
                    <a:solidFill>
                      <a:srgbClr val="FFFFFF"/>
                    </a:solidFill>
                  </a:tcPr>
                </a:tc>
                <a:tc>
                  <a:txBody>
                    <a:bodyPr/>
                    <a:lstStyle/>
                    <a:p>
                      <a:pPr algn="r"/>
                      <a:r>
                        <a:rPr sz="850" b="0">
                          <a:solidFill>
                            <a:srgbClr val="2B3147"/>
                          </a:solidFill>
                          <a:latin typeface="Calibri"/>
                        </a:rPr>
                        <a:t>39,446</a:t>
                      </a:r>
                    </a:p>
                  </a:txBody>
                  <a:tcPr marL="54864" marR="54864" marT="27432" marB="27432">
                    <a:solidFill>
                      <a:srgbClr val="FFFFFF"/>
                    </a:solidFill>
                  </a:tcPr>
                </a:tc>
              </a:tr>
              <a:tr h="278476">
                <a:tc>
                  <a:txBody>
                    <a:bodyPr/>
                    <a:lstStyle/>
                    <a:p>
                      <a:pPr algn="l"/>
                      <a:r>
                        <a:rPr sz="850" b="1">
                          <a:solidFill>
                            <a:srgbClr val="2B3147"/>
                          </a:solidFill>
                          <a:latin typeface="Calibri"/>
                        </a:rPr>
                        <a:t>App Starts</a:t>
                      </a:r>
                    </a:p>
                  </a:txBody>
                  <a:tcPr marL="54864" marR="54864" marT="27432" marB="27432">
                    <a:solidFill>
                      <a:srgbClr val="F9FAFC"/>
                    </a:solidFill>
                  </a:tcPr>
                </a:tc>
                <a:tc>
                  <a:txBody>
                    <a:bodyPr/>
                    <a:lstStyle/>
                    <a:p>
                      <a:pPr algn="r"/>
                      <a:r>
                        <a:rPr sz="850" b="0">
                          <a:solidFill>
                            <a:srgbClr val="2B3147"/>
                          </a:solidFill>
                          <a:latin typeface="Calibri"/>
                        </a:rPr>
                        <a:t>6,997</a:t>
                      </a:r>
                    </a:p>
                  </a:txBody>
                  <a:tcPr marL="54864" marR="54864" marT="27432" marB="27432">
                    <a:solidFill>
                      <a:srgbClr val="F9FAFC"/>
                    </a:solidFill>
                  </a:tcPr>
                </a:tc>
                <a:tc>
                  <a:txBody>
                    <a:bodyPr/>
                    <a:lstStyle/>
                    <a:p>
                      <a:pPr algn="r"/>
                      <a:r>
                        <a:rPr sz="850" b="0">
                          <a:solidFill>
                            <a:srgbClr val="2B3147"/>
                          </a:solidFill>
                          <a:latin typeface="Calibri"/>
                        </a:rPr>
                        <a:t>7,977</a:t>
                      </a:r>
                    </a:p>
                  </a:txBody>
                  <a:tcPr marL="54864" marR="54864" marT="27432" marB="27432">
                    <a:solidFill>
                      <a:srgbClr val="F9FAFC"/>
                    </a:solidFill>
                  </a:tcPr>
                </a:tc>
                <a:tc>
                  <a:txBody>
                    <a:bodyPr/>
                    <a:lstStyle/>
                    <a:p>
                      <a:pPr algn="r"/>
                      <a:r>
                        <a:rPr sz="850" b="0">
                          <a:solidFill>
                            <a:srgbClr val="2B3147"/>
                          </a:solidFill>
                          <a:latin typeface="Calibri"/>
                        </a:rPr>
                        <a:t>2,970</a:t>
                      </a:r>
                    </a:p>
                  </a:txBody>
                  <a:tcPr marL="54864" marR="54864" marT="27432" marB="27432">
                    <a:solidFill>
                      <a:srgbClr val="F9FAFC"/>
                    </a:solidFill>
                  </a:tcPr>
                </a:tc>
              </a:tr>
              <a:tr h="278476">
                <a:tc>
                  <a:txBody>
                    <a:bodyPr/>
                    <a:lstStyle/>
                    <a:p>
                      <a:pPr algn="l"/>
                      <a:r>
                        <a:rPr sz="850" b="1">
                          <a:solidFill>
                            <a:srgbClr val="2B3147"/>
                          </a:solidFill>
                          <a:latin typeface="Calibri"/>
                        </a:rPr>
                        <a:t>App Start Rate</a:t>
                      </a:r>
                    </a:p>
                  </a:txBody>
                  <a:tcPr marL="54864" marR="54864" marT="27432" marB="27432">
                    <a:solidFill>
                      <a:srgbClr val="FFFFFF"/>
                    </a:solidFill>
                  </a:tcPr>
                </a:tc>
                <a:tc>
                  <a:txBody>
                    <a:bodyPr/>
                    <a:lstStyle/>
                    <a:p>
                      <a:pPr algn="r"/>
                      <a:r>
                        <a:rPr sz="850" b="0">
                          <a:solidFill>
                            <a:srgbClr val="2B3147"/>
                          </a:solidFill>
                          <a:latin typeface="Calibri"/>
                        </a:rPr>
                        <a:t>17.0%</a:t>
                      </a:r>
                    </a:p>
                  </a:txBody>
                  <a:tcPr marL="54864" marR="54864" marT="27432" marB="27432">
                    <a:solidFill>
                      <a:srgbClr val="FFFFFF"/>
                    </a:solidFill>
                  </a:tcPr>
                </a:tc>
                <a:tc>
                  <a:txBody>
                    <a:bodyPr/>
                    <a:lstStyle/>
                    <a:p>
                      <a:pPr algn="r"/>
                      <a:r>
                        <a:rPr sz="850" b="0">
                          <a:solidFill>
                            <a:srgbClr val="2B3147"/>
                          </a:solidFill>
                          <a:latin typeface="Calibri"/>
                        </a:rPr>
                        <a:t>4.9%</a:t>
                      </a:r>
                    </a:p>
                  </a:txBody>
                  <a:tcPr marL="54864" marR="54864" marT="27432" marB="27432">
                    <a:solidFill>
                      <a:srgbClr val="FFFFFF"/>
                    </a:solidFill>
                  </a:tcPr>
                </a:tc>
                <a:tc>
                  <a:txBody>
                    <a:bodyPr/>
                    <a:lstStyle/>
                    <a:p>
                      <a:pPr algn="r"/>
                      <a:r>
                        <a:rPr sz="850" b="0">
                          <a:solidFill>
                            <a:srgbClr val="2B3147"/>
                          </a:solidFill>
                          <a:latin typeface="Calibri"/>
                        </a:rPr>
                        <a:t>7.5%</a:t>
                      </a:r>
                    </a:p>
                  </a:txBody>
                  <a:tcPr marL="54864" marR="54864" marT="27432" marB="27432">
                    <a:solidFill>
                      <a:srgbClr val="FFFFFF"/>
                    </a:solidFill>
                  </a:tcPr>
                </a:tc>
              </a:tr>
              <a:tr h="278476">
                <a:tc>
                  <a:txBody>
                    <a:bodyPr/>
                    <a:lstStyle/>
                    <a:p>
                      <a:pPr algn="l"/>
                      <a:r>
                        <a:rPr sz="850" b="1">
                          <a:solidFill>
                            <a:srgbClr val="2B3147"/>
                          </a:solidFill>
                          <a:latin typeface="Calibri"/>
                        </a:rPr>
                        <a:t>Submitted</a:t>
                      </a:r>
                    </a:p>
                  </a:txBody>
                  <a:tcPr marL="54864" marR="54864" marT="27432" marB="27432">
                    <a:solidFill>
                      <a:srgbClr val="F9FAFC"/>
                    </a:solidFill>
                  </a:tcPr>
                </a:tc>
                <a:tc>
                  <a:txBody>
                    <a:bodyPr/>
                    <a:lstStyle/>
                    <a:p>
                      <a:pPr algn="r"/>
                      <a:r>
                        <a:rPr sz="850" b="0">
                          <a:solidFill>
                            <a:srgbClr val="2B3147"/>
                          </a:solidFill>
                          <a:latin typeface="Calibri"/>
                        </a:rPr>
                        <a:t>1,204</a:t>
                      </a:r>
                    </a:p>
                  </a:txBody>
                  <a:tcPr marL="54864" marR="54864" marT="27432" marB="27432">
                    <a:solidFill>
                      <a:srgbClr val="F9FAFC"/>
                    </a:solidFill>
                  </a:tcPr>
                </a:tc>
                <a:tc>
                  <a:txBody>
                    <a:bodyPr/>
                    <a:lstStyle/>
                    <a:p>
                      <a:pPr algn="r"/>
                      <a:r>
                        <a:rPr sz="850" b="0">
                          <a:solidFill>
                            <a:srgbClr val="2B3147"/>
                          </a:solidFill>
                          <a:latin typeface="Calibri"/>
                        </a:rPr>
                        <a:t>1,036</a:t>
                      </a:r>
                    </a:p>
                  </a:txBody>
                  <a:tcPr marL="54864" marR="54864" marT="27432" marB="27432">
                    <a:solidFill>
                      <a:srgbClr val="F9FAFC"/>
                    </a:solidFill>
                  </a:tcPr>
                </a:tc>
                <a:tc>
                  <a:txBody>
                    <a:bodyPr/>
                    <a:lstStyle/>
                    <a:p>
                      <a:pPr algn="r"/>
                      <a:r>
                        <a:rPr sz="850" b="0">
                          <a:solidFill>
                            <a:srgbClr val="2B3147"/>
                          </a:solidFill>
                          <a:latin typeface="Calibri"/>
                        </a:rPr>
                        <a:t>404</a:t>
                      </a:r>
                    </a:p>
                  </a:txBody>
                  <a:tcPr marL="54864" marR="54864" marT="27432" marB="27432">
                    <a:solidFill>
                      <a:srgbClr val="F9FAFC"/>
                    </a:solidFill>
                  </a:tcPr>
                </a:tc>
              </a:tr>
              <a:tr h="278476">
                <a:tc>
                  <a:txBody>
                    <a:bodyPr/>
                    <a:lstStyle/>
                    <a:p>
                      <a:pPr algn="l"/>
                      <a:r>
                        <a:rPr sz="850" b="1">
                          <a:solidFill>
                            <a:srgbClr val="2B3147"/>
                          </a:solidFill>
                          <a:latin typeface="Calibri"/>
                        </a:rPr>
                        <a:t>Live</a:t>
                      </a:r>
                    </a:p>
                  </a:txBody>
                  <a:tcPr marL="54864" marR="54864" marT="27432" marB="27432">
                    <a:solidFill>
                      <a:srgbClr val="FFFFFF"/>
                    </a:solidFill>
                  </a:tcPr>
                </a:tc>
                <a:tc>
                  <a:txBody>
                    <a:bodyPr/>
                    <a:lstStyle/>
                    <a:p>
                      <a:pPr algn="r"/>
                      <a:r>
                        <a:rPr sz="850" b="0">
                          <a:solidFill>
                            <a:srgbClr val="2B3147"/>
                          </a:solidFill>
                          <a:latin typeface="Calibri"/>
                        </a:rPr>
                        <a:t>1,166</a:t>
                      </a:r>
                    </a:p>
                  </a:txBody>
                  <a:tcPr marL="54864" marR="54864" marT="27432" marB="27432">
                    <a:solidFill>
                      <a:srgbClr val="FFFFFF"/>
                    </a:solidFill>
                  </a:tcPr>
                </a:tc>
                <a:tc>
                  <a:txBody>
                    <a:bodyPr/>
                    <a:lstStyle/>
                    <a:p>
                      <a:pPr algn="r"/>
                      <a:r>
                        <a:rPr sz="850" b="0">
                          <a:solidFill>
                            <a:srgbClr val="2B3147"/>
                          </a:solidFill>
                          <a:latin typeface="Calibri"/>
                        </a:rPr>
                        <a:t>996</a:t>
                      </a:r>
                    </a:p>
                  </a:txBody>
                  <a:tcPr marL="54864" marR="54864" marT="27432" marB="27432">
                    <a:solidFill>
                      <a:srgbClr val="FFFFFF"/>
                    </a:solidFill>
                  </a:tcPr>
                </a:tc>
                <a:tc>
                  <a:txBody>
                    <a:bodyPr/>
                    <a:lstStyle/>
                    <a:p>
                      <a:pPr algn="r"/>
                      <a:r>
                        <a:rPr sz="850" b="0">
                          <a:solidFill>
                            <a:srgbClr val="2B3147"/>
                          </a:solidFill>
                          <a:latin typeface="Calibri"/>
                        </a:rPr>
                        <a:t>389</a:t>
                      </a:r>
                    </a:p>
                  </a:txBody>
                  <a:tcPr marL="54864" marR="54864" marT="27432" marB="27432">
                    <a:solidFill>
                      <a:srgbClr val="FFFFFF"/>
                    </a:solidFill>
                  </a:tcPr>
                </a:tc>
              </a:tr>
              <a:tr h="278476">
                <a:tc>
                  <a:txBody>
                    <a:bodyPr/>
                    <a:lstStyle/>
                    <a:p>
                      <a:pPr algn="l"/>
                      <a:r>
                        <a:rPr sz="850" b="1">
                          <a:solidFill>
                            <a:srgbClr val="2B3147"/>
                          </a:solidFill>
                          <a:latin typeface="Calibri"/>
                        </a:rPr>
                        <a:t>Approved</a:t>
                      </a:r>
                    </a:p>
                  </a:txBody>
                  <a:tcPr marL="54864" marR="54864" marT="27432" marB="27432">
                    <a:solidFill>
                      <a:srgbClr val="F9FAFC"/>
                    </a:solidFill>
                  </a:tcPr>
                </a:tc>
                <a:tc>
                  <a:txBody>
                    <a:bodyPr/>
                    <a:lstStyle/>
                    <a:p>
                      <a:pPr algn="r"/>
                      <a:r>
                        <a:rPr sz="850" b="0">
                          <a:solidFill>
                            <a:srgbClr val="2B3147"/>
                          </a:solidFill>
                          <a:latin typeface="Calibri"/>
                        </a:rPr>
                        <a:t>525</a:t>
                      </a:r>
                    </a:p>
                  </a:txBody>
                  <a:tcPr marL="54864" marR="54864" marT="27432" marB="27432">
                    <a:solidFill>
                      <a:srgbClr val="F9FAFC"/>
                    </a:solidFill>
                  </a:tcPr>
                </a:tc>
                <a:tc>
                  <a:txBody>
                    <a:bodyPr/>
                    <a:lstStyle/>
                    <a:p>
                      <a:pPr algn="r"/>
                      <a:r>
                        <a:rPr sz="850" b="0">
                          <a:solidFill>
                            <a:srgbClr val="2B3147"/>
                          </a:solidFill>
                          <a:latin typeface="Calibri"/>
                        </a:rPr>
                        <a:t>475</a:t>
                      </a:r>
                    </a:p>
                  </a:txBody>
                  <a:tcPr marL="54864" marR="54864" marT="27432" marB="27432">
                    <a:solidFill>
                      <a:srgbClr val="F9FAFC"/>
                    </a:solidFill>
                  </a:tcPr>
                </a:tc>
                <a:tc>
                  <a:txBody>
                    <a:bodyPr/>
                    <a:lstStyle/>
                    <a:p>
                      <a:pPr algn="r"/>
                      <a:r>
                        <a:rPr sz="850" b="0">
                          <a:solidFill>
                            <a:srgbClr val="2B3147"/>
                          </a:solidFill>
                          <a:latin typeface="Calibri"/>
                        </a:rPr>
                        <a:t>162</a:t>
                      </a:r>
                    </a:p>
                  </a:txBody>
                  <a:tcPr marL="54864" marR="54864" marT="27432" marB="27432">
                    <a:solidFill>
                      <a:srgbClr val="F9FAFC"/>
                    </a:solidFill>
                  </a:tcPr>
                </a:tc>
              </a:tr>
              <a:tr h="278476">
                <a:tc>
                  <a:txBody>
                    <a:bodyPr/>
                    <a:lstStyle/>
                    <a:p>
                      <a:pPr algn="l"/>
                      <a:r>
                        <a:rPr sz="850" b="1">
                          <a:solidFill>
                            <a:srgbClr val="2B3147"/>
                          </a:solidFill>
                          <a:latin typeface="Calibri"/>
                        </a:rPr>
                        <a:t>Approved Rate</a:t>
                      </a:r>
                    </a:p>
                  </a:txBody>
                  <a:tcPr marL="54864" marR="54864" marT="27432" marB="27432">
                    <a:solidFill>
                      <a:srgbClr val="FFFFFF"/>
                    </a:solidFill>
                  </a:tcPr>
                </a:tc>
                <a:tc>
                  <a:txBody>
                    <a:bodyPr/>
                    <a:lstStyle/>
                    <a:p>
                      <a:pPr algn="r"/>
                      <a:r>
                        <a:rPr sz="850" b="0">
                          <a:solidFill>
                            <a:srgbClr val="2B3147"/>
                          </a:solidFill>
                          <a:latin typeface="Calibri"/>
                        </a:rPr>
                        <a:t>43.6%</a:t>
                      </a:r>
                    </a:p>
                  </a:txBody>
                  <a:tcPr marL="54864" marR="54864" marT="27432" marB="27432">
                    <a:solidFill>
                      <a:srgbClr val="FFFFFF"/>
                    </a:solidFill>
                  </a:tcPr>
                </a:tc>
                <a:tc>
                  <a:txBody>
                    <a:bodyPr/>
                    <a:lstStyle/>
                    <a:p>
                      <a:pPr algn="r"/>
                      <a:r>
                        <a:rPr sz="850" b="0">
                          <a:solidFill>
                            <a:srgbClr val="2B3147"/>
                          </a:solidFill>
                          <a:latin typeface="Calibri"/>
                        </a:rPr>
                        <a:t>45.8%</a:t>
                      </a:r>
                    </a:p>
                  </a:txBody>
                  <a:tcPr marL="54864" marR="54864" marT="27432" marB="27432">
                    <a:solidFill>
                      <a:srgbClr val="FFFFFF"/>
                    </a:solidFill>
                  </a:tcPr>
                </a:tc>
                <a:tc>
                  <a:txBody>
                    <a:bodyPr/>
                    <a:lstStyle/>
                    <a:p>
                      <a:pPr algn="r"/>
                      <a:r>
                        <a:rPr sz="850" b="0">
                          <a:solidFill>
                            <a:srgbClr val="2B3147"/>
                          </a:solidFill>
                          <a:latin typeface="Calibri"/>
                        </a:rPr>
                        <a:t>40.1%</a:t>
                      </a:r>
                    </a:p>
                  </a:txBody>
                  <a:tcPr marL="54864" marR="54864" marT="27432" marB="27432">
                    <a:solidFill>
                      <a:srgbClr val="FFFFFF"/>
                    </a:solidFill>
                  </a:tcPr>
                </a:tc>
              </a:tr>
              <a:tr h="278476">
                <a:tc>
                  <a:txBody>
                    <a:bodyPr/>
                    <a:lstStyle/>
                    <a:p>
                      <a:pPr algn="l"/>
                      <a:r>
                        <a:rPr sz="850" b="1">
                          <a:solidFill>
                            <a:srgbClr val="2B3147"/>
                          </a:solidFill>
                          <a:latin typeface="Calibri"/>
                        </a:rPr>
                        <a:t>Funded</a:t>
                      </a:r>
                    </a:p>
                  </a:txBody>
                  <a:tcPr marL="54864" marR="54864" marT="27432" marB="27432">
                    <a:solidFill>
                      <a:srgbClr val="F9FAFC"/>
                    </a:solidFill>
                  </a:tcPr>
                </a:tc>
                <a:tc>
                  <a:txBody>
                    <a:bodyPr/>
                    <a:lstStyle/>
                    <a:p>
                      <a:pPr algn="r"/>
                      <a:r>
                        <a:rPr sz="850" b="0">
                          <a:solidFill>
                            <a:srgbClr val="2B3147"/>
                          </a:solidFill>
                          <a:latin typeface="Calibri"/>
                        </a:rPr>
                        <a:t>153</a:t>
                      </a:r>
                    </a:p>
                  </a:txBody>
                  <a:tcPr marL="54864" marR="54864" marT="27432" marB="27432">
                    <a:solidFill>
                      <a:srgbClr val="F9FAFC"/>
                    </a:solidFill>
                  </a:tcPr>
                </a:tc>
                <a:tc>
                  <a:txBody>
                    <a:bodyPr/>
                    <a:lstStyle/>
                    <a:p>
                      <a:pPr algn="r"/>
                      <a:r>
                        <a:rPr sz="850" b="0">
                          <a:solidFill>
                            <a:srgbClr val="2B3147"/>
                          </a:solidFill>
                          <a:latin typeface="Calibri"/>
                        </a:rPr>
                        <a:t>164</a:t>
                      </a:r>
                    </a:p>
                  </a:txBody>
                  <a:tcPr marL="54864" marR="54864" marT="27432" marB="27432">
                    <a:solidFill>
                      <a:srgbClr val="F9FAFC"/>
                    </a:solidFill>
                  </a:tcPr>
                </a:tc>
                <a:tc>
                  <a:txBody>
                    <a:bodyPr/>
                    <a:lstStyle/>
                    <a:p>
                      <a:pPr algn="r"/>
                      <a:r>
                        <a:rPr sz="850" b="0">
                          <a:solidFill>
                            <a:srgbClr val="2B3147"/>
                          </a:solidFill>
                          <a:latin typeface="Calibri"/>
                        </a:rPr>
                        <a:t>32</a:t>
                      </a:r>
                    </a:p>
                  </a:txBody>
                  <a:tcPr marL="54864" marR="54864" marT="27432" marB="27432">
                    <a:solidFill>
                      <a:srgbClr val="F9FAFC"/>
                    </a:solidFill>
                  </a:tcPr>
                </a:tc>
              </a:tr>
              <a:tr h="278476">
                <a:tc>
                  <a:txBody>
                    <a:bodyPr/>
                    <a:lstStyle/>
                    <a:p>
                      <a:pPr algn="l"/>
                      <a:r>
                        <a:rPr sz="850" b="1">
                          <a:solidFill>
                            <a:srgbClr val="2B3147"/>
                          </a:solidFill>
                          <a:latin typeface="Calibri"/>
                        </a:rPr>
                        <a:t>Funded Rate</a:t>
                      </a:r>
                    </a:p>
                  </a:txBody>
                  <a:tcPr marL="54864" marR="54864" marT="27432" marB="27432">
                    <a:solidFill>
                      <a:srgbClr val="FFFFFF"/>
                    </a:solidFill>
                  </a:tcPr>
                </a:tc>
                <a:tc>
                  <a:txBody>
                    <a:bodyPr/>
                    <a:lstStyle/>
                    <a:p>
                      <a:pPr algn="r"/>
                      <a:r>
                        <a:rPr sz="850" b="0">
                          <a:solidFill>
                            <a:srgbClr val="2B3147"/>
                          </a:solidFill>
                          <a:latin typeface="Calibri"/>
                        </a:rPr>
                        <a:t>29.1%</a:t>
                      </a:r>
                    </a:p>
                  </a:txBody>
                  <a:tcPr marL="54864" marR="54864" marT="27432" marB="27432">
                    <a:solidFill>
                      <a:srgbClr val="FFFFFF"/>
                    </a:solidFill>
                  </a:tcPr>
                </a:tc>
                <a:tc>
                  <a:txBody>
                    <a:bodyPr/>
                    <a:lstStyle/>
                    <a:p>
                      <a:pPr algn="r"/>
                      <a:r>
                        <a:rPr sz="850" b="0">
                          <a:solidFill>
                            <a:srgbClr val="2B3147"/>
                          </a:solidFill>
                          <a:latin typeface="Calibri"/>
                        </a:rPr>
                        <a:t>34.5%</a:t>
                      </a:r>
                    </a:p>
                  </a:txBody>
                  <a:tcPr marL="54864" marR="54864" marT="27432" marB="27432">
                    <a:solidFill>
                      <a:srgbClr val="FFFFFF"/>
                    </a:solidFill>
                  </a:tcPr>
                </a:tc>
                <a:tc>
                  <a:txBody>
                    <a:bodyPr/>
                    <a:lstStyle/>
                    <a:p>
                      <a:pPr algn="r"/>
                      <a:r>
                        <a:rPr sz="850" b="0">
                          <a:solidFill>
                            <a:srgbClr val="2B3147"/>
                          </a:solidFill>
                          <a:latin typeface="Calibri"/>
                        </a:rPr>
                        <a:t>19.8%</a:t>
                      </a:r>
                    </a:p>
                  </a:txBody>
                  <a:tcPr marL="54864" marR="54864" marT="27432" marB="27432">
                    <a:solidFill>
                      <a:srgbClr val="FFFFFF"/>
                    </a:solidFill>
                  </a:tcPr>
                </a:tc>
              </a:tr>
              <a:tr h="278480">
                <a:tc>
                  <a:txBody>
                    <a:bodyPr/>
                    <a:lstStyle/>
                    <a:p>
                      <a:pPr algn="l"/>
                      <a:r>
                        <a:rPr sz="850" b="1">
                          <a:solidFill>
                            <a:srgbClr val="2B3147"/>
                          </a:solidFill>
                          <a:latin typeface="Calibri"/>
                        </a:rPr>
                        <a:t>Traded</a:t>
                      </a:r>
                    </a:p>
                  </a:txBody>
                  <a:tcPr marL="54864" marR="54864" marT="27432" marB="27432">
                    <a:solidFill>
                      <a:srgbClr val="F9FAFC"/>
                    </a:solidFill>
                  </a:tcPr>
                </a:tc>
                <a:tc>
                  <a:txBody>
                    <a:bodyPr/>
                    <a:lstStyle/>
                    <a:p>
                      <a:pPr algn="r"/>
                      <a:r>
                        <a:rPr sz="850" b="0">
                          <a:solidFill>
                            <a:srgbClr val="2B3147"/>
                          </a:solidFill>
                          <a:latin typeface="Calibri"/>
                        </a:rPr>
                        <a:t>124</a:t>
                      </a:r>
                    </a:p>
                  </a:txBody>
                  <a:tcPr marL="54864" marR="54864" marT="27432" marB="27432">
                    <a:solidFill>
                      <a:srgbClr val="F9FAFC"/>
                    </a:solidFill>
                  </a:tcPr>
                </a:tc>
                <a:tc>
                  <a:txBody>
                    <a:bodyPr/>
                    <a:lstStyle/>
                    <a:p>
                      <a:pPr algn="r"/>
                      <a:r>
                        <a:rPr sz="850" b="0">
                          <a:solidFill>
                            <a:srgbClr val="2B3147"/>
                          </a:solidFill>
                          <a:latin typeface="Calibri"/>
                        </a:rPr>
                        <a:t>132</a:t>
                      </a:r>
                    </a:p>
                  </a:txBody>
                  <a:tcPr marL="54864" marR="54864" marT="27432" marB="27432">
                    <a:solidFill>
                      <a:srgbClr val="F9FAFC"/>
                    </a:solidFill>
                  </a:tcPr>
                </a:tc>
                <a:tc>
                  <a:txBody>
                    <a:bodyPr/>
                    <a:lstStyle/>
                    <a:p>
                      <a:pPr algn="r"/>
                      <a:r>
                        <a:rPr sz="850" b="0">
                          <a:solidFill>
                            <a:srgbClr val="2B3147"/>
                          </a:solidFill>
                          <a:latin typeface="Calibri"/>
                        </a:rPr>
                        <a:t>24</a:t>
                      </a:r>
                    </a:p>
                  </a:txBody>
                  <a:tcPr marL="54864" marR="54864" marT="27432" marB="27432">
                    <a:solidFill>
                      <a:srgbClr val="F9FAFC"/>
                    </a:solidFill>
                  </a:tcPr>
                </a:tc>
              </a:tr>
            </a:tbl>
          </a:graphicData>
        </a:graphic>
      </p:graphicFrame>
      <p:sp>
        <p:nvSpPr>
          <p:cNvPr id="12" name="Rectangle 11"/>
          <p:cNvSpPr/>
          <p:nvPr/>
        </p:nvSpPr>
        <p:spPr>
          <a:xfrm>
            <a:off x="7955279" y="1965960"/>
            <a:ext cx="3319272" cy="30632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55279" y="1965960"/>
            <a:ext cx="64008" cy="306324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74736" y="2130552"/>
            <a:ext cx="2916936" cy="274320"/>
          </a:xfrm>
          <a:prstGeom prst="rect">
            <a:avLst/>
          </a:prstGeom>
          <a:noFill/>
        </p:spPr>
        <p:txBody>
          <a:bodyPr wrap="square" anchor="t" lIns="0" rIns="0" tIns="0" bIns="0">
            <a:spAutoFit/>
          </a:bodyPr>
          <a:lstStyle/>
          <a:p>
            <a:pPr algn="l"/>
            <a:r>
              <a:rPr sz="1000" b="1">
                <a:solidFill>
                  <a:srgbClr val="1E2761"/>
                </a:solidFill>
                <a:latin typeface="Georgia"/>
              </a:rPr>
              <a:t>TOP OF FUNNEL</a:t>
            </a:r>
          </a:p>
        </p:txBody>
      </p:sp>
      <p:sp>
        <p:nvSpPr>
          <p:cNvPr id="15" name="TextBox 14"/>
          <p:cNvSpPr txBox="1"/>
          <p:nvPr/>
        </p:nvSpPr>
        <p:spPr>
          <a:xfrm>
            <a:off x="8174736" y="2468880"/>
            <a:ext cx="2916936" cy="2377440"/>
          </a:xfrm>
          <a:prstGeom prst="rect">
            <a:avLst/>
          </a:prstGeom>
          <a:noFill/>
        </p:spPr>
        <p:txBody>
          <a:bodyPr wrap="square" anchor="t" lIns="0" rIns="0" tIns="0" bIns="0">
            <a:spAutoFit/>
          </a:bodyPr>
          <a:lstStyle/>
          <a:p>
            <a:pPr algn="l"/>
            <a:r>
              <a:rPr sz="950" b="0">
                <a:solidFill>
                  <a:srgbClr val="2B3147"/>
                </a:solidFill>
                <a:latin typeface="Calibri"/>
              </a:rPr>
              <a:t>June to July: submitted applications 325 to 404, sessions 67,545 to 39,446.</a:t>
            </a:r>
          </a:p>
          <a:p>
            <a:pPr algn="l">
              <a:spcBef>
                <a:spcPts val="600"/>
              </a:spcBef>
            </a:pPr>
            <a:r>
              <a:rPr sz="950" b="0">
                <a:solidFill>
                  <a:srgbClr val="2B3147"/>
                </a:solidFill>
                <a:latin typeface="Calibri"/>
              </a:rPr>
              <a:t>The application-start rate doubled to 7.5% of sessions, from June’s 3.8%, on far fewer sessions.</a:t>
            </a:r>
          </a:p>
          <a:p>
            <a:pPr algn="l">
              <a:spcBef>
                <a:spcPts val="600"/>
              </a:spcBef>
            </a:pPr>
            <a:r>
              <a:rPr sz="950" b="0">
                <a:solidFill>
                  <a:srgbClr val="2B3147"/>
                </a:solidFill>
                <a:latin typeface="Calibri"/>
              </a:rPr>
              <a:t>Live applications reached 389, up 25.9% from June’s 309, in step with submissions.</a:t>
            </a:r>
          </a:p>
        </p:txBody>
      </p:sp>
      <p:sp>
        <p:nvSpPr>
          <p:cNvPr id="16" name="Rectangle 15"/>
          <p:cNvSpPr/>
          <p:nvPr/>
        </p:nvSpPr>
        <p:spPr>
          <a:xfrm>
            <a:off x="457200" y="5074920"/>
            <a:ext cx="11274552" cy="141732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5074920"/>
            <a:ext cx="64008" cy="1417320"/>
          </a:xfrm>
          <a:prstGeom prst="rect">
            <a:avLst/>
          </a:prstGeom>
          <a:solidFill>
            <a:srgbClr val="0F1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 y="5239512"/>
            <a:ext cx="10872216" cy="274320"/>
          </a:xfrm>
          <a:prstGeom prst="rect">
            <a:avLst/>
          </a:prstGeom>
          <a:noFill/>
        </p:spPr>
        <p:txBody>
          <a:bodyPr wrap="square" anchor="t" lIns="0" rIns="0" tIns="0" bIns="0">
            <a:spAutoFit/>
          </a:bodyPr>
          <a:lstStyle/>
          <a:p>
            <a:pPr algn="l"/>
            <a:r>
              <a:rPr sz="1000" b="1">
                <a:solidFill>
                  <a:srgbClr val="1E2761"/>
                </a:solidFill>
                <a:latin typeface="Georgia"/>
              </a:rPr>
              <a:t>AFTER SUBMISSION: REVIEW AND ACTIVATION</a:t>
            </a:r>
          </a:p>
        </p:txBody>
      </p:sp>
      <p:sp>
        <p:nvSpPr>
          <p:cNvPr id="19" name="TextBox 18"/>
          <p:cNvSpPr txBox="1"/>
          <p:nvPr/>
        </p:nvSpPr>
        <p:spPr>
          <a:xfrm>
            <a:off x="676656" y="5577840"/>
            <a:ext cx="10872216" cy="731520"/>
          </a:xfrm>
          <a:prstGeom prst="rect">
            <a:avLst/>
          </a:prstGeom>
          <a:noFill/>
        </p:spPr>
        <p:txBody>
          <a:bodyPr wrap="square" anchor="t" lIns="0" rIns="0" tIns="0" bIns="0">
            <a:spAutoFit/>
          </a:bodyPr>
          <a:lstStyle/>
          <a:p>
            <a:pPr algn="l"/>
            <a:r>
              <a:rPr sz="950" b="0">
                <a:solidFill>
                  <a:srgbClr val="2B3147"/>
                </a:solidFill>
                <a:latin typeface="Calibri"/>
              </a:rPr>
              <a:t>Approved applications rose 5.9% to 162. The approval rate fell from 47.1% to 40.1%: approvals did not keep pace with submission growth.</a:t>
            </a:r>
          </a:p>
          <a:p>
            <a:pPr algn="l">
              <a:spcBef>
                <a:spcPts val="600"/>
              </a:spcBef>
            </a:pPr>
            <a:r>
              <a:rPr sz="950" b="0">
                <a:solidFill>
                  <a:srgbClr val="2B3147"/>
                </a:solidFill>
                <a:latin typeface="Calibri"/>
              </a:rPr>
              <a:t>Funding came in at 32, a 19.8% rate against Q2’s 34.5% average, and 24 accounts traded against June’s 41.</a:t>
            </a:r>
          </a:p>
          <a:p>
            <a:pPr algn="l">
              <a:spcBef>
                <a:spcPts val="600"/>
              </a:spcBef>
            </a:pPr>
            <a:r>
              <a:rPr sz="950" b="0">
                <a:solidFill>
                  <a:srgbClr val="2B3147"/>
                </a:solidFill>
                <a:latin typeface="Calibri"/>
              </a:rPr>
              <a:t>Approval and funding are downstream stages in the blended funnel. Source-level cohort data is needed to determine whether the decline reflects application quality, processing time, conversion lag, or account activation.</a:t>
            </a:r>
          </a:p>
          <a:p>
            <a:pPr algn="l">
              <a:spcBef>
                <a:spcPts val="600"/>
              </a:spcBef>
            </a:pPr>
            <a:r>
              <a:rPr sz="950" b="0">
                <a:solidFill>
                  <a:srgbClr val="2B3147"/>
                </a:solidFill>
                <a:latin typeface="Calibri"/>
              </a:rPr>
              <a:t>Approval and funding can occur after the submission month; July rates should be treated as an operating indicator until the application cohort matures.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8229600" cy="320040"/>
          </a:xfrm>
          <a:prstGeom prst="rect">
            <a:avLst/>
          </a:prstGeom>
          <a:noFill/>
        </p:spPr>
        <p:txBody>
          <a:bodyPr wrap="square" anchor="t" lIns="0" rIns="0" tIns="0" bIns="0">
            <a:spAutoFit/>
          </a:bodyPr>
          <a:lstStyle/>
          <a:p>
            <a:pPr algn="l"/>
            <a:r>
              <a:rPr sz="1100" b="1">
                <a:solidFill>
                  <a:srgbClr val="FFFFFF"/>
                </a:solidFill>
                <a:latin typeface="Georgia"/>
              </a:rPr>
              <a:t>CROSS-CHANNEL PRIORITIES</a:t>
            </a:r>
          </a:p>
        </p:txBody>
      </p:sp>
      <p:pic>
        <p:nvPicPr>
          <p:cNvPr id="5" name="Picture 4" descr="berelvant_logo.png"/>
          <p:cNvPicPr>
            <a:picLocks noChangeAspect="1"/>
          </p:cNvPicPr>
          <p:nvPr/>
        </p:nvPicPr>
        <p:blipFill>
          <a:blip r:embed="rId2"/>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Google’s two lines closed July at 122 submitted applications and $390.60 per application; Azerion added 80 more at $393.46.</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56832"/>
            <a:ext cx="7315200" cy="201168"/>
          </a:xfrm>
          <a:prstGeom prst="rect">
            <a:avLst/>
          </a:prstGeom>
          <a:noFill/>
        </p:spPr>
        <p:txBody>
          <a:bodyPr wrap="square" anchor="t" lIns="0" rIns="0" tIns="0" bIns="0">
            <a:spAutoFit/>
          </a:bodyPr>
          <a:lstStyle/>
          <a:p>
            <a:pPr algn="l"/>
            <a:r>
              <a:rPr sz="800" b="0">
                <a:solidFill>
                  <a:srgbClr val="5A6072"/>
                </a:solidFill>
                <a:latin typeface="Calibri"/>
              </a:rPr>
              <a:t>GCG (US Hispanic)   |   July 2026 Performance Review   |   Berelvant</a:t>
            </a:r>
          </a:p>
        </p:txBody>
      </p:sp>
      <p:sp>
        <p:nvSpPr>
          <p:cNvPr id="9" name="TextBox 8"/>
          <p:cNvSpPr txBox="1"/>
          <p:nvPr/>
        </p:nvSpPr>
        <p:spPr>
          <a:xfrm>
            <a:off x="10820095" y="6656832"/>
            <a:ext cx="914400" cy="201168"/>
          </a:xfrm>
          <a:prstGeom prst="rect">
            <a:avLst/>
          </a:prstGeom>
          <a:noFill/>
        </p:spPr>
        <p:txBody>
          <a:bodyPr wrap="square" anchor="t" lIns="0" rIns="0" tIns="0" bIns="0">
            <a:spAutoFit/>
          </a:bodyPr>
          <a:lstStyle/>
          <a:p>
            <a:pPr algn="r"/>
            <a:r>
              <a:rPr sz="800" b="0">
                <a:solidFill>
                  <a:srgbClr val="5A6072"/>
                </a:solidFill>
                <a:latin typeface="Calibri"/>
              </a:rPr>
              <a:t>14 / 14</a:t>
            </a:r>
          </a:p>
        </p:txBody>
      </p:sp>
      <p:sp>
        <p:nvSpPr>
          <p:cNvPr id="10" name="Rectangle 9"/>
          <p:cNvSpPr/>
          <p:nvPr/>
        </p:nvSpPr>
        <p:spPr>
          <a:xfrm>
            <a:off x="457200" y="1828800"/>
            <a:ext cx="2697480" cy="2926080"/>
          </a:xfrm>
          <a:prstGeom prst="rect">
            <a:avLst/>
          </a:prstGeom>
          <a:solidFill>
            <a:srgbClr val="F9FAFC"/>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828800"/>
            <a:ext cx="2697480" cy="292608"/>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 y="1883664"/>
            <a:ext cx="2404872" cy="219456"/>
          </a:xfrm>
          <a:prstGeom prst="rect">
            <a:avLst/>
          </a:prstGeom>
          <a:noFill/>
        </p:spPr>
        <p:txBody>
          <a:bodyPr wrap="square" anchor="t" lIns="0" rIns="0" tIns="0" bIns="0">
            <a:spAutoFit/>
          </a:bodyPr>
          <a:lstStyle/>
          <a:p>
            <a:pPr algn="l"/>
            <a:r>
              <a:rPr sz="950" b="1">
                <a:solidFill>
                  <a:srgbClr val="FFFFFF"/>
                </a:solidFill>
                <a:latin typeface="Georgia"/>
              </a:rPr>
              <a:t>PRIORITY</a:t>
            </a:r>
          </a:p>
        </p:txBody>
      </p:sp>
      <p:sp>
        <p:nvSpPr>
          <p:cNvPr id="13" name="TextBox 12"/>
          <p:cNvSpPr txBox="1"/>
          <p:nvPr/>
        </p:nvSpPr>
        <p:spPr>
          <a:xfrm>
            <a:off x="603504" y="2231136"/>
            <a:ext cx="2404872" cy="2377440"/>
          </a:xfrm>
          <a:prstGeom prst="rect">
            <a:avLst/>
          </a:prstGeom>
          <a:noFill/>
        </p:spPr>
        <p:txBody>
          <a:bodyPr wrap="square" anchor="t" lIns="0" rIns="0" tIns="0" bIns="0">
            <a:spAutoFit/>
          </a:bodyPr>
          <a:lstStyle/>
          <a:p>
            <a:pPr algn="l"/>
            <a:r>
              <a:rPr sz="900" b="0">
                <a:solidFill>
                  <a:srgbClr val="2B3147"/>
                </a:solidFill>
                <a:latin typeface="Calibri"/>
              </a:rPr>
              <a:t>Track A Trust improved after the July changes. Extend the same controlled test to Authority and Platform.</a:t>
            </a:r>
          </a:p>
          <a:p>
            <a:pPr algn="l">
              <a:spcBef>
                <a:spcPts val="600"/>
              </a:spcBef>
            </a:pPr>
            <a:r>
              <a:rPr sz="900" b="0">
                <a:solidFill>
                  <a:srgbClr val="2B3147"/>
                </a:solidFill>
                <a:latin typeface="Calibri"/>
              </a:rPr>
              <a:t>The other two groups still lose 63 to 70% of impression share due to rank.</a:t>
            </a:r>
          </a:p>
        </p:txBody>
      </p:sp>
      <p:sp>
        <p:nvSpPr>
          <p:cNvPr id="14" name="Rectangle 13"/>
          <p:cNvSpPr/>
          <p:nvPr/>
        </p:nvSpPr>
        <p:spPr>
          <a:xfrm>
            <a:off x="3337560" y="1828800"/>
            <a:ext cx="2697480" cy="2926080"/>
          </a:xfrm>
          <a:prstGeom prst="rect">
            <a:avLst/>
          </a:prstGeom>
          <a:solidFill>
            <a:srgbClr val="F9FAFC"/>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37560" y="1828800"/>
            <a:ext cx="2697480" cy="292608"/>
          </a:xfrm>
          <a:prstGeom prst="rect">
            <a:avLst/>
          </a:prstGeom>
          <a:solidFill>
            <a:srgbClr val="E9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83864" y="1883664"/>
            <a:ext cx="2404872" cy="219456"/>
          </a:xfrm>
          <a:prstGeom prst="rect">
            <a:avLst/>
          </a:prstGeom>
          <a:noFill/>
        </p:spPr>
        <p:txBody>
          <a:bodyPr wrap="square" anchor="t" lIns="0" rIns="0" tIns="0" bIns="0">
            <a:spAutoFit/>
          </a:bodyPr>
          <a:lstStyle/>
          <a:p>
            <a:pPr algn="l"/>
            <a:r>
              <a:rPr sz="950" b="1">
                <a:solidFill>
                  <a:srgbClr val="0F1535"/>
                </a:solidFill>
                <a:latin typeface="Georgia"/>
              </a:rPr>
              <a:t>HIGH</a:t>
            </a:r>
          </a:p>
        </p:txBody>
      </p:sp>
      <p:sp>
        <p:nvSpPr>
          <p:cNvPr id="17" name="TextBox 16"/>
          <p:cNvSpPr txBox="1"/>
          <p:nvPr/>
        </p:nvSpPr>
        <p:spPr>
          <a:xfrm>
            <a:off x="3483864" y="2231136"/>
            <a:ext cx="2404872" cy="2377440"/>
          </a:xfrm>
          <a:prstGeom prst="rect">
            <a:avLst/>
          </a:prstGeom>
          <a:noFill/>
        </p:spPr>
        <p:txBody>
          <a:bodyPr wrap="square" anchor="t" lIns="0" rIns="0" tIns="0" bIns="0">
            <a:spAutoFit/>
          </a:bodyPr>
          <a:lstStyle/>
          <a:p>
            <a:pPr algn="l"/>
            <a:r>
              <a:rPr sz="900" b="0">
                <a:solidFill>
                  <a:srgbClr val="2B3147"/>
                </a:solidFill>
                <a:latin typeface="Calibri"/>
              </a:rPr>
              <a:t>Send the refreshed 35-domain Quantcast list ahead of August spend.</a:t>
            </a:r>
          </a:p>
          <a:p>
            <a:pPr algn="l">
              <a:spcBef>
                <a:spcPts val="600"/>
              </a:spcBef>
            </a:pPr>
            <a:r>
              <a:rPr sz="900" b="0">
                <a:solidFill>
                  <a:srgbClr val="2B3147"/>
                </a:solidFill>
                <a:latin typeface="Calibri"/>
              </a:rPr>
              <a:t>It concentrates spend on stronger-performing inventory.</a:t>
            </a:r>
          </a:p>
        </p:txBody>
      </p:sp>
      <p:sp>
        <p:nvSpPr>
          <p:cNvPr id="18" name="Rectangle 17"/>
          <p:cNvSpPr/>
          <p:nvPr/>
        </p:nvSpPr>
        <p:spPr>
          <a:xfrm>
            <a:off x="6217920" y="1828800"/>
            <a:ext cx="2697480" cy="2926080"/>
          </a:xfrm>
          <a:prstGeom prst="rect">
            <a:avLst/>
          </a:prstGeom>
          <a:solidFill>
            <a:srgbClr val="F9FAFC"/>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1828800"/>
            <a:ext cx="2697480" cy="292608"/>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64224" y="1883664"/>
            <a:ext cx="2404872" cy="219456"/>
          </a:xfrm>
          <a:prstGeom prst="rect">
            <a:avLst/>
          </a:prstGeom>
          <a:noFill/>
        </p:spPr>
        <p:txBody>
          <a:bodyPr wrap="square" anchor="t" lIns="0" rIns="0" tIns="0" bIns="0">
            <a:spAutoFit/>
          </a:bodyPr>
          <a:lstStyle/>
          <a:p>
            <a:pPr algn="l"/>
            <a:r>
              <a:rPr sz="950" b="1">
                <a:solidFill>
                  <a:srgbClr val="FFFFFF"/>
                </a:solidFill>
                <a:latin typeface="Georgia"/>
              </a:rPr>
              <a:t>OPPORTUNITY</a:t>
            </a:r>
          </a:p>
        </p:txBody>
      </p:sp>
      <p:sp>
        <p:nvSpPr>
          <p:cNvPr id="21" name="TextBox 20"/>
          <p:cNvSpPr txBox="1"/>
          <p:nvPr/>
        </p:nvSpPr>
        <p:spPr>
          <a:xfrm>
            <a:off x="6364224" y="2231136"/>
            <a:ext cx="2404872" cy="2377440"/>
          </a:xfrm>
          <a:prstGeom prst="rect">
            <a:avLst/>
          </a:prstGeom>
          <a:noFill/>
        </p:spPr>
        <p:txBody>
          <a:bodyPr wrap="square" anchor="t" lIns="0" rIns="0" tIns="0" bIns="0">
            <a:spAutoFit/>
          </a:bodyPr>
          <a:lstStyle/>
          <a:p>
            <a:pPr algn="l"/>
            <a:r>
              <a:rPr sz="900" b="0">
                <a:solidFill>
                  <a:srgbClr val="2B3147"/>
                </a:solidFill>
                <a:latin typeface="Calibri"/>
              </a:rPr>
              <a:t>Give PMax a second full month before moving further budget; it matched Search’s efficiency in its first month.</a:t>
            </a:r>
          </a:p>
          <a:p>
            <a:pPr algn="l">
              <a:spcBef>
                <a:spcPts val="600"/>
              </a:spcBef>
            </a:pPr>
            <a:r>
              <a:rPr sz="900" b="0">
                <a:solidFill>
                  <a:srgbClr val="2B3147"/>
                </a:solidFill>
                <a:latin typeface="Calibri"/>
              </a:rPr>
              <a:t>Rebalance Azerion spend toward Professional Tools and Trust, the strongest audiences on cost per application.</a:t>
            </a:r>
          </a:p>
        </p:txBody>
      </p:sp>
      <p:sp>
        <p:nvSpPr>
          <p:cNvPr id="22" name="Rectangle 21"/>
          <p:cNvSpPr/>
          <p:nvPr/>
        </p:nvSpPr>
        <p:spPr>
          <a:xfrm>
            <a:off x="9098280" y="1828800"/>
            <a:ext cx="2633472" cy="2926080"/>
          </a:xfrm>
          <a:prstGeom prst="rect">
            <a:avLst/>
          </a:prstGeom>
          <a:solidFill>
            <a:srgbClr val="F9FAFC"/>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98280" y="1828800"/>
            <a:ext cx="2633472" cy="292608"/>
          </a:xfrm>
          <a:prstGeom prst="rect">
            <a:avLst/>
          </a:prstGeom>
          <a:solidFill>
            <a:srgbClr val="0F1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44584" y="1883664"/>
            <a:ext cx="2340864" cy="219456"/>
          </a:xfrm>
          <a:prstGeom prst="rect">
            <a:avLst/>
          </a:prstGeom>
          <a:noFill/>
        </p:spPr>
        <p:txBody>
          <a:bodyPr wrap="square" anchor="t" lIns="0" rIns="0" tIns="0" bIns="0">
            <a:spAutoFit/>
          </a:bodyPr>
          <a:lstStyle/>
          <a:p>
            <a:pPr algn="l"/>
            <a:r>
              <a:rPr sz="950" b="1">
                <a:solidFill>
                  <a:srgbClr val="FFFFFF"/>
                </a:solidFill>
                <a:latin typeface="Georgia"/>
              </a:rPr>
              <a:t>DOWNSTREAM TO WATCH</a:t>
            </a:r>
          </a:p>
        </p:txBody>
      </p:sp>
      <p:sp>
        <p:nvSpPr>
          <p:cNvPr id="25" name="TextBox 24"/>
          <p:cNvSpPr txBox="1"/>
          <p:nvPr/>
        </p:nvSpPr>
        <p:spPr>
          <a:xfrm>
            <a:off x="9244584" y="2231136"/>
            <a:ext cx="2340864" cy="2377440"/>
          </a:xfrm>
          <a:prstGeom prst="rect">
            <a:avLst/>
          </a:prstGeom>
          <a:noFill/>
        </p:spPr>
        <p:txBody>
          <a:bodyPr wrap="square" anchor="t" lIns="0" rIns="0" tIns="0" bIns="0">
            <a:spAutoFit/>
          </a:bodyPr>
          <a:lstStyle/>
          <a:p>
            <a:pPr algn="l"/>
            <a:r>
              <a:rPr sz="900" b="0">
                <a:solidFill>
                  <a:srgbClr val="2B3147"/>
                </a:solidFill>
                <a:latin typeface="Calibri"/>
              </a:rPr>
              <a:t>Approved applications grew with the application volume (162, +5.9%).</a:t>
            </a:r>
          </a:p>
          <a:p>
            <a:pPr algn="l">
              <a:spcBef>
                <a:spcPts val="600"/>
              </a:spcBef>
            </a:pPr>
            <a:r>
              <a:rPr sz="900" b="0">
                <a:solidFill>
                  <a:srgbClr val="2B3147"/>
                </a:solidFill>
                <a:latin typeface="Calibri"/>
              </a:rPr>
              <a:t>Funding (19.8% vs Q2’s 34.5%) is the item to watch, inside FOREX.com’s application-review process; detail on the funnel slide.</a:t>
            </a:r>
          </a:p>
        </p:txBody>
      </p:sp>
      <p:sp>
        <p:nvSpPr>
          <p:cNvPr id="26" name="Rectangle 25"/>
          <p:cNvSpPr/>
          <p:nvPr/>
        </p:nvSpPr>
        <p:spPr>
          <a:xfrm>
            <a:off x="457200" y="5029200"/>
            <a:ext cx="11277295" cy="822960"/>
          </a:xfrm>
          <a:prstGeom prst="rect">
            <a:avLst/>
          </a:prstGeom>
          <a:solidFill>
            <a:srgbClr val="0F1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5029200"/>
            <a:ext cx="10728655" cy="822960"/>
          </a:xfrm>
          <a:prstGeom prst="rect">
            <a:avLst/>
          </a:prstGeom>
          <a:noFill/>
        </p:spPr>
        <p:txBody>
          <a:bodyPr wrap="square" anchor="ctr" lIns="0" rIns="0" tIns="0" bIns="0">
            <a:spAutoFit/>
          </a:bodyPr>
          <a:lstStyle/>
          <a:p>
            <a:pPr algn="l"/>
            <a:r>
              <a:rPr sz="1200" b="1">
                <a:solidFill>
                  <a:srgbClr val="FFFFFF"/>
                </a:solidFill>
                <a:latin typeface="Georgia"/>
              </a:rPr>
              <a:t>Google and Azerion produced 202 directly measured applications, representing half of July’s blended submissions. August should extend the strongest tests while monitoring CPA and downstream quality.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