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0.xml" ContentType="application/vnd.ms-powerpoint.comments+xml"/>
  <Override PartName="/ppt/comments/modernComment_102_0.xml" ContentType="application/vnd.ms-powerpoint.comments+xml"/>
  <Override PartName="/ppt/comments/modernComment_104_0.xml" ContentType="application/vnd.ms-powerpoint.comments+xml"/>
  <Override PartName="/ppt/comments/modernComment_106_0.xml" ContentType="application/vnd.ms-powerpoint.comments+xml"/>
  <Override PartName="/ppt/comments/modernComment_107_0.xml" ContentType="application/vnd.ms-powerpoint.comments+xml"/>
  <Override PartName="/ppt/comments/modernComment_108_0.xml" ContentType="application/vnd.ms-powerpoint.comments+xml"/>
  <Override PartName="/ppt/comments/modernComment_109_0.xml" ContentType="application/vnd.ms-powerpoint.comments+xml"/>
  <Override PartName="/ppt/comments/modernComment_10B_0.xml" ContentType="application/vnd.ms-powerpoint.comments+xml"/>
  <Override PartName="/ppt/comments/modernComment_10C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E0D9B3-9524-F05D-2C02-F1E9BF19E9DE}" name="Renzo Proano" initials="RP" userId="c520a5bf7726efa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84"/>
    <p:restoredTop sz="94658"/>
  </p:normalViewPr>
  <p:slideViewPr>
    <p:cSldViewPr snapToGrid="0" snapToObjects="1">
      <p:cViewPr>
        <p:scale>
          <a:sx n="140" d="100"/>
          <a:sy n="140" d="100"/>
        </p:scale>
        <p:origin x="-3160" y="1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0B_0.xml><?xml version="1.0" encoding="utf-8"?>
<p188:cmLst xmlns:a="http://schemas.openxmlformats.org/drawingml/2006/main" xmlns:r="http://schemas.openxmlformats.org/officeDocument/2006/relationships" xmlns:p188="http://schemas.microsoft.com/office/powerpoint/2018/8/main">
  <p188:cm id="{524843F1-6765-334A-8B0E-CDA47DF89C4B}" authorId="{B7E0D9B3-9524-F05D-2C02-F1E9BF19E9DE}" created="2026-08-24T16:55:29.847">
    <ac:txMkLst xmlns:ac="http://schemas.microsoft.com/office/drawing/2013/main/command">
      <pc:docMk xmlns:pc="http://schemas.microsoft.com/office/powerpoint/2013/main/command"/>
      <pc:sldMk xmlns:pc="http://schemas.microsoft.com/office/powerpoint/2013/main/command" cId="0" sldId="267"/>
      <ac:spMk id="4" creationId="{00000000-0000-0000-0000-000000000000}"/>
      <ac:txMk cp="0" len="27">
        <ac:context len="28" hash="3632975914"/>
      </ac:txMk>
    </ac:txMkLst>
    <p188:pos x="2368296" y="329184"/>
    <p188:txBody>
      <a:bodyPr/>
      <a:lstStyle/>
      <a:p>
        <a:r>
          <a:rPr lang="en-US"/>
          <a:t>We dont say "Client". We never treat the client as "the client" in any  deck. Never done that.</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D2B0B8AF-447B-B245-A03C-B91F3B12595B}" authorId="{B7E0D9B3-9524-F05D-2C02-F1E9BF19E9DE}" created="2026-08-24T16:56:39.539">
    <ac:txMkLst xmlns:ac="http://schemas.microsoft.com/office/drawing/2013/main/command">
      <pc:docMk xmlns:pc="http://schemas.microsoft.com/office/powerpoint/2013/main/command"/>
      <pc:sldMk xmlns:pc="http://schemas.microsoft.com/office/powerpoint/2013/main/command" cId="0" sldId="268"/>
      <ac:spMk id="25" creationId="{00000000-0000-0000-0000-000000000000}"/>
      <ac:txMk cp="81" len="93">
        <ac:context len="175" hash="1513877591"/>
      </ac:txMk>
    </ac:txMkLst>
    <p188:pos x="2340864" y="603504"/>
    <p188:txBody>
      <a:bodyPr/>
      <a:lstStyle/>
      <a:p>
        <a:r>
          <a:rPr lang="en-US"/>
          <a:t>What do you mean by this? I have no idea. Can you be more clear in your commentary?</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7DE20A7D-6CA5-B54C-859D-0FF447FF4A60}" authorId="{B7E0D9B3-9524-F05D-2C02-F1E9BF19E9DE}" created="2026-08-24T16:42:01.852">
    <ac:txMkLst xmlns:ac="http://schemas.microsoft.com/office/drawing/2013/main/command">
      <pc:docMk xmlns:pc="http://schemas.microsoft.com/office/powerpoint/2013/main/command"/>
      <pc:sldMk xmlns:pc="http://schemas.microsoft.com/office/powerpoint/2013/main/command" cId="0" sldId="257"/>
      <ac:spMk id="15" creationId="{00000000-0000-0000-0000-000000000000}"/>
      <ac:txMk cp="75" len="77">
        <ac:context len="400" hash="3226258471"/>
      </ac:txMk>
    </ac:txMkLst>
    <p188:pos x="3831336" y="466344"/>
    <p188:txBody>
      <a:bodyPr/>
      <a:lstStyle/>
      <a:p>
        <a:r>
          <a:rPr lang="en-US"/>
          <a:t>Remove unnecessary: : "Both are tracked the same way, the final submit step of the application form. "</a:t>
        </a:r>
      </a:p>
    </p188:txBody>
  </p188:cm>
  <p188:cm id="{A3BCA261-5E08-A24A-9561-2FF20B193E4C}" authorId="{B7E0D9B3-9524-F05D-2C02-F1E9BF19E9DE}" created="2026-08-24T16:42:42.425">
    <ac:txMkLst xmlns:ac="http://schemas.microsoft.com/office/drawing/2013/main/command">
      <pc:docMk xmlns:pc="http://schemas.microsoft.com/office/powerpoint/2013/main/command"/>
      <pc:sldMk xmlns:pc="http://schemas.microsoft.com/office/powerpoint/2013/main/command" cId="0" sldId="257"/>
      <ac:spMk id="15" creationId="{00000000-0000-0000-0000-000000000000}"/>
      <ac:txMk cp="178" len="38">
        <ac:context len="400" hash="3226258471"/>
      </ac:txMk>
    </ac:txMkLst>
    <p188:pos x="3145536" y="612648"/>
    <p188:txBody>
      <a:bodyPr/>
      <a:lstStyle/>
      <a:p>
        <a:r>
          <a:rPr lang="en-US"/>
          <a:t>Remove unnecessary: "(as reported by Azerion’s own system) "</a:t>
        </a:r>
      </a:p>
    </p188:txBody>
  </p188:cm>
  <p188:cm id="{2CD33726-CC98-3F4D-8691-CFDAB1439778}" authorId="{B7E0D9B3-9524-F05D-2C02-F1E9BF19E9DE}" created="2026-08-24T16:44:00.011">
    <ac:txMkLst xmlns:ac="http://schemas.microsoft.com/office/drawing/2013/main/command">
      <pc:docMk xmlns:pc="http://schemas.microsoft.com/office/powerpoint/2013/main/command"/>
      <pc:sldMk xmlns:pc="http://schemas.microsoft.com/office/powerpoint/2013/main/command" cId="0" sldId="257"/>
      <ac:spMk id="19" creationId="{00000000-0000-0000-0000-000000000000}"/>
      <ac:txMk cp="330" len="119">
        <ac:context len="450" hash="3431744264"/>
      </ac:txMk>
    </ac:txMkLst>
    <p188:pos x="3922776" y="1124712"/>
    <p188:txBody>
      <a:bodyPr/>
      <a:lstStyle/>
      <a:p>
        <a:r>
          <a:rPr lang="en-US"/>
          <a:t>what does this meam? who told you this?</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284CFFA5-90C6-4F4A-94E8-08A9A138D1FE}" authorId="{B7E0D9B3-9524-F05D-2C02-F1E9BF19E9DE}" created="2026-08-24T16:44:36.742">
    <ac:txMkLst xmlns:ac="http://schemas.microsoft.com/office/drawing/2013/main/command">
      <pc:docMk xmlns:pc="http://schemas.microsoft.com/office/powerpoint/2013/main/command"/>
      <pc:sldMk xmlns:pc="http://schemas.microsoft.com/office/powerpoint/2013/main/command" cId="0" sldId="258"/>
      <ac:spMk id="38" creationId="{00000000-0000-0000-0000-000000000000}"/>
      <ac:txMk cp="0" len="5">
        <ac:context len="10" hash="3500913027"/>
      </ac:txMk>
    </ac:txMkLst>
    <p188:pos x="320040" y="329185"/>
    <p188:txBody>
      <a:bodyPr/>
      <a:lstStyle/>
      <a:p>
        <a:r>
          <a:rPr lang="en-US"/>
          <a:t>remove "Trust: is there a none trusted CPA?</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46E4BB4F-0F21-C742-9724-16FA10EE8785}" authorId="{B7E0D9B3-9524-F05D-2C02-F1E9BF19E9DE}" created="2026-08-24T16:47:02.996">
    <ac:txMkLst xmlns:ac="http://schemas.microsoft.com/office/drawing/2013/main/command">
      <pc:docMk xmlns:pc="http://schemas.microsoft.com/office/powerpoint/2013/main/command"/>
      <pc:sldMk xmlns:pc="http://schemas.microsoft.com/office/powerpoint/2013/main/command" cId="0" sldId="260"/>
      <ac:spMk id="10" creationId="{00000000-0000-0000-0000-000000000000}"/>
      <ac:txMk cp="0" len="115">
        <ac:context len="248" hash="527475309"/>
      </ac:txMk>
    </ac:txMkLst>
    <p188:pos x="5449824" y="329184"/>
    <p188:txBody>
      <a:bodyPr/>
      <a:lstStyle/>
      <a:p>
        <a:r>
          <a:rPr lang="en-US"/>
          <a:t>remove this is not true, meta doesn't allow financial advertisers to edit demographics targeting, do not assume or invent things.  Also, if there are no changes, just don't say there are no changes. There's no need to say anything. You only mention a change when there is a change.</a:t>
        </a:r>
      </a:p>
    </p188:txBody>
  </p188:cm>
  <p188:cm id="{7B8BB6D7-21A4-6D42-8FFE-9B19F9DDACFB}" authorId="{B7E0D9B3-9524-F05D-2C02-F1E9BF19E9DE}" created="2026-08-24T16:49:03.709">
    <pc:sldMkLst xmlns:pc="http://schemas.microsoft.com/office/powerpoint/2013/main/command">
      <pc:docMk/>
      <pc:sldMk cId="0" sldId="260"/>
    </pc:sldMkLst>
    <p188:txBody>
      <a:bodyPr/>
      <a:lstStyle/>
      <a:p>
        <a:r>
          <a:rPr lang="en-US"/>
          <a:t>remove unnecessary:"Stonex owns the resolution"</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583E9D84-D46A-484F-9A08-65D08D5E6496}" authorId="{B7E0D9B3-9524-F05D-2C02-F1E9BF19E9DE}" created="2026-08-24T16:49:42.386">
    <ac:deMkLst xmlns:ac="http://schemas.microsoft.com/office/drawing/2013/main/command">
      <pc:docMk xmlns:pc="http://schemas.microsoft.com/office/powerpoint/2013/main/command"/>
      <pc:sldMk xmlns:pc="http://schemas.microsoft.com/office/powerpoint/2013/main/command" cId="0" sldId="262"/>
      <ac:spMk id="34" creationId="{00000000-0000-0000-0000-000000000000}"/>
    </ac:deMkLst>
    <p188:txBody>
      <a:bodyPr/>
      <a:lstStyle/>
      <a:p>
        <a:r>
          <a:rPr lang="en-US"/>
          <a:t>Remove the whole geo box is unnecessary.</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D14364CA-0494-8D43-A2E0-02C92996B5E9}" authorId="{B7E0D9B3-9524-F05D-2C02-F1E9BF19E9DE}" created="2026-08-24T16:51:07.626">
    <ac:txMkLst xmlns:ac="http://schemas.microsoft.com/office/drawing/2013/main/command">
      <pc:docMk xmlns:pc="http://schemas.microsoft.com/office/powerpoint/2013/main/command"/>
      <pc:sldMk xmlns:pc="http://schemas.microsoft.com/office/powerpoint/2013/main/command" cId="0" sldId="263"/>
      <ac:spMk id="36" creationId="{00000000-0000-0000-0000-000000000000}"/>
      <ac:txMk cp="0" len="7">
        <ac:context len="8" hash="2161042721"/>
      </ac:txMk>
    </ac:txMkLst>
    <p188:pos x="448056" y="329185"/>
    <p188:txBody>
      <a:bodyPr/>
      <a:lstStyle/>
      <a:p>
        <a:r>
          <a:rPr lang="en-US"/>
          <a:t>Remove the whole average cost per click. This is display,
we don't measure display in a cost per click basis, only Cpm.</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E904026D-284B-6348-90B4-1B37744FFC6B}" authorId="{B7E0D9B3-9524-F05D-2C02-F1E9BF19E9DE}" created="2026-08-24T16:52:28.074">
    <ac:txMkLst xmlns:ac="http://schemas.microsoft.com/office/drawing/2013/main/command">
      <pc:docMk xmlns:pc="http://schemas.microsoft.com/office/powerpoint/2013/main/command"/>
      <pc:sldMk xmlns:pc="http://schemas.microsoft.com/office/powerpoint/2013/main/command" cId="0" sldId="264"/>
      <ac:graphicFrameMk id="10" creationId="{00000000-0000-0000-0000-000000000000}"/>
      <ac:tblMk/>
      <ac:tcMk rowId="10002" colId="20000"/>
      <ac:txMk cp="0" len="10">
        <ac:context len="11" hash="518078884"/>
      </ac:txMk>
    </ac:txMkLst>
    <p188:pos x="649224" y="1143000"/>
    <p188:txBody>
      <a:bodyPr/>
      <a:lstStyle/>
      <a:p>
        <a:r>
          <a:rPr lang="en-US"/>
          <a:t>Remove "HTML" from Trust HTML, everywhere.
</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24D88765-B6AF-E248-B40D-F7395823605C}" authorId="{B7E0D9B3-9524-F05D-2C02-F1E9BF19E9DE}" created="2026-08-24T16:53:35.211">
    <pc:sldMkLst xmlns:pc="http://schemas.microsoft.com/office/powerpoint/2013/main/command">
      <pc:docMk/>
      <pc:sldMk cId="0" sldId="265"/>
    </pc:sldMkLst>
    <p188:txBody>
      <a:bodyPr/>
      <a:lstStyle/>
      <a:p>
        <a:r>
          <a:rPr lang="en-US"/>
          <a:t>whats is this "This line doesn’t track applications, only ad delivery. " who or where is that being said?</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1_0.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2_0.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4_0.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6_0.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7_0.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8_0.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9_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B_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C_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011680"/>
            <a:ext cx="91440" cy="2286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forex_logo.png"/>
          <p:cNvPicPr>
            <a:picLocks noChangeAspect="1"/>
          </p:cNvPicPr>
          <p:nvPr/>
        </p:nvPicPr>
        <p:blipFill>
          <a:blip r:embed="rId2"/>
          <a:stretch>
            <a:fillRect/>
          </a:stretch>
        </p:blipFill>
        <p:spPr>
          <a:xfrm>
            <a:off x="457200" y="457200"/>
            <a:ext cx="2286000" cy="649224"/>
          </a:xfrm>
          <a:prstGeom prst="rect">
            <a:avLst/>
          </a:prstGeom>
        </p:spPr>
      </p:pic>
      <p:pic>
        <p:nvPicPr>
          <p:cNvPr id="5" name="Picture 4" descr="berelvant_logo.png"/>
          <p:cNvPicPr>
            <a:picLocks noChangeAspect="1"/>
          </p:cNvPicPr>
          <p:nvPr/>
        </p:nvPicPr>
        <p:blipFill>
          <a:blip r:embed="rId3"/>
          <a:stretch>
            <a:fillRect/>
          </a:stretch>
        </p:blipFill>
        <p:spPr>
          <a:xfrm>
            <a:off x="10362895" y="5943600"/>
            <a:ext cx="1280160" cy="365760"/>
          </a:xfrm>
          <a:prstGeom prst="rect">
            <a:avLst/>
          </a:prstGeom>
        </p:spPr>
      </p:pic>
      <p:sp>
        <p:nvSpPr>
          <p:cNvPr id="6" name="TextBox 5"/>
          <p:cNvSpPr txBox="1"/>
          <p:nvPr/>
        </p:nvSpPr>
        <p:spPr>
          <a:xfrm>
            <a:off x="822960" y="2011680"/>
            <a:ext cx="10058400" cy="365760"/>
          </a:xfrm>
          <a:prstGeom prst="rect">
            <a:avLst/>
          </a:prstGeom>
          <a:noFill/>
        </p:spPr>
        <p:txBody>
          <a:bodyPr wrap="square" lIns="0" tIns="0" rIns="0" bIns="0" anchor="t">
            <a:spAutoFit/>
          </a:bodyPr>
          <a:lstStyle/>
          <a:p>
            <a:pPr algn="l"/>
            <a:r>
              <a:rPr sz="1400" b="1">
                <a:solidFill>
                  <a:srgbClr val="F96167"/>
                </a:solidFill>
                <a:latin typeface="Georgia"/>
              </a:rPr>
              <a:t>MONTHLY PERFORMANCE REVIEW</a:t>
            </a:r>
          </a:p>
        </p:txBody>
      </p:sp>
      <p:sp>
        <p:nvSpPr>
          <p:cNvPr id="7" name="TextBox 6"/>
          <p:cNvSpPr txBox="1"/>
          <p:nvPr/>
        </p:nvSpPr>
        <p:spPr>
          <a:xfrm>
            <a:off x="822960" y="2468880"/>
            <a:ext cx="10972800" cy="914400"/>
          </a:xfrm>
          <a:prstGeom prst="rect">
            <a:avLst/>
          </a:prstGeom>
          <a:noFill/>
        </p:spPr>
        <p:txBody>
          <a:bodyPr wrap="square" lIns="0" tIns="0" rIns="0" bIns="0" anchor="t">
            <a:spAutoFit/>
          </a:bodyPr>
          <a:lstStyle/>
          <a:p>
            <a:pPr algn="l"/>
            <a:r>
              <a:rPr sz="3600" b="1">
                <a:solidFill>
                  <a:srgbClr val="FFFFFF"/>
                </a:solidFill>
                <a:latin typeface="Georgia"/>
              </a:rPr>
              <a:t>GCG (US Hispanic)  ·  Paid Media</a:t>
            </a:r>
          </a:p>
        </p:txBody>
      </p:sp>
      <p:sp>
        <p:nvSpPr>
          <p:cNvPr id="8" name="TextBox 7"/>
          <p:cNvSpPr txBox="1"/>
          <p:nvPr/>
        </p:nvSpPr>
        <p:spPr>
          <a:xfrm>
            <a:off x="822960" y="3474720"/>
            <a:ext cx="10972800" cy="548640"/>
          </a:xfrm>
          <a:prstGeom prst="rect">
            <a:avLst/>
          </a:prstGeom>
          <a:noFill/>
        </p:spPr>
        <p:txBody>
          <a:bodyPr wrap="square" lIns="0" tIns="0" rIns="0" bIns="0" anchor="t">
            <a:spAutoFit/>
          </a:bodyPr>
          <a:lstStyle/>
          <a:p>
            <a:pPr algn="l"/>
            <a:r>
              <a:rPr sz="2200" b="0">
                <a:solidFill>
                  <a:srgbClr val="CADCFC"/>
                </a:solidFill>
                <a:latin typeface="Georgia"/>
              </a:rPr>
              <a:t>July 2026 Performance</a:t>
            </a:r>
          </a:p>
        </p:txBody>
      </p:sp>
      <p:sp>
        <p:nvSpPr>
          <p:cNvPr id="9" name="TextBox 8"/>
          <p:cNvSpPr txBox="1"/>
          <p:nvPr/>
        </p:nvSpPr>
        <p:spPr>
          <a:xfrm>
            <a:off x="822960" y="4206240"/>
            <a:ext cx="10972800" cy="365760"/>
          </a:xfrm>
          <a:prstGeom prst="rect">
            <a:avLst/>
          </a:prstGeom>
          <a:noFill/>
        </p:spPr>
        <p:txBody>
          <a:bodyPr wrap="square" lIns="0" tIns="0" rIns="0" bIns="0" anchor="t">
            <a:spAutoFit/>
          </a:bodyPr>
          <a:lstStyle/>
          <a:p>
            <a:pPr algn="l"/>
            <a:r>
              <a:rPr sz="1200" b="0">
                <a:solidFill>
                  <a:srgbClr val="9AA4BA"/>
                </a:solidFill>
                <a:latin typeface="Calibri"/>
              </a:rPr>
              <a:t>Google Search  ·  Google PMax  ·  Meta  ·  Quantcast  ·  Azerion  ·  Native</a:t>
            </a:r>
          </a:p>
        </p:txBody>
      </p:sp>
      <p:sp>
        <p:nvSpPr>
          <p:cNvPr id="10" name="TextBox 9"/>
          <p:cNvSpPr txBox="1"/>
          <p:nvPr/>
        </p:nvSpPr>
        <p:spPr>
          <a:xfrm>
            <a:off x="822960" y="6126480"/>
            <a:ext cx="10972800" cy="365760"/>
          </a:xfrm>
          <a:prstGeom prst="rect">
            <a:avLst/>
          </a:prstGeom>
          <a:noFill/>
        </p:spPr>
        <p:txBody>
          <a:bodyPr wrap="square" lIns="0" tIns="0" rIns="0" bIns="0" anchor="t">
            <a:spAutoFit/>
          </a:bodyPr>
          <a:lstStyle/>
          <a:p>
            <a:pPr algn="l"/>
            <a:r>
              <a:rPr sz="1000" b="0">
                <a:solidFill>
                  <a:srgbClr val="9AA4BA"/>
                </a:solidFill>
                <a:latin typeface="Calibri"/>
              </a:rPr>
              <a:t>Reporting period: July 1-31, 2026   |   Currency: USD   |   Prepared by Berelvant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EXECUTIVE SUMMARY</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$136,224 deployed in July across six lines, up 16.4% from June.</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2 / 13</a:t>
            </a:r>
          </a:p>
        </p:txBody>
      </p:sp>
      <p:graphicFrame>
        <p:nvGraphicFramePr>
          <p:cNvPr id="10" name="Table 9"/>
          <p:cNvGraphicFramePr>
            <a:graphicFrameLocks noGrp="1"/>
          </p:cNvGraphicFramePr>
          <p:nvPr/>
        </p:nvGraphicFramePr>
        <p:xfrm>
          <a:off x="457200" y="1737360"/>
          <a:ext cx="6766560" cy="2788920"/>
        </p:xfrm>
        <a:graphic>
          <a:graphicData uri="http://schemas.openxmlformats.org/drawingml/2006/table">
            <a:tbl>
              <a:tblPr>
                <a:tableStyleId>{5C22544A-7EE6-4342-B048-85BDC9FD1C3A}</a:tableStyleId>
              </a:tblPr>
              <a:tblGrid>
                <a:gridCol w="19659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1051560">
                  <a:extLst>
                    <a:ext uri="{9D8B030D-6E8A-4147-A177-3AD203B41FA5}">
                      <a16:colId xmlns:a16="http://schemas.microsoft.com/office/drawing/2014/main" val="20005"/>
                    </a:ext>
                  </a:extLst>
                </a:gridCol>
              </a:tblGrid>
              <a:tr h="348615">
                <a:tc>
                  <a:txBody>
                    <a:bodyPr/>
                    <a:lstStyle/>
                    <a:p>
                      <a:pPr algn="l"/>
                      <a:r>
                        <a:rPr sz="850" b="1">
                          <a:solidFill>
                            <a:srgbClr val="FFFFFF"/>
                          </a:solidFill>
                          <a:latin typeface="Calibri"/>
                        </a:rPr>
                        <a:t>Channel</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Impr</a:t>
                      </a:r>
                    </a:p>
                  </a:txBody>
                  <a:tcPr marL="54864" marR="54864" marT="27432" marB="27432">
                    <a:solidFill>
                      <a:srgbClr val="1E2761"/>
                    </a:solidFill>
                  </a:tcPr>
                </a:tc>
                <a:tc>
                  <a:txBody>
                    <a:bodyPr/>
                    <a:lstStyle/>
                    <a:p>
                      <a:pPr algn="r"/>
                      <a:r>
                        <a:rPr sz="850" b="1">
                          <a:solidFill>
                            <a:srgbClr val="FFFFFF"/>
                          </a:solidFill>
                          <a:latin typeface="Calibri"/>
                        </a:rPr>
                        <a:t>Clicks</a:t>
                      </a:r>
                    </a:p>
                  </a:txBody>
                  <a:tcPr marL="54864" marR="54864" marT="27432" marB="27432">
                    <a:solidFill>
                      <a:srgbClr val="1E2761"/>
                    </a:solidFill>
                  </a:tcPr>
                </a:tc>
                <a:tc>
                  <a:txBody>
                    <a:bodyPr/>
                    <a:lstStyle/>
                    <a:p>
                      <a:pPr algn="r"/>
                      <a:r>
                        <a:rPr sz="850" b="1">
                          <a:solidFill>
                            <a:srgbClr val="FFFFFF"/>
                          </a:solidFill>
                          <a:latin typeface="Calibri"/>
                        </a:rPr>
                        <a:t>Apps</a:t>
                      </a:r>
                    </a:p>
                  </a:txBody>
                  <a:tcPr marL="54864" marR="54864" marT="27432" marB="27432">
                    <a:solidFill>
                      <a:srgbClr val="1E2761"/>
                    </a:solidFill>
                  </a:tcPr>
                </a:tc>
                <a:tc>
                  <a:txBody>
                    <a:bodyPr/>
                    <a:lstStyle/>
                    <a:p>
                      <a:pPr algn="r"/>
                      <a:r>
                        <a:rPr sz="850" b="1">
                          <a:solidFill>
                            <a:srgbClr val="FFFFFF"/>
                          </a:solidFill>
                          <a:latin typeface="Calibri"/>
                        </a:rPr>
                        <a:t>Cost/app</a:t>
                      </a:r>
                    </a:p>
                  </a:txBody>
                  <a:tcPr marL="54864" marR="54864" marT="27432" marB="27432">
                    <a:solidFill>
                      <a:srgbClr val="1E2761"/>
                    </a:solidFill>
                  </a:tcPr>
                </a:tc>
                <a:extLst>
                  <a:ext uri="{0D108BD9-81ED-4DB2-BD59-A6C34878D82A}">
                    <a16:rowId xmlns:a16="http://schemas.microsoft.com/office/drawing/2014/main" val="10000"/>
                  </a:ext>
                </a:extLst>
              </a:tr>
              <a:tr h="348615">
                <a:tc>
                  <a:txBody>
                    <a:bodyPr/>
                    <a:lstStyle/>
                    <a:p>
                      <a:pPr algn="l"/>
                      <a:r>
                        <a:rPr sz="850" b="1">
                          <a:solidFill>
                            <a:srgbClr val="2B3147"/>
                          </a:solidFill>
                          <a:latin typeface="Calibri"/>
                        </a:rPr>
                        <a:t>Google Search</a:t>
                      </a:r>
                    </a:p>
                  </a:txBody>
                  <a:tcPr marL="54864" marR="54864" marT="27432" marB="27432">
                    <a:solidFill>
                      <a:srgbClr val="FFFFFF"/>
                    </a:solidFill>
                  </a:tcPr>
                </a:tc>
                <a:tc>
                  <a:txBody>
                    <a:bodyPr/>
                    <a:lstStyle/>
                    <a:p>
                      <a:pPr algn="r"/>
                      <a:r>
                        <a:rPr sz="850" b="0">
                          <a:solidFill>
                            <a:srgbClr val="2B3147"/>
                          </a:solidFill>
                          <a:latin typeface="Calibri"/>
                        </a:rPr>
                        <a:t>$29,478</a:t>
                      </a:r>
                    </a:p>
                  </a:txBody>
                  <a:tcPr marL="54864" marR="54864" marT="27432" marB="27432">
                    <a:solidFill>
                      <a:srgbClr val="FFFFFF"/>
                    </a:solidFill>
                  </a:tcPr>
                </a:tc>
                <a:tc>
                  <a:txBody>
                    <a:bodyPr/>
                    <a:lstStyle/>
                    <a:p>
                      <a:pPr algn="r"/>
                      <a:r>
                        <a:rPr sz="850" b="0">
                          <a:solidFill>
                            <a:srgbClr val="2B3147"/>
                          </a:solidFill>
                          <a:latin typeface="Calibri"/>
                        </a:rPr>
                        <a:t>125,392</a:t>
                      </a:r>
                    </a:p>
                  </a:txBody>
                  <a:tcPr marL="54864" marR="54864" marT="27432" marB="27432">
                    <a:solidFill>
                      <a:srgbClr val="FFFFFF"/>
                    </a:solidFill>
                  </a:tcPr>
                </a:tc>
                <a:tc>
                  <a:txBody>
                    <a:bodyPr/>
                    <a:lstStyle/>
                    <a:p>
                      <a:pPr algn="r"/>
                      <a:r>
                        <a:rPr sz="850" b="0">
                          <a:solidFill>
                            <a:srgbClr val="2B3147"/>
                          </a:solidFill>
                          <a:latin typeface="Calibri"/>
                        </a:rPr>
                        <a:t>9,568</a:t>
                      </a:r>
                    </a:p>
                  </a:txBody>
                  <a:tcPr marL="54864" marR="54864" marT="27432" marB="27432">
                    <a:solidFill>
                      <a:srgbClr val="FFFFFF"/>
                    </a:solidFill>
                  </a:tcPr>
                </a:tc>
                <a:tc>
                  <a:txBody>
                    <a:bodyPr/>
                    <a:lstStyle/>
                    <a:p>
                      <a:pPr algn="r"/>
                      <a:r>
                        <a:rPr sz="850" b="0">
                          <a:solidFill>
                            <a:srgbClr val="2B3147"/>
                          </a:solidFill>
                          <a:latin typeface="Calibri"/>
                        </a:rPr>
                        <a:t>73</a:t>
                      </a:r>
                    </a:p>
                  </a:txBody>
                  <a:tcPr marL="54864" marR="54864" marT="27432" marB="27432">
                    <a:solidFill>
                      <a:srgbClr val="FFFFFF"/>
                    </a:solidFill>
                  </a:tcPr>
                </a:tc>
                <a:tc>
                  <a:txBody>
                    <a:bodyPr/>
                    <a:lstStyle/>
                    <a:p>
                      <a:pPr algn="r"/>
                      <a:r>
                        <a:rPr sz="850" b="0">
                          <a:solidFill>
                            <a:srgbClr val="2B3147"/>
                          </a:solidFill>
                          <a:latin typeface="Calibri"/>
                        </a:rPr>
                        <a:t>$403.81</a:t>
                      </a:r>
                    </a:p>
                  </a:txBody>
                  <a:tcPr marL="54864" marR="54864" marT="27432" marB="27432">
                    <a:solidFill>
                      <a:srgbClr val="FFFFFF"/>
                    </a:solidFill>
                  </a:tcPr>
                </a:tc>
                <a:extLst>
                  <a:ext uri="{0D108BD9-81ED-4DB2-BD59-A6C34878D82A}">
                    <a16:rowId xmlns:a16="http://schemas.microsoft.com/office/drawing/2014/main" val="10001"/>
                  </a:ext>
                </a:extLst>
              </a:tr>
              <a:tr h="348615">
                <a:tc>
                  <a:txBody>
                    <a:bodyPr/>
                    <a:lstStyle/>
                    <a:p>
                      <a:pPr algn="l"/>
                      <a:r>
                        <a:rPr sz="850" b="1">
                          <a:solidFill>
                            <a:srgbClr val="2B3147"/>
                          </a:solidFill>
                          <a:latin typeface="Calibri"/>
                        </a:rPr>
                        <a:t>Google PMax (YouTube)</a:t>
                      </a:r>
                    </a:p>
                  </a:txBody>
                  <a:tcPr marL="54864" marR="54864" marT="27432" marB="27432">
                    <a:solidFill>
                      <a:srgbClr val="F9FAFC"/>
                    </a:solidFill>
                  </a:tcPr>
                </a:tc>
                <a:tc>
                  <a:txBody>
                    <a:bodyPr/>
                    <a:lstStyle/>
                    <a:p>
                      <a:pPr algn="r"/>
                      <a:r>
                        <a:rPr sz="850" b="0">
                          <a:solidFill>
                            <a:srgbClr val="2B3147"/>
                          </a:solidFill>
                          <a:latin typeface="Calibri"/>
                        </a:rPr>
                        <a:t>$18,175</a:t>
                      </a:r>
                    </a:p>
                  </a:txBody>
                  <a:tcPr marL="54864" marR="54864" marT="27432" marB="27432">
                    <a:solidFill>
                      <a:srgbClr val="F9FAFC"/>
                    </a:solidFill>
                  </a:tcPr>
                </a:tc>
                <a:tc>
                  <a:txBody>
                    <a:bodyPr/>
                    <a:lstStyle/>
                    <a:p>
                      <a:pPr algn="r"/>
                      <a:r>
                        <a:rPr sz="850" b="0">
                          <a:solidFill>
                            <a:srgbClr val="2B3147"/>
                          </a:solidFill>
                          <a:latin typeface="Calibri"/>
                        </a:rPr>
                        <a:t>792,667</a:t>
                      </a:r>
                    </a:p>
                  </a:txBody>
                  <a:tcPr marL="54864" marR="54864" marT="27432" marB="27432">
                    <a:solidFill>
                      <a:srgbClr val="F9FAFC"/>
                    </a:solidFill>
                  </a:tcPr>
                </a:tc>
                <a:tc>
                  <a:txBody>
                    <a:bodyPr/>
                    <a:lstStyle/>
                    <a:p>
                      <a:pPr algn="r"/>
                      <a:r>
                        <a:rPr sz="850" b="0">
                          <a:solidFill>
                            <a:srgbClr val="2B3147"/>
                          </a:solidFill>
                          <a:latin typeface="Calibri"/>
                        </a:rPr>
                        <a:t>14,009</a:t>
                      </a:r>
                    </a:p>
                  </a:txBody>
                  <a:tcPr marL="54864" marR="54864" marT="27432" marB="27432">
                    <a:solidFill>
                      <a:srgbClr val="F9FAFC"/>
                    </a:solidFill>
                  </a:tcPr>
                </a:tc>
                <a:tc>
                  <a:txBody>
                    <a:bodyPr/>
                    <a:lstStyle/>
                    <a:p>
                      <a:pPr algn="r"/>
                      <a:r>
                        <a:rPr sz="850" b="0">
                          <a:solidFill>
                            <a:srgbClr val="2B3147"/>
                          </a:solidFill>
                          <a:latin typeface="Calibri"/>
                        </a:rPr>
                        <a:t>49</a:t>
                      </a:r>
                    </a:p>
                  </a:txBody>
                  <a:tcPr marL="54864" marR="54864" marT="27432" marB="27432">
                    <a:solidFill>
                      <a:srgbClr val="F9FAFC"/>
                    </a:solidFill>
                  </a:tcPr>
                </a:tc>
                <a:tc>
                  <a:txBody>
                    <a:bodyPr/>
                    <a:lstStyle/>
                    <a:p>
                      <a:pPr algn="r"/>
                      <a:r>
                        <a:rPr sz="850" b="0">
                          <a:solidFill>
                            <a:srgbClr val="2B3147"/>
                          </a:solidFill>
                          <a:latin typeface="Calibri"/>
                        </a:rPr>
                        <a:t>$370.91</a:t>
                      </a:r>
                    </a:p>
                  </a:txBody>
                  <a:tcPr marL="54864" marR="54864" marT="27432" marB="27432">
                    <a:solidFill>
                      <a:srgbClr val="F9FAFC"/>
                    </a:solidFill>
                  </a:tcPr>
                </a:tc>
                <a:extLst>
                  <a:ext uri="{0D108BD9-81ED-4DB2-BD59-A6C34878D82A}">
                    <a16:rowId xmlns:a16="http://schemas.microsoft.com/office/drawing/2014/main" val="10002"/>
                  </a:ext>
                </a:extLst>
              </a:tr>
              <a:tr h="348615">
                <a:tc>
                  <a:txBody>
                    <a:bodyPr/>
                    <a:lstStyle/>
                    <a:p>
                      <a:pPr algn="l"/>
                      <a:r>
                        <a:rPr sz="850" b="1">
                          <a:solidFill>
                            <a:srgbClr val="2B3147"/>
                          </a:solidFill>
                          <a:latin typeface="Calibri"/>
                        </a:rPr>
                        <a:t>Meta</a:t>
                      </a:r>
                    </a:p>
                  </a:txBody>
                  <a:tcPr marL="54864" marR="54864" marT="27432" marB="27432">
                    <a:solidFill>
                      <a:srgbClr val="FFFFFF"/>
                    </a:solidFill>
                  </a:tcPr>
                </a:tc>
                <a:tc>
                  <a:txBody>
                    <a:bodyPr/>
                    <a:lstStyle/>
                    <a:p>
                      <a:pPr algn="r"/>
                      <a:r>
                        <a:rPr sz="850" b="0">
                          <a:solidFill>
                            <a:srgbClr val="2B3147"/>
                          </a:solidFill>
                          <a:latin typeface="Calibri"/>
                        </a:rPr>
                        <a:t>$6,940</a:t>
                      </a:r>
                    </a:p>
                  </a:txBody>
                  <a:tcPr marL="54864" marR="54864" marT="27432" marB="27432">
                    <a:solidFill>
                      <a:srgbClr val="FFFFFF"/>
                    </a:solidFill>
                  </a:tcPr>
                </a:tc>
                <a:tc>
                  <a:txBody>
                    <a:bodyPr/>
                    <a:lstStyle/>
                    <a:p>
                      <a:pPr algn="r"/>
                      <a:r>
                        <a:rPr sz="850" b="0">
                          <a:solidFill>
                            <a:srgbClr val="2B3147"/>
                          </a:solidFill>
                          <a:latin typeface="Calibri"/>
                        </a:rPr>
                        <a:t>493,027</a:t>
                      </a:r>
                    </a:p>
                  </a:txBody>
                  <a:tcPr marL="54864" marR="54864" marT="27432" marB="27432">
                    <a:solidFill>
                      <a:srgbClr val="FFFFFF"/>
                    </a:solidFill>
                  </a:tcPr>
                </a:tc>
                <a:tc>
                  <a:txBody>
                    <a:bodyPr/>
                    <a:lstStyle/>
                    <a:p>
                      <a:pPr algn="r"/>
                      <a:r>
                        <a:rPr sz="850" b="0">
                          <a:solidFill>
                            <a:srgbClr val="2B3147"/>
                          </a:solidFill>
                          <a:latin typeface="Calibri"/>
                        </a:rPr>
                        <a:t>11,767</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extLst>
                  <a:ext uri="{0D108BD9-81ED-4DB2-BD59-A6C34878D82A}">
                    <a16:rowId xmlns:a16="http://schemas.microsoft.com/office/drawing/2014/main" val="10003"/>
                  </a:ext>
                </a:extLst>
              </a:tr>
              <a:tr h="348615">
                <a:tc>
                  <a:txBody>
                    <a:bodyPr/>
                    <a:lstStyle/>
                    <a:p>
                      <a:pPr algn="l"/>
                      <a:r>
                        <a:rPr sz="850" b="1">
                          <a:solidFill>
                            <a:srgbClr val="2B3147"/>
                          </a:solidFill>
                          <a:latin typeface="Calibri"/>
                        </a:rPr>
                        <a:t>Quantcast (Display)</a:t>
                      </a:r>
                    </a:p>
                  </a:txBody>
                  <a:tcPr marL="54864" marR="54864" marT="27432" marB="27432">
                    <a:solidFill>
                      <a:srgbClr val="F9FAFC"/>
                    </a:solidFill>
                  </a:tcPr>
                </a:tc>
                <a:tc>
                  <a:txBody>
                    <a:bodyPr/>
                    <a:lstStyle/>
                    <a:p>
                      <a:pPr algn="r"/>
                      <a:r>
                        <a:rPr sz="850" b="0">
                          <a:solidFill>
                            <a:srgbClr val="2B3147"/>
                          </a:solidFill>
                          <a:latin typeface="Calibri"/>
                        </a:rPr>
                        <a:t>$29,857</a:t>
                      </a:r>
                    </a:p>
                  </a:txBody>
                  <a:tcPr marL="54864" marR="54864" marT="27432" marB="27432">
                    <a:solidFill>
                      <a:srgbClr val="F9FAFC"/>
                    </a:solidFill>
                  </a:tcPr>
                </a:tc>
                <a:tc>
                  <a:txBody>
                    <a:bodyPr/>
                    <a:lstStyle/>
                    <a:p>
                      <a:pPr algn="r"/>
                      <a:r>
                        <a:rPr sz="850" b="0">
                          <a:solidFill>
                            <a:srgbClr val="2B3147"/>
                          </a:solidFill>
                          <a:latin typeface="Calibri"/>
                        </a:rPr>
                        <a:t>22.49M</a:t>
                      </a:r>
                    </a:p>
                  </a:txBody>
                  <a:tcPr marL="54864" marR="54864" marT="27432" marB="27432">
                    <a:solidFill>
                      <a:srgbClr val="F9FAFC"/>
                    </a:solidFill>
                  </a:tcPr>
                </a:tc>
                <a:tc>
                  <a:txBody>
                    <a:bodyPr/>
                    <a:lstStyle/>
                    <a:p>
                      <a:pPr algn="r"/>
                      <a:r>
                        <a:rPr sz="850" b="0">
                          <a:solidFill>
                            <a:srgbClr val="2B3147"/>
                          </a:solidFill>
                          <a:latin typeface="Calibri"/>
                        </a:rPr>
                        <a:t>2,574</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extLst>
                  <a:ext uri="{0D108BD9-81ED-4DB2-BD59-A6C34878D82A}">
                    <a16:rowId xmlns:a16="http://schemas.microsoft.com/office/drawing/2014/main" val="10004"/>
                  </a:ext>
                </a:extLst>
              </a:tr>
              <a:tr h="348615">
                <a:tc>
                  <a:txBody>
                    <a:bodyPr/>
                    <a:lstStyle/>
                    <a:p>
                      <a:pPr algn="l"/>
                      <a:r>
                        <a:rPr sz="850" b="1">
                          <a:solidFill>
                            <a:srgbClr val="2B3147"/>
                          </a:solidFill>
                          <a:latin typeface="Calibri"/>
                        </a:rPr>
                        <a:t>Azerion (Display)</a:t>
                      </a:r>
                    </a:p>
                  </a:txBody>
                  <a:tcPr marL="54864" marR="54864" marT="27432" marB="27432">
                    <a:solidFill>
                      <a:srgbClr val="FFFFFF"/>
                    </a:solidFill>
                  </a:tcPr>
                </a:tc>
                <a:tc>
                  <a:txBody>
                    <a:bodyPr/>
                    <a:lstStyle/>
                    <a:p>
                      <a:pPr algn="r"/>
                      <a:r>
                        <a:rPr sz="850" b="0">
                          <a:solidFill>
                            <a:srgbClr val="2B3147"/>
                          </a:solidFill>
                          <a:latin typeface="Calibri"/>
                        </a:rPr>
                        <a:t>$31,477</a:t>
                      </a:r>
                    </a:p>
                  </a:txBody>
                  <a:tcPr marL="54864" marR="54864" marT="27432" marB="27432">
                    <a:solidFill>
                      <a:srgbClr val="FFFFFF"/>
                    </a:solidFill>
                  </a:tcPr>
                </a:tc>
                <a:tc>
                  <a:txBody>
                    <a:bodyPr/>
                    <a:lstStyle/>
                    <a:p>
                      <a:pPr algn="r"/>
                      <a:r>
                        <a:rPr sz="850" b="0">
                          <a:solidFill>
                            <a:srgbClr val="2B3147"/>
                          </a:solidFill>
                          <a:latin typeface="Calibri"/>
                        </a:rPr>
                        <a:t>4.77M</a:t>
                      </a:r>
                    </a:p>
                  </a:txBody>
                  <a:tcPr marL="54864" marR="54864" marT="27432" marB="27432">
                    <a:solidFill>
                      <a:srgbClr val="FFFFFF"/>
                    </a:solidFill>
                  </a:tcPr>
                </a:tc>
                <a:tc>
                  <a:txBody>
                    <a:bodyPr/>
                    <a:lstStyle/>
                    <a:p>
                      <a:pPr algn="r"/>
                      <a:r>
                        <a:rPr sz="850" b="0">
                          <a:solidFill>
                            <a:srgbClr val="2B3147"/>
                          </a:solidFill>
                          <a:latin typeface="Calibri"/>
                        </a:rPr>
                        <a:t>8,892</a:t>
                      </a:r>
                    </a:p>
                  </a:txBody>
                  <a:tcPr marL="54864" marR="54864" marT="27432" marB="27432">
                    <a:solidFill>
                      <a:srgbClr val="FFFFFF"/>
                    </a:solidFill>
                  </a:tcPr>
                </a:tc>
                <a:tc>
                  <a:txBody>
                    <a:bodyPr/>
                    <a:lstStyle/>
                    <a:p>
                      <a:pPr algn="r"/>
                      <a:r>
                        <a:rPr sz="850" b="0">
                          <a:solidFill>
                            <a:srgbClr val="2B3147"/>
                          </a:solidFill>
                          <a:latin typeface="Calibri"/>
                        </a:rPr>
                        <a:t>80</a:t>
                      </a:r>
                    </a:p>
                  </a:txBody>
                  <a:tcPr marL="54864" marR="54864" marT="27432" marB="27432">
                    <a:solidFill>
                      <a:srgbClr val="FFFFFF"/>
                    </a:solidFill>
                  </a:tcPr>
                </a:tc>
                <a:tc>
                  <a:txBody>
                    <a:bodyPr/>
                    <a:lstStyle/>
                    <a:p>
                      <a:pPr algn="r"/>
                      <a:r>
                        <a:rPr sz="850" b="0">
                          <a:solidFill>
                            <a:srgbClr val="2B3147"/>
                          </a:solidFill>
                          <a:latin typeface="Calibri"/>
                        </a:rPr>
                        <a:t>$393.46</a:t>
                      </a:r>
                    </a:p>
                  </a:txBody>
                  <a:tcPr marL="54864" marR="54864" marT="27432" marB="27432">
                    <a:solidFill>
                      <a:srgbClr val="FFFFFF"/>
                    </a:solidFill>
                  </a:tcPr>
                </a:tc>
                <a:extLst>
                  <a:ext uri="{0D108BD9-81ED-4DB2-BD59-A6C34878D82A}">
                    <a16:rowId xmlns:a16="http://schemas.microsoft.com/office/drawing/2014/main" val="10005"/>
                  </a:ext>
                </a:extLst>
              </a:tr>
              <a:tr h="348615">
                <a:tc>
                  <a:txBody>
                    <a:bodyPr/>
                    <a:lstStyle/>
                    <a:p>
                      <a:pPr algn="l"/>
                      <a:r>
                        <a:rPr sz="850" b="1">
                          <a:solidFill>
                            <a:srgbClr val="2B3147"/>
                          </a:solidFill>
                          <a:latin typeface="Calibri"/>
                        </a:rPr>
                        <a:t>Native (QC + Azerion)</a:t>
                      </a:r>
                    </a:p>
                  </a:txBody>
                  <a:tcPr marL="54864" marR="54864" marT="27432" marB="27432">
                    <a:solidFill>
                      <a:srgbClr val="F9FAFC"/>
                    </a:solidFill>
                  </a:tcPr>
                </a:tc>
                <a:tc>
                  <a:txBody>
                    <a:bodyPr/>
                    <a:lstStyle/>
                    <a:p>
                      <a:pPr algn="r"/>
                      <a:r>
                        <a:rPr sz="850" b="0">
                          <a:solidFill>
                            <a:srgbClr val="2B3147"/>
                          </a:solidFill>
                          <a:latin typeface="Calibri"/>
                        </a:rPr>
                        <a:t>$20,298</a:t>
                      </a:r>
                    </a:p>
                  </a:txBody>
                  <a:tcPr marL="54864" marR="54864" marT="27432" marB="27432">
                    <a:solidFill>
                      <a:srgbClr val="F9FAFC"/>
                    </a:solidFill>
                  </a:tcPr>
                </a:tc>
                <a:tc>
                  <a:txBody>
                    <a:bodyPr/>
                    <a:lstStyle/>
                    <a:p>
                      <a:pPr algn="r"/>
                      <a:r>
                        <a:rPr sz="850" b="0">
                          <a:solidFill>
                            <a:srgbClr val="2B3147"/>
                          </a:solidFill>
                          <a:latin typeface="Calibri"/>
                        </a:rPr>
                        <a:t>10.58M</a:t>
                      </a:r>
                    </a:p>
                  </a:txBody>
                  <a:tcPr marL="54864" marR="54864" marT="27432" marB="27432">
                    <a:solidFill>
                      <a:srgbClr val="F9FAFC"/>
                    </a:solidFill>
                  </a:tcPr>
                </a:tc>
                <a:tc>
                  <a:txBody>
                    <a:bodyPr/>
                    <a:lstStyle/>
                    <a:p>
                      <a:pPr algn="r"/>
                      <a:r>
                        <a:rPr sz="850" b="0">
                          <a:solidFill>
                            <a:srgbClr val="2B3147"/>
                          </a:solidFill>
                          <a:latin typeface="Calibri"/>
                        </a:rPr>
                        <a:t>2,476</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extLst>
                  <a:ext uri="{0D108BD9-81ED-4DB2-BD59-A6C34878D82A}">
                    <a16:rowId xmlns:a16="http://schemas.microsoft.com/office/drawing/2014/main" val="10006"/>
                  </a:ext>
                </a:extLst>
              </a:tr>
              <a:tr h="348615">
                <a:tc>
                  <a:txBody>
                    <a:bodyPr/>
                    <a:lstStyle/>
                    <a:p>
                      <a:pPr algn="l"/>
                      <a:r>
                        <a:rPr sz="850" b="1">
                          <a:solidFill>
                            <a:srgbClr val="1E2761"/>
                          </a:solidFill>
                          <a:latin typeface="Calibri"/>
                        </a:rPr>
                        <a:t>Total</a:t>
                      </a:r>
                    </a:p>
                  </a:txBody>
                  <a:tcPr marL="54864" marR="54864" marT="27432" marB="27432">
                    <a:solidFill>
                      <a:srgbClr val="CADCFC"/>
                    </a:solidFill>
                  </a:tcPr>
                </a:tc>
                <a:tc>
                  <a:txBody>
                    <a:bodyPr/>
                    <a:lstStyle/>
                    <a:p>
                      <a:pPr algn="r"/>
                      <a:r>
                        <a:rPr sz="850" b="1">
                          <a:solidFill>
                            <a:srgbClr val="1E2761"/>
                          </a:solidFill>
                          <a:latin typeface="Calibri"/>
                        </a:rPr>
                        <a:t>$136,224</a:t>
                      </a:r>
                    </a:p>
                  </a:txBody>
                  <a:tcPr marL="54864" marR="54864" marT="27432" marB="27432">
                    <a:solidFill>
                      <a:srgbClr val="CADCFC"/>
                    </a:solidFill>
                  </a:tcPr>
                </a:tc>
                <a:tc>
                  <a:txBody>
                    <a:bodyPr/>
                    <a:lstStyle/>
                    <a:p>
                      <a:pPr algn="r"/>
                      <a:r>
                        <a:rPr sz="850" b="1">
                          <a:solidFill>
                            <a:srgbClr val="1E2761"/>
                          </a:solidFill>
                          <a:latin typeface="Calibri"/>
                        </a:rPr>
                        <a:t>39.25M</a:t>
                      </a:r>
                    </a:p>
                  </a:txBody>
                  <a:tcPr marL="54864" marR="54864" marT="27432" marB="27432">
                    <a:solidFill>
                      <a:srgbClr val="CADCFC"/>
                    </a:solidFill>
                  </a:tcPr>
                </a:tc>
                <a:tc>
                  <a:txBody>
                    <a:bodyPr/>
                    <a:lstStyle/>
                    <a:p>
                      <a:pPr algn="r"/>
                      <a:r>
                        <a:rPr sz="850" b="1">
                          <a:solidFill>
                            <a:srgbClr val="1E2761"/>
                          </a:solidFill>
                          <a:latin typeface="Calibri"/>
                        </a:rPr>
                        <a:t>49,286</a:t>
                      </a:r>
                    </a:p>
                  </a:txBody>
                  <a:tcPr marL="54864" marR="54864" marT="27432" marB="27432">
                    <a:solidFill>
                      <a:srgbClr val="CADCFC"/>
                    </a:solidFill>
                  </a:tcPr>
                </a:tc>
                <a:tc>
                  <a:txBody>
                    <a:bodyPr/>
                    <a:lstStyle/>
                    <a:p>
                      <a:pPr algn="r"/>
                      <a:r>
                        <a:rPr sz="850" b="1">
                          <a:solidFill>
                            <a:srgbClr val="1E2761"/>
                          </a:solidFill>
                          <a:latin typeface="Calibri"/>
                        </a:rPr>
                        <a:t>—</a:t>
                      </a:r>
                    </a:p>
                  </a:txBody>
                  <a:tcPr marL="54864" marR="54864" marT="27432" marB="27432">
                    <a:solidFill>
                      <a:srgbClr val="CADCFC"/>
                    </a:solidFill>
                  </a:tcPr>
                </a:tc>
                <a:tc>
                  <a:txBody>
                    <a:bodyPr/>
                    <a:lstStyle/>
                    <a:p>
                      <a:pPr algn="r"/>
                      <a:r>
                        <a:rPr sz="850" b="1">
                          <a:solidFill>
                            <a:srgbClr val="1E2761"/>
                          </a:solidFill>
                          <a:latin typeface="Calibri"/>
                        </a:rPr>
                        <a:t>—</a:t>
                      </a:r>
                    </a:p>
                  </a:txBody>
                  <a:tcPr marL="54864" marR="54864" marT="27432" marB="27432">
                    <a:solidFill>
                      <a:srgbClr val="CADCFC"/>
                    </a:solidFill>
                  </a:tcPr>
                </a:tc>
                <a:extLst>
                  <a:ext uri="{0D108BD9-81ED-4DB2-BD59-A6C34878D82A}">
                    <a16:rowId xmlns:a16="http://schemas.microsoft.com/office/drawing/2014/main" val="10007"/>
                  </a:ext>
                </a:extLst>
              </a:tr>
            </a:tbl>
          </a:graphicData>
        </a:graphic>
      </p:graphicFrame>
      <p:sp>
        <p:nvSpPr>
          <p:cNvPr id="11" name="TextBox 10"/>
          <p:cNvSpPr txBox="1"/>
          <p:nvPr/>
        </p:nvSpPr>
        <p:spPr>
          <a:xfrm>
            <a:off x="457200" y="4572000"/>
            <a:ext cx="6766560" cy="685800"/>
          </a:xfrm>
          <a:prstGeom prst="rect">
            <a:avLst/>
          </a:prstGeom>
          <a:noFill/>
        </p:spPr>
        <p:txBody>
          <a:bodyPr wrap="square" lIns="0" tIns="0" rIns="0" bIns="0" anchor="t">
            <a:spAutoFit/>
          </a:bodyPr>
          <a:lstStyle/>
          <a:p>
            <a:pPr algn="l"/>
            <a:r>
              <a:rPr sz="750" b="0">
                <a:solidFill>
                  <a:srgbClr val="5A6072"/>
                </a:solidFill>
                <a:latin typeface="Calibri"/>
              </a:rPr>
              <a:t>Channel results reflect each platform or partner’s reporting methodology and should be interpreted independently. Cross-channel totals and blended acquisition costs are not used because attribution systems are not directly comparable. Meta clicks are link clicks. Spend per the client budget tracker.</a:t>
            </a:r>
          </a:p>
        </p:txBody>
      </p:sp>
      <p:sp>
        <p:nvSpPr>
          <p:cNvPr id="12" name="Rectangle 11"/>
          <p:cNvSpPr/>
          <p:nvPr/>
        </p:nvSpPr>
        <p:spPr>
          <a:xfrm>
            <a:off x="7406640" y="1737360"/>
            <a:ext cx="4297680" cy="2148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06640" y="1737360"/>
            <a:ext cx="64008" cy="21488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26096" y="1901952"/>
            <a:ext cx="3895344" cy="274320"/>
          </a:xfrm>
          <a:prstGeom prst="rect">
            <a:avLst/>
          </a:prstGeom>
          <a:noFill/>
        </p:spPr>
        <p:txBody>
          <a:bodyPr wrap="square" lIns="0" tIns="0" rIns="0" bIns="0" anchor="t">
            <a:spAutoFit/>
          </a:bodyPr>
          <a:lstStyle/>
          <a:p>
            <a:pPr algn="l"/>
            <a:r>
              <a:rPr sz="1000" b="1">
                <a:solidFill>
                  <a:srgbClr val="1E2761"/>
                </a:solidFill>
                <a:latin typeface="Georgia"/>
              </a:rPr>
              <a:t>THE SCORECARD, BY CHANNEL</a:t>
            </a:r>
          </a:p>
        </p:txBody>
      </p:sp>
      <p:sp>
        <p:nvSpPr>
          <p:cNvPr id="15" name="TextBox 14"/>
          <p:cNvSpPr txBox="1"/>
          <p:nvPr/>
        </p:nvSpPr>
        <p:spPr>
          <a:xfrm>
            <a:off x="7626096" y="2240280"/>
            <a:ext cx="3895344" cy="1463040"/>
          </a:xfrm>
          <a:prstGeom prst="rect">
            <a:avLst/>
          </a:prstGeom>
          <a:noFill/>
        </p:spPr>
        <p:txBody>
          <a:bodyPr wrap="square" lIns="0" tIns="0" rIns="0" bIns="0" anchor="t">
            <a:spAutoFit/>
          </a:bodyPr>
          <a:lstStyle/>
          <a:p>
            <a:pPr algn="l"/>
            <a:r>
              <a:rPr sz="950" b="0" dirty="0">
                <a:solidFill>
                  <a:srgbClr val="2B3147"/>
                </a:solidFill>
                <a:latin typeface="Calibri"/>
              </a:rPr>
              <a:t>Google: 122 submitted applications at $390.60 each across Search and </a:t>
            </a:r>
            <a:r>
              <a:rPr sz="950" b="0" dirty="0" err="1">
                <a:solidFill>
                  <a:srgbClr val="2B3147"/>
                </a:solidFill>
                <a:latin typeface="Calibri"/>
              </a:rPr>
              <a:t>PMax</a:t>
            </a:r>
            <a:r>
              <a:rPr sz="950" b="0" dirty="0">
                <a:solidFill>
                  <a:srgbClr val="2B3147"/>
                </a:solidFill>
                <a:latin typeface="Calibri"/>
              </a:rPr>
              <a:t>. Both are tracked the same way, the final submit step of the application form.</a:t>
            </a:r>
          </a:p>
          <a:p>
            <a:pPr algn="l">
              <a:spcBef>
                <a:spcPts val="600"/>
              </a:spcBef>
            </a:pPr>
            <a:r>
              <a:rPr sz="950" b="0" dirty="0">
                <a:solidFill>
                  <a:srgbClr val="2B3147"/>
                </a:solidFill>
                <a:latin typeface="Calibri"/>
              </a:rPr>
              <a:t>Azerion: 80 applications (as reported by Azerion’s own system) at $393.46 each, up from 58 at $510.10 in June.</a:t>
            </a:r>
          </a:p>
          <a:p>
            <a:pPr algn="l">
              <a:spcBef>
                <a:spcPts val="600"/>
              </a:spcBef>
            </a:pPr>
            <a:r>
              <a:rPr sz="950" b="0" dirty="0">
                <a:solidFill>
                  <a:srgbClr val="2B3147"/>
                </a:solidFill>
                <a:latin typeface="Calibri"/>
              </a:rPr>
              <a:t>Search alone: 73 applications at $403.81, with the ad-position work already making Track A Trust the account’s most efficient audience.</a:t>
            </a:r>
          </a:p>
        </p:txBody>
      </p:sp>
      <p:sp>
        <p:nvSpPr>
          <p:cNvPr id="16" name="Rectangle 15"/>
          <p:cNvSpPr/>
          <p:nvPr/>
        </p:nvSpPr>
        <p:spPr>
          <a:xfrm>
            <a:off x="7406640" y="4069080"/>
            <a:ext cx="4297680" cy="2148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406640" y="4069080"/>
            <a:ext cx="64008" cy="2148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26096" y="4233672"/>
            <a:ext cx="3895344" cy="274320"/>
          </a:xfrm>
          <a:prstGeom prst="rect">
            <a:avLst/>
          </a:prstGeom>
          <a:noFill/>
        </p:spPr>
        <p:txBody>
          <a:bodyPr wrap="square" lIns="0" tIns="0" rIns="0" bIns="0" anchor="t">
            <a:spAutoFit/>
          </a:bodyPr>
          <a:lstStyle/>
          <a:p>
            <a:pPr algn="l"/>
            <a:r>
              <a:rPr sz="1000" b="1">
                <a:solidFill>
                  <a:srgbClr val="1E2761"/>
                </a:solidFill>
                <a:latin typeface="Georgia"/>
              </a:rPr>
              <a:t>NEW THIS MONTH</a:t>
            </a:r>
          </a:p>
        </p:txBody>
      </p:sp>
      <p:sp>
        <p:nvSpPr>
          <p:cNvPr id="19" name="TextBox 18"/>
          <p:cNvSpPr txBox="1"/>
          <p:nvPr/>
        </p:nvSpPr>
        <p:spPr>
          <a:xfrm>
            <a:off x="7626096" y="4572000"/>
            <a:ext cx="3895344" cy="1463040"/>
          </a:xfrm>
          <a:prstGeom prst="rect">
            <a:avLst/>
          </a:prstGeom>
          <a:noFill/>
        </p:spPr>
        <p:txBody>
          <a:bodyPr wrap="square" lIns="0" tIns="0" rIns="0" bIns="0" anchor="t">
            <a:spAutoFit/>
          </a:bodyPr>
          <a:lstStyle/>
          <a:p>
            <a:pPr algn="l"/>
            <a:r>
              <a:rPr sz="950" b="0" dirty="0" err="1">
                <a:solidFill>
                  <a:srgbClr val="2B3147"/>
                </a:solidFill>
                <a:latin typeface="Calibri"/>
              </a:rPr>
              <a:t>PMax</a:t>
            </a:r>
            <a:r>
              <a:rPr sz="950" b="0" dirty="0">
                <a:solidFill>
                  <a:srgbClr val="2B3147"/>
                </a:solidFill>
                <a:latin typeface="Calibri"/>
              </a:rPr>
              <a:t> launched the week of July 13 and matched Search’s efficiency in its first partial month: $370.91 per application.</a:t>
            </a:r>
          </a:p>
          <a:p>
            <a:pPr algn="l">
              <a:spcBef>
                <a:spcPts val="600"/>
              </a:spcBef>
            </a:pPr>
            <a:r>
              <a:rPr sz="950" b="0" dirty="0">
                <a:solidFill>
                  <a:srgbClr val="2B3147"/>
                </a:solidFill>
                <a:latin typeface="Calibri"/>
              </a:rPr>
              <a:t>Meta added a campaign built specifically to drive applications, which carried 44% of a smaller, reallocated Meta budget this month. The account is flagged and paused entering August; </a:t>
            </a:r>
            <a:r>
              <a:rPr sz="950" b="0" dirty="0" err="1">
                <a:solidFill>
                  <a:srgbClr val="2B3147"/>
                </a:solidFill>
                <a:latin typeface="Calibri"/>
              </a:rPr>
              <a:t>StoneX</a:t>
            </a:r>
            <a:r>
              <a:rPr sz="950" b="0" dirty="0">
                <a:solidFill>
                  <a:srgbClr val="2B3147"/>
                </a:solidFill>
                <a:latin typeface="Calibri"/>
              </a:rPr>
              <a:t> owns the resolution.</a:t>
            </a:r>
          </a:p>
          <a:p>
            <a:pPr algn="l">
              <a:spcBef>
                <a:spcPts val="600"/>
              </a:spcBef>
            </a:pPr>
            <a:r>
              <a:rPr sz="950" b="0" dirty="0">
                <a:solidFill>
                  <a:srgbClr val="2B3147"/>
                </a:solidFill>
                <a:latin typeface="Calibri"/>
              </a:rPr>
              <a:t>Quantcast Native launched alongside Azerion Native; both are measured on ad delivery only this month, not applications.</a:t>
            </a:r>
          </a:p>
        </p:txBody>
      </p:sp>
    </p:spTree>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GOOGLE SEARCH  ·  PERFORMANCE</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73 submitted applications at $403.81; the ad-position work is paying off.</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3 / 13</a:t>
            </a:r>
          </a:p>
        </p:txBody>
      </p:sp>
      <p:sp>
        <p:nvSpPr>
          <p:cNvPr id="10" name="TextBox 9"/>
          <p:cNvSpPr txBox="1"/>
          <p:nvPr/>
        </p:nvSpPr>
        <p:spPr>
          <a:xfrm>
            <a:off x="457200" y="1417320"/>
            <a:ext cx="11247120" cy="274320"/>
          </a:xfrm>
          <a:prstGeom prst="rect">
            <a:avLst/>
          </a:prstGeom>
          <a:noFill/>
        </p:spPr>
        <p:txBody>
          <a:bodyPr wrap="square" lIns="0" tIns="0" rIns="0" bIns="0" anchor="t">
            <a:spAutoFit/>
          </a:bodyPr>
          <a:lstStyle/>
          <a:p>
            <a:pPr algn="l"/>
            <a:r>
              <a:rPr sz="950" b="0">
                <a:solidFill>
                  <a:srgbClr val="5A6072"/>
                </a:solidFill>
                <a:latin typeface="Calibri"/>
              </a:rPr>
              <a:t>Target: non-brand Spanish-language search across Trust, Authority and Platform, plus a brand track, US only.</a:t>
            </a:r>
          </a:p>
        </p:txBody>
      </p:sp>
      <p:sp>
        <p:nvSpPr>
          <p:cNvPr id="11" name="Rectangle 10"/>
          <p:cNvSpPr/>
          <p:nvPr/>
        </p:nvSpPr>
        <p:spPr>
          <a:xfrm>
            <a:off x="45720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SPEND</a:t>
            </a:r>
          </a:p>
        </p:txBody>
      </p:sp>
      <p:sp>
        <p:nvSpPr>
          <p:cNvPr id="14" name="TextBox 13"/>
          <p:cNvSpPr txBox="1"/>
          <p:nvPr/>
        </p:nvSpPr>
        <p:spPr>
          <a:xfrm>
            <a:off x="640080"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$29,478</a:t>
            </a:r>
          </a:p>
        </p:txBody>
      </p:sp>
      <p:sp>
        <p:nvSpPr>
          <p:cNvPr id="15" name="TextBox 14"/>
          <p:cNvSpPr txBox="1"/>
          <p:nvPr/>
        </p:nvSpPr>
        <p:spPr>
          <a:xfrm>
            <a:off x="640080"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+30.9% MoM</a:t>
            </a:r>
          </a:p>
        </p:txBody>
      </p:sp>
      <p:sp>
        <p:nvSpPr>
          <p:cNvPr id="16" name="Rectangle 15"/>
          <p:cNvSpPr/>
          <p:nvPr/>
        </p:nvSpPr>
        <p:spPr>
          <a:xfrm>
            <a:off x="2359152"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359152"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42032"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IMPRESSIONS</a:t>
            </a:r>
          </a:p>
        </p:txBody>
      </p:sp>
      <p:sp>
        <p:nvSpPr>
          <p:cNvPr id="19" name="TextBox 18"/>
          <p:cNvSpPr txBox="1"/>
          <p:nvPr/>
        </p:nvSpPr>
        <p:spPr>
          <a:xfrm>
            <a:off x="2542032"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125,392</a:t>
            </a:r>
          </a:p>
        </p:txBody>
      </p:sp>
      <p:sp>
        <p:nvSpPr>
          <p:cNvPr id="20" name="TextBox 19"/>
          <p:cNvSpPr txBox="1"/>
          <p:nvPr/>
        </p:nvSpPr>
        <p:spPr>
          <a:xfrm>
            <a:off x="2542032"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CTR 7.63%</a:t>
            </a:r>
          </a:p>
        </p:txBody>
      </p:sp>
      <p:sp>
        <p:nvSpPr>
          <p:cNvPr id="21" name="Rectangle 20"/>
          <p:cNvSpPr/>
          <p:nvPr/>
        </p:nvSpPr>
        <p:spPr>
          <a:xfrm>
            <a:off x="4261104"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61104"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43984"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CLICKS</a:t>
            </a:r>
          </a:p>
        </p:txBody>
      </p:sp>
      <p:sp>
        <p:nvSpPr>
          <p:cNvPr id="24" name="TextBox 23"/>
          <p:cNvSpPr txBox="1"/>
          <p:nvPr/>
        </p:nvSpPr>
        <p:spPr>
          <a:xfrm>
            <a:off x="4443984"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9,568</a:t>
            </a:r>
          </a:p>
        </p:txBody>
      </p:sp>
      <p:sp>
        <p:nvSpPr>
          <p:cNvPr id="25" name="TextBox 24"/>
          <p:cNvSpPr txBox="1"/>
          <p:nvPr/>
        </p:nvSpPr>
        <p:spPr>
          <a:xfrm>
            <a:off x="4443984"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avg CPC $3.08</a:t>
            </a:r>
          </a:p>
        </p:txBody>
      </p:sp>
      <p:sp>
        <p:nvSpPr>
          <p:cNvPr id="26" name="Rectangle 25"/>
          <p:cNvSpPr/>
          <p:nvPr/>
        </p:nvSpPr>
        <p:spPr>
          <a:xfrm>
            <a:off x="6163056"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63056"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45936"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SUBMITTED APPS</a:t>
            </a:r>
          </a:p>
        </p:txBody>
      </p:sp>
      <p:sp>
        <p:nvSpPr>
          <p:cNvPr id="29" name="TextBox 28"/>
          <p:cNvSpPr txBox="1"/>
          <p:nvPr/>
        </p:nvSpPr>
        <p:spPr>
          <a:xfrm>
            <a:off x="6345936"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73</a:t>
            </a:r>
          </a:p>
        </p:txBody>
      </p:sp>
      <p:sp>
        <p:nvSpPr>
          <p:cNvPr id="30" name="TextBox 29"/>
          <p:cNvSpPr txBox="1"/>
          <p:nvPr/>
        </p:nvSpPr>
        <p:spPr>
          <a:xfrm>
            <a:off x="6345936"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+9.0% MoM</a:t>
            </a:r>
          </a:p>
        </p:txBody>
      </p:sp>
      <p:sp>
        <p:nvSpPr>
          <p:cNvPr id="31" name="Rectangle 30"/>
          <p:cNvSpPr/>
          <p:nvPr/>
        </p:nvSpPr>
        <p:spPr>
          <a:xfrm>
            <a:off x="8065008"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65008"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47888"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CPA</a:t>
            </a:r>
          </a:p>
        </p:txBody>
      </p:sp>
      <p:sp>
        <p:nvSpPr>
          <p:cNvPr id="34" name="TextBox 33"/>
          <p:cNvSpPr txBox="1"/>
          <p:nvPr/>
        </p:nvSpPr>
        <p:spPr>
          <a:xfrm>
            <a:off x="8247888"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$403.81</a:t>
            </a:r>
          </a:p>
        </p:txBody>
      </p:sp>
      <p:sp>
        <p:nvSpPr>
          <p:cNvPr id="35" name="TextBox 34"/>
          <p:cNvSpPr txBox="1"/>
          <p:nvPr/>
        </p:nvSpPr>
        <p:spPr>
          <a:xfrm>
            <a:off x="8247888"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+20.1% MoM</a:t>
            </a:r>
          </a:p>
        </p:txBody>
      </p:sp>
      <p:sp>
        <p:nvSpPr>
          <p:cNvPr id="36" name="Rectangle 35"/>
          <p:cNvSpPr/>
          <p:nvPr/>
        </p:nvSpPr>
        <p:spPr>
          <a:xfrm>
            <a:off x="996696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96696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149840" y="1874519"/>
            <a:ext cx="1508760" cy="274320"/>
          </a:xfrm>
          <a:prstGeom prst="rect">
            <a:avLst/>
          </a:prstGeom>
          <a:noFill/>
        </p:spPr>
        <p:txBody>
          <a:bodyPr wrap="square" lIns="0" tIns="0" rIns="0" bIns="0" anchor="t">
            <a:spAutoFit/>
          </a:bodyPr>
          <a:lstStyle/>
          <a:p>
            <a:pPr algn="l"/>
            <a:r>
              <a:rPr sz="800" b="1" dirty="0">
                <a:solidFill>
                  <a:srgbClr val="5A6072"/>
                </a:solidFill>
                <a:latin typeface="Calibri"/>
              </a:rPr>
              <a:t>TRUST CPA</a:t>
            </a:r>
          </a:p>
        </p:txBody>
      </p:sp>
      <p:sp>
        <p:nvSpPr>
          <p:cNvPr id="39" name="TextBox 38"/>
          <p:cNvSpPr txBox="1"/>
          <p:nvPr/>
        </p:nvSpPr>
        <p:spPr>
          <a:xfrm>
            <a:off x="10149840"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$390.86</a:t>
            </a:r>
          </a:p>
        </p:txBody>
      </p:sp>
      <p:sp>
        <p:nvSpPr>
          <p:cNvPr id="40" name="TextBox 39"/>
          <p:cNvSpPr txBox="1"/>
          <p:nvPr/>
        </p:nvSpPr>
        <p:spPr>
          <a:xfrm>
            <a:off x="10149840"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28 apps, account leader</a:t>
            </a:r>
          </a:p>
        </p:txBody>
      </p:sp>
      <p:graphicFrame>
        <p:nvGraphicFramePr>
          <p:cNvPr id="41" name="Table 40"/>
          <p:cNvGraphicFramePr>
            <a:graphicFrameLocks noGrp="1"/>
          </p:cNvGraphicFramePr>
          <p:nvPr/>
        </p:nvGraphicFramePr>
        <p:xfrm>
          <a:off x="457200" y="3383280"/>
          <a:ext cx="6766560" cy="2926080"/>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25120">
                <a:tc>
                  <a:txBody>
                    <a:bodyPr/>
                    <a:lstStyle/>
                    <a:p>
                      <a:pPr algn="l"/>
                      <a:r>
                        <a:rPr sz="850" b="1">
                          <a:solidFill>
                            <a:srgbClr val="FFFFFF"/>
                          </a:solidFill>
                          <a:latin typeface="Calibri"/>
                        </a:rPr>
                        <a:t>Keyword</a:t>
                      </a:r>
                    </a:p>
                  </a:txBody>
                  <a:tcPr marL="54864" marR="54864" marT="27432" marB="27432">
                    <a:solidFill>
                      <a:srgbClr val="1E2761"/>
                    </a:solidFill>
                  </a:tcPr>
                </a:tc>
                <a:tc>
                  <a:txBody>
                    <a:bodyPr/>
                    <a:lstStyle/>
                    <a:p>
                      <a:pPr algn="r"/>
                      <a:r>
                        <a:rPr sz="850" b="1">
                          <a:solidFill>
                            <a:srgbClr val="FFFFFF"/>
                          </a:solidFill>
                          <a:latin typeface="Calibri"/>
                        </a:rPr>
                        <a:t>Track</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Apps</a:t>
                      </a:r>
                    </a:p>
                  </a:txBody>
                  <a:tcPr marL="54864" marR="54864" marT="27432" marB="27432">
                    <a:solidFill>
                      <a:srgbClr val="1E2761"/>
                    </a:solidFill>
                  </a:tcPr>
                </a:tc>
                <a:tc>
                  <a:txBody>
                    <a:bodyPr/>
                    <a:lstStyle/>
                    <a:p>
                      <a:pPr algn="r"/>
                      <a:r>
                        <a:rPr sz="850" b="1">
                          <a:solidFill>
                            <a:srgbClr val="FFFFFF"/>
                          </a:solidFill>
                          <a:latin typeface="Calibri"/>
                        </a:rPr>
                        <a:t>CPA</a:t>
                      </a:r>
                    </a:p>
                  </a:txBody>
                  <a:tcPr marL="54864" marR="54864" marT="27432" marB="27432">
                    <a:solidFill>
                      <a:srgbClr val="1E2761"/>
                    </a:solidFill>
                  </a:tcPr>
                </a:tc>
                <a:extLst>
                  <a:ext uri="{0D108BD9-81ED-4DB2-BD59-A6C34878D82A}">
                    <a16:rowId xmlns:a16="http://schemas.microsoft.com/office/drawing/2014/main" val="10000"/>
                  </a:ext>
                </a:extLst>
              </a:tr>
              <a:tr h="325120">
                <a:tc>
                  <a:txBody>
                    <a:bodyPr/>
                    <a:lstStyle/>
                    <a:p>
                      <a:pPr algn="l"/>
                      <a:r>
                        <a:rPr sz="850" b="1">
                          <a:solidFill>
                            <a:srgbClr val="2B3147"/>
                          </a:solidFill>
                          <a:latin typeface="Calibri"/>
                        </a:rPr>
                        <a:t>broker forex usa (broad)</a:t>
                      </a:r>
                    </a:p>
                  </a:txBody>
                  <a:tcPr marL="54864" marR="54864" marT="27432" marB="27432">
                    <a:solidFill>
                      <a:srgbClr val="FFFFFF"/>
                    </a:solidFill>
                  </a:tcPr>
                </a:tc>
                <a:tc>
                  <a:txBody>
                    <a:bodyPr/>
                    <a:lstStyle/>
                    <a:p>
                      <a:pPr algn="r"/>
                      <a:r>
                        <a:rPr sz="850" b="0">
                          <a:solidFill>
                            <a:srgbClr val="2B3147"/>
                          </a:solidFill>
                          <a:latin typeface="Calibri"/>
                        </a:rPr>
                        <a:t>Authority</a:t>
                      </a:r>
                    </a:p>
                  </a:txBody>
                  <a:tcPr marL="54864" marR="54864" marT="27432" marB="27432">
                    <a:solidFill>
                      <a:srgbClr val="FFFFFF"/>
                    </a:solidFill>
                  </a:tcPr>
                </a:tc>
                <a:tc>
                  <a:txBody>
                    <a:bodyPr/>
                    <a:lstStyle/>
                    <a:p>
                      <a:pPr algn="r"/>
                      <a:r>
                        <a:rPr sz="850" b="0">
                          <a:solidFill>
                            <a:srgbClr val="2B3147"/>
                          </a:solidFill>
                          <a:latin typeface="Calibri"/>
                        </a:rPr>
                        <a:t>$4,233.86</a:t>
                      </a:r>
                    </a:p>
                  </a:txBody>
                  <a:tcPr marL="54864" marR="54864" marT="27432" marB="27432">
                    <a:solidFill>
                      <a:srgbClr val="FFFFFF"/>
                    </a:solidFill>
                  </a:tcPr>
                </a:tc>
                <a:tc>
                  <a:txBody>
                    <a:bodyPr/>
                    <a:lstStyle/>
                    <a:p>
                      <a:pPr algn="r"/>
                      <a:r>
                        <a:rPr sz="850" b="0">
                          <a:solidFill>
                            <a:srgbClr val="2B3147"/>
                          </a:solidFill>
                          <a:latin typeface="Calibri"/>
                        </a:rPr>
                        <a:t>15</a:t>
                      </a:r>
                    </a:p>
                  </a:txBody>
                  <a:tcPr marL="54864" marR="54864" marT="27432" marB="27432">
                    <a:solidFill>
                      <a:srgbClr val="FFFFFF"/>
                    </a:solidFill>
                  </a:tcPr>
                </a:tc>
                <a:tc>
                  <a:txBody>
                    <a:bodyPr/>
                    <a:lstStyle/>
                    <a:p>
                      <a:pPr algn="r"/>
                      <a:r>
                        <a:rPr sz="850" b="0">
                          <a:solidFill>
                            <a:srgbClr val="2B3147"/>
                          </a:solidFill>
                          <a:latin typeface="Calibri"/>
                        </a:rPr>
                        <a:t>$282.26</a:t>
                      </a:r>
                    </a:p>
                  </a:txBody>
                  <a:tcPr marL="54864" marR="54864" marT="27432" marB="27432">
                    <a:solidFill>
                      <a:srgbClr val="FFFFFF"/>
                    </a:solidFill>
                  </a:tcPr>
                </a:tc>
                <a:extLst>
                  <a:ext uri="{0D108BD9-81ED-4DB2-BD59-A6C34878D82A}">
                    <a16:rowId xmlns:a16="http://schemas.microsoft.com/office/drawing/2014/main" val="10001"/>
                  </a:ext>
                </a:extLst>
              </a:tr>
              <a:tr h="325120">
                <a:tc>
                  <a:txBody>
                    <a:bodyPr/>
                    <a:lstStyle/>
                    <a:p>
                      <a:pPr algn="l"/>
                      <a:r>
                        <a:rPr sz="850" b="1">
                          <a:solidFill>
                            <a:srgbClr val="2B3147"/>
                          </a:solidFill>
                          <a:latin typeface="Calibri"/>
                        </a:rPr>
                        <a:t>broker estados unidos</a:t>
                      </a:r>
                    </a:p>
                  </a:txBody>
                  <a:tcPr marL="54864" marR="54864" marT="27432" marB="27432">
                    <a:solidFill>
                      <a:srgbClr val="F9FAFC"/>
                    </a:solidFill>
                  </a:tcPr>
                </a:tc>
                <a:tc>
                  <a:txBody>
                    <a:bodyPr/>
                    <a:lstStyle/>
                    <a:p>
                      <a:pPr algn="r"/>
                      <a:r>
                        <a:rPr sz="850" b="0">
                          <a:solidFill>
                            <a:srgbClr val="2B3147"/>
                          </a:solidFill>
                          <a:latin typeface="Calibri"/>
                        </a:rPr>
                        <a:t>Authority</a:t>
                      </a:r>
                    </a:p>
                  </a:txBody>
                  <a:tcPr marL="54864" marR="54864" marT="27432" marB="27432">
                    <a:solidFill>
                      <a:srgbClr val="F9FAFC"/>
                    </a:solidFill>
                  </a:tcPr>
                </a:tc>
                <a:tc>
                  <a:txBody>
                    <a:bodyPr/>
                    <a:lstStyle/>
                    <a:p>
                      <a:pPr algn="r"/>
                      <a:r>
                        <a:rPr sz="850" b="0">
                          <a:solidFill>
                            <a:srgbClr val="2B3147"/>
                          </a:solidFill>
                          <a:latin typeface="Calibri"/>
                        </a:rPr>
                        <a:t>$2,850.14</a:t>
                      </a:r>
                    </a:p>
                  </a:txBody>
                  <a:tcPr marL="54864" marR="54864" marT="27432" marB="27432">
                    <a:solidFill>
                      <a:srgbClr val="F9FAFC"/>
                    </a:solidFill>
                  </a:tcPr>
                </a:tc>
                <a:tc>
                  <a:txBody>
                    <a:bodyPr/>
                    <a:lstStyle/>
                    <a:p>
                      <a:pPr algn="r"/>
                      <a:r>
                        <a:rPr sz="850" b="0">
                          <a:solidFill>
                            <a:srgbClr val="2B3147"/>
                          </a:solidFill>
                          <a:latin typeface="Calibri"/>
                        </a:rPr>
                        <a:t>3</a:t>
                      </a:r>
                    </a:p>
                  </a:txBody>
                  <a:tcPr marL="54864" marR="54864" marT="27432" marB="27432">
                    <a:solidFill>
                      <a:srgbClr val="F9FAFC"/>
                    </a:solidFill>
                  </a:tcPr>
                </a:tc>
                <a:tc>
                  <a:txBody>
                    <a:bodyPr/>
                    <a:lstStyle/>
                    <a:p>
                      <a:pPr algn="r"/>
                      <a:r>
                        <a:rPr sz="850" b="0">
                          <a:solidFill>
                            <a:srgbClr val="2B3147"/>
                          </a:solidFill>
                          <a:latin typeface="Calibri"/>
                        </a:rPr>
                        <a:t>$950.05</a:t>
                      </a:r>
                    </a:p>
                  </a:txBody>
                  <a:tcPr marL="54864" marR="54864" marT="27432" marB="27432">
                    <a:solidFill>
                      <a:srgbClr val="F9FAFC"/>
                    </a:solidFill>
                  </a:tcPr>
                </a:tc>
                <a:extLst>
                  <a:ext uri="{0D108BD9-81ED-4DB2-BD59-A6C34878D82A}">
                    <a16:rowId xmlns:a16="http://schemas.microsoft.com/office/drawing/2014/main" val="10002"/>
                  </a:ext>
                </a:extLst>
              </a:tr>
              <a:tr h="325120">
                <a:tc>
                  <a:txBody>
                    <a:bodyPr/>
                    <a:lstStyle/>
                    <a:p>
                      <a:pPr algn="l"/>
                      <a:r>
                        <a:rPr sz="850" b="1">
                          <a:solidFill>
                            <a:srgbClr val="2B3147"/>
                          </a:solidFill>
                          <a:latin typeface="Calibri"/>
                        </a:rPr>
                        <a:t>plataforma de trading</a:t>
                      </a:r>
                    </a:p>
                  </a:txBody>
                  <a:tcPr marL="54864" marR="54864" marT="27432" marB="27432">
                    <a:solidFill>
                      <a:srgbClr val="FFFFFF"/>
                    </a:solidFill>
                  </a:tcPr>
                </a:tc>
                <a:tc>
                  <a:txBody>
                    <a:bodyPr/>
                    <a:lstStyle/>
                    <a:p>
                      <a:pPr algn="r"/>
                      <a:r>
                        <a:rPr sz="850" b="0">
                          <a:solidFill>
                            <a:srgbClr val="2B3147"/>
                          </a:solidFill>
                          <a:latin typeface="Calibri"/>
                        </a:rPr>
                        <a:t>Platform</a:t>
                      </a:r>
                    </a:p>
                  </a:txBody>
                  <a:tcPr marL="54864" marR="54864" marT="27432" marB="27432">
                    <a:solidFill>
                      <a:srgbClr val="FFFFFF"/>
                    </a:solidFill>
                  </a:tcPr>
                </a:tc>
                <a:tc>
                  <a:txBody>
                    <a:bodyPr/>
                    <a:lstStyle/>
                    <a:p>
                      <a:pPr algn="r"/>
                      <a:r>
                        <a:rPr sz="850" b="0">
                          <a:solidFill>
                            <a:srgbClr val="2B3147"/>
                          </a:solidFill>
                          <a:latin typeface="Calibri"/>
                        </a:rPr>
                        <a:t>$2,445.17</a:t>
                      </a:r>
                    </a:p>
                  </a:txBody>
                  <a:tcPr marL="54864" marR="54864" marT="27432" marB="27432">
                    <a:solidFill>
                      <a:srgbClr val="FFFFFF"/>
                    </a:solidFill>
                  </a:tcPr>
                </a:tc>
                <a:tc>
                  <a:txBody>
                    <a:bodyPr/>
                    <a:lstStyle/>
                    <a:p>
                      <a:pPr algn="r"/>
                      <a:r>
                        <a:rPr sz="850" b="0">
                          <a:solidFill>
                            <a:srgbClr val="2B3147"/>
                          </a:solidFill>
                          <a:latin typeface="Calibri"/>
                        </a:rPr>
                        <a:t>7</a:t>
                      </a:r>
                    </a:p>
                  </a:txBody>
                  <a:tcPr marL="54864" marR="54864" marT="27432" marB="27432">
                    <a:solidFill>
                      <a:srgbClr val="FFFFFF"/>
                    </a:solidFill>
                  </a:tcPr>
                </a:tc>
                <a:tc>
                  <a:txBody>
                    <a:bodyPr/>
                    <a:lstStyle/>
                    <a:p>
                      <a:pPr algn="r"/>
                      <a:r>
                        <a:rPr sz="850" b="0">
                          <a:solidFill>
                            <a:srgbClr val="2B3147"/>
                          </a:solidFill>
                          <a:latin typeface="Calibri"/>
                        </a:rPr>
                        <a:t>$349.31</a:t>
                      </a:r>
                    </a:p>
                  </a:txBody>
                  <a:tcPr marL="54864" marR="54864" marT="27432" marB="27432">
                    <a:solidFill>
                      <a:srgbClr val="FFFFFF"/>
                    </a:solidFill>
                  </a:tcPr>
                </a:tc>
                <a:extLst>
                  <a:ext uri="{0D108BD9-81ED-4DB2-BD59-A6C34878D82A}">
                    <a16:rowId xmlns:a16="http://schemas.microsoft.com/office/drawing/2014/main" val="10003"/>
                  </a:ext>
                </a:extLst>
              </a:tr>
              <a:tr h="325120">
                <a:tc>
                  <a:txBody>
                    <a:bodyPr/>
                    <a:lstStyle/>
                    <a:p>
                      <a:pPr algn="l"/>
                      <a:r>
                        <a:rPr sz="850" b="1">
                          <a:solidFill>
                            <a:srgbClr val="2B3147"/>
                          </a:solidFill>
                          <a:latin typeface="Calibri"/>
                        </a:rPr>
                        <a:t>invertir en forex</a:t>
                      </a:r>
                    </a:p>
                  </a:txBody>
                  <a:tcPr marL="54864" marR="54864" marT="27432" marB="27432">
                    <a:solidFill>
                      <a:srgbClr val="F9FAFC"/>
                    </a:solidFill>
                  </a:tcPr>
                </a:tc>
                <a:tc>
                  <a:txBody>
                    <a:bodyPr/>
                    <a:lstStyle/>
                    <a:p>
                      <a:pPr algn="r"/>
                      <a:r>
                        <a:rPr sz="850" b="0">
                          <a:solidFill>
                            <a:srgbClr val="2B3147"/>
                          </a:solidFill>
                          <a:latin typeface="Calibri"/>
                        </a:rPr>
                        <a:t>Trust</a:t>
                      </a:r>
                    </a:p>
                  </a:txBody>
                  <a:tcPr marL="54864" marR="54864" marT="27432" marB="27432">
                    <a:solidFill>
                      <a:srgbClr val="F9FAFC"/>
                    </a:solidFill>
                  </a:tcPr>
                </a:tc>
                <a:tc>
                  <a:txBody>
                    <a:bodyPr/>
                    <a:lstStyle/>
                    <a:p>
                      <a:pPr algn="r"/>
                      <a:r>
                        <a:rPr sz="850" b="0">
                          <a:solidFill>
                            <a:srgbClr val="2B3147"/>
                          </a:solidFill>
                          <a:latin typeface="Calibri"/>
                        </a:rPr>
                        <a:t>$2,331.88</a:t>
                      </a:r>
                    </a:p>
                  </a:txBody>
                  <a:tcPr marL="54864" marR="54864" marT="27432" marB="27432">
                    <a:solidFill>
                      <a:srgbClr val="F9FAFC"/>
                    </a:solidFill>
                  </a:tcPr>
                </a:tc>
                <a:tc>
                  <a:txBody>
                    <a:bodyPr/>
                    <a:lstStyle/>
                    <a:p>
                      <a:pPr algn="r"/>
                      <a:r>
                        <a:rPr sz="850" b="0">
                          <a:solidFill>
                            <a:srgbClr val="2B3147"/>
                          </a:solidFill>
                          <a:latin typeface="Calibri"/>
                        </a:rPr>
                        <a:t>2</a:t>
                      </a:r>
                    </a:p>
                  </a:txBody>
                  <a:tcPr marL="54864" marR="54864" marT="27432" marB="27432">
                    <a:solidFill>
                      <a:srgbClr val="F9FAFC"/>
                    </a:solidFill>
                  </a:tcPr>
                </a:tc>
                <a:tc>
                  <a:txBody>
                    <a:bodyPr/>
                    <a:lstStyle/>
                    <a:p>
                      <a:pPr algn="r"/>
                      <a:r>
                        <a:rPr sz="850" b="0">
                          <a:solidFill>
                            <a:srgbClr val="2B3147"/>
                          </a:solidFill>
                          <a:latin typeface="Calibri"/>
                        </a:rPr>
                        <a:t>$1,165.94</a:t>
                      </a:r>
                    </a:p>
                  </a:txBody>
                  <a:tcPr marL="54864" marR="54864" marT="27432" marB="27432">
                    <a:solidFill>
                      <a:srgbClr val="F9FAFC"/>
                    </a:solidFill>
                  </a:tcPr>
                </a:tc>
                <a:extLst>
                  <a:ext uri="{0D108BD9-81ED-4DB2-BD59-A6C34878D82A}">
                    <a16:rowId xmlns:a16="http://schemas.microsoft.com/office/drawing/2014/main" val="10004"/>
                  </a:ext>
                </a:extLst>
              </a:tr>
              <a:tr h="325120">
                <a:tc>
                  <a:txBody>
                    <a:bodyPr/>
                    <a:lstStyle/>
                    <a:p>
                      <a:pPr algn="l"/>
                      <a:r>
                        <a:rPr sz="850" b="1">
                          <a:solidFill>
                            <a:srgbClr val="2B3147"/>
                          </a:solidFill>
                          <a:latin typeface="Calibri"/>
                        </a:rPr>
                        <a:t>forex com español</a:t>
                      </a:r>
                    </a:p>
                  </a:txBody>
                  <a:tcPr marL="54864" marR="54864" marT="27432" marB="27432">
                    <a:solidFill>
                      <a:srgbClr val="FFFFFF"/>
                    </a:solidFill>
                  </a:tcPr>
                </a:tc>
                <a:tc>
                  <a:txBody>
                    <a:bodyPr/>
                    <a:lstStyle/>
                    <a:p>
                      <a:pPr algn="r"/>
                      <a:r>
                        <a:rPr sz="850" b="0">
                          <a:solidFill>
                            <a:srgbClr val="2B3147"/>
                          </a:solidFill>
                          <a:latin typeface="Calibri"/>
                        </a:rPr>
                        <a:t>Brand</a:t>
                      </a:r>
                    </a:p>
                  </a:txBody>
                  <a:tcPr marL="54864" marR="54864" marT="27432" marB="27432">
                    <a:solidFill>
                      <a:srgbClr val="FFFFFF"/>
                    </a:solidFill>
                  </a:tcPr>
                </a:tc>
                <a:tc>
                  <a:txBody>
                    <a:bodyPr/>
                    <a:lstStyle/>
                    <a:p>
                      <a:pPr algn="r"/>
                      <a:r>
                        <a:rPr sz="850" b="0">
                          <a:solidFill>
                            <a:srgbClr val="2B3147"/>
                          </a:solidFill>
                          <a:latin typeface="Calibri"/>
                        </a:rPr>
                        <a:t>$2,061.70</a:t>
                      </a:r>
                    </a:p>
                  </a:txBody>
                  <a:tcPr marL="54864" marR="54864" marT="27432" marB="27432">
                    <a:solidFill>
                      <a:srgbClr val="FFFFFF"/>
                    </a:solidFill>
                  </a:tcPr>
                </a:tc>
                <a:tc>
                  <a:txBody>
                    <a:bodyPr/>
                    <a:lstStyle/>
                    <a:p>
                      <a:pPr algn="r"/>
                      <a:r>
                        <a:rPr sz="850" b="0">
                          <a:solidFill>
                            <a:srgbClr val="2B3147"/>
                          </a:solidFill>
                          <a:latin typeface="Calibri"/>
                        </a:rPr>
                        <a:t>5</a:t>
                      </a:r>
                    </a:p>
                  </a:txBody>
                  <a:tcPr marL="54864" marR="54864" marT="27432" marB="27432">
                    <a:solidFill>
                      <a:srgbClr val="FFFFFF"/>
                    </a:solidFill>
                  </a:tcPr>
                </a:tc>
                <a:tc>
                  <a:txBody>
                    <a:bodyPr/>
                    <a:lstStyle/>
                    <a:p>
                      <a:pPr algn="r"/>
                      <a:r>
                        <a:rPr sz="850" b="0">
                          <a:solidFill>
                            <a:srgbClr val="2B3147"/>
                          </a:solidFill>
                          <a:latin typeface="Calibri"/>
                        </a:rPr>
                        <a:t>$412.34</a:t>
                      </a:r>
                    </a:p>
                  </a:txBody>
                  <a:tcPr marL="54864" marR="54864" marT="27432" marB="27432">
                    <a:solidFill>
                      <a:srgbClr val="FFFFFF"/>
                    </a:solidFill>
                  </a:tcPr>
                </a:tc>
                <a:extLst>
                  <a:ext uri="{0D108BD9-81ED-4DB2-BD59-A6C34878D82A}">
                    <a16:rowId xmlns:a16="http://schemas.microsoft.com/office/drawing/2014/main" val="10005"/>
                  </a:ext>
                </a:extLst>
              </a:tr>
              <a:tr h="325120">
                <a:tc>
                  <a:txBody>
                    <a:bodyPr/>
                    <a:lstStyle/>
                    <a:p>
                      <a:pPr algn="l"/>
                      <a:r>
                        <a:rPr sz="850" b="1">
                          <a:solidFill>
                            <a:srgbClr val="2B3147"/>
                          </a:solidFill>
                          <a:latin typeface="Calibri"/>
                        </a:rPr>
                        <a:t>plataforma trading profesional</a:t>
                      </a:r>
                    </a:p>
                  </a:txBody>
                  <a:tcPr marL="54864" marR="54864" marT="27432" marB="27432">
                    <a:solidFill>
                      <a:srgbClr val="F9FAFC"/>
                    </a:solidFill>
                  </a:tcPr>
                </a:tc>
                <a:tc>
                  <a:txBody>
                    <a:bodyPr/>
                    <a:lstStyle/>
                    <a:p>
                      <a:pPr algn="r"/>
                      <a:r>
                        <a:rPr sz="850" b="0">
                          <a:solidFill>
                            <a:srgbClr val="2B3147"/>
                          </a:solidFill>
                          <a:latin typeface="Calibri"/>
                        </a:rPr>
                        <a:t>Platform</a:t>
                      </a:r>
                    </a:p>
                  </a:txBody>
                  <a:tcPr marL="54864" marR="54864" marT="27432" marB="27432">
                    <a:solidFill>
                      <a:srgbClr val="F9FAFC"/>
                    </a:solidFill>
                  </a:tcPr>
                </a:tc>
                <a:tc>
                  <a:txBody>
                    <a:bodyPr/>
                    <a:lstStyle/>
                    <a:p>
                      <a:pPr algn="r"/>
                      <a:r>
                        <a:rPr sz="850" b="0">
                          <a:solidFill>
                            <a:srgbClr val="2B3147"/>
                          </a:solidFill>
                          <a:latin typeface="Calibri"/>
                        </a:rPr>
                        <a:t>$1,367.44</a:t>
                      </a:r>
                    </a:p>
                  </a:txBody>
                  <a:tcPr marL="54864" marR="54864" marT="27432" marB="27432">
                    <a:solidFill>
                      <a:srgbClr val="F9FAFC"/>
                    </a:solidFill>
                  </a:tcPr>
                </a:tc>
                <a:tc>
                  <a:txBody>
                    <a:bodyPr/>
                    <a:lstStyle/>
                    <a:p>
                      <a:pPr algn="r"/>
                      <a:r>
                        <a:rPr sz="850" b="0">
                          <a:solidFill>
                            <a:srgbClr val="2B3147"/>
                          </a:solidFill>
                          <a:latin typeface="Calibri"/>
                        </a:rPr>
                        <a:t>4</a:t>
                      </a:r>
                    </a:p>
                  </a:txBody>
                  <a:tcPr marL="54864" marR="54864" marT="27432" marB="27432">
                    <a:solidFill>
                      <a:srgbClr val="F9FAFC"/>
                    </a:solidFill>
                  </a:tcPr>
                </a:tc>
                <a:tc>
                  <a:txBody>
                    <a:bodyPr/>
                    <a:lstStyle/>
                    <a:p>
                      <a:pPr algn="r"/>
                      <a:r>
                        <a:rPr sz="850" b="0">
                          <a:solidFill>
                            <a:srgbClr val="2B3147"/>
                          </a:solidFill>
                          <a:latin typeface="Calibri"/>
                        </a:rPr>
                        <a:t>$341.86</a:t>
                      </a:r>
                    </a:p>
                  </a:txBody>
                  <a:tcPr marL="54864" marR="54864" marT="27432" marB="27432">
                    <a:solidFill>
                      <a:srgbClr val="F9FAFC"/>
                    </a:solidFill>
                  </a:tcPr>
                </a:tc>
                <a:extLst>
                  <a:ext uri="{0D108BD9-81ED-4DB2-BD59-A6C34878D82A}">
                    <a16:rowId xmlns:a16="http://schemas.microsoft.com/office/drawing/2014/main" val="10006"/>
                  </a:ext>
                </a:extLst>
              </a:tr>
              <a:tr h="325120">
                <a:tc>
                  <a:txBody>
                    <a:bodyPr/>
                    <a:lstStyle/>
                    <a:p>
                      <a:pPr algn="l"/>
                      <a:r>
                        <a:rPr sz="850" b="1">
                          <a:solidFill>
                            <a:srgbClr val="2B3147"/>
                          </a:solidFill>
                          <a:latin typeface="Calibri"/>
                        </a:rPr>
                        <a:t>forex confiable</a:t>
                      </a:r>
                    </a:p>
                  </a:txBody>
                  <a:tcPr marL="54864" marR="54864" marT="27432" marB="27432">
                    <a:solidFill>
                      <a:srgbClr val="FFFFFF"/>
                    </a:solidFill>
                  </a:tcPr>
                </a:tc>
                <a:tc>
                  <a:txBody>
                    <a:bodyPr/>
                    <a:lstStyle/>
                    <a:p>
                      <a:pPr algn="r"/>
                      <a:r>
                        <a:rPr sz="850" b="0">
                          <a:solidFill>
                            <a:srgbClr val="2B3147"/>
                          </a:solidFill>
                          <a:latin typeface="Calibri"/>
                        </a:rPr>
                        <a:t>Trust</a:t>
                      </a:r>
                    </a:p>
                  </a:txBody>
                  <a:tcPr marL="54864" marR="54864" marT="27432" marB="27432">
                    <a:solidFill>
                      <a:srgbClr val="FFFFFF"/>
                    </a:solidFill>
                  </a:tcPr>
                </a:tc>
                <a:tc>
                  <a:txBody>
                    <a:bodyPr/>
                    <a:lstStyle/>
                    <a:p>
                      <a:pPr algn="r"/>
                      <a:r>
                        <a:rPr sz="850" b="0">
                          <a:solidFill>
                            <a:srgbClr val="2B3147"/>
                          </a:solidFill>
                          <a:latin typeface="Calibri"/>
                        </a:rPr>
                        <a:t>$1,288.42</a:t>
                      </a:r>
                    </a:p>
                  </a:txBody>
                  <a:tcPr marL="54864" marR="54864" marT="27432" marB="27432">
                    <a:solidFill>
                      <a:srgbClr val="FFFFFF"/>
                    </a:solidFill>
                  </a:tcPr>
                </a:tc>
                <a:tc>
                  <a:txBody>
                    <a:bodyPr/>
                    <a:lstStyle/>
                    <a:p>
                      <a:pPr algn="r"/>
                      <a:r>
                        <a:rPr sz="850" b="0">
                          <a:solidFill>
                            <a:srgbClr val="2B3147"/>
                          </a:solidFill>
                          <a:latin typeface="Calibri"/>
                        </a:rPr>
                        <a:t>9</a:t>
                      </a:r>
                    </a:p>
                  </a:txBody>
                  <a:tcPr marL="54864" marR="54864" marT="27432" marB="27432">
                    <a:solidFill>
                      <a:srgbClr val="FFFFFF"/>
                    </a:solidFill>
                  </a:tcPr>
                </a:tc>
                <a:tc>
                  <a:txBody>
                    <a:bodyPr/>
                    <a:lstStyle/>
                    <a:p>
                      <a:pPr algn="r"/>
                      <a:r>
                        <a:rPr sz="850" b="0">
                          <a:solidFill>
                            <a:srgbClr val="2B3147"/>
                          </a:solidFill>
                          <a:latin typeface="Calibri"/>
                        </a:rPr>
                        <a:t>$143.16</a:t>
                      </a:r>
                    </a:p>
                  </a:txBody>
                  <a:tcPr marL="54864" marR="54864" marT="27432" marB="27432">
                    <a:solidFill>
                      <a:srgbClr val="FFFFFF"/>
                    </a:solidFill>
                  </a:tcPr>
                </a:tc>
                <a:extLst>
                  <a:ext uri="{0D108BD9-81ED-4DB2-BD59-A6C34878D82A}">
                    <a16:rowId xmlns:a16="http://schemas.microsoft.com/office/drawing/2014/main" val="10007"/>
                  </a:ext>
                </a:extLst>
              </a:tr>
              <a:tr h="325120">
                <a:tc>
                  <a:txBody>
                    <a:bodyPr/>
                    <a:lstStyle/>
                    <a:p>
                      <a:pPr algn="l"/>
                      <a:r>
                        <a:rPr sz="850" b="1">
                          <a:solidFill>
                            <a:srgbClr val="2B3147"/>
                          </a:solidFill>
                          <a:latin typeface="Calibri"/>
                        </a:rPr>
                        <a:t>como hacer trading (2nd ad group)</a:t>
                      </a:r>
                    </a:p>
                  </a:txBody>
                  <a:tcPr marL="54864" marR="54864" marT="27432" marB="27432">
                    <a:solidFill>
                      <a:srgbClr val="F9FAFC"/>
                    </a:solidFill>
                  </a:tcPr>
                </a:tc>
                <a:tc>
                  <a:txBody>
                    <a:bodyPr/>
                    <a:lstStyle/>
                    <a:p>
                      <a:pPr algn="r"/>
                      <a:r>
                        <a:rPr sz="850" b="0">
                          <a:solidFill>
                            <a:srgbClr val="2B3147"/>
                          </a:solidFill>
                          <a:latin typeface="Calibri"/>
                        </a:rPr>
                        <a:t>Trust</a:t>
                      </a:r>
                    </a:p>
                  </a:txBody>
                  <a:tcPr marL="54864" marR="54864" marT="27432" marB="27432">
                    <a:solidFill>
                      <a:srgbClr val="F9FAFC"/>
                    </a:solidFill>
                  </a:tcPr>
                </a:tc>
                <a:tc>
                  <a:txBody>
                    <a:bodyPr/>
                    <a:lstStyle/>
                    <a:p>
                      <a:pPr algn="r"/>
                      <a:r>
                        <a:rPr sz="850" b="0">
                          <a:solidFill>
                            <a:srgbClr val="2B3147"/>
                          </a:solidFill>
                          <a:latin typeface="Calibri"/>
                        </a:rPr>
                        <a:t>$668.66</a:t>
                      </a:r>
                    </a:p>
                  </a:txBody>
                  <a:tcPr marL="54864" marR="54864" marT="27432" marB="27432">
                    <a:solidFill>
                      <a:srgbClr val="F9FAFC"/>
                    </a:solidFill>
                  </a:tcPr>
                </a:tc>
                <a:tc>
                  <a:txBody>
                    <a:bodyPr/>
                    <a:lstStyle/>
                    <a:p>
                      <a:pPr algn="r"/>
                      <a:r>
                        <a:rPr sz="850" b="0">
                          <a:solidFill>
                            <a:srgbClr val="2B3147"/>
                          </a:solidFill>
                          <a:latin typeface="Calibri"/>
                        </a:rPr>
                        <a:t>6</a:t>
                      </a:r>
                    </a:p>
                  </a:txBody>
                  <a:tcPr marL="54864" marR="54864" marT="27432" marB="27432">
                    <a:solidFill>
                      <a:srgbClr val="F9FAFC"/>
                    </a:solidFill>
                  </a:tcPr>
                </a:tc>
                <a:tc>
                  <a:txBody>
                    <a:bodyPr/>
                    <a:lstStyle/>
                    <a:p>
                      <a:pPr algn="r"/>
                      <a:r>
                        <a:rPr sz="850" b="0">
                          <a:solidFill>
                            <a:srgbClr val="2B3147"/>
                          </a:solidFill>
                          <a:latin typeface="Calibri"/>
                        </a:rPr>
                        <a:t>$111.44</a:t>
                      </a:r>
                    </a:p>
                  </a:txBody>
                  <a:tcPr marL="54864" marR="54864" marT="27432" marB="27432">
                    <a:solidFill>
                      <a:srgbClr val="F9FAFC"/>
                    </a:solidFill>
                  </a:tcPr>
                </a:tc>
                <a:extLst>
                  <a:ext uri="{0D108BD9-81ED-4DB2-BD59-A6C34878D82A}">
                    <a16:rowId xmlns:a16="http://schemas.microsoft.com/office/drawing/2014/main" val="10008"/>
                  </a:ext>
                </a:extLst>
              </a:tr>
            </a:tbl>
          </a:graphicData>
        </a:graphic>
      </p:graphicFrame>
      <p:sp>
        <p:nvSpPr>
          <p:cNvPr id="42" name="TextBox 41"/>
          <p:cNvSpPr txBox="1"/>
          <p:nvPr/>
        </p:nvSpPr>
        <p:spPr>
          <a:xfrm>
            <a:off x="457200" y="6382512"/>
            <a:ext cx="6766560" cy="228600"/>
          </a:xfrm>
          <a:prstGeom prst="rect">
            <a:avLst/>
          </a:prstGeom>
          <a:noFill/>
        </p:spPr>
        <p:txBody>
          <a:bodyPr wrap="square" lIns="0" tIns="0" rIns="0" bIns="0" anchor="t">
            <a:spAutoFit/>
          </a:bodyPr>
          <a:lstStyle/>
          <a:p>
            <a:pPr algn="l"/>
            <a:r>
              <a:rPr sz="750" b="0">
                <a:solidFill>
                  <a:srgbClr val="5A6072"/>
                </a:solidFill>
                <a:latin typeface="Calibri"/>
              </a:rPr>
              <a:t>Top 8 of 20 keywords tracked, by spend.</a:t>
            </a:r>
          </a:p>
        </p:txBody>
      </p:sp>
      <p:sp>
        <p:nvSpPr>
          <p:cNvPr id="43" name="Rectangle 42"/>
          <p:cNvSpPr/>
          <p:nvPr/>
        </p:nvSpPr>
        <p:spPr>
          <a:xfrm>
            <a:off x="7406640" y="3383280"/>
            <a:ext cx="4297680" cy="15544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406640" y="3383280"/>
            <a:ext cx="64008" cy="155448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626096" y="3547872"/>
            <a:ext cx="3895344" cy="274320"/>
          </a:xfrm>
          <a:prstGeom prst="rect">
            <a:avLst/>
          </a:prstGeom>
          <a:noFill/>
        </p:spPr>
        <p:txBody>
          <a:bodyPr wrap="square" lIns="0" tIns="0" rIns="0" bIns="0" anchor="t">
            <a:spAutoFit/>
          </a:bodyPr>
          <a:lstStyle/>
          <a:p>
            <a:pPr algn="l"/>
            <a:r>
              <a:rPr sz="1000" b="1">
                <a:solidFill>
                  <a:srgbClr val="1E2761"/>
                </a:solidFill>
                <a:latin typeface="Georgia"/>
              </a:rPr>
              <a:t>TRACK A TRUST: WHAT THE AD-POSITION WORK CHANGED</a:t>
            </a:r>
          </a:p>
        </p:txBody>
      </p:sp>
      <p:sp>
        <p:nvSpPr>
          <p:cNvPr id="46" name="TextBox 45"/>
          <p:cNvSpPr txBox="1"/>
          <p:nvPr/>
        </p:nvSpPr>
        <p:spPr>
          <a:xfrm>
            <a:off x="7626096" y="3886200"/>
            <a:ext cx="3895344" cy="868680"/>
          </a:xfrm>
          <a:prstGeom prst="rect">
            <a:avLst/>
          </a:prstGeom>
          <a:noFill/>
        </p:spPr>
        <p:txBody>
          <a:bodyPr wrap="square" lIns="0" tIns="0" rIns="0" bIns="0" anchor="t">
            <a:spAutoFit/>
          </a:bodyPr>
          <a:lstStyle/>
          <a:p>
            <a:pPr algn="l"/>
            <a:r>
              <a:rPr sz="950" b="0">
                <a:solidFill>
                  <a:srgbClr val="2B3147"/>
                </a:solidFill>
                <a:latin typeface="Calibri"/>
              </a:rPr>
              <a:t>Our ads now show for 32.6% of relevant searches, up from 27%.</a:t>
            </a:r>
          </a:p>
          <a:p>
            <a:pPr algn="l">
              <a:spcBef>
                <a:spcPts val="600"/>
              </a:spcBef>
            </a:pPr>
            <a:r>
              <a:rPr sz="950" b="0">
                <a:solidFill>
                  <a:srgbClr val="2B3147"/>
                </a:solidFill>
                <a:latin typeface="Calibri"/>
              </a:rPr>
              <a:t>How often our ads lose the auction to competitors fell to 58.7% (the account’s best), down from the 64-76% range every group sat in during June.</a:t>
            </a:r>
          </a:p>
          <a:p>
            <a:pPr algn="l">
              <a:spcBef>
                <a:spcPts val="600"/>
              </a:spcBef>
            </a:pPr>
            <a:r>
              <a:rPr sz="950" b="0">
                <a:solidFill>
                  <a:srgbClr val="2B3147"/>
                </a:solidFill>
                <a:latin typeface="Calibri"/>
              </a:rPr>
              <a:t>Cost per application (CPA): $433 to $390.86, and Trust is now the top-performing group with 28 applications.</a:t>
            </a:r>
          </a:p>
        </p:txBody>
      </p:sp>
      <p:sp>
        <p:nvSpPr>
          <p:cNvPr id="47" name="Rectangle 46"/>
          <p:cNvSpPr/>
          <p:nvPr/>
        </p:nvSpPr>
        <p:spPr>
          <a:xfrm>
            <a:off x="7406640" y="5074920"/>
            <a:ext cx="4297680" cy="14173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406640" y="5074920"/>
            <a:ext cx="64008" cy="1417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26096" y="5239512"/>
            <a:ext cx="3895344" cy="274320"/>
          </a:xfrm>
          <a:prstGeom prst="rect">
            <a:avLst/>
          </a:prstGeom>
          <a:noFill/>
        </p:spPr>
        <p:txBody>
          <a:bodyPr wrap="square" lIns="0" tIns="0" rIns="0" bIns="0" anchor="t">
            <a:spAutoFit/>
          </a:bodyPr>
          <a:lstStyle/>
          <a:p>
            <a:pPr algn="l"/>
            <a:r>
              <a:rPr sz="1000" b="1">
                <a:solidFill>
                  <a:srgbClr val="1E2761"/>
                </a:solidFill>
                <a:latin typeface="Georgia"/>
              </a:rPr>
              <a:t>WHERE THE WORK HAS NOT LANDED YET</a:t>
            </a:r>
          </a:p>
        </p:txBody>
      </p:sp>
      <p:sp>
        <p:nvSpPr>
          <p:cNvPr id="50" name="TextBox 49"/>
          <p:cNvSpPr txBox="1"/>
          <p:nvPr/>
        </p:nvSpPr>
        <p:spPr>
          <a:xfrm>
            <a:off x="7626096" y="5577840"/>
            <a:ext cx="3895344" cy="731520"/>
          </a:xfrm>
          <a:prstGeom prst="rect">
            <a:avLst/>
          </a:prstGeom>
          <a:noFill/>
        </p:spPr>
        <p:txBody>
          <a:bodyPr wrap="square" lIns="0" tIns="0" rIns="0" bIns="0" anchor="t">
            <a:spAutoFit/>
          </a:bodyPr>
          <a:lstStyle/>
          <a:p>
            <a:pPr algn="l"/>
            <a:r>
              <a:rPr sz="950" b="0" dirty="0">
                <a:solidFill>
                  <a:srgbClr val="2B3147"/>
                </a:solidFill>
                <a:latin typeface="Calibri"/>
              </a:rPr>
              <a:t>Authority and Platform still lose the auction to competitors 63.5% and 70.3% of the time, and Brand 79.0%, all worse than Trust’s 58.7%.</a:t>
            </a:r>
          </a:p>
          <a:p>
            <a:pPr algn="l">
              <a:spcBef>
                <a:spcPts val="600"/>
              </a:spcBef>
            </a:pPr>
            <a:r>
              <a:rPr sz="950" b="0" dirty="0">
                <a:solidFill>
                  <a:srgbClr val="2B3147"/>
                </a:solidFill>
                <a:latin typeface="Calibri"/>
              </a:rPr>
              <a:t>DECISION: extend the same ad-position work to Authority and Platform before adding further budget.</a:t>
            </a:r>
          </a:p>
        </p:txBody>
      </p:sp>
    </p:spTree>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GOOGLE PMAX (YOUTUBE)  ·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49 submitted applications at $370.91 in its first partial month.</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4 / 13</a:t>
            </a:r>
          </a:p>
        </p:txBody>
      </p:sp>
      <p:sp>
        <p:nvSpPr>
          <p:cNvPr id="10" name="TextBox 9"/>
          <p:cNvSpPr txBox="1"/>
          <p:nvPr/>
        </p:nvSpPr>
        <p:spPr>
          <a:xfrm>
            <a:off x="457200" y="1417320"/>
            <a:ext cx="11247120" cy="274320"/>
          </a:xfrm>
          <a:prstGeom prst="rect">
            <a:avLst/>
          </a:prstGeom>
          <a:noFill/>
        </p:spPr>
        <p:txBody>
          <a:bodyPr wrap="square" lIns="0" tIns="0" rIns="0" bIns="0" anchor="t">
            <a:spAutoFit/>
          </a:bodyPr>
          <a:lstStyle/>
          <a:p>
            <a:pPr algn="l"/>
            <a:r>
              <a:rPr sz="950" b="0">
                <a:solidFill>
                  <a:srgbClr val="5A6072"/>
                </a:solidFill>
                <a:latin typeface="Calibri"/>
              </a:rPr>
              <a:t>Target: Spanish-language creative, US-only delivery, across Google’s automated Performance Max inventory (labeled “YT” on the client’s budget tracker). New line, launched the week of July 13.</a:t>
            </a:r>
          </a:p>
        </p:txBody>
      </p:sp>
      <p:sp>
        <p:nvSpPr>
          <p:cNvPr id="11" name="Rectangle 10"/>
          <p:cNvSpPr/>
          <p:nvPr/>
        </p:nvSpPr>
        <p:spPr>
          <a:xfrm>
            <a:off x="45720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SPEND</a:t>
            </a:r>
          </a:p>
        </p:txBody>
      </p:sp>
      <p:sp>
        <p:nvSpPr>
          <p:cNvPr id="14" name="TextBox 13"/>
          <p:cNvSpPr txBox="1"/>
          <p:nvPr/>
        </p:nvSpPr>
        <p:spPr>
          <a:xfrm>
            <a:off x="640080"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$18,175</a:t>
            </a:r>
          </a:p>
        </p:txBody>
      </p:sp>
      <p:sp>
        <p:nvSpPr>
          <p:cNvPr id="15" name="TextBox 14"/>
          <p:cNvSpPr txBox="1"/>
          <p:nvPr/>
        </p:nvSpPr>
        <p:spPr>
          <a:xfrm>
            <a:off x="640080"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~18 days of delivery</a:t>
            </a:r>
          </a:p>
        </p:txBody>
      </p:sp>
      <p:sp>
        <p:nvSpPr>
          <p:cNvPr id="16" name="Rectangle 15"/>
          <p:cNvSpPr/>
          <p:nvPr/>
        </p:nvSpPr>
        <p:spPr>
          <a:xfrm>
            <a:off x="2359152"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359152"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42032"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IMPRESSIONS</a:t>
            </a:r>
          </a:p>
        </p:txBody>
      </p:sp>
      <p:sp>
        <p:nvSpPr>
          <p:cNvPr id="19" name="TextBox 18"/>
          <p:cNvSpPr txBox="1"/>
          <p:nvPr/>
        </p:nvSpPr>
        <p:spPr>
          <a:xfrm>
            <a:off x="2542032"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792,667</a:t>
            </a:r>
          </a:p>
        </p:txBody>
      </p:sp>
      <p:sp>
        <p:nvSpPr>
          <p:cNvPr id="20" name="TextBox 19"/>
          <p:cNvSpPr txBox="1"/>
          <p:nvPr/>
        </p:nvSpPr>
        <p:spPr>
          <a:xfrm>
            <a:off x="2542032"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CTR 1.77%</a:t>
            </a:r>
          </a:p>
        </p:txBody>
      </p:sp>
      <p:sp>
        <p:nvSpPr>
          <p:cNvPr id="21" name="Rectangle 20"/>
          <p:cNvSpPr/>
          <p:nvPr/>
        </p:nvSpPr>
        <p:spPr>
          <a:xfrm>
            <a:off x="4261104"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61104"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43984"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CLICKS</a:t>
            </a:r>
          </a:p>
        </p:txBody>
      </p:sp>
      <p:sp>
        <p:nvSpPr>
          <p:cNvPr id="24" name="TextBox 23"/>
          <p:cNvSpPr txBox="1"/>
          <p:nvPr/>
        </p:nvSpPr>
        <p:spPr>
          <a:xfrm>
            <a:off x="4443984"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14,009</a:t>
            </a:r>
          </a:p>
        </p:txBody>
      </p:sp>
      <p:sp>
        <p:nvSpPr>
          <p:cNvPr id="25" name="TextBox 24"/>
          <p:cNvSpPr txBox="1"/>
          <p:nvPr/>
        </p:nvSpPr>
        <p:spPr>
          <a:xfrm>
            <a:off x="4443984"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avg CPC $1.30</a:t>
            </a:r>
          </a:p>
        </p:txBody>
      </p:sp>
      <p:sp>
        <p:nvSpPr>
          <p:cNvPr id="26" name="Rectangle 25"/>
          <p:cNvSpPr/>
          <p:nvPr/>
        </p:nvSpPr>
        <p:spPr>
          <a:xfrm>
            <a:off x="6163056"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163056"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45936"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SUBMITTED APPS</a:t>
            </a:r>
          </a:p>
        </p:txBody>
      </p:sp>
      <p:sp>
        <p:nvSpPr>
          <p:cNvPr id="29" name="TextBox 28"/>
          <p:cNvSpPr txBox="1"/>
          <p:nvPr/>
        </p:nvSpPr>
        <p:spPr>
          <a:xfrm>
            <a:off x="6345936"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49</a:t>
            </a:r>
          </a:p>
        </p:txBody>
      </p:sp>
      <p:sp>
        <p:nvSpPr>
          <p:cNvPr id="30" name="TextBox 29"/>
          <p:cNvSpPr txBox="1"/>
          <p:nvPr/>
        </p:nvSpPr>
        <p:spPr>
          <a:xfrm>
            <a:off x="6345936"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final application step</a:t>
            </a:r>
          </a:p>
        </p:txBody>
      </p:sp>
      <p:sp>
        <p:nvSpPr>
          <p:cNvPr id="31" name="Rectangle 30"/>
          <p:cNvSpPr/>
          <p:nvPr/>
        </p:nvSpPr>
        <p:spPr>
          <a:xfrm>
            <a:off x="8065008"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065008"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47888"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CPA</a:t>
            </a:r>
          </a:p>
        </p:txBody>
      </p:sp>
      <p:sp>
        <p:nvSpPr>
          <p:cNvPr id="34" name="TextBox 33"/>
          <p:cNvSpPr txBox="1"/>
          <p:nvPr/>
        </p:nvSpPr>
        <p:spPr>
          <a:xfrm>
            <a:off x="8247888"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$370.91</a:t>
            </a:r>
          </a:p>
        </p:txBody>
      </p:sp>
      <p:sp>
        <p:nvSpPr>
          <p:cNvPr id="35" name="TextBox 34"/>
          <p:cNvSpPr txBox="1"/>
          <p:nvPr/>
        </p:nvSpPr>
        <p:spPr>
          <a:xfrm>
            <a:off x="8247888"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vs Search $403.81</a:t>
            </a:r>
          </a:p>
        </p:txBody>
      </p:sp>
      <p:sp>
        <p:nvSpPr>
          <p:cNvPr id="36" name="Rectangle 35"/>
          <p:cNvSpPr/>
          <p:nvPr/>
        </p:nvSpPr>
        <p:spPr>
          <a:xfrm>
            <a:off x="9966960"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9966960"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149840"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APP SOURCE</a:t>
            </a:r>
          </a:p>
        </p:txBody>
      </p:sp>
      <p:sp>
        <p:nvSpPr>
          <p:cNvPr id="39" name="TextBox 38"/>
          <p:cNvSpPr txBox="1"/>
          <p:nvPr/>
        </p:nvSpPr>
        <p:spPr>
          <a:xfrm>
            <a:off x="10149840"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48 click / 1 view</a:t>
            </a:r>
          </a:p>
        </p:txBody>
      </p:sp>
      <p:graphicFrame>
        <p:nvGraphicFramePr>
          <p:cNvPr id="40" name="Table 39"/>
          <p:cNvGraphicFramePr>
            <a:graphicFrameLocks noGrp="1"/>
          </p:cNvGraphicFramePr>
          <p:nvPr/>
        </p:nvGraphicFramePr>
        <p:xfrm>
          <a:off x="457200" y="3383280"/>
          <a:ext cx="5394960" cy="1600200"/>
        </p:xfrm>
        <a:graphic>
          <a:graphicData uri="http://schemas.openxmlformats.org/drawingml/2006/table">
            <a:tbl>
              <a:tblPr>
                <a:tableStyleId>{5C22544A-7EE6-4342-B048-85BDC9FD1C3A}</a:tableStyleId>
              </a:tblPr>
              <a:tblGrid>
                <a:gridCol w="3108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400050">
                <a:tc>
                  <a:txBody>
                    <a:bodyPr/>
                    <a:lstStyle/>
                    <a:p>
                      <a:pPr algn="l"/>
                      <a:r>
                        <a:rPr sz="850" b="1">
                          <a:solidFill>
                            <a:srgbClr val="FFFFFF"/>
                          </a:solidFill>
                          <a:latin typeface="Calibri"/>
                        </a:rPr>
                        <a:t>Week of delivery</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extLst>
                  <a:ext uri="{0D108BD9-81ED-4DB2-BD59-A6C34878D82A}">
                    <a16:rowId xmlns:a16="http://schemas.microsoft.com/office/drawing/2014/main" val="10000"/>
                  </a:ext>
                </a:extLst>
              </a:tr>
              <a:tr h="400050">
                <a:tc>
                  <a:txBody>
                    <a:bodyPr/>
                    <a:lstStyle/>
                    <a:p>
                      <a:pPr algn="l"/>
                      <a:r>
                        <a:rPr sz="850" b="1">
                          <a:solidFill>
                            <a:srgbClr val="2B3147"/>
                          </a:solidFill>
                          <a:latin typeface="Calibri"/>
                        </a:rPr>
                        <a:t>Jul 13-19</a:t>
                      </a:r>
                    </a:p>
                  </a:txBody>
                  <a:tcPr marL="54864" marR="54864" marT="27432" marB="27432">
                    <a:solidFill>
                      <a:srgbClr val="FFFFFF"/>
                    </a:solidFill>
                  </a:tcPr>
                </a:tc>
                <a:tc>
                  <a:txBody>
                    <a:bodyPr/>
                    <a:lstStyle/>
                    <a:p>
                      <a:pPr algn="r"/>
                      <a:r>
                        <a:rPr sz="850" b="0">
                          <a:solidFill>
                            <a:srgbClr val="2B3147"/>
                          </a:solidFill>
                          <a:latin typeface="Calibri"/>
                        </a:rPr>
                        <a:t>$7,449</a:t>
                      </a:r>
                    </a:p>
                  </a:txBody>
                  <a:tcPr marL="54864" marR="54864" marT="27432" marB="27432">
                    <a:solidFill>
                      <a:srgbClr val="FFFFFF"/>
                    </a:solidFill>
                  </a:tcPr>
                </a:tc>
                <a:extLst>
                  <a:ext uri="{0D108BD9-81ED-4DB2-BD59-A6C34878D82A}">
                    <a16:rowId xmlns:a16="http://schemas.microsoft.com/office/drawing/2014/main" val="10001"/>
                  </a:ext>
                </a:extLst>
              </a:tr>
              <a:tr h="400050">
                <a:tc>
                  <a:txBody>
                    <a:bodyPr/>
                    <a:lstStyle/>
                    <a:p>
                      <a:pPr algn="l"/>
                      <a:r>
                        <a:rPr sz="850" b="1">
                          <a:solidFill>
                            <a:srgbClr val="2B3147"/>
                          </a:solidFill>
                          <a:latin typeface="Calibri"/>
                        </a:rPr>
                        <a:t>Jul 20-26</a:t>
                      </a:r>
                    </a:p>
                  </a:txBody>
                  <a:tcPr marL="54864" marR="54864" marT="27432" marB="27432">
                    <a:solidFill>
                      <a:srgbClr val="F9FAFC"/>
                    </a:solidFill>
                  </a:tcPr>
                </a:tc>
                <a:tc>
                  <a:txBody>
                    <a:bodyPr/>
                    <a:lstStyle/>
                    <a:p>
                      <a:pPr algn="r"/>
                      <a:r>
                        <a:rPr sz="850" b="0">
                          <a:solidFill>
                            <a:srgbClr val="2B3147"/>
                          </a:solidFill>
                          <a:latin typeface="Calibri"/>
                        </a:rPr>
                        <a:t>$5,597</a:t>
                      </a:r>
                    </a:p>
                  </a:txBody>
                  <a:tcPr marL="54864" marR="54864" marT="27432" marB="27432">
                    <a:solidFill>
                      <a:srgbClr val="F9FAFC"/>
                    </a:solidFill>
                  </a:tcPr>
                </a:tc>
                <a:extLst>
                  <a:ext uri="{0D108BD9-81ED-4DB2-BD59-A6C34878D82A}">
                    <a16:rowId xmlns:a16="http://schemas.microsoft.com/office/drawing/2014/main" val="10002"/>
                  </a:ext>
                </a:extLst>
              </a:tr>
              <a:tr h="400050">
                <a:tc>
                  <a:txBody>
                    <a:bodyPr/>
                    <a:lstStyle/>
                    <a:p>
                      <a:pPr algn="l"/>
                      <a:r>
                        <a:rPr sz="850" b="1">
                          <a:solidFill>
                            <a:srgbClr val="2B3147"/>
                          </a:solidFill>
                          <a:latin typeface="Calibri"/>
                        </a:rPr>
                        <a:t>Jul 27-31 (partial)</a:t>
                      </a:r>
                    </a:p>
                  </a:txBody>
                  <a:tcPr marL="54864" marR="54864" marT="27432" marB="27432">
                    <a:solidFill>
                      <a:srgbClr val="FFFFFF"/>
                    </a:solidFill>
                  </a:tcPr>
                </a:tc>
                <a:tc>
                  <a:txBody>
                    <a:bodyPr/>
                    <a:lstStyle/>
                    <a:p>
                      <a:pPr algn="r"/>
                      <a:r>
                        <a:rPr sz="850" b="0">
                          <a:solidFill>
                            <a:srgbClr val="2B3147"/>
                          </a:solidFill>
                          <a:latin typeface="Calibri"/>
                        </a:rPr>
                        <a:t>$5,129</a:t>
                      </a:r>
                    </a:p>
                  </a:txBody>
                  <a:tcPr marL="54864" marR="54864" marT="27432" marB="27432">
                    <a:solidFill>
                      <a:srgbClr val="FFFFFF"/>
                    </a:solidFill>
                  </a:tcPr>
                </a:tc>
                <a:extLst>
                  <a:ext uri="{0D108BD9-81ED-4DB2-BD59-A6C34878D82A}">
                    <a16:rowId xmlns:a16="http://schemas.microsoft.com/office/drawing/2014/main" val="10003"/>
                  </a:ext>
                </a:extLst>
              </a:tr>
            </a:tbl>
          </a:graphicData>
        </a:graphic>
      </p:graphicFrame>
      <p:sp>
        <p:nvSpPr>
          <p:cNvPr id="41" name="TextBox 40"/>
          <p:cNvSpPr txBox="1"/>
          <p:nvPr/>
        </p:nvSpPr>
        <p:spPr>
          <a:xfrm>
            <a:off x="457200" y="5074920"/>
            <a:ext cx="5394960" cy="274320"/>
          </a:xfrm>
          <a:prstGeom prst="rect">
            <a:avLst/>
          </a:prstGeom>
          <a:noFill/>
        </p:spPr>
        <p:txBody>
          <a:bodyPr wrap="square" lIns="0" tIns="0" rIns="0" bIns="0" anchor="t">
            <a:spAutoFit/>
          </a:bodyPr>
          <a:lstStyle/>
          <a:p>
            <a:pPr algn="l"/>
            <a:r>
              <a:rPr sz="750" b="0">
                <a:solidFill>
                  <a:srgbClr val="5A6072"/>
                </a:solidFill>
                <a:latin typeface="Calibri"/>
              </a:rPr>
              <a:t>Campaign launched July 13; July reflects ~18 days of delivery.</a:t>
            </a:r>
          </a:p>
        </p:txBody>
      </p:sp>
      <p:sp>
        <p:nvSpPr>
          <p:cNvPr id="42" name="Rectangle 41"/>
          <p:cNvSpPr/>
          <p:nvPr/>
        </p:nvSpPr>
        <p:spPr>
          <a:xfrm>
            <a:off x="6583680" y="3383280"/>
            <a:ext cx="5120640"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583680" y="3383280"/>
            <a:ext cx="64008" cy="274320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03136" y="3547872"/>
            <a:ext cx="4718303" cy="274320"/>
          </a:xfrm>
          <a:prstGeom prst="rect">
            <a:avLst/>
          </a:prstGeom>
          <a:noFill/>
        </p:spPr>
        <p:txBody>
          <a:bodyPr wrap="square" lIns="0" tIns="0" rIns="0" bIns="0" anchor="t">
            <a:spAutoFit/>
          </a:bodyPr>
          <a:lstStyle/>
          <a:p>
            <a:pPr algn="l"/>
            <a:r>
              <a:rPr sz="1000" b="1">
                <a:solidFill>
                  <a:srgbClr val="1E2761"/>
                </a:solidFill>
                <a:latin typeface="Georgia"/>
              </a:rPr>
              <a:t>WHAT THE DATA SHOWS</a:t>
            </a:r>
          </a:p>
        </p:txBody>
      </p:sp>
      <p:sp>
        <p:nvSpPr>
          <p:cNvPr id="45" name="TextBox 44"/>
          <p:cNvSpPr txBox="1"/>
          <p:nvPr/>
        </p:nvSpPr>
        <p:spPr>
          <a:xfrm>
            <a:off x="6803136" y="3886200"/>
            <a:ext cx="4718303" cy="2057400"/>
          </a:xfrm>
          <a:prstGeom prst="rect">
            <a:avLst/>
          </a:prstGeom>
          <a:noFill/>
        </p:spPr>
        <p:txBody>
          <a:bodyPr wrap="square" lIns="0" tIns="0" rIns="0" bIns="0" anchor="t">
            <a:spAutoFit/>
          </a:bodyPr>
          <a:lstStyle/>
          <a:p>
            <a:pPr algn="l"/>
            <a:r>
              <a:rPr sz="950" b="0">
                <a:solidFill>
                  <a:srgbClr val="2B3147"/>
                </a:solidFill>
                <a:latin typeface="Calibri"/>
              </a:rPr>
              <a:t>PMax matched Search’s per-application efficiency within its first three weeks. It’s tracked the same way, the final submit step of the application form: 48 of 49 applications followed an ad click, and 1 came from someone who saw the ad and applied later.</a:t>
            </a:r>
          </a:p>
          <a:p>
            <a:pPr algn="l">
              <a:spcBef>
                <a:spcPts val="600"/>
              </a:spcBef>
            </a:pPr>
            <a:r>
              <a:rPr sz="950" b="0">
                <a:solidFill>
                  <a:srgbClr val="2B3147"/>
                </a:solidFill>
                <a:latin typeface="Calibri"/>
              </a:rPr>
              <a:t>No June comparison; this is the line’s first month.</a:t>
            </a:r>
          </a:p>
          <a:p>
            <a:pPr algn="l">
              <a:spcBef>
                <a:spcPts val="600"/>
              </a:spcBef>
            </a:pPr>
            <a:r>
              <a:rPr sz="950" b="0">
                <a:solidFill>
                  <a:srgbClr val="2B3147"/>
                </a:solidFill>
                <a:latin typeface="Calibri"/>
              </a:rPr>
              <a:t>DECISION: give PMax a second full month before rebalancing spend between it and Search.</a:t>
            </a:r>
          </a:p>
        </p:txBody>
      </p:sp>
      <p:sp>
        <p:nvSpPr>
          <p:cNvPr id="46" name="TextBox 45"/>
          <p:cNvSpPr txBox="1"/>
          <p:nvPr/>
        </p:nvSpPr>
        <p:spPr>
          <a:xfrm>
            <a:off x="457200" y="6172200"/>
            <a:ext cx="11247120" cy="274320"/>
          </a:xfrm>
          <a:prstGeom prst="rect">
            <a:avLst/>
          </a:prstGeom>
          <a:noFill/>
        </p:spPr>
        <p:txBody>
          <a:bodyPr wrap="square" lIns="0" tIns="0" rIns="0" bIns="0" anchor="t">
            <a:spAutoFit/>
          </a:bodyPr>
          <a:lstStyle/>
          <a:p>
            <a:pPr algn="l"/>
            <a:r>
              <a:rPr sz="750" b="0">
                <a:solidFill>
                  <a:srgbClr val="5A6072"/>
                </a:solidFill>
                <a:latin typeface="Calibri"/>
              </a:rPr>
              <a:t>Google combined (Search + PMax): 918,059 impressions, 100% US delivery.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META  ·  CAMPAIGNS BY OBJECTIVE</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Meta spend came in at $6,940, down 77.4%, on the planned budget shift.</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5 / 13</a:t>
            </a:r>
          </a:p>
        </p:txBody>
      </p:sp>
      <p:sp>
        <p:nvSpPr>
          <p:cNvPr id="10" name="TextBox 9"/>
          <p:cNvSpPr txBox="1"/>
          <p:nvPr/>
        </p:nvSpPr>
        <p:spPr>
          <a:xfrm>
            <a:off x="457200" y="1417320"/>
            <a:ext cx="11247120" cy="274320"/>
          </a:xfrm>
          <a:prstGeom prst="rect">
            <a:avLst/>
          </a:prstGeom>
          <a:noFill/>
        </p:spPr>
        <p:txBody>
          <a:bodyPr wrap="square" lIns="0" tIns="0" rIns="0" bIns="0" anchor="t">
            <a:spAutoFit/>
          </a:bodyPr>
          <a:lstStyle/>
          <a:p>
            <a:pPr algn="l"/>
            <a:r>
              <a:rPr sz="950" b="0" dirty="0">
                <a:solidFill>
                  <a:srgbClr val="5A6072"/>
                </a:solidFill>
                <a:latin typeface="Calibri"/>
              </a:rPr>
              <a:t>Target: US adults 18-65 (this age range is fixed by Meta’s rules for financial-services advertisers, not our choice), Meta’s automated audience-expansion feature turned on, Spanish-language ads on both campaign types. No targeting changes in July.</a:t>
            </a:r>
          </a:p>
        </p:txBody>
      </p:sp>
      <p:graphicFrame>
        <p:nvGraphicFramePr>
          <p:cNvPr id="11" name="Table 10"/>
          <p:cNvGraphicFramePr>
            <a:graphicFrameLocks noGrp="1"/>
          </p:cNvGraphicFramePr>
          <p:nvPr/>
        </p:nvGraphicFramePr>
        <p:xfrm>
          <a:off x="457200" y="1874519"/>
          <a:ext cx="10360152" cy="16916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941832">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82296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tblGrid>
              <a:tr h="422910">
                <a:tc>
                  <a:txBody>
                    <a:bodyPr/>
                    <a:lstStyle/>
                    <a:p>
                      <a:pPr algn="l"/>
                      <a:r>
                        <a:rPr sz="850" b="1">
                          <a:solidFill>
                            <a:srgbClr val="FFFFFF"/>
                          </a:solidFill>
                          <a:latin typeface="Calibri"/>
                        </a:rPr>
                        <a:t>Campaign</a:t>
                      </a:r>
                    </a:p>
                  </a:txBody>
                  <a:tcPr marL="54864" marR="54864" marT="27432" marB="27432">
                    <a:solidFill>
                      <a:srgbClr val="1E2761"/>
                    </a:solidFill>
                  </a:tcPr>
                </a:tc>
                <a:tc>
                  <a:txBody>
                    <a:bodyPr/>
                    <a:lstStyle/>
                    <a:p>
                      <a:pPr algn="r"/>
                      <a:r>
                        <a:rPr sz="850" b="1">
                          <a:solidFill>
                            <a:srgbClr val="FFFFFF"/>
                          </a:solidFill>
                          <a:latin typeface="Calibri"/>
                        </a:rPr>
                        <a:t>Objective</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Impr</a:t>
                      </a:r>
                    </a:p>
                  </a:txBody>
                  <a:tcPr marL="54864" marR="54864" marT="27432" marB="27432">
                    <a:solidFill>
                      <a:srgbClr val="1E2761"/>
                    </a:solidFill>
                  </a:tcPr>
                </a:tc>
                <a:tc>
                  <a:txBody>
                    <a:bodyPr/>
                    <a:lstStyle/>
                    <a:p>
                      <a:pPr algn="r"/>
                      <a:r>
                        <a:rPr sz="850" b="1">
                          <a:solidFill>
                            <a:srgbClr val="FFFFFF"/>
                          </a:solidFill>
                          <a:latin typeface="Calibri"/>
                        </a:rPr>
                        <a:t>Reach</a:t>
                      </a:r>
                    </a:p>
                  </a:txBody>
                  <a:tcPr marL="54864" marR="54864" marT="27432" marB="27432">
                    <a:solidFill>
                      <a:srgbClr val="1E2761"/>
                    </a:solidFill>
                  </a:tcPr>
                </a:tc>
                <a:tc>
                  <a:txBody>
                    <a:bodyPr/>
                    <a:lstStyle/>
                    <a:p>
                      <a:pPr algn="r"/>
                      <a:r>
                        <a:rPr sz="850" b="1">
                          <a:solidFill>
                            <a:srgbClr val="FFFFFF"/>
                          </a:solidFill>
                          <a:latin typeface="Calibri"/>
                        </a:rPr>
                        <a:t>CPM</a:t>
                      </a:r>
                    </a:p>
                  </a:txBody>
                  <a:tcPr marL="54864" marR="54864" marT="27432" marB="27432">
                    <a:solidFill>
                      <a:srgbClr val="1E2761"/>
                    </a:solidFill>
                  </a:tcPr>
                </a:tc>
                <a:tc>
                  <a:txBody>
                    <a:bodyPr/>
                    <a:lstStyle/>
                    <a:p>
                      <a:pPr algn="r"/>
                      <a:r>
                        <a:rPr sz="850" b="1">
                          <a:solidFill>
                            <a:srgbClr val="FFFFFF"/>
                          </a:solidFill>
                          <a:latin typeface="Calibri"/>
                        </a:rPr>
                        <a:t>CTR</a:t>
                      </a:r>
                    </a:p>
                  </a:txBody>
                  <a:tcPr marL="54864" marR="54864" marT="27432" marB="27432">
                    <a:solidFill>
                      <a:srgbClr val="1E2761"/>
                    </a:solidFill>
                  </a:tcPr>
                </a:tc>
                <a:tc>
                  <a:txBody>
                    <a:bodyPr/>
                    <a:lstStyle/>
                    <a:p>
                      <a:pPr algn="r"/>
                      <a:r>
                        <a:rPr sz="850" b="1">
                          <a:solidFill>
                            <a:srgbClr val="FFFFFF"/>
                          </a:solidFill>
                          <a:latin typeface="Calibri"/>
                        </a:rPr>
                        <a:t>Link clicks</a:t>
                      </a:r>
                    </a:p>
                  </a:txBody>
                  <a:tcPr marL="54864" marR="54864" marT="27432" marB="27432">
                    <a:solidFill>
                      <a:srgbClr val="1E2761"/>
                    </a:solidFill>
                  </a:tcPr>
                </a:tc>
                <a:extLst>
                  <a:ext uri="{0D108BD9-81ED-4DB2-BD59-A6C34878D82A}">
                    <a16:rowId xmlns:a16="http://schemas.microsoft.com/office/drawing/2014/main" val="10000"/>
                  </a:ext>
                </a:extLst>
              </a:tr>
              <a:tr h="422910">
                <a:tc>
                  <a:txBody>
                    <a:bodyPr/>
                    <a:lstStyle/>
                    <a:p>
                      <a:pPr algn="l"/>
                      <a:r>
                        <a:rPr sz="850" b="1">
                          <a:solidFill>
                            <a:srgbClr val="2B3147"/>
                          </a:solidFill>
                          <a:latin typeface="Calibri"/>
                        </a:rPr>
                        <a:t>0426 Q2 · Traffic (paused after Jul)</a:t>
                      </a:r>
                    </a:p>
                  </a:txBody>
                  <a:tcPr marL="54864" marR="54864" marT="27432" marB="27432">
                    <a:solidFill>
                      <a:srgbClr val="FFFFFF"/>
                    </a:solidFill>
                  </a:tcPr>
                </a:tc>
                <a:tc>
                  <a:txBody>
                    <a:bodyPr/>
                    <a:lstStyle/>
                    <a:p>
                      <a:pPr algn="r"/>
                      <a:r>
                        <a:rPr sz="850" b="0">
                          <a:solidFill>
                            <a:srgbClr val="2B3147"/>
                          </a:solidFill>
                          <a:latin typeface="Calibri"/>
                        </a:rPr>
                        <a:t>Traffic</a:t>
                      </a:r>
                    </a:p>
                  </a:txBody>
                  <a:tcPr marL="54864" marR="54864" marT="27432" marB="27432">
                    <a:solidFill>
                      <a:srgbClr val="FFFFFF"/>
                    </a:solidFill>
                  </a:tcPr>
                </a:tc>
                <a:tc>
                  <a:txBody>
                    <a:bodyPr/>
                    <a:lstStyle/>
                    <a:p>
                      <a:pPr algn="r"/>
                      <a:r>
                        <a:rPr sz="850" b="0">
                          <a:solidFill>
                            <a:srgbClr val="2B3147"/>
                          </a:solidFill>
                          <a:latin typeface="Calibri"/>
                        </a:rPr>
                        <a:t>$2,104</a:t>
                      </a:r>
                    </a:p>
                  </a:txBody>
                  <a:tcPr marL="54864" marR="54864" marT="27432" marB="27432">
                    <a:solidFill>
                      <a:srgbClr val="FFFFFF"/>
                    </a:solidFill>
                  </a:tcPr>
                </a:tc>
                <a:tc>
                  <a:txBody>
                    <a:bodyPr/>
                    <a:lstStyle/>
                    <a:p>
                      <a:pPr algn="r"/>
                      <a:r>
                        <a:rPr sz="850" b="0">
                          <a:solidFill>
                            <a:srgbClr val="2B3147"/>
                          </a:solidFill>
                          <a:latin typeface="Calibri"/>
                        </a:rPr>
                        <a:t>206,014</a:t>
                      </a:r>
                    </a:p>
                  </a:txBody>
                  <a:tcPr marL="54864" marR="54864" marT="27432" marB="27432">
                    <a:solidFill>
                      <a:srgbClr val="FFFFFF"/>
                    </a:solidFill>
                  </a:tcPr>
                </a:tc>
                <a:tc>
                  <a:txBody>
                    <a:bodyPr/>
                    <a:lstStyle/>
                    <a:p>
                      <a:pPr algn="r"/>
                      <a:r>
                        <a:rPr sz="850" b="0">
                          <a:solidFill>
                            <a:srgbClr val="2B3147"/>
                          </a:solidFill>
                          <a:latin typeface="Calibri"/>
                        </a:rPr>
                        <a:t>173,989</a:t>
                      </a:r>
                    </a:p>
                  </a:txBody>
                  <a:tcPr marL="54864" marR="54864" marT="27432" marB="27432">
                    <a:solidFill>
                      <a:srgbClr val="FFFFFF"/>
                    </a:solidFill>
                  </a:tcPr>
                </a:tc>
                <a:tc>
                  <a:txBody>
                    <a:bodyPr/>
                    <a:lstStyle/>
                    <a:p>
                      <a:pPr algn="r"/>
                      <a:r>
                        <a:rPr sz="850" b="0">
                          <a:solidFill>
                            <a:srgbClr val="2B3147"/>
                          </a:solidFill>
                          <a:latin typeface="Calibri"/>
                        </a:rPr>
                        <a:t>$10.21</a:t>
                      </a:r>
                    </a:p>
                  </a:txBody>
                  <a:tcPr marL="54864" marR="54864" marT="27432" marB="27432">
                    <a:solidFill>
                      <a:srgbClr val="FFFFFF"/>
                    </a:solidFill>
                  </a:tcPr>
                </a:tc>
                <a:tc>
                  <a:txBody>
                    <a:bodyPr/>
                    <a:lstStyle/>
                    <a:p>
                      <a:pPr algn="r"/>
                      <a:r>
                        <a:rPr sz="850" b="0">
                          <a:solidFill>
                            <a:srgbClr val="2B3147"/>
                          </a:solidFill>
                          <a:latin typeface="Calibri"/>
                        </a:rPr>
                        <a:t>2.72%</a:t>
                      </a:r>
                    </a:p>
                  </a:txBody>
                  <a:tcPr marL="54864" marR="54864" marT="27432" marB="27432">
                    <a:solidFill>
                      <a:srgbClr val="FFFFFF"/>
                    </a:solidFill>
                  </a:tcPr>
                </a:tc>
                <a:tc>
                  <a:txBody>
                    <a:bodyPr/>
                    <a:lstStyle/>
                    <a:p>
                      <a:pPr algn="r"/>
                      <a:r>
                        <a:rPr sz="850" b="0">
                          <a:solidFill>
                            <a:srgbClr val="2B3147"/>
                          </a:solidFill>
                          <a:latin typeface="Calibri"/>
                        </a:rPr>
                        <a:t>4,988</a:t>
                      </a:r>
                    </a:p>
                  </a:txBody>
                  <a:tcPr marL="54864" marR="54864" marT="27432" marB="27432">
                    <a:solidFill>
                      <a:srgbClr val="FFFFFF"/>
                    </a:solidFill>
                  </a:tcPr>
                </a:tc>
                <a:extLst>
                  <a:ext uri="{0D108BD9-81ED-4DB2-BD59-A6C34878D82A}">
                    <a16:rowId xmlns:a16="http://schemas.microsoft.com/office/drawing/2014/main" val="10001"/>
                  </a:ext>
                </a:extLst>
              </a:tr>
              <a:tr h="422910">
                <a:tc>
                  <a:txBody>
                    <a:bodyPr/>
                    <a:lstStyle/>
                    <a:p>
                      <a:pPr algn="l"/>
                      <a:r>
                        <a:rPr sz="850" b="1">
                          <a:solidFill>
                            <a:srgbClr val="2B3147"/>
                          </a:solidFill>
                          <a:latin typeface="Calibri"/>
                        </a:rPr>
                        <a:t>0726 Q3 · Traffic</a:t>
                      </a:r>
                    </a:p>
                  </a:txBody>
                  <a:tcPr marL="54864" marR="54864" marT="27432" marB="27432">
                    <a:solidFill>
                      <a:srgbClr val="F9FAFC"/>
                    </a:solidFill>
                  </a:tcPr>
                </a:tc>
                <a:tc>
                  <a:txBody>
                    <a:bodyPr/>
                    <a:lstStyle/>
                    <a:p>
                      <a:pPr algn="r"/>
                      <a:r>
                        <a:rPr sz="850" b="0">
                          <a:solidFill>
                            <a:srgbClr val="2B3147"/>
                          </a:solidFill>
                          <a:latin typeface="Calibri"/>
                        </a:rPr>
                        <a:t>Traffic</a:t>
                      </a:r>
                    </a:p>
                  </a:txBody>
                  <a:tcPr marL="54864" marR="54864" marT="27432" marB="27432">
                    <a:solidFill>
                      <a:srgbClr val="F9FAFC"/>
                    </a:solidFill>
                  </a:tcPr>
                </a:tc>
                <a:tc>
                  <a:txBody>
                    <a:bodyPr/>
                    <a:lstStyle/>
                    <a:p>
                      <a:pPr algn="r"/>
                      <a:r>
                        <a:rPr sz="850" b="0">
                          <a:solidFill>
                            <a:srgbClr val="2B3147"/>
                          </a:solidFill>
                          <a:latin typeface="Calibri"/>
                        </a:rPr>
                        <a:t>$1,784</a:t>
                      </a:r>
                    </a:p>
                  </a:txBody>
                  <a:tcPr marL="54864" marR="54864" marT="27432" marB="27432">
                    <a:solidFill>
                      <a:srgbClr val="F9FAFC"/>
                    </a:solidFill>
                  </a:tcPr>
                </a:tc>
                <a:tc>
                  <a:txBody>
                    <a:bodyPr/>
                    <a:lstStyle/>
                    <a:p>
                      <a:pPr algn="r"/>
                      <a:r>
                        <a:rPr sz="850" b="0">
                          <a:solidFill>
                            <a:srgbClr val="2B3147"/>
                          </a:solidFill>
                          <a:latin typeface="Calibri"/>
                        </a:rPr>
                        <a:t>169,241</a:t>
                      </a:r>
                    </a:p>
                  </a:txBody>
                  <a:tcPr marL="54864" marR="54864" marT="27432" marB="27432">
                    <a:solidFill>
                      <a:srgbClr val="F9FAFC"/>
                    </a:solidFill>
                  </a:tcPr>
                </a:tc>
                <a:tc>
                  <a:txBody>
                    <a:bodyPr/>
                    <a:lstStyle/>
                    <a:p>
                      <a:pPr algn="r"/>
                      <a:r>
                        <a:rPr sz="850" b="0">
                          <a:solidFill>
                            <a:srgbClr val="2B3147"/>
                          </a:solidFill>
                          <a:latin typeface="Calibri"/>
                        </a:rPr>
                        <a:t>130,525</a:t>
                      </a:r>
                    </a:p>
                  </a:txBody>
                  <a:tcPr marL="54864" marR="54864" marT="27432" marB="27432">
                    <a:solidFill>
                      <a:srgbClr val="F9FAFC"/>
                    </a:solidFill>
                  </a:tcPr>
                </a:tc>
                <a:tc>
                  <a:txBody>
                    <a:bodyPr/>
                    <a:lstStyle/>
                    <a:p>
                      <a:pPr algn="r"/>
                      <a:r>
                        <a:rPr sz="850" b="0">
                          <a:solidFill>
                            <a:srgbClr val="2B3147"/>
                          </a:solidFill>
                          <a:latin typeface="Calibri"/>
                        </a:rPr>
                        <a:t>$10.54</a:t>
                      </a:r>
                    </a:p>
                  </a:txBody>
                  <a:tcPr marL="54864" marR="54864" marT="27432" marB="27432">
                    <a:solidFill>
                      <a:srgbClr val="F9FAFC"/>
                    </a:solidFill>
                  </a:tcPr>
                </a:tc>
                <a:tc>
                  <a:txBody>
                    <a:bodyPr/>
                    <a:lstStyle/>
                    <a:p>
                      <a:pPr algn="r"/>
                      <a:r>
                        <a:rPr sz="850" b="0">
                          <a:solidFill>
                            <a:srgbClr val="2B3147"/>
                          </a:solidFill>
                          <a:latin typeface="Calibri"/>
                        </a:rPr>
                        <a:t>3.47%</a:t>
                      </a:r>
                    </a:p>
                  </a:txBody>
                  <a:tcPr marL="54864" marR="54864" marT="27432" marB="27432">
                    <a:solidFill>
                      <a:srgbClr val="F9FAFC"/>
                    </a:solidFill>
                  </a:tcPr>
                </a:tc>
                <a:tc>
                  <a:txBody>
                    <a:bodyPr/>
                    <a:lstStyle/>
                    <a:p>
                      <a:pPr algn="r"/>
                      <a:r>
                        <a:rPr sz="850" b="0">
                          <a:solidFill>
                            <a:srgbClr val="2B3147"/>
                          </a:solidFill>
                          <a:latin typeface="Calibri"/>
                        </a:rPr>
                        <a:t>5,521</a:t>
                      </a:r>
                    </a:p>
                  </a:txBody>
                  <a:tcPr marL="54864" marR="54864" marT="27432" marB="27432">
                    <a:solidFill>
                      <a:srgbClr val="F9FAFC"/>
                    </a:solidFill>
                  </a:tcPr>
                </a:tc>
                <a:extLst>
                  <a:ext uri="{0D108BD9-81ED-4DB2-BD59-A6C34878D82A}">
                    <a16:rowId xmlns:a16="http://schemas.microsoft.com/office/drawing/2014/main" val="10002"/>
                  </a:ext>
                </a:extLst>
              </a:tr>
              <a:tr h="422910">
                <a:tc>
                  <a:txBody>
                    <a:bodyPr/>
                    <a:lstStyle/>
                    <a:p>
                      <a:pPr algn="l"/>
                      <a:r>
                        <a:rPr sz="850" b="1">
                          <a:solidFill>
                            <a:srgbClr val="2B3147"/>
                          </a:solidFill>
                          <a:latin typeface="Calibri"/>
                        </a:rPr>
                        <a:t>0726 Q3 · Conversion</a:t>
                      </a:r>
                    </a:p>
                  </a:txBody>
                  <a:tcPr marL="54864" marR="54864" marT="27432" marB="27432">
                    <a:solidFill>
                      <a:srgbClr val="FFFFFF"/>
                    </a:solidFill>
                  </a:tcPr>
                </a:tc>
                <a:tc>
                  <a:txBody>
                    <a:bodyPr/>
                    <a:lstStyle/>
                    <a:p>
                      <a:pPr algn="r"/>
                      <a:r>
                        <a:rPr sz="850" b="0">
                          <a:solidFill>
                            <a:srgbClr val="2B3147"/>
                          </a:solidFill>
                          <a:latin typeface="Calibri"/>
                        </a:rPr>
                        <a:t>Conversion</a:t>
                      </a:r>
                    </a:p>
                  </a:txBody>
                  <a:tcPr marL="54864" marR="54864" marT="27432" marB="27432">
                    <a:solidFill>
                      <a:srgbClr val="FFFFFF"/>
                    </a:solidFill>
                  </a:tcPr>
                </a:tc>
                <a:tc>
                  <a:txBody>
                    <a:bodyPr/>
                    <a:lstStyle/>
                    <a:p>
                      <a:pPr algn="r"/>
                      <a:r>
                        <a:rPr sz="850" b="0">
                          <a:solidFill>
                            <a:srgbClr val="2B3147"/>
                          </a:solidFill>
                          <a:latin typeface="Calibri"/>
                        </a:rPr>
                        <a:t>$3,052</a:t>
                      </a:r>
                    </a:p>
                  </a:txBody>
                  <a:tcPr marL="54864" marR="54864" marT="27432" marB="27432">
                    <a:solidFill>
                      <a:srgbClr val="FFFFFF"/>
                    </a:solidFill>
                  </a:tcPr>
                </a:tc>
                <a:tc>
                  <a:txBody>
                    <a:bodyPr/>
                    <a:lstStyle/>
                    <a:p>
                      <a:pPr algn="r"/>
                      <a:r>
                        <a:rPr sz="850" b="0">
                          <a:solidFill>
                            <a:srgbClr val="2B3147"/>
                          </a:solidFill>
                          <a:latin typeface="Calibri"/>
                        </a:rPr>
                        <a:t>117,772</a:t>
                      </a:r>
                    </a:p>
                  </a:txBody>
                  <a:tcPr marL="54864" marR="54864" marT="27432" marB="27432">
                    <a:solidFill>
                      <a:srgbClr val="FFFFFF"/>
                    </a:solidFill>
                  </a:tcPr>
                </a:tc>
                <a:tc>
                  <a:txBody>
                    <a:bodyPr/>
                    <a:lstStyle/>
                    <a:p>
                      <a:pPr algn="r"/>
                      <a:r>
                        <a:rPr sz="850" b="0">
                          <a:solidFill>
                            <a:srgbClr val="2B3147"/>
                          </a:solidFill>
                          <a:latin typeface="Calibri"/>
                        </a:rPr>
                        <a:t>73,539</a:t>
                      </a:r>
                    </a:p>
                  </a:txBody>
                  <a:tcPr marL="54864" marR="54864" marT="27432" marB="27432">
                    <a:solidFill>
                      <a:srgbClr val="FFFFFF"/>
                    </a:solidFill>
                  </a:tcPr>
                </a:tc>
                <a:tc>
                  <a:txBody>
                    <a:bodyPr/>
                    <a:lstStyle/>
                    <a:p>
                      <a:pPr algn="r"/>
                      <a:r>
                        <a:rPr sz="850" b="0">
                          <a:solidFill>
                            <a:srgbClr val="2B3147"/>
                          </a:solidFill>
                          <a:latin typeface="Calibri"/>
                        </a:rPr>
                        <a:t>$25.91</a:t>
                      </a:r>
                    </a:p>
                  </a:txBody>
                  <a:tcPr marL="54864" marR="54864" marT="27432" marB="27432">
                    <a:solidFill>
                      <a:srgbClr val="FFFFFF"/>
                    </a:solidFill>
                  </a:tcPr>
                </a:tc>
                <a:tc>
                  <a:txBody>
                    <a:bodyPr/>
                    <a:lstStyle/>
                    <a:p>
                      <a:pPr algn="r"/>
                      <a:r>
                        <a:rPr sz="850" b="0">
                          <a:solidFill>
                            <a:srgbClr val="2B3147"/>
                          </a:solidFill>
                          <a:latin typeface="Calibri"/>
                        </a:rPr>
                        <a:t>1.69%</a:t>
                      </a:r>
                    </a:p>
                  </a:txBody>
                  <a:tcPr marL="54864" marR="54864" marT="27432" marB="27432">
                    <a:solidFill>
                      <a:srgbClr val="FFFFFF"/>
                    </a:solidFill>
                  </a:tcPr>
                </a:tc>
                <a:tc>
                  <a:txBody>
                    <a:bodyPr/>
                    <a:lstStyle/>
                    <a:p>
                      <a:pPr algn="r"/>
                      <a:r>
                        <a:rPr sz="850" b="0">
                          <a:solidFill>
                            <a:srgbClr val="2B3147"/>
                          </a:solidFill>
                          <a:latin typeface="Calibri"/>
                        </a:rPr>
                        <a:t>1,258</a:t>
                      </a:r>
                    </a:p>
                  </a:txBody>
                  <a:tcPr marL="54864" marR="54864" marT="27432" marB="27432">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457200" y="3566160"/>
            <a:ext cx="11247120" cy="685800"/>
          </a:xfrm>
          <a:prstGeom prst="rect">
            <a:avLst/>
          </a:prstGeom>
          <a:noFill/>
        </p:spPr>
        <p:txBody>
          <a:bodyPr wrap="square" lIns="0" tIns="0" rIns="0" bIns="0" anchor="t">
            <a:spAutoFit/>
          </a:bodyPr>
          <a:lstStyle/>
          <a:p>
            <a:pPr algn="l"/>
            <a:r>
              <a:rPr sz="750" b="0">
                <a:solidFill>
                  <a:srgbClr val="5A6072"/>
                </a:solidFill>
                <a:latin typeface="Calibri"/>
              </a:rPr>
              <a:t>Reach (unique people reached) is counted per campaign and never added together across campaigns. The traffic campaigns and the application campaign are measured differently and never compared to each other. Traffic campaigns spent $3,888. The application campaign recorded 284 actions from Meta’s own site tracking, not submitted applications, directional only. Google Analytics recorded 7,902 site visits from all three Meta campaigns combined, two-thirds (67.2%) of Meta’s reported clicks; this month’s data can’t isolate visits to just the application campaign.</a:t>
            </a:r>
          </a:p>
        </p:txBody>
      </p:sp>
      <p:sp>
        <p:nvSpPr>
          <p:cNvPr id="13" name="Rectangle 12"/>
          <p:cNvSpPr/>
          <p:nvPr/>
        </p:nvSpPr>
        <p:spPr>
          <a:xfrm>
            <a:off x="457200" y="4343400"/>
            <a:ext cx="5486400" cy="13716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4343400"/>
            <a:ext cx="64008" cy="137160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4507992"/>
            <a:ext cx="5084064" cy="274320"/>
          </a:xfrm>
          <a:prstGeom prst="rect">
            <a:avLst/>
          </a:prstGeom>
          <a:noFill/>
        </p:spPr>
        <p:txBody>
          <a:bodyPr wrap="square" lIns="0" tIns="0" rIns="0" bIns="0" anchor="t">
            <a:spAutoFit/>
          </a:bodyPr>
          <a:lstStyle/>
          <a:p>
            <a:pPr algn="l"/>
            <a:r>
              <a:rPr sz="1000" b="1">
                <a:solidFill>
                  <a:srgbClr val="1E2761"/>
                </a:solidFill>
                <a:latin typeface="Georgia"/>
              </a:rPr>
              <a:t>TRAFFIC CAMPAIGNS VS JUNE</a:t>
            </a:r>
          </a:p>
        </p:txBody>
      </p:sp>
      <p:sp>
        <p:nvSpPr>
          <p:cNvPr id="16" name="TextBox 15"/>
          <p:cNvSpPr txBox="1"/>
          <p:nvPr/>
        </p:nvSpPr>
        <p:spPr>
          <a:xfrm>
            <a:off x="676656" y="4846320"/>
            <a:ext cx="5084064" cy="685800"/>
          </a:xfrm>
          <a:prstGeom prst="rect">
            <a:avLst/>
          </a:prstGeom>
          <a:noFill/>
        </p:spPr>
        <p:txBody>
          <a:bodyPr wrap="square" lIns="0" tIns="0" rIns="0" bIns="0" anchor="t">
            <a:spAutoFit/>
          </a:bodyPr>
          <a:lstStyle/>
          <a:p>
            <a:pPr algn="l"/>
            <a:r>
              <a:rPr sz="950" b="0">
                <a:solidFill>
                  <a:srgbClr val="2B3147"/>
                </a:solidFill>
                <a:latin typeface="Calibri"/>
              </a:rPr>
              <a:t>Cost per thousand impressions (CPM) across both traffic campaigns was $10.36, down from $11.35 in June.</a:t>
            </a:r>
          </a:p>
          <a:p>
            <a:pPr algn="l">
              <a:spcBef>
                <a:spcPts val="600"/>
              </a:spcBef>
            </a:pPr>
            <a:r>
              <a:rPr sz="950" b="0">
                <a:solidFill>
                  <a:srgbClr val="2B3147"/>
                </a:solidFill>
                <a:latin typeface="Calibri"/>
              </a:rPr>
              <a:t>Click-through rate (CTR), the share of people who saw the ad and clicked it, held at 2.72% and 3.47%, against 2.76% in June.</a:t>
            </a:r>
          </a:p>
        </p:txBody>
      </p:sp>
      <p:sp>
        <p:nvSpPr>
          <p:cNvPr id="17" name="Rectangle 16"/>
          <p:cNvSpPr/>
          <p:nvPr/>
        </p:nvSpPr>
        <p:spPr>
          <a:xfrm>
            <a:off x="6126480" y="4343400"/>
            <a:ext cx="5148072" cy="13716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4343400"/>
            <a:ext cx="64008" cy="13716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45936" y="4507992"/>
            <a:ext cx="4745736" cy="274320"/>
          </a:xfrm>
          <a:prstGeom prst="rect">
            <a:avLst/>
          </a:prstGeom>
          <a:noFill/>
        </p:spPr>
        <p:txBody>
          <a:bodyPr wrap="square" lIns="0" tIns="0" rIns="0" bIns="0" anchor="t">
            <a:spAutoFit/>
          </a:bodyPr>
          <a:lstStyle/>
          <a:p>
            <a:pPr algn="l"/>
            <a:r>
              <a:rPr sz="1000" b="1">
                <a:solidFill>
                  <a:srgbClr val="1E2761"/>
                </a:solidFill>
                <a:latin typeface="Georgia"/>
              </a:rPr>
              <a:t>REACH, COUNTED SEPARATELY</a:t>
            </a:r>
          </a:p>
        </p:txBody>
      </p:sp>
      <p:sp>
        <p:nvSpPr>
          <p:cNvPr id="20" name="TextBox 19"/>
          <p:cNvSpPr txBox="1"/>
          <p:nvPr/>
        </p:nvSpPr>
        <p:spPr>
          <a:xfrm>
            <a:off x="6345936" y="4846320"/>
            <a:ext cx="4745736" cy="685800"/>
          </a:xfrm>
          <a:prstGeom prst="rect">
            <a:avLst/>
          </a:prstGeom>
          <a:noFill/>
        </p:spPr>
        <p:txBody>
          <a:bodyPr wrap="square" lIns="0" tIns="0" rIns="0" bIns="0" anchor="t">
            <a:spAutoFit/>
          </a:bodyPr>
          <a:lstStyle/>
          <a:p>
            <a:pPr algn="l"/>
            <a:r>
              <a:rPr sz="950" b="0">
                <a:solidFill>
                  <a:srgbClr val="2B3147"/>
                </a:solidFill>
                <a:latin typeface="Calibri"/>
              </a:rPr>
              <a:t>The two traffic campaigns reached 173,989 and 130,525 people this month, each person seeing the ad 1.2 to 1.3 times on average. June’s single campaign reached 1,527,444 people at 2.0 times each, the drop matching the 77.4% pullback in spend.</a:t>
            </a:r>
          </a:p>
        </p:txBody>
      </p:sp>
      <p:sp>
        <p:nvSpPr>
          <p:cNvPr id="21" name="Rectangle 20"/>
          <p:cNvSpPr/>
          <p:nvPr/>
        </p:nvSpPr>
        <p:spPr>
          <a:xfrm>
            <a:off x="457200" y="5715000"/>
            <a:ext cx="11274552" cy="73152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5715000"/>
            <a:ext cx="11274552" cy="292608"/>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3504" y="5769864"/>
            <a:ext cx="10981944" cy="219456"/>
          </a:xfrm>
          <a:prstGeom prst="rect">
            <a:avLst/>
          </a:prstGeom>
          <a:noFill/>
        </p:spPr>
        <p:txBody>
          <a:bodyPr wrap="square" lIns="0" tIns="0" rIns="0" bIns="0" anchor="t">
            <a:spAutoFit/>
          </a:bodyPr>
          <a:lstStyle/>
          <a:p>
            <a:pPr algn="l"/>
            <a:r>
              <a:rPr sz="950" b="1">
                <a:solidFill>
                  <a:srgbClr val="FFFFFF"/>
                </a:solidFill>
                <a:latin typeface="Georgia"/>
              </a:rPr>
              <a:t>AUGUST OPERATING STATUS</a:t>
            </a:r>
          </a:p>
        </p:txBody>
      </p:sp>
      <p:sp>
        <p:nvSpPr>
          <p:cNvPr id="24" name="TextBox 23"/>
          <p:cNvSpPr txBox="1"/>
          <p:nvPr/>
        </p:nvSpPr>
        <p:spPr>
          <a:xfrm>
            <a:off x="603504" y="6117336"/>
            <a:ext cx="10981944" cy="182880"/>
          </a:xfrm>
          <a:prstGeom prst="rect">
            <a:avLst/>
          </a:prstGeom>
          <a:noFill/>
        </p:spPr>
        <p:txBody>
          <a:bodyPr wrap="square" lIns="0" tIns="0" rIns="0" bIns="0" anchor="t">
            <a:spAutoFit/>
          </a:bodyPr>
          <a:lstStyle/>
          <a:p>
            <a:pPr algn="l"/>
            <a:r>
              <a:rPr sz="900" b="0" dirty="0">
                <a:solidFill>
                  <a:srgbClr val="2B3147"/>
                </a:solidFill>
                <a:latin typeface="Calibri"/>
              </a:rPr>
              <a:t>The Meta account is flagged and delivery is paused entering August. </a:t>
            </a:r>
            <a:r>
              <a:rPr sz="900" b="0" dirty="0" err="1">
                <a:solidFill>
                  <a:srgbClr val="2B3147"/>
                </a:solidFill>
                <a:latin typeface="Calibri"/>
              </a:rPr>
              <a:t>StoneX</a:t>
            </a:r>
            <a:r>
              <a:rPr sz="900" b="0" dirty="0">
                <a:solidFill>
                  <a:srgbClr val="2B3147"/>
                </a:solidFill>
                <a:latin typeface="Calibri"/>
              </a:rPr>
              <a:t> owns the resolution.</a:t>
            </a:r>
          </a:p>
          <a:p>
            <a:pPr algn="l">
              <a:spcBef>
                <a:spcPts val="600"/>
              </a:spcBef>
            </a:pPr>
            <a:r>
              <a:rPr sz="900" b="0" dirty="0">
                <a:solidFill>
                  <a:srgbClr val="2B3147"/>
                </a:solidFill>
                <a:latin typeface="Calibri"/>
              </a:rPr>
              <a:t>July figures above reflect delivered activity for the month.</a:t>
            </a:r>
          </a:p>
        </p:txBody>
      </p:sp>
    </p:spTree>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META  ·  CREATIVE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The strongest ad creative for each campaign type, ranked for whenever delivery resumes.</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6 / 13</a:t>
            </a:r>
          </a:p>
        </p:txBody>
      </p:sp>
      <p:graphicFrame>
        <p:nvGraphicFramePr>
          <p:cNvPr id="10" name="Table 9"/>
          <p:cNvGraphicFramePr>
            <a:graphicFrameLocks noGrp="1"/>
          </p:cNvGraphicFramePr>
          <p:nvPr/>
        </p:nvGraphicFramePr>
        <p:xfrm>
          <a:off x="457200" y="1737360"/>
          <a:ext cx="5486400" cy="2011680"/>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335280">
                <a:tc>
                  <a:txBody>
                    <a:bodyPr/>
                    <a:lstStyle/>
                    <a:p>
                      <a:pPr algn="l"/>
                      <a:r>
                        <a:rPr sz="850" b="1">
                          <a:solidFill>
                            <a:srgbClr val="FFFFFF"/>
                          </a:solidFill>
                          <a:latin typeface="Calibri"/>
                        </a:rPr>
                        <a:t>Conversion creative</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Events</a:t>
                      </a:r>
                    </a:p>
                  </a:txBody>
                  <a:tcPr marL="54864" marR="54864" marT="27432" marB="27432">
                    <a:solidFill>
                      <a:srgbClr val="1E2761"/>
                    </a:solidFill>
                  </a:tcPr>
                </a:tc>
                <a:tc>
                  <a:txBody>
                    <a:bodyPr/>
                    <a:lstStyle/>
                    <a:p>
                      <a:pPr algn="r"/>
                      <a:r>
                        <a:rPr sz="850" b="1">
                          <a:solidFill>
                            <a:srgbClr val="FFFFFF"/>
                          </a:solidFill>
                          <a:latin typeface="Calibri"/>
                        </a:rPr>
                        <a:t>Cost/event</a:t>
                      </a:r>
                    </a:p>
                  </a:txBody>
                  <a:tcPr marL="54864" marR="54864" marT="27432" marB="27432">
                    <a:solidFill>
                      <a:srgbClr val="1E2761"/>
                    </a:solidFill>
                  </a:tcPr>
                </a:tc>
                <a:tc>
                  <a:txBody>
                    <a:bodyPr/>
                    <a:lstStyle/>
                    <a:p>
                      <a:pPr algn="r"/>
                      <a:r>
                        <a:rPr sz="850" b="1">
                          <a:solidFill>
                            <a:srgbClr val="FFFFFF"/>
                          </a:solidFill>
                          <a:latin typeface="Calibri"/>
                        </a:rPr>
                        <a:t>Ranking</a:t>
                      </a:r>
                    </a:p>
                  </a:txBody>
                  <a:tcPr marL="54864" marR="54864" marT="27432" marB="27432">
                    <a:solidFill>
                      <a:srgbClr val="1E2761"/>
                    </a:solidFill>
                  </a:tcPr>
                </a:tc>
                <a:extLst>
                  <a:ext uri="{0D108BD9-81ED-4DB2-BD59-A6C34878D82A}">
                    <a16:rowId xmlns:a16="http://schemas.microsoft.com/office/drawing/2014/main" val="10000"/>
                  </a:ext>
                </a:extLst>
              </a:tr>
              <a:tr h="335280">
                <a:tc>
                  <a:txBody>
                    <a:bodyPr/>
                    <a:lstStyle/>
                    <a:p>
                      <a:pPr algn="l"/>
                      <a:r>
                        <a:rPr sz="850" b="1">
                          <a:solidFill>
                            <a:srgbClr val="2B3147"/>
                          </a:solidFill>
                          <a:latin typeface="Calibri"/>
                        </a:rPr>
                        <a:t>broker_trust_q2_trackA</a:t>
                      </a:r>
                    </a:p>
                  </a:txBody>
                  <a:tcPr marL="54864" marR="54864" marT="27432" marB="27432">
                    <a:solidFill>
                      <a:srgbClr val="FFFFFF"/>
                    </a:solidFill>
                  </a:tcPr>
                </a:tc>
                <a:tc>
                  <a:txBody>
                    <a:bodyPr/>
                    <a:lstStyle/>
                    <a:p>
                      <a:pPr algn="r"/>
                      <a:r>
                        <a:rPr sz="850" b="0">
                          <a:solidFill>
                            <a:srgbClr val="2B3147"/>
                          </a:solidFill>
                          <a:latin typeface="Calibri"/>
                        </a:rPr>
                        <a:t>$1,656</a:t>
                      </a:r>
                    </a:p>
                  </a:txBody>
                  <a:tcPr marL="54864" marR="54864" marT="27432" marB="27432">
                    <a:solidFill>
                      <a:srgbClr val="FFFFFF"/>
                    </a:solidFill>
                  </a:tcPr>
                </a:tc>
                <a:tc>
                  <a:txBody>
                    <a:bodyPr/>
                    <a:lstStyle/>
                    <a:p>
                      <a:pPr algn="r"/>
                      <a:r>
                        <a:rPr sz="850" b="0">
                          <a:solidFill>
                            <a:srgbClr val="2B3147"/>
                          </a:solidFill>
                          <a:latin typeface="Calibri"/>
                        </a:rPr>
                        <a:t>177</a:t>
                      </a:r>
                    </a:p>
                  </a:txBody>
                  <a:tcPr marL="54864" marR="54864" marT="27432" marB="27432">
                    <a:solidFill>
                      <a:srgbClr val="FFFFFF"/>
                    </a:solidFill>
                  </a:tcPr>
                </a:tc>
                <a:tc>
                  <a:txBody>
                    <a:bodyPr/>
                    <a:lstStyle/>
                    <a:p>
                      <a:pPr algn="r"/>
                      <a:r>
                        <a:rPr sz="850" b="0">
                          <a:solidFill>
                            <a:srgbClr val="2B3147"/>
                          </a:solidFill>
                          <a:latin typeface="Calibri"/>
                        </a:rPr>
                        <a:t>$9.36</a:t>
                      </a:r>
                    </a:p>
                  </a:txBody>
                  <a:tcPr marL="54864" marR="54864" marT="27432" marB="27432">
                    <a:solidFill>
                      <a:srgbClr val="FFFFFF"/>
                    </a:solidFill>
                  </a:tcPr>
                </a:tc>
                <a:tc>
                  <a:txBody>
                    <a:bodyPr/>
                    <a:lstStyle/>
                    <a:p>
                      <a:pPr algn="r"/>
                      <a:r>
                        <a:rPr sz="850" b="0">
                          <a:solidFill>
                            <a:srgbClr val="2B3147"/>
                          </a:solidFill>
                          <a:latin typeface="Calibri"/>
                        </a:rPr>
                        <a:t>LEADER</a:t>
                      </a:r>
                    </a:p>
                  </a:txBody>
                  <a:tcPr marL="54864" marR="54864" marT="27432" marB="27432">
                    <a:solidFill>
                      <a:srgbClr val="FFFFFF"/>
                    </a:solidFill>
                  </a:tcPr>
                </a:tc>
                <a:extLst>
                  <a:ext uri="{0D108BD9-81ED-4DB2-BD59-A6C34878D82A}">
                    <a16:rowId xmlns:a16="http://schemas.microsoft.com/office/drawing/2014/main" val="10001"/>
                  </a:ext>
                </a:extLst>
              </a:tr>
              <a:tr h="335280">
                <a:tc>
                  <a:txBody>
                    <a:bodyPr/>
                    <a:lstStyle/>
                    <a:p>
                      <a:pPr algn="l"/>
                      <a:r>
                        <a:rPr sz="850" b="1">
                          <a:solidFill>
                            <a:srgbClr val="2B3147"/>
                          </a:solidFill>
                          <a:latin typeface="Calibri"/>
                        </a:rPr>
                        <a:t>forex_plat_q2_trackB</a:t>
                      </a:r>
                    </a:p>
                  </a:txBody>
                  <a:tcPr marL="54864" marR="54864" marT="27432" marB="27432">
                    <a:solidFill>
                      <a:srgbClr val="F9FAFC"/>
                    </a:solidFill>
                  </a:tcPr>
                </a:tc>
                <a:tc>
                  <a:txBody>
                    <a:bodyPr/>
                    <a:lstStyle/>
                    <a:p>
                      <a:pPr algn="r"/>
                      <a:r>
                        <a:rPr sz="850" b="0">
                          <a:solidFill>
                            <a:srgbClr val="2B3147"/>
                          </a:solidFill>
                          <a:latin typeface="Calibri"/>
                        </a:rPr>
                        <a:t>$236</a:t>
                      </a:r>
                    </a:p>
                  </a:txBody>
                  <a:tcPr marL="54864" marR="54864" marT="27432" marB="27432">
                    <a:solidFill>
                      <a:srgbClr val="F9FAFC"/>
                    </a:solidFill>
                  </a:tcPr>
                </a:tc>
                <a:tc>
                  <a:txBody>
                    <a:bodyPr/>
                    <a:lstStyle/>
                    <a:p>
                      <a:pPr algn="r"/>
                      <a:r>
                        <a:rPr sz="850" b="0">
                          <a:solidFill>
                            <a:srgbClr val="2B3147"/>
                          </a:solidFill>
                          <a:latin typeface="Calibri"/>
                        </a:rPr>
                        <a:t>32</a:t>
                      </a:r>
                    </a:p>
                  </a:txBody>
                  <a:tcPr marL="54864" marR="54864" marT="27432" marB="27432">
                    <a:solidFill>
                      <a:srgbClr val="F9FAFC"/>
                    </a:solidFill>
                  </a:tcPr>
                </a:tc>
                <a:tc>
                  <a:txBody>
                    <a:bodyPr/>
                    <a:lstStyle/>
                    <a:p>
                      <a:pPr algn="r"/>
                      <a:r>
                        <a:rPr sz="850" b="0">
                          <a:solidFill>
                            <a:srgbClr val="2B3147"/>
                          </a:solidFill>
                          <a:latin typeface="Calibri"/>
                        </a:rPr>
                        <a:t>$7.38</a:t>
                      </a:r>
                    </a:p>
                  </a:txBody>
                  <a:tcPr marL="54864" marR="54864" marT="27432" marB="27432">
                    <a:solidFill>
                      <a:srgbClr val="F9FAFC"/>
                    </a:solidFill>
                  </a:tcPr>
                </a:tc>
                <a:tc>
                  <a:txBody>
                    <a:bodyPr/>
                    <a:lstStyle/>
                    <a:p>
                      <a:pPr algn="r"/>
                      <a:r>
                        <a:rPr sz="850" b="0">
                          <a:solidFill>
                            <a:srgbClr val="2B3147"/>
                          </a:solidFill>
                          <a:latin typeface="Calibri"/>
                        </a:rPr>
                        <a:t>LEADER</a:t>
                      </a:r>
                    </a:p>
                  </a:txBody>
                  <a:tcPr marL="54864" marR="54864" marT="27432" marB="27432">
                    <a:solidFill>
                      <a:srgbClr val="F9FAFC"/>
                    </a:solidFill>
                  </a:tcPr>
                </a:tc>
                <a:extLst>
                  <a:ext uri="{0D108BD9-81ED-4DB2-BD59-A6C34878D82A}">
                    <a16:rowId xmlns:a16="http://schemas.microsoft.com/office/drawing/2014/main" val="10002"/>
                  </a:ext>
                </a:extLst>
              </a:tr>
              <a:tr h="335280">
                <a:tc>
                  <a:txBody>
                    <a:bodyPr/>
                    <a:lstStyle/>
                    <a:p>
                      <a:pPr algn="l"/>
                      <a:r>
                        <a:rPr sz="850" b="1">
                          <a:solidFill>
                            <a:srgbClr val="2B3147"/>
                          </a:solidFill>
                          <a:latin typeface="Calibri"/>
                        </a:rPr>
                        <a:t>exp_plat_q2_trackB</a:t>
                      </a:r>
                    </a:p>
                  </a:txBody>
                  <a:tcPr marL="54864" marR="54864" marT="27432" marB="27432">
                    <a:solidFill>
                      <a:srgbClr val="FFFFFF"/>
                    </a:solidFill>
                  </a:tcPr>
                </a:tc>
                <a:tc>
                  <a:txBody>
                    <a:bodyPr/>
                    <a:lstStyle/>
                    <a:p>
                      <a:pPr algn="r"/>
                      <a:r>
                        <a:rPr sz="850" b="0">
                          <a:solidFill>
                            <a:srgbClr val="2B3147"/>
                          </a:solidFill>
                          <a:latin typeface="Calibri"/>
                        </a:rPr>
                        <a:t>$743</a:t>
                      </a:r>
                    </a:p>
                  </a:txBody>
                  <a:tcPr marL="54864" marR="54864" marT="27432" marB="27432">
                    <a:solidFill>
                      <a:srgbClr val="FFFFFF"/>
                    </a:solidFill>
                  </a:tcPr>
                </a:tc>
                <a:tc>
                  <a:txBody>
                    <a:bodyPr/>
                    <a:lstStyle/>
                    <a:p>
                      <a:pPr algn="r"/>
                      <a:r>
                        <a:rPr sz="850" b="0">
                          <a:solidFill>
                            <a:srgbClr val="2B3147"/>
                          </a:solidFill>
                          <a:latin typeface="Calibri"/>
                        </a:rPr>
                        <a:t>58</a:t>
                      </a:r>
                    </a:p>
                  </a:txBody>
                  <a:tcPr marL="54864" marR="54864" marT="27432" marB="27432">
                    <a:solidFill>
                      <a:srgbClr val="FFFFFF"/>
                    </a:solidFill>
                  </a:tcPr>
                </a:tc>
                <a:tc>
                  <a:txBody>
                    <a:bodyPr/>
                    <a:lstStyle/>
                    <a:p>
                      <a:pPr algn="r"/>
                      <a:r>
                        <a:rPr sz="850" b="0">
                          <a:solidFill>
                            <a:srgbClr val="2B3147"/>
                          </a:solidFill>
                          <a:latin typeface="Calibri"/>
                        </a:rPr>
                        <a:t>$12.81</a:t>
                      </a:r>
                    </a:p>
                  </a:txBody>
                  <a:tcPr marL="54864" marR="54864" marT="27432" marB="27432">
                    <a:solidFill>
                      <a:srgbClr val="FFFFFF"/>
                    </a:solidFill>
                  </a:tcPr>
                </a:tc>
                <a:tc>
                  <a:txBody>
                    <a:bodyPr/>
                    <a:lstStyle/>
                    <a:p>
                      <a:pPr algn="r"/>
                      <a:r>
                        <a:rPr sz="850" b="0">
                          <a:solidFill>
                            <a:srgbClr val="2B3147"/>
                          </a:solidFill>
                          <a:latin typeface="Calibri"/>
                        </a:rPr>
                        <a:t>STEADY</a:t>
                      </a:r>
                    </a:p>
                  </a:txBody>
                  <a:tcPr marL="54864" marR="54864" marT="27432" marB="27432">
                    <a:solidFill>
                      <a:srgbClr val="FFFFFF"/>
                    </a:solidFill>
                  </a:tcPr>
                </a:tc>
                <a:extLst>
                  <a:ext uri="{0D108BD9-81ED-4DB2-BD59-A6C34878D82A}">
                    <a16:rowId xmlns:a16="http://schemas.microsoft.com/office/drawing/2014/main" val="10003"/>
                  </a:ext>
                </a:extLst>
              </a:tr>
              <a:tr h="335280">
                <a:tc>
                  <a:txBody>
                    <a:bodyPr/>
                    <a:lstStyle/>
                    <a:p>
                      <a:pPr algn="l"/>
                      <a:r>
                        <a:rPr sz="850" b="1">
                          <a:solidFill>
                            <a:srgbClr val="2B3147"/>
                          </a:solidFill>
                          <a:latin typeface="Calibri"/>
                        </a:rPr>
                        <a:t>edu_trust_q2_trackA</a:t>
                      </a:r>
                    </a:p>
                  </a:txBody>
                  <a:tcPr marL="54864" marR="54864" marT="27432" marB="27432">
                    <a:solidFill>
                      <a:srgbClr val="F9FAFC"/>
                    </a:solidFill>
                  </a:tcPr>
                </a:tc>
                <a:tc>
                  <a:txBody>
                    <a:bodyPr/>
                    <a:lstStyle/>
                    <a:p>
                      <a:pPr algn="r"/>
                      <a:r>
                        <a:rPr sz="850" b="0">
                          <a:solidFill>
                            <a:srgbClr val="2B3147"/>
                          </a:solidFill>
                          <a:latin typeface="Calibri"/>
                        </a:rPr>
                        <a:t>$382</a:t>
                      </a:r>
                    </a:p>
                  </a:txBody>
                  <a:tcPr marL="54864" marR="54864" marT="27432" marB="27432">
                    <a:solidFill>
                      <a:srgbClr val="F9FAFC"/>
                    </a:solidFill>
                  </a:tcPr>
                </a:tc>
                <a:tc>
                  <a:txBody>
                    <a:bodyPr/>
                    <a:lstStyle/>
                    <a:p>
                      <a:pPr algn="r"/>
                      <a:r>
                        <a:rPr sz="850" b="0">
                          <a:solidFill>
                            <a:srgbClr val="2B3147"/>
                          </a:solidFill>
                          <a:latin typeface="Calibri"/>
                        </a:rPr>
                        <a:t>11</a:t>
                      </a:r>
                    </a:p>
                  </a:txBody>
                  <a:tcPr marL="54864" marR="54864" marT="27432" marB="27432">
                    <a:solidFill>
                      <a:srgbClr val="F9FAFC"/>
                    </a:solidFill>
                  </a:tcPr>
                </a:tc>
                <a:tc>
                  <a:txBody>
                    <a:bodyPr/>
                    <a:lstStyle/>
                    <a:p>
                      <a:pPr algn="r"/>
                      <a:r>
                        <a:rPr sz="850" b="0">
                          <a:solidFill>
                            <a:srgbClr val="2B3147"/>
                          </a:solidFill>
                          <a:latin typeface="Calibri"/>
                        </a:rPr>
                        <a:t>$34.75</a:t>
                      </a:r>
                    </a:p>
                  </a:txBody>
                  <a:tcPr marL="54864" marR="54864" marT="27432" marB="27432">
                    <a:solidFill>
                      <a:srgbClr val="F9FAFC"/>
                    </a:solidFill>
                  </a:tcPr>
                </a:tc>
                <a:tc>
                  <a:txBody>
                    <a:bodyPr/>
                    <a:lstStyle/>
                    <a:p>
                      <a:pPr algn="r"/>
                      <a:r>
                        <a:rPr sz="850" b="0">
                          <a:solidFill>
                            <a:srgbClr val="2B3147"/>
                          </a:solidFill>
                          <a:latin typeface="Calibri"/>
                        </a:rPr>
                        <a:t>WEAKEST</a:t>
                      </a:r>
                    </a:p>
                  </a:txBody>
                  <a:tcPr marL="54864" marR="54864" marT="27432" marB="27432">
                    <a:solidFill>
                      <a:srgbClr val="F9FAFC"/>
                    </a:solidFill>
                  </a:tcPr>
                </a:tc>
                <a:extLst>
                  <a:ext uri="{0D108BD9-81ED-4DB2-BD59-A6C34878D82A}">
                    <a16:rowId xmlns:a16="http://schemas.microsoft.com/office/drawing/2014/main" val="10004"/>
                  </a:ext>
                </a:extLst>
              </a:tr>
              <a:tr h="335280">
                <a:tc>
                  <a:txBody>
                    <a:bodyPr/>
                    <a:lstStyle/>
                    <a:p>
                      <a:pPr algn="l"/>
                      <a:r>
                        <a:rPr sz="850" b="1">
                          <a:solidFill>
                            <a:srgbClr val="2B3147"/>
                          </a:solidFill>
                          <a:latin typeface="Calibri"/>
                        </a:rPr>
                        <a:t>trading_proof_q2_trackA</a:t>
                      </a:r>
                    </a:p>
                  </a:txBody>
                  <a:tcPr marL="54864" marR="54864" marT="27432" marB="27432">
                    <a:solidFill>
                      <a:srgbClr val="FFFFFF"/>
                    </a:solidFill>
                  </a:tcPr>
                </a:tc>
                <a:tc>
                  <a:txBody>
                    <a:bodyPr/>
                    <a:lstStyle/>
                    <a:p>
                      <a:pPr algn="r"/>
                      <a:r>
                        <a:rPr sz="850" b="0">
                          <a:solidFill>
                            <a:srgbClr val="2B3147"/>
                          </a:solidFill>
                          <a:latin typeface="Calibri"/>
                        </a:rPr>
                        <a:t>$33</a:t>
                      </a:r>
                    </a:p>
                  </a:txBody>
                  <a:tcPr marL="54864" marR="54864" marT="27432" marB="27432">
                    <a:solidFill>
                      <a:srgbClr val="FFFFFF"/>
                    </a:solidFill>
                  </a:tcPr>
                </a:tc>
                <a:tc>
                  <a:txBody>
                    <a:bodyPr/>
                    <a:lstStyle/>
                    <a:p>
                      <a:pPr algn="r"/>
                      <a:r>
                        <a:rPr sz="850" b="0">
                          <a:solidFill>
                            <a:srgbClr val="2B3147"/>
                          </a:solidFill>
                          <a:latin typeface="Calibri"/>
                        </a:rPr>
                        <a:t>6</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c>
                  <a:txBody>
                    <a:bodyPr/>
                    <a:lstStyle/>
                    <a:p>
                      <a:pPr algn="r"/>
                      <a:r>
                        <a:rPr sz="850" b="0">
                          <a:solidFill>
                            <a:srgbClr val="2B3147"/>
                          </a:solidFill>
                          <a:latin typeface="Calibri"/>
                        </a:rPr>
                        <a:t>STEADY</a:t>
                      </a:r>
                    </a:p>
                  </a:txBody>
                  <a:tcPr marL="54864" marR="54864" marT="27432" marB="27432">
                    <a:solidFill>
                      <a:srgbClr val="FFFFFF"/>
                    </a:solidFill>
                  </a:tcPr>
                </a:tc>
                <a:extLst>
                  <a:ext uri="{0D108BD9-81ED-4DB2-BD59-A6C34878D82A}">
                    <a16:rowId xmlns:a16="http://schemas.microsoft.com/office/drawing/2014/main" val="10005"/>
                  </a:ext>
                </a:extLst>
              </a:tr>
            </a:tbl>
          </a:graphicData>
        </a:graphic>
      </p:graphicFrame>
      <p:graphicFrame>
        <p:nvGraphicFramePr>
          <p:cNvPr id="11" name="Table 10"/>
          <p:cNvGraphicFramePr>
            <a:graphicFrameLocks noGrp="1"/>
          </p:cNvGraphicFramePr>
          <p:nvPr/>
        </p:nvGraphicFramePr>
        <p:xfrm>
          <a:off x="6126480" y="1737360"/>
          <a:ext cx="5148072" cy="1417320"/>
        </p:xfrm>
        <a:graphic>
          <a:graphicData uri="http://schemas.openxmlformats.org/drawingml/2006/table">
            <a:tbl>
              <a:tblPr>
                <a:tableStyleId>{5C22544A-7EE6-4342-B048-85BDC9FD1C3A}</a:tableStyleId>
              </a:tblPr>
              <a:tblGrid>
                <a:gridCol w="20116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21792">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54330">
                <a:tc>
                  <a:txBody>
                    <a:bodyPr/>
                    <a:lstStyle/>
                    <a:p>
                      <a:pPr algn="l"/>
                      <a:r>
                        <a:rPr sz="850" b="1">
                          <a:solidFill>
                            <a:srgbClr val="FFFFFF"/>
                          </a:solidFill>
                          <a:latin typeface="Calibri"/>
                        </a:rPr>
                        <a:t>Traffic creative (live campaign)</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Clicks</a:t>
                      </a:r>
                    </a:p>
                  </a:txBody>
                  <a:tcPr marL="54864" marR="54864" marT="27432" marB="27432">
                    <a:solidFill>
                      <a:srgbClr val="1E2761"/>
                    </a:solidFill>
                  </a:tcPr>
                </a:tc>
                <a:tc>
                  <a:txBody>
                    <a:bodyPr/>
                    <a:lstStyle/>
                    <a:p>
                      <a:pPr algn="r"/>
                      <a:r>
                        <a:rPr sz="850" b="1">
                          <a:solidFill>
                            <a:srgbClr val="FFFFFF"/>
                          </a:solidFill>
                          <a:latin typeface="Calibri"/>
                        </a:rPr>
                        <a:t>CTR</a:t>
                      </a:r>
                    </a:p>
                  </a:txBody>
                  <a:tcPr marL="54864" marR="54864" marT="27432" marB="27432">
                    <a:solidFill>
                      <a:srgbClr val="1E2761"/>
                    </a:solidFill>
                  </a:tcPr>
                </a:tc>
                <a:tc>
                  <a:txBody>
                    <a:bodyPr/>
                    <a:lstStyle/>
                    <a:p>
                      <a:pPr algn="r"/>
                      <a:r>
                        <a:rPr sz="850" b="1">
                          <a:solidFill>
                            <a:srgbClr val="FFFFFF"/>
                          </a:solidFill>
                          <a:latin typeface="Calibri"/>
                        </a:rPr>
                        <a:t>Ranking</a:t>
                      </a:r>
                    </a:p>
                  </a:txBody>
                  <a:tcPr marL="54864" marR="54864" marT="27432" marB="27432">
                    <a:solidFill>
                      <a:srgbClr val="1E2761"/>
                    </a:solidFill>
                  </a:tcPr>
                </a:tc>
                <a:extLst>
                  <a:ext uri="{0D108BD9-81ED-4DB2-BD59-A6C34878D82A}">
                    <a16:rowId xmlns:a16="http://schemas.microsoft.com/office/drawing/2014/main" val="10000"/>
                  </a:ext>
                </a:extLst>
              </a:tr>
              <a:tr h="354330">
                <a:tc>
                  <a:txBody>
                    <a:bodyPr/>
                    <a:lstStyle/>
                    <a:p>
                      <a:pPr algn="l"/>
                      <a:r>
                        <a:rPr sz="850" b="1">
                          <a:solidFill>
                            <a:srgbClr val="2B3147"/>
                          </a:solidFill>
                          <a:latin typeface="Calibri"/>
                        </a:rPr>
                        <a:t>forex_plat_q2_trackB</a:t>
                      </a:r>
                    </a:p>
                  </a:txBody>
                  <a:tcPr marL="54864" marR="54864" marT="27432" marB="27432">
                    <a:solidFill>
                      <a:srgbClr val="FFFFFF"/>
                    </a:solidFill>
                  </a:tcPr>
                </a:tc>
                <a:tc>
                  <a:txBody>
                    <a:bodyPr/>
                    <a:lstStyle/>
                    <a:p>
                      <a:pPr algn="r"/>
                      <a:r>
                        <a:rPr sz="850" b="0">
                          <a:solidFill>
                            <a:srgbClr val="2B3147"/>
                          </a:solidFill>
                          <a:latin typeface="Calibri"/>
                        </a:rPr>
                        <a:t>$1,033</a:t>
                      </a:r>
                    </a:p>
                  </a:txBody>
                  <a:tcPr marL="54864" marR="54864" marT="27432" marB="27432">
                    <a:solidFill>
                      <a:srgbClr val="FFFFFF"/>
                    </a:solidFill>
                  </a:tcPr>
                </a:tc>
                <a:tc>
                  <a:txBody>
                    <a:bodyPr/>
                    <a:lstStyle/>
                    <a:p>
                      <a:pPr algn="r"/>
                      <a:r>
                        <a:rPr sz="850" b="0">
                          <a:solidFill>
                            <a:srgbClr val="2B3147"/>
                          </a:solidFill>
                          <a:latin typeface="Calibri"/>
                        </a:rPr>
                        <a:t>3,171</a:t>
                      </a:r>
                    </a:p>
                  </a:txBody>
                  <a:tcPr marL="54864" marR="54864" marT="27432" marB="27432">
                    <a:solidFill>
                      <a:srgbClr val="FFFFFF"/>
                    </a:solidFill>
                  </a:tcPr>
                </a:tc>
                <a:tc>
                  <a:txBody>
                    <a:bodyPr/>
                    <a:lstStyle/>
                    <a:p>
                      <a:pPr algn="r"/>
                      <a:r>
                        <a:rPr sz="850" b="0">
                          <a:solidFill>
                            <a:srgbClr val="2B3147"/>
                          </a:solidFill>
                          <a:latin typeface="Calibri"/>
                        </a:rPr>
                        <a:t>5.32%</a:t>
                      </a:r>
                    </a:p>
                  </a:txBody>
                  <a:tcPr marL="54864" marR="54864" marT="27432" marB="27432">
                    <a:solidFill>
                      <a:srgbClr val="FFFFFF"/>
                    </a:solidFill>
                  </a:tcPr>
                </a:tc>
                <a:tc>
                  <a:txBody>
                    <a:bodyPr/>
                    <a:lstStyle/>
                    <a:p>
                      <a:pPr algn="r"/>
                      <a:r>
                        <a:rPr sz="850" b="0">
                          <a:solidFill>
                            <a:srgbClr val="2B3147"/>
                          </a:solidFill>
                          <a:latin typeface="Calibri"/>
                        </a:rPr>
                        <a:t>LEADER</a:t>
                      </a:r>
                    </a:p>
                  </a:txBody>
                  <a:tcPr marL="54864" marR="54864" marT="27432" marB="27432">
                    <a:solidFill>
                      <a:srgbClr val="FFFFFF"/>
                    </a:solidFill>
                  </a:tcPr>
                </a:tc>
                <a:extLst>
                  <a:ext uri="{0D108BD9-81ED-4DB2-BD59-A6C34878D82A}">
                    <a16:rowId xmlns:a16="http://schemas.microsoft.com/office/drawing/2014/main" val="10001"/>
                  </a:ext>
                </a:extLst>
              </a:tr>
              <a:tr h="354330">
                <a:tc>
                  <a:txBody>
                    <a:bodyPr/>
                    <a:lstStyle/>
                    <a:p>
                      <a:pPr algn="l"/>
                      <a:r>
                        <a:rPr sz="850" b="1">
                          <a:solidFill>
                            <a:srgbClr val="2B3147"/>
                          </a:solidFill>
                          <a:latin typeface="Calibri"/>
                        </a:rPr>
                        <a:t>broker_trust_q2_trackA</a:t>
                      </a:r>
                    </a:p>
                  </a:txBody>
                  <a:tcPr marL="54864" marR="54864" marT="27432" marB="27432">
                    <a:solidFill>
                      <a:srgbClr val="F9FAFC"/>
                    </a:solidFill>
                  </a:tcPr>
                </a:tc>
                <a:tc>
                  <a:txBody>
                    <a:bodyPr/>
                    <a:lstStyle/>
                    <a:p>
                      <a:pPr algn="r"/>
                      <a:r>
                        <a:rPr sz="850" b="0">
                          <a:solidFill>
                            <a:srgbClr val="2B3147"/>
                          </a:solidFill>
                          <a:latin typeface="Calibri"/>
                        </a:rPr>
                        <a:t>$571</a:t>
                      </a:r>
                    </a:p>
                  </a:txBody>
                  <a:tcPr marL="54864" marR="54864" marT="27432" marB="27432">
                    <a:solidFill>
                      <a:srgbClr val="F9FAFC"/>
                    </a:solidFill>
                  </a:tcPr>
                </a:tc>
                <a:tc>
                  <a:txBody>
                    <a:bodyPr/>
                    <a:lstStyle/>
                    <a:p>
                      <a:pPr algn="r"/>
                      <a:r>
                        <a:rPr sz="850" b="0">
                          <a:solidFill>
                            <a:srgbClr val="2B3147"/>
                          </a:solidFill>
                          <a:latin typeface="Calibri"/>
                        </a:rPr>
                        <a:t>1,597</a:t>
                      </a:r>
                    </a:p>
                  </a:txBody>
                  <a:tcPr marL="54864" marR="54864" marT="27432" marB="27432">
                    <a:solidFill>
                      <a:srgbClr val="F9FAFC"/>
                    </a:solidFill>
                  </a:tcPr>
                </a:tc>
                <a:tc>
                  <a:txBody>
                    <a:bodyPr/>
                    <a:lstStyle/>
                    <a:p>
                      <a:pPr algn="r"/>
                      <a:r>
                        <a:rPr sz="850" b="0">
                          <a:solidFill>
                            <a:srgbClr val="2B3147"/>
                          </a:solidFill>
                          <a:latin typeface="Calibri"/>
                        </a:rPr>
                        <a:t>2.77%</a:t>
                      </a:r>
                    </a:p>
                  </a:txBody>
                  <a:tcPr marL="54864" marR="54864" marT="27432" marB="27432">
                    <a:solidFill>
                      <a:srgbClr val="F9FAFC"/>
                    </a:solidFill>
                  </a:tcPr>
                </a:tc>
                <a:tc>
                  <a:txBody>
                    <a:bodyPr/>
                    <a:lstStyle/>
                    <a:p>
                      <a:pPr algn="r"/>
                      <a:r>
                        <a:rPr sz="850" b="0">
                          <a:solidFill>
                            <a:srgbClr val="2B3147"/>
                          </a:solidFill>
                          <a:latin typeface="Calibri"/>
                        </a:rPr>
                        <a:t>STEADY</a:t>
                      </a:r>
                    </a:p>
                  </a:txBody>
                  <a:tcPr marL="54864" marR="54864" marT="27432" marB="27432">
                    <a:solidFill>
                      <a:srgbClr val="F9FAFC"/>
                    </a:solidFill>
                  </a:tcPr>
                </a:tc>
                <a:extLst>
                  <a:ext uri="{0D108BD9-81ED-4DB2-BD59-A6C34878D82A}">
                    <a16:rowId xmlns:a16="http://schemas.microsoft.com/office/drawing/2014/main" val="10002"/>
                  </a:ext>
                </a:extLst>
              </a:tr>
              <a:tr h="354330">
                <a:tc>
                  <a:txBody>
                    <a:bodyPr/>
                    <a:lstStyle/>
                    <a:p>
                      <a:pPr algn="l"/>
                      <a:r>
                        <a:rPr sz="850" b="1">
                          <a:solidFill>
                            <a:srgbClr val="2B3147"/>
                          </a:solidFill>
                          <a:latin typeface="Calibri"/>
                        </a:rPr>
                        <a:t>exp_plat_q2_trackB</a:t>
                      </a:r>
                    </a:p>
                  </a:txBody>
                  <a:tcPr marL="54864" marR="54864" marT="27432" marB="27432">
                    <a:solidFill>
                      <a:srgbClr val="FFFFFF"/>
                    </a:solidFill>
                  </a:tcPr>
                </a:tc>
                <a:tc>
                  <a:txBody>
                    <a:bodyPr/>
                    <a:lstStyle/>
                    <a:p>
                      <a:pPr algn="r"/>
                      <a:r>
                        <a:rPr sz="850" b="0">
                          <a:solidFill>
                            <a:srgbClr val="2B3147"/>
                          </a:solidFill>
                          <a:latin typeface="Calibri"/>
                        </a:rPr>
                        <a:t>$153</a:t>
                      </a:r>
                    </a:p>
                  </a:txBody>
                  <a:tcPr marL="54864" marR="54864" marT="27432" marB="27432">
                    <a:solidFill>
                      <a:srgbClr val="FFFFFF"/>
                    </a:solidFill>
                  </a:tcPr>
                </a:tc>
                <a:tc>
                  <a:txBody>
                    <a:bodyPr/>
                    <a:lstStyle/>
                    <a:p>
                      <a:pPr algn="r"/>
                      <a:r>
                        <a:rPr sz="850" b="0">
                          <a:solidFill>
                            <a:srgbClr val="2B3147"/>
                          </a:solidFill>
                          <a:latin typeface="Calibri"/>
                        </a:rPr>
                        <a:t>649</a:t>
                      </a:r>
                    </a:p>
                  </a:txBody>
                  <a:tcPr marL="54864" marR="54864" marT="27432" marB="27432">
                    <a:solidFill>
                      <a:srgbClr val="FFFFFF"/>
                    </a:solidFill>
                  </a:tcPr>
                </a:tc>
                <a:tc>
                  <a:txBody>
                    <a:bodyPr/>
                    <a:lstStyle/>
                    <a:p>
                      <a:pPr algn="r"/>
                      <a:r>
                        <a:rPr sz="850" b="0">
                          <a:solidFill>
                            <a:srgbClr val="2B3147"/>
                          </a:solidFill>
                          <a:latin typeface="Calibri"/>
                        </a:rPr>
                        <a:t>1.51%</a:t>
                      </a:r>
                    </a:p>
                  </a:txBody>
                  <a:tcPr marL="54864" marR="54864" marT="27432" marB="27432">
                    <a:solidFill>
                      <a:srgbClr val="FFFFFF"/>
                    </a:solidFill>
                  </a:tcPr>
                </a:tc>
                <a:tc>
                  <a:txBody>
                    <a:bodyPr/>
                    <a:lstStyle/>
                    <a:p>
                      <a:pPr algn="r"/>
                      <a:r>
                        <a:rPr sz="850" b="0">
                          <a:solidFill>
                            <a:srgbClr val="2B3147"/>
                          </a:solidFill>
                          <a:latin typeface="Calibri"/>
                        </a:rPr>
                        <a:t>STEADY</a:t>
                      </a:r>
                    </a:p>
                  </a:txBody>
                  <a:tcPr marL="54864" marR="54864" marT="27432" marB="27432">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457200" y="3794760"/>
            <a:ext cx="5486400" cy="457200"/>
          </a:xfrm>
          <a:prstGeom prst="rect">
            <a:avLst/>
          </a:prstGeom>
          <a:noFill/>
        </p:spPr>
        <p:txBody>
          <a:bodyPr wrap="square" lIns="0" tIns="0" rIns="0" bIns="0" anchor="t">
            <a:spAutoFit/>
          </a:bodyPr>
          <a:lstStyle/>
          <a:p>
            <a:pPr algn="l"/>
            <a:r>
              <a:rPr sz="750" b="0">
                <a:solidFill>
                  <a:srgbClr val="5A6072"/>
                </a:solidFill>
                <a:latin typeface="Calibri"/>
              </a:rPr>
              <a:t>Events are actions recorded by Meta’s own site tracking, not submitted applications.</a:t>
            </a:r>
          </a:p>
        </p:txBody>
      </p:sp>
      <p:sp>
        <p:nvSpPr>
          <p:cNvPr id="13" name="TextBox 12"/>
          <p:cNvSpPr txBox="1"/>
          <p:nvPr/>
        </p:nvSpPr>
        <p:spPr>
          <a:xfrm>
            <a:off x="6126480" y="3246120"/>
            <a:ext cx="5148072" cy="457200"/>
          </a:xfrm>
          <a:prstGeom prst="rect">
            <a:avLst/>
          </a:prstGeom>
          <a:noFill/>
        </p:spPr>
        <p:txBody>
          <a:bodyPr wrap="square" lIns="0" tIns="0" rIns="0" bIns="0" anchor="t">
            <a:spAutoFit/>
          </a:bodyPr>
          <a:lstStyle/>
          <a:p>
            <a:pPr algn="l"/>
            <a:r>
              <a:rPr sz="750" b="0">
                <a:solidFill>
                  <a:srgbClr val="5A6072"/>
                </a:solidFill>
                <a:latin typeface="Calibri"/>
              </a:rPr>
              <a:t>The paused Q2 traffic campaign’s creative rows are historical only and carry no forward call.</a:t>
            </a:r>
          </a:p>
        </p:txBody>
      </p:sp>
      <p:sp>
        <p:nvSpPr>
          <p:cNvPr id="14" name="Rectangle 13"/>
          <p:cNvSpPr/>
          <p:nvPr/>
        </p:nvSpPr>
        <p:spPr>
          <a:xfrm>
            <a:off x="457200" y="4297680"/>
            <a:ext cx="11274552" cy="1737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4297680"/>
            <a:ext cx="64008" cy="173736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6" y="4462272"/>
            <a:ext cx="10872216" cy="274320"/>
          </a:xfrm>
          <a:prstGeom prst="rect">
            <a:avLst/>
          </a:prstGeom>
          <a:noFill/>
        </p:spPr>
        <p:txBody>
          <a:bodyPr wrap="square" lIns="0" tIns="0" rIns="0" bIns="0" anchor="t">
            <a:spAutoFit/>
          </a:bodyPr>
          <a:lstStyle/>
          <a:p>
            <a:pPr algn="l"/>
            <a:r>
              <a:rPr sz="1000" b="1">
                <a:solidFill>
                  <a:srgbClr val="1E2761"/>
                </a:solidFill>
                <a:latin typeface="Georgia"/>
              </a:rPr>
              <a:t>THE ORDER TO REVISIT</a:t>
            </a:r>
          </a:p>
        </p:txBody>
      </p:sp>
      <p:sp>
        <p:nvSpPr>
          <p:cNvPr id="17" name="TextBox 16"/>
          <p:cNvSpPr txBox="1"/>
          <p:nvPr/>
        </p:nvSpPr>
        <p:spPr>
          <a:xfrm>
            <a:off x="676656" y="4800600"/>
            <a:ext cx="10872216" cy="1051560"/>
          </a:xfrm>
          <a:prstGeom prst="rect">
            <a:avLst/>
          </a:prstGeom>
          <a:noFill/>
        </p:spPr>
        <p:txBody>
          <a:bodyPr wrap="square" lIns="0" tIns="0" rIns="0" bIns="0" anchor="t">
            <a:spAutoFit/>
          </a:bodyPr>
          <a:lstStyle/>
          <a:p>
            <a:pPr algn="l"/>
            <a:r>
              <a:rPr sz="950" b="0">
                <a:solidFill>
                  <a:srgbClr val="2B3147"/>
                </a:solidFill>
                <a:latin typeface="Calibri"/>
              </a:rPr>
              <a:t>Meta is paused entering August; the ranking above applies once delivery resumes. The forex_plat_q2_trackB ad performed best on both campaign types. The broker_trust_q2_trackA ad carried most of the application-campaign volume. The edu_trust_q2_trackA ad cost 3.7 times more per action than the stronger ads, on meaningful spend.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QUANTCAST  ·  DISPLAY AND NATIVE</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Display spend held near flat at $29,857; Native ran its first full month.</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7 / 13</a:t>
            </a:r>
          </a:p>
        </p:txBody>
      </p:sp>
      <p:sp>
        <p:nvSpPr>
          <p:cNvPr id="10" name="TextBox 9"/>
          <p:cNvSpPr txBox="1"/>
          <p:nvPr/>
        </p:nvSpPr>
        <p:spPr>
          <a:xfrm>
            <a:off x="457200" y="1417320"/>
            <a:ext cx="11247120" cy="274320"/>
          </a:xfrm>
          <a:prstGeom prst="rect">
            <a:avLst/>
          </a:prstGeom>
          <a:noFill/>
        </p:spPr>
        <p:txBody>
          <a:bodyPr wrap="square" lIns="0" tIns="0" rIns="0" bIns="0" anchor="t">
            <a:spAutoFit/>
          </a:bodyPr>
          <a:lstStyle/>
          <a:p>
            <a:pPr algn="l"/>
            <a:r>
              <a:rPr sz="950" b="0">
                <a:solidFill>
                  <a:srgbClr val="5A6072"/>
                </a:solidFill>
                <a:latin typeface="Calibri"/>
              </a:rPr>
              <a:t>Target: Spanish-language US audiences reached through finance and trading websites in Quantcast’s network. Confirmed 100% US delivery, every state, on both campaigns.</a:t>
            </a:r>
          </a:p>
        </p:txBody>
      </p:sp>
      <p:sp>
        <p:nvSpPr>
          <p:cNvPr id="11" name="Rectangle 10"/>
          <p:cNvSpPr/>
          <p:nvPr/>
        </p:nvSpPr>
        <p:spPr>
          <a:xfrm>
            <a:off x="45720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DISPLAY SPEND</a:t>
            </a:r>
          </a:p>
        </p:txBody>
      </p:sp>
      <p:sp>
        <p:nvSpPr>
          <p:cNvPr id="14" name="TextBox 13"/>
          <p:cNvSpPr txBox="1"/>
          <p:nvPr/>
        </p:nvSpPr>
        <p:spPr>
          <a:xfrm>
            <a:off x="640080"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$29,857</a:t>
            </a:r>
          </a:p>
        </p:txBody>
      </p:sp>
      <p:sp>
        <p:nvSpPr>
          <p:cNvPr id="15" name="TextBox 14"/>
          <p:cNvSpPr txBox="1"/>
          <p:nvPr/>
        </p:nvSpPr>
        <p:spPr>
          <a:xfrm>
            <a:off x="640080"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Jul 1-31</a:t>
            </a:r>
          </a:p>
        </p:txBody>
      </p:sp>
      <p:sp>
        <p:nvSpPr>
          <p:cNvPr id="16" name="Rectangle 15"/>
          <p:cNvSpPr/>
          <p:nvPr/>
        </p:nvSpPr>
        <p:spPr>
          <a:xfrm>
            <a:off x="2359152"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359152"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42032"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DISPLAY IMPR</a:t>
            </a:r>
          </a:p>
        </p:txBody>
      </p:sp>
      <p:sp>
        <p:nvSpPr>
          <p:cNvPr id="19" name="TextBox 18"/>
          <p:cNvSpPr txBox="1"/>
          <p:nvPr/>
        </p:nvSpPr>
        <p:spPr>
          <a:xfrm>
            <a:off x="2542032"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22.49M</a:t>
            </a:r>
          </a:p>
        </p:txBody>
      </p:sp>
      <p:sp>
        <p:nvSpPr>
          <p:cNvPr id="20" name="Rectangle 19"/>
          <p:cNvSpPr/>
          <p:nvPr/>
        </p:nvSpPr>
        <p:spPr>
          <a:xfrm>
            <a:off x="4261104"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61104"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43984"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DISPLAY CLICKS</a:t>
            </a:r>
          </a:p>
        </p:txBody>
      </p:sp>
      <p:sp>
        <p:nvSpPr>
          <p:cNvPr id="23" name="TextBox 22"/>
          <p:cNvSpPr txBox="1"/>
          <p:nvPr/>
        </p:nvSpPr>
        <p:spPr>
          <a:xfrm>
            <a:off x="4443984"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2,574</a:t>
            </a:r>
          </a:p>
        </p:txBody>
      </p:sp>
      <p:sp>
        <p:nvSpPr>
          <p:cNvPr id="24" name="Rectangle 23"/>
          <p:cNvSpPr/>
          <p:nvPr/>
        </p:nvSpPr>
        <p:spPr>
          <a:xfrm>
            <a:off x="6163056"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63056"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45936"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NATIVE IMPR</a:t>
            </a:r>
          </a:p>
        </p:txBody>
      </p:sp>
      <p:sp>
        <p:nvSpPr>
          <p:cNvPr id="27" name="TextBox 26"/>
          <p:cNvSpPr txBox="1"/>
          <p:nvPr/>
        </p:nvSpPr>
        <p:spPr>
          <a:xfrm>
            <a:off x="6345936"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9.41M</a:t>
            </a:r>
          </a:p>
        </p:txBody>
      </p:sp>
      <p:sp>
        <p:nvSpPr>
          <p:cNvPr id="28" name="Rectangle 27"/>
          <p:cNvSpPr/>
          <p:nvPr/>
        </p:nvSpPr>
        <p:spPr>
          <a:xfrm>
            <a:off x="8065008"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065008"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47888"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NATIVE CLICKS</a:t>
            </a:r>
          </a:p>
        </p:txBody>
      </p:sp>
      <p:sp>
        <p:nvSpPr>
          <p:cNvPr id="31" name="TextBox 30"/>
          <p:cNvSpPr txBox="1"/>
          <p:nvPr/>
        </p:nvSpPr>
        <p:spPr>
          <a:xfrm>
            <a:off x="8247888"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1,660</a:t>
            </a:r>
          </a:p>
        </p:txBody>
      </p:sp>
      <p:sp>
        <p:nvSpPr>
          <p:cNvPr id="32" name="Rectangle 31"/>
          <p:cNvSpPr/>
          <p:nvPr/>
        </p:nvSpPr>
        <p:spPr>
          <a:xfrm>
            <a:off x="996696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96696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149840" y="1874519"/>
            <a:ext cx="1508760" cy="274320"/>
          </a:xfrm>
          <a:prstGeom prst="rect">
            <a:avLst/>
          </a:prstGeom>
          <a:noFill/>
        </p:spPr>
        <p:txBody>
          <a:bodyPr wrap="square" lIns="0" tIns="0" rIns="0" bIns="0" anchor="t">
            <a:spAutoFit/>
          </a:bodyPr>
          <a:lstStyle/>
          <a:p>
            <a:pPr algn="l"/>
            <a:r>
              <a:rPr sz="800" b="1" dirty="0">
                <a:solidFill>
                  <a:srgbClr val="5A6072"/>
                </a:solidFill>
                <a:latin typeface="Calibri"/>
              </a:rPr>
              <a:t>GEO</a:t>
            </a:r>
          </a:p>
        </p:txBody>
      </p:sp>
      <p:sp>
        <p:nvSpPr>
          <p:cNvPr id="35" name="TextBox 34"/>
          <p:cNvSpPr txBox="1"/>
          <p:nvPr/>
        </p:nvSpPr>
        <p:spPr>
          <a:xfrm>
            <a:off x="10149840"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100% US</a:t>
            </a:r>
          </a:p>
        </p:txBody>
      </p:sp>
      <p:sp>
        <p:nvSpPr>
          <p:cNvPr id="36" name="TextBox 35"/>
          <p:cNvSpPr txBox="1"/>
          <p:nvPr/>
        </p:nvSpPr>
        <p:spPr>
          <a:xfrm>
            <a:off x="10149840"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both campaigns</a:t>
            </a:r>
          </a:p>
        </p:txBody>
      </p:sp>
      <p:sp>
        <p:nvSpPr>
          <p:cNvPr id="37" name="Rectangle 36"/>
          <p:cNvSpPr/>
          <p:nvPr/>
        </p:nvSpPr>
        <p:spPr>
          <a:xfrm>
            <a:off x="457200" y="3383280"/>
            <a:ext cx="5486400"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57200" y="3383280"/>
            <a:ext cx="64008" cy="274320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76656" y="3547872"/>
            <a:ext cx="5084064" cy="274320"/>
          </a:xfrm>
          <a:prstGeom prst="rect">
            <a:avLst/>
          </a:prstGeom>
          <a:noFill/>
        </p:spPr>
        <p:txBody>
          <a:bodyPr wrap="square" lIns="0" tIns="0" rIns="0" bIns="0" anchor="t">
            <a:spAutoFit/>
          </a:bodyPr>
          <a:lstStyle/>
          <a:p>
            <a:pPr algn="l"/>
            <a:r>
              <a:rPr sz="1000" b="1">
                <a:solidFill>
                  <a:srgbClr val="1E2761"/>
                </a:solidFill>
                <a:latin typeface="Georgia"/>
              </a:rPr>
              <a:t>WHAT THE DATA SHOWS</a:t>
            </a:r>
          </a:p>
        </p:txBody>
      </p:sp>
      <p:sp>
        <p:nvSpPr>
          <p:cNvPr id="40" name="TextBox 39"/>
          <p:cNvSpPr txBox="1"/>
          <p:nvPr/>
        </p:nvSpPr>
        <p:spPr>
          <a:xfrm>
            <a:off x="676656" y="3886200"/>
            <a:ext cx="5084064" cy="2057400"/>
          </a:xfrm>
          <a:prstGeom prst="rect">
            <a:avLst/>
          </a:prstGeom>
          <a:noFill/>
        </p:spPr>
        <p:txBody>
          <a:bodyPr wrap="square" lIns="0" tIns="0" rIns="0" bIns="0" anchor="t">
            <a:spAutoFit/>
          </a:bodyPr>
          <a:lstStyle/>
          <a:p>
            <a:pPr algn="l"/>
            <a:r>
              <a:rPr sz="950" b="0">
                <a:solidFill>
                  <a:srgbClr val="2B3147"/>
                </a:solidFill>
                <a:latin typeface="Calibri"/>
              </a:rPr>
              <a:t>Display spend held close to flat, down 2.3% from June to $29,857; every dollar on both campaigns delivered in the United States.</a:t>
            </a:r>
          </a:p>
          <a:p>
            <a:pPr algn="l">
              <a:spcBef>
                <a:spcPts val="600"/>
              </a:spcBef>
            </a:pPr>
            <a:r>
              <a:rPr sz="950" b="0">
                <a:solidFill>
                  <a:srgbClr val="2B3147"/>
                </a:solidFill>
                <a:latin typeface="Calibri"/>
              </a:rPr>
              <a:t>Native, within the shared $20,298 Native line, ran 9,411,481 impressions and 1,660 clicks in its first full month.</a:t>
            </a:r>
          </a:p>
          <a:p>
            <a:pPr algn="l">
              <a:spcBef>
                <a:spcPts val="600"/>
              </a:spcBef>
            </a:pPr>
            <a:r>
              <a:rPr sz="950" b="0">
                <a:solidFill>
                  <a:srgbClr val="2B3147"/>
                </a:solidFill>
                <a:latin typeface="Calibri"/>
              </a:rPr>
              <a:t>Viewability was 49.26% on display (46.9% June) and 57.98% on native.</a:t>
            </a:r>
          </a:p>
        </p:txBody>
      </p:sp>
      <p:sp>
        <p:nvSpPr>
          <p:cNvPr id="41" name="Rectangle 40"/>
          <p:cNvSpPr/>
          <p:nvPr/>
        </p:nvSpPr>
        <p:spPr>
          <a:xfrm>
            <a:off x="6126480" y="3383280"/>
            <a:ext cx="5148072"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126480" y="3383280"/>
            <a:ext cx="64008" cy="27432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45936" y="3547872"/>
            <a:ext cx="4745736" cy="274320"/>
          </a:xfrm>
          <a:prstGeom prst="rect">
            <a:avLst/>
          </a:prstGeom>
          <a:noFill/>
        </p:spPr>
        <p:txBody>
          <a:bodyPr wrap="square" lIns="0" tIns="0" rIns="0" bIns="0" anchor="t">
            <a:spAutoFit/>
          </a:bodyPr>
          <a:lstStyle/>
          <a:p>
            <a:pPr algn="l"/>
            <a:r>
              <a:rPr sz="1000" b="1">
                <a:solidFill>
                  <a:srgbClr val="1E2761"/>
                </a:solidFill>
                <a:latin typeface="Georgia"/>
              </a:rPr>
              <a:t>THE SITE LIST</a:t>
            </a:r>
          </a:p>
        </p:txBody>
      </p:sp>
      <p:sp>
        <p:nvSpPr>
          <p:cNvPr id="44" name="TextBox 43"/>
          <p:cNvSpPr txBox="1"/>
          <p:nvPr/>
        </p:nvSpPr>
        <p:spPr>
          <a:xfrm>
            <a:off x="6345936" y="3886200"/>
            <a:ext cx="4745736" cy="2057400"/>
          </a:xfrm>
          <a:prstGeom prst="rect">
            <a:avLst/>
          </a:prstGeom>
          <a:noFill/>
        </p:spPr>
        <p:txBody>
          <a:bodyPr wrap="square" lIns="0" tIns="0" rIns="0" bIns="0" anchor="t">
            <a:spAutoFit/>
          </a:bodyPr>
          <a:lstStyle/>
          <a:p>
            <a:pPr algn="l"/>
            <a:r>
              <a:rPr sz="950" b="0">
                <a:solidFill>
                  <a:srgbClr val="2B3147"/>
                </a:solidFill>
                <a:latin typeface="Calibri"/>
              </a:rPr>
              <a:t>A refreshed 35-domain site list accompanies this cycle for Quantcast, built on July delivery.</a:t>
            </a:r>
          </a:p>
          <a:p>
            <a:pPr algn="l">
              <a:spcBef>
                <a:spcPts val="600"/>
              </a:spcBef>
            </a:pPr>
            <a:r>
              <a:rPr sz="950" b="0">
                <a:solidFill>
                  <a:srgbClr val="2B3147"/>
                </a:solidFill>
                <a:latin typeface="Calibri"/>
              </a:rPr>
              <a:t>Applying it concentrates spend on better-performing inventory.</a:t>
            </a:r>
          </a:p>
          <a:p>
            <a:pPr algn="l">
              <a:spcBef>
                <a:spcPts val="600"/>
              </a:spcBef>
            </a:pPr>
            <a:r>
              <a:rPr sz="950" b="0">
                <a:solidFill>
                  <a:srgbClr val="2B3147"/>
                </a:solidFill>
                <a:latin typeface="Calibri"/>
              </a:rPr>
              <a:t>DECISION: send the refreshed list to Quantcast ahead of August.</a:t>
            </a:r>
          </a:p>
        </p:txBody>
      </p:sp>
    </p:spTree>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AZERION DISPLAY  ·  PERFORMANCE</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80 submitted applications at $393.46, the line’s best application month.</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8 / 13</a:t>
            </a:r>
          </a:p>
        </p:txBody>
      </p:sp>
      <p:sp>
        <p:nvSpPr>
          <p:cNvPr id="10" name="TextBox 9"/>
          <p:cNvSpPr txBox="1"/>
          <p:nvPr/>
        </p:nvSpPr>
        <p:spPr>
          <a:xfrm>
            <a:off x="457200" y="1417320"/>
            <a:ext cx="11247120" cy="274320"/>
          </a:xfrm>
          <a:prstGeom prst="rect">
            <a:avLst/>
          </a:prstGeom>
          <a:noFill/>
        </p:spPr>
        <p:txBody>
          <a:bodyPr wrap="square" lIns="0" tIns="0" rIns="0" bIns="0" anchor="t">
            <a:spAutoFit/>
          </a:bodyPr>
          <a:lstStyle/>
          <a:p>
            <a:pPr algn="l"/>
            <a:r>
              <a:rPr sz="950" b="0">
                <a:solidFill>
                  <a:srgbClr val="5A6072"/>
                </a:solidFill>
                <a:latin typeface="Calibri"/>
              </a:rPr>
              <a:t>Target: six Spanish-language audience segments reached through finance and trading websites in Azerion’s network, US-only delivery.</a:t>
            </a:r>
          </a:p>
        </p:txBody>
      </p:sp>
      <p:sp>
        <p:nvSpPr>
          <p:cNvPr id="11" name="Rectangle 10"/>
          <p:cNvSpPr/>
          <p:nvPr/>
        </p:nvSpPr>
        <p:spPr>
          <a:xfrm>
            <a:off x="45720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SPEND</a:t>
            </a:r>
          </a:p>
        </p:txBody>
      </p:sp>
      <p:sp>
        <p:nvSpPr>
          <p:cNvPr id="14" name="TextBox 13"/>
          <p:cNvSpPr txBox="1"/>
          <p:nvPr/>
        </p:nvSpPr>
        <p:spPr>
          <a:xfrm>
            <a:off x="640080"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$31,477</a:t>
            </a:r>
          </a:p>
        </p:txBody>
      </p:sp>
      <p:sp>
        <p:nvSpPr>
          <p:cNvPr id="15" name="TextBox 14"/>
          <p:cNvSpPr txBox="1"/>
          <p:nvPr/>
        </p:nvSpPr>
        <p:spPr>
          <a:xfrm>
            <a:off x="640080"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Jul 1-31</a:t>
            </a:r>
          </a:p>
        </p:txBody>
      </p:sp>
      <p:sp>
        <p:nvSpPr>
          <p:cNvPr id="16" name="Rectangle 15"/>
          <p:cNvSpPr/>
          <p:nvPr/>
        </p:nvSpPr>
        <p:spPr>
          <a:xfrm>
            <a:off x="2359152"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359152"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42032"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IMPRESSIONS</a:t>
            </a:r>
          </a:p>
        </p:txBody>
      </p:sp>
      <p:sp>
        <p:nvSpPr>
          <p:cNvPr id="19" name="TextBox 18"/>
          <p:cNvSpPr txBox="1"/>
          <p:nvPr/>
        </p:nvSpPr>
        <p:spPr>
          <a:xfrm>
            <a:off x="2542032"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4.77M</a:t>
            </a:r>
          </a:p>
        </p:txBody>
      </p:sp>
      <p:sp>
        <p:nvSpPr>
          <p:cNvPr id="20" name="Rectangle 19"/>
          <p:cNvSpPr/>
          <p:nvPr/>
        </p:nvSpPr>
        <p:spPr>
          <a:xfrm>
            <a:off x="4261104" y="1828800"/>
            <a:ext cx="1783080" cy="9144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61104" y="1828800"/>
            <a:ext cx="54864" cy="9144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43984"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CLICKS</a:t>
            </a:r>
          </a:p>
        </p:txBody>
      </p:sp>
      <p:sp>
        <p:nvSpPr>
          <p:cNvPr id="23" name="TextBox 22"/>
          <p:cNvSpPr txBox="1"/>
          <p:nvPr/>
        </p:nvSpPr>
        <p:spPr>
          <a:xfrm>
            <a:off x="4443984"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8,892</a:t>
            </a:r>
          </a:p>
        </p:txBody>
      </p:sp>
      <p:sp>
        <p:nvSpPr>
          <p:cNvPr id="24" name="Rectangle 23"/>
          <p:cNvSpPr/>
          <p:nvPr/>
        </p:nvSpPr>
        <p:spPr>
          <a:xfrm>
            <a:off x="6163056"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63056"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45936"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APPLICATIONS</a:t>
            </a:r>
          </a:p>
        </p:txBody>
      </p:sp>
      <p:sp>
        <p:nvSpPr>
          <p:cNvPr id="27" name="TextBox 26"/>
          <p:cNvSpPr txBox="1"/>
          <p:nvPr/>
        </p:nvSpPr>
        <p:spPr>
          <a:xfrm>
            <a:off x="6345936"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80</a:t>
            </a:r>
          </a:p>
        </p:txBody>
      </p:sp>
      <p:sp>
        <p:nvSpPr>
          <p:cNvPr id="28" name="TextBox 27"/>
          <p:cNvSpPr txBox="1"/>
          <p:nvPr/>
        </p:nvSpPr>
        <p:spPr>
          <a:xfrm>
            <a:off x="6345936"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June: 58</a:t>
            </a:r>
          </a:p>
        </p:txBody>
      </p:sp>
      <p:sp>
        <p:nvSpPr>
          <p:cNvPr id="29" name="Rectangle 28"/>
          <p:cNvSpPr/>
          <p:nvPr/>
        </p:nvSpPr>
        <p:spPr>
          <a:xfrm>
            <a:off x="8065008"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065008"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47888" y="1874519"/>
            <a:ext cx="1508760" cy="274320"/>
          </a:xfrm>
          <a:prstGeom prst="rect">
            <a:avLst/>
          </a:prstGeom>
          <a:noFill/>
        </p:spPr>
        <p:txBody>
          <a:bodyPr wrap="square" lIns="0" tIns="0" rIns="0" bIns="0" anchor="t">
            <a:spAutoFit/>
          </a:bodyPr>
          <a:lstStyle/>
          <a:p>
            <a:pPr algn="l"/>
            <a:r>
              <a:rPr sz="800" b="1">
                <a:solidFill>
                  <a:srgbClr val="5A6072"/>
                </a:solidFill>
                <a:latin typeface="Calibri"/>
              </a:rPr>
              <a:t>COST / APP</a:t>
            </a:r>
          </a:p>
        </p:txBody>
      </p:sp>
      <p:sp>
        <p:nvSpPr>
          <p:cNvPr id="32" name="TextBox 31"/>
          <p:cNvSpPr txBox="1"/>
          <p:nvPr/>
        </p:nvSpPr>
        <p:spPr>
          <a:xfrm>
            <a:off x="8247888"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$393.46</a:t>
            </a:r>
          </a:p>
        </p:txBody>
      </p:sp>
      <p:sp>
        <p:nvSpPr>
          <p:cNvPr id="33" name="TextBox 32"/>
          <p:cNvSpPr txBox="1"/>
          <p:nvPr/>
        </p:nvSpPr>
        <p:spPr>
          <a:xfrm>
            <a:off x="8247888"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June: $510.10</a:t>
            </a:r>
          </a:p>
        </p:txBody>
      </p:sp>
      <p:sp>
        <p:nvSpPr>
          <p:cNvPr id="34" name="Rectangle 33"/>
          <p:cNvSpPr/>
          <p:nvPr/>
        </p:nvSpPr>
        <p:spPr>
          <a:xfrm>
            <a:off x="9966960" y="182880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96696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149840" y="1874519"/>
            <a:ext cx="1508760" cy="274320"/>
          </a:xfrm>
          <a:prstGeom prst="rect">
            <a:avLst/>
          </a:prstGeom>
          <a:noFill/>
        </p:spPr>
        <p:txBody>
          <a:bodyPr wrap="square" lIns="0" tIns="0" rIns="0" bIns="0" anchor="t">
            <a:spAutoFit/>
          </a:bodyPr>
          <a:lstStyle/>
          <a:p>
            <a:pPr algn="l"/>
            <a:r>
              <a:rPr sz="800" b="1" dirty="0">
                <a:solidFill>
                  <a:srgbClr val="5A6072"/>
                </a:solidFill>
                <a:latin typeface="Calibri"/>
              </a:rPr>
              <a:t>AVG CPC</a:t>
            </a:r>
          </a:p>
        </p:txBody>
      </p:sp>
      <p:sp>
        <p:nvSpPr>
          <p:cNvPr id="37" name="TextBox 36"/>
          <p:cNvSpPr txBox="1"/>
          <p:nvPr/>
        </p:nvSpPr>
        <p:spPr>
          <a:xfrm>
            <a:off x="10149840" y="2121408"/>
            <a:ext cx="1508760" cy="457200"/>
          </a:xfrm>
          <a:prstGeom prst="rect">
            <a:avLst/>
          </a:prstGeom>
          <a:noFill/>
        </p:spPr>
        <p:txBody>
          <a:bodyPr wrap="square" lIns="0" tIns="0" rIns="0" bIns="0" anchor="t">
            <a:spAutoFit/>
          </a:bodyPr>
          <a:lstStyle/>
          <a:p>
            <a:pPr algn="l"/>
            <a:r>
              <a:rPr sz="1500" b="1">
                <a:solidFill>
                  <a:srgbClr val="1E2761"/>
                </a:solidFill>
                <a:latin typeface="Calibri"/>
              </a:rPr>
              <a:t>$3.54</a:t>
            </a:r>
          </a:p>
        </p:txBody>
      </p:sp>
      <p:sp>
        <p:nvSpPr>
          <p:cNvPr id="38" name="TextBox 37"/>
          <p:cNvSpPr txBox="1"/>
          <p:nvPr/>
        </p:nvSpPr>
        <p:spPr>
          <a:xfrm>
            <a:off x="10149840" y="2578608"/>
            <a:ext cx="1508760" cy="219456"/>
          </a:xfrm>
          <a:prstGeom prst="rect">
            <a:avLst/>
          </a:prstGeom>
          <a:noFill/>
        </p:spPr>
        <p:txBody>
          <a:bodyPr wrap="square" lIns="0" tIns="0" rIns="0" bIns="0" anchor="t">
            <a:spAutoFit/>
          </a:bodyPr>
          <a:lstStyle/>
          <a:p>
            <a:pPr algn="l"/>
            <a:r>
              <a:rPr sz="800" b="0">
                <a:solidFill>
                  <a:srgbClr val="5A6072"/>
                </a:solidFill>
                <a:latin typeface="Calibri"/>
              </a:rPr>
              <a:t>spend / clicks</a:t>
            </a:r>
          </a:p>
        </p:txBody>
      </p:sp>
      <p:graphicFrame>
        <p:nvGraphicFramePr>
          <p:cNvPr id="39" name="Table 38"/>
          <p:cNvGraphicFramePr>
            <a:graphicFrameLocks noGrp="1"/>
          </p:cNvGraphicFramePr>
          <p:nvPr/>
        </p:nvGraphicFramePr>
        <p:xfrm>
          <a:off x="457200" y="3383280"/>
          <a:ext cx="5394960" cy="2103120"/>
        </p:xfrm>
        <a:graphic>
          <a:graphicData uri="http://schemas.openxmlformats.org/drawingml/2006/table">
            <a:tbl>
              <a:tblPr>
                <a:tableStyleId>{5C22544A-7EE6-4342-B048-85BDC9FD1C3A}</a:tableStyleId>
              </a:tblPr>
              <a:tblGrid>
                <a:gridCol w="1463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50520">
                <a:tc>
                  <a:txBody>
                    <a:bodyPr/>
                    <a:lstStyle/>
                    <a:p>
                      <a:pPr algn="l"/>
                      <a:r>
                        <a:rPr sz="850" b="1">
                          <a:solidFill>
                            <a:srgbClr val="FFFFFF"/>
                          </a:solidFill>
                          <a:latin typeface="Calibri"/>
                        </a:rPr>
                        <a:t>Week</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Apps</a:t>
                      </a:r>
                    </a:p>
                  </a:txBody>
                  <a:tcPr marL="54864" marR="54864" marT="27432" marB="27432">
                    <a:solidFill>
                      <a:srgbClr val="1E2761"/>
                    </a:solidFill>
                  </a:tcPr>
                </a:tc>
                <a:tc>
                  <a:txBody>
                    <a:bodyPr/>
                    <a:lstStyle/>
                    <a:p>
                      <a:pPr algn="r"/>
                      <a:r>
                        <a:rPr sz="850" b="1">
                          <a:solidFill>
                            <a:srgbClr val="FFFFFF"/>
                          </a:solidFill>
                          <a:latin typeface="Calibri"/>
                        </a:rPr>
                        <a:t>CPA</a:t>
                      </a:r>
                    </a:p>
                  </a:txBody>
                  <a:tcPr marL="54864" marR="54864" marT="27432" marB="27432">
                    <a:solidFill>
                      <a:srgbClr val="1E2761"/>
                    </a:solidFill>
                  </a:tcPr>
                </a:tc>
                <a:extLst>
                  <a:ext uri="{0D108BD9-81ED-4DB2-BD59-A6C34878D82A}">
                    <a16:rowId xmlns:a16="http://schemas.microsoft.com/office/drawing/2014/main" val="10000"/>
                  </a:ext>
                </a:extLst>
              </a:tr>
              <a:tr h="350520">
                <a:tc>
                  <a:txBody>
                    <a:bodyPr/>
                    <a:lstStyle/>
                    <a:p>
                      <a:pPr algn="l"/>
                      <a:r>
                        <a:rPr sz="850" b="1">
                          <a:solidFill>
                            <a:srgbClr val="2B3147"/>
                          </a:solidFill>
                          <a:latin typeface="Calibri"/>
                        </a:rPr>
                        <a:t>Jul 1-7</a:t>
                      </a:r>
                    </a:p>
                  </a:txBody>
                  <a:tcPr marL="54864" marR="54864" marT="27432" marB="27432">
                    <a:solidFill>
                      <a:srgbClr val="FFFFFF"/>
                    </a:solidFill>
                  </a:tcPr>
                </a:tc>
                <a:tc>
                  <a:txBody>
                    <a:bodyPr/>
                    <a:lstStyle/>
                    <a:p>
                      <a:pPr algn="r"/>
                      <a:r>
                        <a:rPr sz="850" b="0">
                          <a:solidFill>
                            <a:srgbClr val="2B3147"/>
                          </a:solidFill>
                          <a:latin typeface="Calibri"/>
                        </a:rPr>
                        <a:t>$8,829</a:t>
                      </a:r>
                    </a:p>
                  </a:txBody>
                  <a:tcPr marL="54864" marR="54864" marT="27432" marB="27432">
                    <a:solidFill>
                      <a:srgbClr val="FFFFFF"/>
                    </a:solidFill>
                  </a:tcPr>
                </a:tc>
                <a:tc>
                  <a:txBody>
                    <a:bodyPr/>
                    <a:lstStyle/>
                    <a:p>
                      <a:pPr algn="r"/>
                      <a:r>
                        <a:rPr sz="850" b="0">
                          <a:solidFill>
                            <a:srgbClr val="2B3147"/>
                          </a:solidFill>
                          <a:latin typeface="Calibri"/>
                        </a:rPr>
                        <a:t>23</a:t>
                      </a:r>
                    </a:p>
                  </a:txBody>
                  <a:tcPr marL="54864" marR="54864" marT="27432" marB="27432">
                    <a:solidFill>
                      <a:srgbClr val="FFFFFF"/>
                    </a:solidFill>
                  </a:tcPr>
                </a:tc>
                <a:tc>
                  <a:txBody>
                    <a:bodyPr/>
                    <a:lstStyle/>
                    <a:p>
                      <a:pPr algn="r"/>
                      <a:r>
                        <a:rPr sz="850" b="0">
                          <a:solidFill>
                            <a:srgbClr val="2B3147"/>
                          </a:solidFill>
                          <a:latin typeface="Calibri"/>
                        </a:rPr>
                        <a:t>$383.88</a:t>
                      </a:r>
                    </a:p>
                  </a:txBody>
                  <a:tcPr marL="54864" marR="54864" marT="27432" marB="27432">
                    <a:solidFill>
                      <a:srgbClr val="FFFFFF"/>
                    </a:solidFill>
                  </a:tcPr>
                </a:tc>
                <a:extLst>
                  <a:ext uri="{0D108BD9-81ED-4DB2-BD59-A6C34878D82A}">
                    <a16:rowId xmlns:a16="http://schemas.microsoft.com/office/drawing/2014/main" val="10001"/>
                  </a:ext>
                </a:extLst>
              </a:tr>
              <a:tr h="350520">
                <a:tc>
                  <a:txBody>
                    <a:bodyPr/>
                    <a:lstStyle/>
                    <a:p>
                      <a:pPr algn="l"/>
                      <a:r>
                        <a:rPr sz="850" b="1">
                          <a:solidFill>
                            <a:srgbClr val="2B3147"/>
                          </a:solidFill>
                          <a:latin typeface="Calibri"/>
                        </a:rPr>
                        <a:t>Jul 8-14</a:t>
                      </a:r>
                    </a:p>
                  </a:txBody>
                  <a:tcPr marL="54864" marR="54864" marT="27432" marB="27432">
                    <a:solidFill>
                      <a:srgbClr val="F9FAFC"/>
                    </a:solidFill>
                  </a:tcPr>
                </a:tc>
                <a:tc>
                  <a:txBody>
                    <a:bodyPr/>
                    <a:lstStyle/>
                    <a:p>
                      <a:pPr algn="r"/>
                      <a:r>
                        <a:rPr sz="850" b="0">
                          <a:solidFill>
                            <a:srgbClr val="2B3147"/>
                          </a:solidFill>
                          <a:latin typeface="Calibri"/>
                        </a:rPr>
                        <a:t>$7,956</a:t>
                      </a:r>
                    </a:p>
                  </a:txBody>
                  <a:tcPr marL="54864" marR="54864" marT="27432" marB="27432">
                    <a:solidFill>
                      <a:srgbClr val="F9FAFC"/>
                    </a:solidFill>
                  </a:tcPr>
                </a:tc>
                <a:tc>
                  <a:txBody>
                    <a:bodyPr/>
                    <a:lstStyle/>
                    <a:p>
                      <a:pPr algn="r"/>
                      <a:r>
                        <a:rPr sz="850" b="0">
                          <a:solidFill>
                            <a:srgbClr val="2B3147"/>
                          </a:solidFill>
                          <a:latin typeface="Calibri"/>
                        </a:rPr>
                        <a:t>15</a:t>
                      </a:r>
                    </a:p>
                  </a:txBody>
                  <a:tcPr marL="54864" marR="54864" marT="27432" marB="27432">
                    <a:solidFill>
                      <a:srgbClr val="F9FAFC"/>
                    </a:solidFill>
                  </a:tcPr>
                </a:tc>
                <a:tc>
                  <a:txBody>
                    <a:bodyPr/>
                    <a:lstStyle/>
                    <a:p>
                      <a:pPr algn="r"/>
                      <a:r>
                        <a:rPr sz="850" b="0">
                          <a:solidFill>
                            <a:srgbClr val="2B3147"/>
                          </a:solidFill>
                          <a:latin typeface="Calibri"/>
                        </a:rPr>
                        <a:t>$530.40</a:t>
                      </a:r>
                    </a:p>
                  </a:txBody>
                  <a:tcPr marL="54864" marR="54864" marT="27432" marB="27432">
                    <a:solidFill>
                      <a:srgbClr val="F9FAFC"/>
                    </a:solidFill>
                  </a:tcPr>
                </a:tc>
                <a:extLst>
                  <a:ext uri="{0D108BD9-81ED-4DB2-BD59-A6C34878D82A}">
                    <a16:rowId xmlns:a16="http://schemas.microsoft.com/office/drawing/2014/main" val="10002"/>
                  </a:ext>
                </a:extLst>
              </a:tr>
              <a:tr h="350520">
                <a:tc>
                  <a:txBody>
                    <a:bodyPr/>
                    <a:lstStyle/>
                    <a:p>
                      <a:pPr algn="l"/>
                      <a:r>
                        <a:rPr sz="850" b="1">
                          <a:solidFill>
                            <a:srgbClr val="2B3147"/>
                          </a:solidFill>
                          <a:latin typeface="Calibri"/>
                        </a:rPr>
                        <a:t>Jul 15-21</a:t>
                      </a:r>
                    </a:p>
                  </a:txBody>
                  <a:tcPr marL="54864" marR="54864" marT="27432" marB="27432">
                    <a:solidFill>
                      <a:srgbClr val="FFFFFF"/>
                    </a:solidFill>
                  </a:tcPr>
                </a:tc>
                <a:tc>
                  <a:txBody>
                    <a:bodyPr/>
                    <a:lstStyle/>
                    <a:p>
                      <a:pPr algn="r"/>
                      <a:r>
                        <a:rPr sz="850" b="0">
                          <a:solidFill>
                            <a:srgbClr val="2B3147"/>
                          </a:solidFill>
                          <a:latin typeface="Calibri"/>
                        </a:rPr>
                        <a:t>$8,033</a:t>
                      </a:r>
                    </a:p>
                  </a:txBody>
                  <a:tcPr marL="54864" marR="54864" marT="27432" marB="27432">
                    <a:solidFill>
                      <a:srgbClr val="FFFFFF"/>
                    </a:solidFill>
                  </a:tcPr>
                </a:tc>
                <a:tc>
                  <a:txBody>
                    <a:bodyPr/>
                    <a:lstStyle/>
                    <a:p>
                      <a:pPr algn="r"/>
                      <a:r>
                        <a:rPr sz="850" b="0">
                          <a:solidFill>
                            <a:srgbClr val="2B3147"/>
                          </a:solidFill>
                          <a:latin typeface="Calibri"/>
                        </a:rPr>
                        <a:t>22</a:t>
                      </a:r>
                    </a:p>
                  </a:txBody>
                  <a:tcPr marL="54864" marR="54864" marT="27432" marB="27432">
                    <a:solidFill>
                      <a:srgbClr val="FFFFFF"/>
                    </a:solidFill>
                  </a:tcPr>
                </a:tc>
                <a:tc>
                  <a:txBody>
                    <a:bodyPr/>
                    <a:lstStyle/>
                    <a:p>
                      <a:pPr algn="r"/>
                      <a:r>
                        <a:rPr sz="850" b="0">
                          <a:solidFill>
                            <a:srgbClr val="2B3147"/>
                          </a:solidFill>
                          <a:latin typeface="Calibri"/>
                        </a:rPr>
                        <a:t>$365.15</a:t>
                      </a:r>
                    </a:p>
                  </a:txBody>
                  <a:tcPr marL="54864" marR="54864" marT="27432" marB="27432">
                    <a:solidFill>
                      <a:srgbClr val="FFFFFF"/>
                    </a:solidFill>
                  </a:tcPr>
                </a:tc>
                <a:extLst>
                  <a:ext uri="{0D108BD9-81ED-4DB2-BD59-A6C34878D82A}">
                    <a16:rowId xmlns:a16="http://schemas.microsoft.com/office/drawing/2014/main" val="10003"/>
                  </a:ext>
                </a:extLst>
              </a:tr>
              <a:tr h="350520">
                <a:tc>
                  <a:txBody>
                    <a:bodyPr/>
                    <a:lstStyle/>
                    <a:p>
                      <a:pPr algn="l"/>
                      <a:r>
                        <a:rPr sz="850" b="1">
                          <a:solidFill>
                            <a:srgbClr val="2B3147"/>
                          </a:solidFill>
                          <a:latin typeface="Calibri"/>
                        </a:rPr>
                        <a:t>Jul 22-28</a:t>
                      </a:r>
                    </a:p>
                  </a:txBody>
                  <a:tcPr marL="54864" marR="54864" marT="27432" marB="27432">
                    <a:solidFill>
                      <a:srgbClr val="F9FAFC"/>
                    </a:solidFill>
                  </a:tcPr>
                </a:tc>
                <a:tc>
                  <a:txBody>
                    <a:bodyPr/>
                    <a:lstStyle/>
                    <a:p>
                      <a:pPr algn="r"/>
                      <a:r>
                        <a:rPr sz="850" b="0">
                          <a:solidFill>
                            <a:srgbClr val="2B3147"/>
                          </a:solidFill>
                          <a:latin typeface="Calibri"/>
                        </a:rPr>
                        <a:t>$2,895</a:t>
                      </a:r>
                    </a:p>
                  </a:txBody>
                  <a:tcPr marL="54864" marR="54864" marT="27432" marB="27432">
                    <a:solidFill>
                      <a:srgbClr val="F9FAFC"/>
                    </a:solidFill>
                  </a:tcPr>
                </a:tc>
                <a:tc>
                  <a:txBody>
                    <a:bodyPr/>
                    <a:lstStyle/>
                    <a:p>
                      <a:pPr algn="r"/>
                      <a:r>
                        <a:rPr sz="850" b="0">
                          <a:solidFill>
                            <a:srgbClr val="2B3147"/>
                          </a:solidFill>
                          <a:latin typeface="Calibri"/>
                        </a:rPr>
                        <a:t>20</a:t>
                      </a:r>
                    </a:p>
                  </a:txBody>
                  <a:tcPr marL="54864" marR="54864" marT="27432" marB="27432">
                    <a:solidFill>
                      <a:srgbClr val="F9FAFC"/>
                    </a:solidFill>
                  </a:tcPr>
                </a:tc>
                <a:tc>
                  <a:txBody>
                    <a:bodyPr/>
                    <a:lstStyle/>
                    <a:p>
                      <a:pPr algn="r"/>
                      <a:r>
                        <a:rPr sz="850" b="0">
                          <a:solidFill>
                            <a:srgbClr val="2B3147"/>
                          </a:solidFill>
                          <a:latin typeface="Calibri"/>
                        </a:rPr>
                        <a:t>$144.76</a:t>
                      </a:r>
                    </a:p>
                  </a:txBody>
                  <a:tcPr marL="54864" marR="54864" marT="27432" marB="27432">
                    <a:solidFill>
                      <a:srgbClr val="F9FAFC"/>
                    </a:solidFill>
                  </a:tcPr>
                </a:tc>
                <a:extLst>
                  <a:ext uri="{0D108BD9-81ED-4DB2-BD59-A6C34878D82A}">
                    <a16:rowId xmlns:a16="http://schemas.microsoft.com/office/drawing/2014/main" val="10004"/>
                  </a:ext>
                </a:extLst>
              </a:tr>
              <a:tr h="350520">
                <a:tc>
                  <a:txBody>
                    <a:bodyPr/>
                    <a:lstStyle/>
                    <a:p>
                      <a:pPr algn="l"/>
                      <a:r>
                        <a:rPr sz="850" b="1">
                          <a:solidFill>
                            <a:srgbClr val="2B3147"/>
                          </a:solidFill>
                          <a:latin typeface="Calibri"/>
                        </a:rPr>
                        <a:t>Jul 29-31</a:t>
                      </a:r>
                    </a:p>
                  </a:txBody>
                  <a:tcPr marL="54864" marR="54864" marT="27432" marB="27432">
                    <a:solidFill>
                      <a:srgbClr val="FFFFFF"/>
                    </a:solidFill>
                  </a:tcPr>
                </a:tc>
                <a:tc>
                  <a:txBody>
                    <a:bodyPr/>
                    <a:lstStyle/>
                    <a:p>
                      <a:pPr algn="r"/>
                      <a:r>
                        <a:rPr sz="850" b="0">
                          <a:solidFill>
                            <a:srgbClr val="2B3147"/>
                          </a:solidFill>
                          <a:latin typeface="Calibri"/>
                        </a:rPr>
                        <a:t>$902</a:t>
                      </a:r>
                    </a:p>
                  </a:txBody>
                  <a:tcPr marL="54864" marR="54864" marT="27432" marB="27432">
                    <a:solidFill>
                      <a:srgbClr val="FFFFFF"/>
                    </a:solidFill>
                  </a:tcPr>
                </a:tc>
                <a:tc>
                  <a:txBody>
                    <a:bodyPr/>
                    <a:lstStyle/>
                    <a:p>
                      <a:pPr algn="r"/>
                      <a:r>
                        <a:rPr sz="850" b="0">
                          <a:solidFill>
                            <a:srgbClr val="2B3147"/>
                          </a:solidFill>
                          <a:latin typeface="Calibri"/>
                        </a:rPr>
                        <a:t>0</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extLst>
                  <a:ext uri="{0D108BD9-81ED-4DB2-BD59-A6C34878D82A}">
                    <a16:rowId xmlns:a16="http://schemas.microsoft.com/office/drawing/2014/main" val="10005"/>
                  </a:ext>
                </a:extLst>
              </a:tr>
            </a:tbl>
          </a:graphicData>
        </a:graphic>
      </p:graphicFrame>
      <p:sp>
        <p:nvSpPr>
          <p:cNvPr id="40" name="TextBox 39"/>
          <p:cNvSpPr txBox="1"/>
          <p:nvPr/>
        </p:nvSpPr>
        <p:spPr>
          <a:xfrm>
            <a:off x="457200" y="5532120"/>
            <a:ext cx="5394960" cy="274320"/>
          </a:xfrm>
          <a:prstGeom prst="rect">
            <a:avLst/>
          </a:prstGeom>
          <a:noFill/>
        </p:spPr>
        <p:txBody>
          <a:bodyPr wrap="square" lIns="0" tIns="0" rIns="0" bIns="0" anchor="t">
            <a:spAutoFit/>
          </a:bodyPr>
          <a:lstStyle/>
          <a:p>
            <a:pPr algn="l"/>
            <a:r>
              <a:rPr sz="750" b="0">
                <a:solidFill>
                  <a:srgbClr val="5A6072"/>
                </a:solidFill>
                <a:latin typeface="Calibri"/>
              </a:rPr>
              <a:t>Weekly figures are Azerion’s delivery figures; the month total appears in the tiles above.</a:t>
            </a:r>
          </a:p>
        </p:txBody>
      </p:sp>
      <p:sp>
        <p:nvSpPr>
          <p:cNvPr id="41" name="Rectangle 40"/>
          <p:cNvSpPr/>
          <p:nvPr/>
        </p:nvSpPr>
        <p:spPr>
          <a:xfrm>
            <a:off x="6583680" y="3383280"/>
            <a:ext cx="5120640"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583680" y="3383280"/>
            <a:ext cx="64008" cy="274320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03136" y="3547872"/>
            <a:ext cx="4718303" cy="274320"/>
          </a:xfrm>
          <a:prstGeom prst="rect">
            <a:avLst/>
          </a:prstGeom>
          <a:noFill/>
        </p:spPr>
        <p:txBody>
          <a:bodyPr wrap="square" lIns="0" tIns="0" rIns="0" bIns="0" anchor="t">
            <a:spAutoFit/>
          </a:bodyPr>
          <a:lstStyle/>
          <a:p>
            <a:pPr algn="l"/>
            <a:r>
              <a:rPr sz="1000" b="1">
                <a:solidFill>
                  <a:srgbClr val="1E2761"/>
                </a:solidFill>
                <a:latin typeface="Georgia"/>
              </a:rPr>
              <a:t>WHAT THE DATA SHOWS</a:t>
            </a:r>
          </a:p>
        </p:txBody>
      </p:sp>
      <p:sp>
        <p:nvSpPr>
          <p:cNvPr id="44" name="TextBox 43"/>
          <p:cNvSpPr txBox="1"/>
          <p:nvPr/>
        </p:nvSpPr>
        <p:spPr>
          <a:xfrm>
            <a:off x="6803136" y="3886200"/>
            <a:ext cx="4718303" cy="2057400"/>
          </a:xfrm>
          <a:prstGeom prst="rect">
            <a:avLst/>
          </a:prstGeom>
          <a:noFill/>
        </p:spPr>
        <p:txBody>
          <a:bodyPr wrap="square" lIns="0" tIns="0" rIns="0" bIns="0" anchor="t">
            <a:spAutoFit/>
          </a:bodyPr>
          <a:lstStyle/>
          <a:p>
            <a:pPr algn="l"/>
            <a:r>
              <a:rPr sz="950" b="0">
                <a:solidFill>
                  <a:srgbClr val="2B3147"/>
                </a:solidFill>
                <a:latin typeface="Calibri"/>
              </a:rPr>
              <a:t>Spend rose 6.4% to fund the added volume: applications rose 37.9% (58 to 80) while cost per application fell 22.8% ($510.10 to $393.46).</a:t>
            </a:r>
          </a:p>
          <a:p>
            <a:pPr algn="l">
              <a:spcBef>
                <a:spcPts val="600"/>
              </a:spcBef>
            </a:pPr>
            <a:r>
              <a:rPr sz="950" b="0">
                <a:solidFill>
                  <a:srgbClr val="2B3147"/>
                </a:solidFill>
                <a:latin typeface="Calibri"/>
              </a:rPr>
              <a:t>The week of July 22-28 was the efficiency peak: 20 applications at $144.76 on reduced spend, evidence that tighter delivery converts better. Viewability rose 6.15 points to 64.95%.</a:t>
            </a:r>
          </a:p>
          <a:p>
            <a:pPr algn="l">
              <a:spcBef>
                <a:spcPts val="600"/>
              </a:spcBef>
            </a:pPr>
            <a:r>
              <a:rPr sz="950" b="0">
                <a:solidFill>
                  <a:srgbClr val="2B3147"/>
                </a:solidFill>
                <a:latin typeface="Calibri"/>
              </a:rPr>
              <a:t>DECISION: rebalance spend toward the strongest audiences, detailed on the next slide.</a:t>
            </a:r>
          </a:p>
        </p:txBody>
      </p:sp>
    </p:spTree>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AZERION DISPLAY  ·  AUDIENCE RANKING</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Professional Tools and Trust HTML lead on cost per application.</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9 / 13</a:t>
            </a:r>
          </a:p>
        </p:txBody>
      </p:sp>
      <p:graphicFrame>
        <p:nvGraphicFramePr>
          <p:cNvPr id="10" name="Table 9"/>
          <p:cNvGraphicFramePr>
            <a:graphicFrameLocks noGrp="1"/>
          </p:cNvGraphicFramePr>
          <p:nvPr/>
        </p:nvGraphicFramePr>
        <p:xfrm>
          <a:off x="457200" y="1828800"/>
          <a:ext cx="7040880" cy="2743200"/>
        </p:xfrm>
        <a:graphic>
          <a:graphicData uri="http://schemas.openxmlformats.org/drawingml/2006/table">
            <a:tbl>
              <a:tblPr>
                <a:tableStyleId>{5C22544A-7EE6-4342-B048-85BDC9FD1C3A}</a:tableStyleId>
              </a:tblPr>
              <a:tblGrid>
                <a:gridCol w="24688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391885">
                <a:tc>
                  <a:txBody>
                    <a:bodyPr/>
                    <a:lstStyle/>
                    <a:p>
                      <a:pPr algn="l"/>
                      <a:r>
                        <a:rPr sz="850" b="1">
                          <a:solidFill>
                            <a:srgbClr val="FFFFFF"/>
                          </a:solidFill>
                          <a:latin typeface="Calibri"/>
                        </a:rPr>
                        <a:t>Audience</a:t>
                      </a:r>
                    </a:p>
                  </a:txBody>
                  <a:tcPr marL="54864" marR="54864" marT="27432" marB="27432">
                    <a:solidFill>
                      <a:srgbClr val="1E2761"/>
                    </a:solidFill>
                  </a:tcPr>
                </a:tc>
                <a:tc>
                  <a:txBody>
                    <a:bodyPr/>
                    <a:lstStyle/>
                    <a:p>
                      <a:pPr algn="r"/>
                      <a:r>
                        <a:rPr sz="850" b="1">
                          <a:solidFill>
                            <a:srgbClr val="FFFFFF"/>
                          </a:solidFill>
                          <a:latin typeface="Calibri"/>
                        </a:rPr>
                        <a:t>Applications</a:t>
                      </a:r>
                    </a:p>
                  </a:txBody>
                  <a:tcPr marL="54864" marR="54864" marT="27432" marB="27432">
                    <a:solidFill>
                      <a:srgbClr val="1E2761"/>
                    </a:solidFill>
                  </a:tcPr>
                </a:tc>
                <a:tc>
                  <a:txBody>
                    <a:bodyPr/>
                    <a:lstStyle/>
                    <a:p>
                      <a:pPr algn="r"/>
                      <a:r>
                        <a:rPr sz="850" b="1">
                          <a:solidFill>
                            <a:srgbClr val="FFFFFF"/>
                          </a:solidFill>
                          <a:latin typeface="Calibri"/>
                        </a:rPr>
                        <a:t>Cost / app</a:t>
                      </a:r>
                    </a:p>
                  </a:txBody>
                  <a:tcPr marL="54864" marR="54864" marT="27432" marB="27432">
                    <a:solidFill>
                      <a:srgbClr val="1E2761"/>
                    </a:solidFill>
                  </a:tcPr>
                </a:tc>
                <a:tc>
                  <a:txBody>
                    <a:bodyPr/>
                    <a:lstStyle/>
                    <a:p>
                      <a:pPr algn="r"/>
                      <a:r>
                        <a:rPr sz="850" b="1">
                          <a:solidFill>
                            <a:srgbClr val="FFFFFF"/>
                          </a:solidFill>
                          <a:latin typeface="Calibri"/>
                        </a:rPr>
                        <a:t>August status</a:t>
                      </a:r>
                    </a:p>
                  </a:txBody>
                  <a:tcPr marL="54864" marR="54864" marT="27432" marB="27432">
                    <a:solidFill>
                      <a:srgbClr val="1E2761"/>
                    </a:solidFill>
                  </a:tcPr>
                </a:tc>
                <a:extLst>
                  <a:ext uri="{0D108BD9-81ED-4DB2-BD59-A6C34878D82A}">
                    <a16:rowId xmlns:a16="http://schemas.microsoft.com/office/drawing/2014/main" val="10000"/>
                  </a:ext>
                </a:extLst>
              </a:tr>
              <a:tr h="391885">
                <a:tc>
                  <a:txBody>
                    <a:bodyPr/>
                    <a:lstStyle/>
                    <a:p>
                      <a:pPr algn="l"/>
                      <a:r>
                        <a:rPr sz="850" b="1">
                          <a:solidFill>
                            <a:srgbClr val="2B3147"/>
                          </a:solidFill>
                          <a:latin typeface="Calibri"/>
                        </a:rPr>
                        <a:t>Professional Tools</a:t>
                      </a:r>
                    </a:p>
                  </a:txBody>
                  <a:tcPr marL="54864" marR="54864" marT="27432" marB="27432">
                    <a:solidFill>
                      <a:srgbClr val="FFFFFF"/>
                    </a:solidFill>
                  </a:tcPr>
                </a:tc>
                <a:tc>
                  <a:txBody>
                    <a:bodyPr/>
                    <a:lstStyle/>
                    <a:p>
                      <a:pPr algn="r"/>
                      <a:r>
                        <a:rPr sz="850" b="0">
                          <a:solidFill>
                            <a:srgbClr val="2B3147"/>
                          </a:solidFill>
                          <a:latin typeface="Calibri"/>
                        </a:rPr>
                        <a:t>18</a:t>
                      </a:r>
                    </a:p>
                  </a:txBody>
                  <a:tcPr marL="54864" marR="54864" marT="27432" marB="27432">
                    <a:solidFill>
                      <a:srgbClr val="FFFFFF"/>
                    </a:solidFill>
                  </a:tcPr>
                </a:tc>
                <a:tc>
                  <a:txBody>
                    <a:bodyPr/>
                    <a:lstStyle/>
                    <a:p>
                      <a:pPr algn="r"/>
                      <a:r>
                        <a:rPr sz="850" b="0">
                          <a:solidFill>
                            <a:srgbClr val="2B3147"/>
                          </a:solidFill>
                          <a:latin typeface="Calibri"/>
                        </a:rPr>
                        <a:t>$197.43</a:t>
                      </a:r>
                    </a:p>
                  </a:txBody>
                  <a:tcPr marL="54864" marR="54864" marT="27432" marB="27432">
                    <a:solidFill>
                      <a:srgbClr val="FFFFFF"/>
                    </a:solidFill>
                  </a:tcPr>
                </a:tc>
                <a:tc>
                  <a:txBody>
                    <a:bodyPr/>
                    <a:lstStyle/>
                    <a:p>
                      <a:pPr algn="r"/>
                      <a:r>
                        <a:rPr sz="850" b="0">
                          <a:solidFill>
                            <a:srgbClr val="2B3147"/>
                          </a:solidFill>
                          <a:latin typeface="Calibri"/>
                        </a:rPr>
                        <a:t>PRIORITIZE</a:t>
                      </a:r>
                    </a:p>
                  </a:txBody>
                  <a:tcPr marL="54864" marR="54864" marT="27432" marB="27432">
                    <a:solidFill>
                      <a:srgbClr val="FFFFFF"/>
                    </a:solidFill>
                  </a:tcPr>
                </a:tc>
                <a:extLst>
                  <a:ext uri="{0D108BD9-81ED-4DB2-BD59-A6C34878D82A}">
                    <a16:rowId xmlns:a16="http://schemas.microsoft.com/office/drawing/2014/main" val="10001"/>
                  </a:ext>
                </a:extLst>
              </a:tr>
              <a:tr h="391885">
                <a:tc>
                  <a:txBody>
                    <a:bodyPr/>
                    <a:lstStyle/>
                    <a:p>
                      <a:pPr algn="l"/>
                      <a:r>
                        <a:rPr sz="850" b="1" dirty="0">
                          <a:solidFill>
                            <a:srgbClr val="2B3147"/>
                          </a:solidFill>
                          <a:latin typeface="Calibri"/>
                        </a:rPr>
                        <a:t>Trust HTML</a:t>
                      </a:r>
                    </a:p>
                  </a:txBody>
                  <a:tcPr marL="54864" marR="54864" marT="27432" marB="27432">
                    <a:solidFill>
                      <a:srgbClr val="F9FAFC"/>
                    </a:solidFill>
                  </a:tcPr>
                </a:tc>
                <a:tc>
                  <a:txBody>
                    <a:bodyPr/>
                    <a:lstStyle/>
                    <a:p>
                      <a:pPr algn="r"/>
                      <a:r>
                        <a:rPr sz="850" b="0">
                          <a:solidFill>
                            <a:srgbClr val="2B3147"/>
                          </a:solidFill>
                          <a:latin typeface="Calibri"/>
                        </a:rPr>
                        <a:t>13</a:t>
                      </a:r>
                    </a:p>
                  </a:txBody>
                  <a:tcPr marL="54864" marR="54864" marT="27432" marB="27432">
                    <a:solidFill>
                      <a:srgbClr val="F9FAFC"/>
                    </a:solidFill>
                  </a:tcPr>
                </a:tc>
                <a:tc>
                  <a:txBody>
                    <a:bodyPr/>
                    <a:lstStyle/>
                    <a:p>
                      <a:pPr algn="r"/>
                      <a:r>
                        <a:rPr sz="850" b="0">
                          <a:solidFill>
                            <a:srgbClr val="2B3147"/>
                          </a:solidFill>
                          <a:latin typeface="Calibri"/>
                        </a:rPr>
                        <a:t>$267.58</a:t>
                      </a:r>
                    </a:p>
                  </a:txBody>
                  <a:tcPr marL="54864" marR="54864" marT="27432" marB="27432">
                    <a:solidFill>
                      <a:srgbClr val="F9FAFC"/>
                    </a:solidFill>
                  </a:tcPr>
                </a:tc>
                <a:tc>
                  <a:txBody>
                    <a:bodyPr/>
                    <a:lstStyle/>
                    <a:p>
                      <a:pPr algn="r"/>
                      <a:r>
                        <a:rPr sz="850" b="0">
                          <a:solidFill>
                            <a:srgbClr val="2B3147"/>
                          </a:solidFill>
                          <a:latin typeface="Calibri"/>
                        </a:rPr>
                        <a:t>PRIORITIZE</a:t>
                      </a:r>
                    </a:p>
                  </a:txBody>
                  <a:tcPr marL="54864" marR="54864" marT="27432" marB="27432">
                    <a:solidFill>
                      <a:srgbClr val="F9FAFC"/>
                    </a:solidFill>
                  </a:tcPr>
                </a:tc>
                <a:extLst>
                  <a:ext uri="{0D108BD9-81ED-4DB2-BD59-A6C34878D82A}">
                    <a16:rowId xmlns:a16="http://schemas.microsoft.com/office/drawing/2014/main" val="10002"/>
                  </a:ext>
                </a:extLst>
              </a:tr>
              <a:tr h="391885">
                <a:tc>
                  <a:txBody>
                    <a:bodyPr/>
                    <a:lstStyle/>
                    <a:p>
                      <a:pPr algn="l"/>
                      <a:r>
                        <a:rPr sz="850" b="1">
                          <a:solidFill>
                            <a:srgbClr val="2B3147"/>
                          </a:solidFill>
                          <a:latin typeface="Calibri"/>
                        </a:rPr>
                        <a:t>Trusted Broker</a:t>
                      </a:r>
                    </a:p>
                  </a:txBody>
                  <a:tcPr marL="54864" marR="54864" marT="27432" marB="27432">
                    <a:solidFill>
                      <a:srgbClr val="FFFFFF"/>
                    </a:solidFill>
                  </a:tcPr>
                </a:tc>
                <a:tc>
                  <a:txBody>
                    <a:bodyPr/>
                    <a:lstStyle/>
                    <a:p>
                      <a:pPr algn="r"/>
                      <a:r>
                        <a:rPr sz="850" b="0">
                          <a:solidFill>
                            <a:srgbClr val="2B3147"/>
                          </a:solidFill>
                          <a:latin typeface="Calibri"/>
                        </a:rPr>
                        <a:t>11</a:t>
                      </a:r>
                    </a:p>
                  </a:txBody>
                  <a:tcPr marL="54864" marR="54864" marT="27432" marB="27432">
                    <a:solidFill>
                      <a:srgbClr val="FFFFFF"/>
                    </a:solidFill>
                  </a:tcPr>
                </a:tc>
                <a:tc>
                  <a:txBody>
                    <a:bodyPr/>
                    <a:lstStyle/>
                    <a:p>
                      <a:pPr algn="r"/>
                      <a:r>
                        <a:rPr sz="850" b="0">
                          <a:solidFill>
                            <a:srgbClr val="2B3147"/>
                          </a:solidFill>
                          <a:latin typeface="Calibri"/>
                        </a:rPr>
                        <a:t>$312.01</a:t>
                      </a:r>
                    </a:p>
                  </a:txBody>
                  <a:tcPr marL="54864" marR="54864" marT="27432" marB="27432">
                    <a:solidFill>
                      <a:srgbClr val="FFFFFF"/>
                    </a:solidFill>
                  </a:tcPr>
                </a:tc>
                <a:tc>
                  <a:txBody>
                    <a:bodyPr/>
                    <a:lstStyle/>
                    <a:p>
                      <a:pPr algn="r"/>
                      <a:r>
                        <a:rPr sz="850" b="0">
                          <a:solidFill>
                            <a:srgbClr val="2B3147"/>
                          </a:solidFill>
                          <a:latin typeface="Calibri"/>
                        </a:rPr>
                        <a:t>MAINTAIN</a:t>
                      </a:r>
                    </a:p>
                  </a:txBody>
                  <a:tcPr marL="54864" marR="54864" marT="27432" marB="27432">
                    <a:solidFill>
                      <a:srgbClr val="FFFFFF"/>
                    </a:solidFill>
                  </a:tcPr>
                </a:tc>
                <a:extLst>
                  <a:ext uri="{0D108BD9-81ED-4DB2-BD59-A6C34878D82A}">
                    <a16:rowId xmlns:a16="http://schemas.microsoft.com/office/drawing/2014/main" val="10003"/>
                  </a:ext>
                </a:extLst>
              </a:tr>
              <a:tr h="391885">
                <a:tc>
                  <a:txBody>
                    <a:bodyPr/>
                    <a:lstStyle/>
                    <a:p>
                      <a:pPr algn="l"/>
                      <a:r>
                        <a:rPr sz="850" b="1">
                          <a:solidFill>
                            <a:srgbClr val="2B3147"/>
                          </a:solidFill>
                          <a:latin typeface="Calibri"/>
                        </a:rPr>
                        <a:t>Broker 1</a:t>
                      </a:r>
                    </a:p>
                  </a:txBody>
                  <a:tcPr marL="54864" marR="54864" marT="27432" marB="27432">
                    <a:solidFill>
                      <a:srgbClr val="F9FAFC"/>
                    </a:solidFill>
                  </a:tcPr>
                </a:tc>
                <a:tc>
                  <a:txBody>
                    <a:bodyPr/>
                    <a:lstStyle/>
                    <a:p>
                      <a:pPr algn="r"/>
                      <a:r>
                        <a:rPr sz="850" b="0">
                          <a:solidFill>
                            <a:srgbClr val="2B3147"/>
                          </a:solidFill>
                          <a:latin typeface="Calibri"/>
                        </a:rPr>
                        <a:t>13</a:t>
                      </a:r>
                    </a:p>
                  </a:txBody>
                  <a:tcPr marL="54864" marR="54864" marT="27432" marB="27432">
                    <a:solidFill>
                      <a:srgbClr val="F9FAFC"/>
                    </a:solidFill>
                  </a:tcPr>
                </a:tc>
                <a:tc>
                  <a:txBody>
                    <a:bodyPr/>
                    <a:lstStyle/>
                    <a:p>
                      <a:pPr algn="r"/>
                      <a:r>
                        <a:rPr sz="850" b="0">
                          <a:solidFill>
                            <a:srgbClr val="2B3147"/>
                          </a:solidFill>
                          <a:latin typeface="Calibri"/>
                        </a:rPr>
                        <a:t>$316.36</a:t>
                      </a:r>
                    </a:p>
                  </a:txBody>
                  <a:tcPr marL="54864" marR="54864" marT="27432" marB="27432">
                    <a:solidFill>
                      <a:srgbClr val="F9FAFC"/>
                    </a:solidFill>
                  </a:tcPr>
                </a:tc>
                <a:tc>
                  <a:txBody>
                    <a:bodyPr/>
                    <a:lstStyle/>
                    <a:p>
                      <a:pPr algn="r"/>
                      <a:r>
                        <a:rPr sz="850" b="0">
                          <a:solidFill>
                            <a:srgbClr val="2B3147"/>
                          </a:solidFill>
                          <a:latin typeface="Calibri"/>
                        </a:rPr>
                        <a:t>MAINTAIN</a:t>
                      </a:r>
                    </a:p>
                  </a:txBody>
                  <a:tcPr marL="54864" marR="54864" marT="27432" marB="27432">
                    <a:solidFill>
                      <a:srgbClr val="F9FAFC"/>
                    </a:solidFill>
                  </a:tcPr>
                </a:tc>
                <a:extLst>
                  <a:ext uri="{0D108BD9-81ED-4DB2-BD59-A6C34878D82A}">
                    <a16:rowId xmlns:a16="http://schemas.microsoft.com/office/drawing/2014/main" val="10004"/>
                  </a:ext>
                </a:extLst>
              </a:tr>
              <a:tr h="391885">
                <a:tc>
                  <a:txBody>
                    <a:bodyPr/>
                    <a:lstStyle/>
                    <a:p>
                      <a:pPr algn="l"/>
                      <a:r>
                        <a:rPr sz="850" b="1">
                          <a:solidFill>
                            <a:srgbClr val="2B3147"/>
                          </a:solidFill>
                          <a:latin typeface="Calibri"/>
                        </a:rPr>
                        <a:t>Language Broker</a:t>
                      </a:r>
                    </a:p>
                  </a:txBody>
                  <a:tcPr marL="54864" marR="54864" marT="27432" marB="27432">
                    <a:solidFill>
                      <a:srgbClr val="FFFFFF"/>
                    </a:solidFill>
                  </a:tcPr>
                </a:tc>
                <a:tc>
                  <a:txBody>
                    <a:bodyPr/>
                    <a:lstStyle/>
                    <a:p>
                      <a:pPr algn="r"/>
                      <a:r>
                        <a:rPr sz="850" b="0">
                          <a:solidFill>
                            <a:srgbClr val="2B3147"/>
                          </a:solidFill>
                          <a:latin typeface="Calibri"/>
                        </a:rPr>
                        <a:t>16</a:t>
                      </a:r>
                    </a:p>
                  </a:txBody>
                  <a:tcPr marL="54864" marR="54864" marT="27432" marB="27432">
                    <a:solidFill>
                      <a:srgbClr val="FFFFFF"/>
                    </a:solidFill>
                  </a:tcPr>
                </a:tc>
                <a:tc>
                  <a:txBody>
                    <a:bodyPr/>
                    <a:lstStyle/>
                    <a:p>
                      <a:pPr algn="r"/>
                      <a:r>
                        <a:rPr sz="850" b="0">
                          <a:solidFill>
                            <a:srgbClr val="2B3147"/>
                          </a:solidFill>
                          <a:latin typeface="Calibri"/>
                        </a:rPr>
                        <a:t>$420.48</a:t>
                      </a:r>
                    </a:p>
                  </a:txBody>
                  <a:tcPr marL="54864" marR="54864" marT="27432" marB="27432">
                    <a:solidFill>
                      <a:srgbClr val="FFFFFF"/>
                    </a:solidFill>
                  </a:tcPr>
                </a:tc>
                <a:tc>
                  <a:txBody>
                    <a:bodyPr/>
                    <a:lstStyle/>
                    <a:p>
                      <a:pPr algn="r"/>
                      <a:r>
                        <a:rPr sz="850" b="0">
                          <a:solidFill>
                            <a:srgbClr val="2B3147"/>
                          </a:solidFill>
                          <a:latin typeface="Calibri"/>
                        </a:rPr>
                        <a:t>MAINTAIN</a:t>
                      </a:r>
                    </a:p>
                  </a:txBody>
                  <a:tcPr marL="54864" marR="54864" marT="27432" marB="27432">
                    <a:solidFill>
                      <a:srgbClr val="FFFFFF"/>
                    </a:solidFill>
                  </a:tcPr>
                </a:tc>
                <a:extLst>
                  <a:ext uri="{0D108BD9-81ED-4DB2-BD59-A6C34878D82A}">
                    <a16:rowId xmlns:a16="http://schemas.microsoft.com/office/drawing/2014/main" val="10005"/>
                  </a:ext>
                </a:extLst>
              </a:tr>
              <a:tr h="391890">
                <a:tc>
                  <a:txBody>
                    <a:bodyPr/>
                    <a:lstStyle/>
                    <a:p>
                      <a:pPr algn="l"/>
                      <a:r>
                        <a:rPr sz="850" b="1">
                          <a:solidFill>
                            <a:srgbClr val="2B3147"/>
                          </a:solidFill>
                          <a:latin typeface="Calibri"/>
                        </a:rPr>
                        <a:t>Spanish Platform</a:t>
                      </a:r>
                    </a:p>
                  </a:txBody>
                  <a:tcPr marL="54864" marR="54864" marT="27432" marB="27432">
                    <a:solidFill>
                      <a:srgbClr val="F9FAFC"/>
                    </a:solidFill>
                  </a:tcPr>
                </a:tc>
                <a:tc>
                  <a:txBody>
                    <a:bodyPr/>
                    <a:lstStyle/>
                    <a:p>
                      <a:pPr algn="r"/>
                      <a:r>
                        <a:rPr sz="850" b="0">
                          <a:solidFill>
                            <a:srgbClr val="2B3147"/>
                          </a:solidFill>
                          <a:latin typeface="Calibri"/>
                        </a:rPr>
                        <a:t>9</a:t>
                      </a:r>
                    </a:p>
                  </a:txBody>
                  <a:tcPr marL="54864" marR="54864" marT="27432" marB="27432">
                    <a:solidFill>
                      <a:srgbClr val="F9FAFC"/>
                    </a:solidFill>
                  </a:tcPr>
                </a:tc>
                <a:tc>
                  <a:txBody>
                    <a:bodyPr/>
                    <a:lstStyle/>
                    <a:p>
                      <a:pPr algn="r"/>
                      <a:r>
                        <a:rPr sz="850" b="0">
                          <a:solidFill>
                            <a:srgbClr val="2B3147"/>
                          </a:solidFill>
                          <a:latin typeface="Calibri"/>
                        </a:rPr>
                        <a:t>$812.31</a:t>
                      </a:r>
                    </a:p>
                  </a:txBody>
                  <a:tcPr marL="54864" marR="54864" marT="27432" marB="27432">
                    <a:solidFill>
                      <a:srgbClr val="F9FAFC"/>
                    </a:solidFill>
                  </a:tcPr>
                </a:tc>
                <a:tc>
                  <a:txBody>
                    <a:bodyPr/>
                    <a:lstStyle/>
                    <a:p>
                      <a:pPr algn="r"/>
                      <a:r>
                        <a:rPr sz="850" b="0" dirty="0">
                          <a:solidFill>
                            <a:srgbClr val="2B3147"/>
                          </a:solidFill>
                          <a:latin typeface="Calibri"/>
                        </a:rPr>
                        <a:t>REDUCE-REMOVE</a:t>
                      </a:r>
                    </a:p>
                  </a:txBody>
                  <a:tcPr marL="54864" marR="54864" marT="27432" marB="27432">
                    <a:solidFill>
                      <a:srgbClr val="F9FAFC"/>
                    </a:solidFill>
                  </a:tcPr>
                </a:tc>
                <a:extLst>
                  <a:ext uri="{0D108BD9-81ED-4DB2-BD59-A6C34878D82A}">
                    <a16:rowId xmlns:a16="http://schemas.microsoft.com/office/drawing/2014/main" val="10006"/>
                  </a:ext>
                </a:extLst>
              </a:tr>
            </a:tbl>
          </a:graphicData>
        </a:graphic>
      </p:graphicFrame>
      <p:sp>
        <p:nvSpPr>
          <p:cNvPr id="11" name="Rectangle 10"/>
          <p:cNvSpPr/>
          <p:nvPr/>
        </p:nvSpPr>
        <p:spPr>
          <a:xfrm>
            <a:off x="7680960" y="1828800"/>
            <a:ext cx="3593592"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680960" y="1828800"/>
            <a:ext cx="64008" cy="274320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00416" y="1993392"/>
            <a:ext cx="3191256" cy="274320"/>
          </a:xfrm>
          <a:prstGeom prst="rect">
            <a:avLst/>
          </a:prstGeom>
          <a:noFill/>
        </p:spPr>
        <p:txBody>
          <a:bodyPr wrap="square" lIns="0" tIns="0" rIns="0" bIns="0" anchor="t">
            <a:spAutoFit/>
          </a:bodyPr>
          <a:lstStyle/>
          <a:p>
            <a:pPr algn="l"/>
            <a:r>
              <a:rPr sz="1000" b="1">
                <a:solidFill>
                  <a:srgbClr val="1E2761"/>
                </a:solidFill>
                <a:latin typeface="Georgia"/>
              </a:rPr>
              <a:t>WHAT WE RECOMMEND</a:t>
            </a:r>
          </a:p>
        </p:txBody>
      </p:sp>
      <p:sp>
        <p:nvSpPr>
          <p:cNvPr id="14" name="TextBox 13"/>
          <p:cNvSpPr txBox="1"/>
          <p:nvPr/>
        </p:nvSpPr>
        <p:spPr>
          <a:xfrm>
            <a:off x="7900416" y="2331720"/>
            <a:ext cx="3191256" cy="2057400"/>
          </a:xfrm>
          <a:prstGeom prst="rect">
            <a:avLst/>
          </a:prstGeom>
          <a:noFill/>
        </p:spPr>
        <p:txBody>
          <a:bodyPr wrap="square" lIns="0" tIns="0" rIns="0" bIns="0" anchor="t">
            <a:spAutoFit/>
          </a:bodyPr>
          <a:lstStyle/>
          <a:p>
            <a:pPr algn="l"/>
            <a:r>
              <a:rPr sz="950" b="0">
                <a:solidFill>
                  <a:srgbClr val="2B3147"/>
                </a:solidFill>
                <a:latin typeface="Calibri"/>
              </a:rPr>
              <a:t>Spanish Platform carries the line’s largest spend and its weakest cost per application. It’s the candidate to shift budget away from.</a:t>
            </a:r>
          </a:p>
          <a:p>
            <a:pPr algn="l">
              <a:spcBef>
                <a:spcPts val="600"/>
              </a:spcBef>
            </a:pPr>
            <a:r>
              <a:rPr sz="950" b="0">
                <a:solidFill>
                  <a:srgbClr val="2B3147"/>
                </a:solidFill>
                <a:latin typeface="Calibri"/>
              </a:rPr>
              <a:t>Professional Tools and Trust HTML both improved sharply from June, when Trust HTML was the line’s weakest performer.</a:t>
            </a:r>
          </a:p>
        </p:txBody>
      </p:sp>
    </p:spTree>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AZERION NATIVE  ·  CREATIVE PERFORMANCE</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First full month for six ad creatives on Azerion’s share of the Native line, measured on ad delivery, not applications.</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10 / 13</a:t>
            </a:r>
          </a:p>
        </p:txBody>
      </p:sp>
      <p:graphicFrame>
        <p:nvGraphicFramePr>
          <p:cNvPr id="10" name="Table 9"/>
          <p:cNvGraphicFramePr>
            <a:graphicFrameLocks noGrp="1"/>
          </p:cNvGraphicFramePr>
          <p:nvPr/>
        </p:nvGraphicFramePr>
        <p:xfrm>
          <a:off x="457200" y="1828800"/>
          <a:ext cx="7040880" cy="2743200"/>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91885">
                <a:tc>
                  <a:txBody>
                    <a:bodyPr/>
                    <a:lstStyle/>
                    <a:p>
                      <a:pPr algn="l"/>
                      <a:r>
                        <a:rPr sz="850" b="1">
                          <a:solidFill>
                            <a:srgbClr val="FFFFFF"/>
                          </a:solidFill>
                          <a:latin typeface="Calibri"/>
                        </a:rPr>
                        <a:t>Creative</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Clicks</a:t>
                      </a:r>
                    </a:p>
                  </a:txBody>
                  <a:tcPr marL="54864" marR="54864" marT="27432" marB="27432">
                    <a:solidFill>
                      <a:srgbClr val="1E2761"/>
                    </a:solidFill>
                  </a:tcPr>
                </a:tc>
                <a:tc>
                  <a:txBody>
                    <a:bodyPr/>
                    <a:lstStyle/>
                    <a:p>
                      <a:pPr algn="r"/>
                      <a:r>
                        <a:rPr sz="850" b="1">
                          <a:solidFill>
                            <a:srgbClr val="FFFFFF"/>
                          </a:solidFill>
                          <a:latin typeface="Calibri"/>
                        </a:rPr>
                        <a:t>CTR</a:t>
                      </a:r>
                    </a:p>
                  </a:txBody>
                  <a:tcPr marL="54864" marR="54864" marT="27432" marB="27432">
                    <a:solidFill>
                      <a:srgbClr val="1E2761"/>
                    </a:solidFill>
                  </a:tcPr>
                </a:tc>
                <a:tc>
                  <a:txBody>
                    <a:bodyPr/>
                    <a:lstStyle/>
                    <a:p>
                      <a:pPr algn="r"/>
                      <a:r>
                        <a:rPr sz="850" b="1">
                          <a:solidFill>
                            <a:srgbClr val="FFFFFF"/>
                          </a:solidFill>
                          <a:latin typeface="Calibri"/>
                        </a:rPr>
                        <a:t>August status</a:t>
                      </a:r>
                    </a:p>
                  </a:txBody>
                  <a:tcPr marL="54864" marR="54864" marT="27432" marB="27432">
                    <a:solidFill>
                      <a:srgbClr val="1E2761"/>
                    </a:solidFill>
                  </a:tcPr>
                </a:tc>
                <a:extLst>
                  <a:ext uri="{0D108BD9-81ED-4DB2-BD59-A6C34878D82A}">
                    <a16:rowId xmlns:a16="http://schemas.microsoft.com/office/drawing/2014/main" val="10000"/>
                  </a:ext>
                </a:extLst>
              </a:tr>
              <a:tr h="391885">
                <a:tc>
                  <a:txBody>
                    <a:bodyPr/>
                    <a:lstStyle/>
                    <a:p>
                      <a:pPr algn="l"/>
                      <a:r>
                        <a:rPr sz="850" b="1">
                          <a:solidFill>
                            <a:srgbClr val="2B3147"/>
                          </a:solidFill>
                          <a:latin typeface="Calibri"/>
                        </a:rPr>
                        <a:t>City_view_MHTN</a:t>
                      </a:r>
                    </a:p>
                  </a:txBody>
                  <a:tcPr marL="54864" marR="54864" marT="27432" marB="27432">
                    <a:solidFill>
                      <a:srgbClr val="FFFFFF"/>
                    </a:solidFill>
                  </a:tcPr>
                </a:tc>
                <a:tc>
                  <a:txBody>
                    <a:bodyPr/>
                    <a:lstStyle/>
                    <a:p>
                      <a:pPr algn="r"/>
                      <a:r>
                        <a:rPr sz="850" b="0">
                          <a:solidFill>
                            <a:srgbClr val="2B3147"/>
                          </a:solidFill>
                          <a:latin typeface="Calibri"/>
                        </a:rPr>
                        <a:t>$1,517</a:t>
                      </a:r>
                    </a:p>
                  </a:txBody>
                  <a:tcPr marL="54864" marR="54864" marT="27432" marB="27432">
                    <a:solidFill>
                      <a:srgbClr val="FFFFFF"/>
                    </a:solidFill>
                  </a:tcPr>
                </a:tc>
                <a:tc>
                  <a:txBody>
                    <a:bodyPr/>
                    <a:lstStyle/>
                    <a:p>
                      <a:pPr algn="r"/>
                      <a:r>
                        <a:rPr sz="850" b="0">
                          <a:solidFill>
                            <a:srgbClr val="2B3147"/>
                          </a:solidFill>
                          <a:latin typeface="Calibri"/>
                        </a:rPr>
                        <a:t>143</a:t>
                      </a:r>
                    </a:p>
                  </a:txBody>
                  <a:tcPr marL="54864" marR="54864" marT="27432" marB="27432">
                    <a:solidFill>
                      <a:srgbClr val="FFFFFF"/>
                    </a:solidFill>
                  </a:tcPr>
                </a:tc>
                <a:tc>
                  <a:txBody>
                    <a:bodyPr/>
                    <a:lstStyle/>
                    <a:p>
                      <a:pPr algn="r"/>
                      <a:r>
                        <a:rPr sz="850" b="0">
                          <a:solidFill>
                            <a:srgbClr val="2B3147"/>
                          </a:solidFill>
                          <a:latin typeface="Calibri"/>
                        </a:rPr>
                        <a:t>0.075%</a:t>
                      </a:r>
                    </a:p>
                  </a:txBody>
                  <a:tcPr marL="54864" marR="54864" marT="27432" marB="27432">
                    <a:solidFill>
                      <a:srgbClr val="FFFFFF"/>
                    </a:solidFill>
                  </a:tcPr>
                </a:tc>
                <a:tc>
                  <a:txBody>
                    <a:bodyPr/>
                    <a:lstStyle/>
                    <a:p>
                      <a:pPr algn="r"/>
                      <a:r>
                        <a:rPr sz="850" b="0">
                          <a:solidFill>
                            <a:srgbClr val="2B3147"/>
                          </a:solidFill>
                          <a:latin typeface="Calibri"/>
                        </a:rPr>
                        <a:t>SCALE</a:t>
                      </a:r>
                    </a:p>
                  </a:txBody>
                  <a:tcPr marL="54864" marR="54864" marT="27432" marB="27432">
                    <a:solidFill>
                      <a:srgbClr val="FFFFFF"/>
                    </a:solidFill>
                  </a:tcPr>
                </a:tc>
                <a:extLst>
                  <a:ext uri="{0D108BD9-81ED-4DB2-BD59-A6C34878D82A}">
                    <a16:rowId xmlns:a16="http://schemas.microsoft.com/office/drawing/2014/main" val="10001"/>
                  </a:ext>
                </a:extLst>
              </a:tr>
              <a:tr h="391885">
                <a:tc>
                  <a:txBody>
                    <a:bodyPr/>
                    <a:lstStyle/>
                    <a:p>
                      <a:pPr algn="l"/>
                      <a:r>
                        <a:rPr sz="850" b="1">
                          <a:solidFill>
                            <a:srgbClr val="2B3147"/>
                          </a:solidFill>
                          <a:latin typeface="Calibri"/>
                        </a:rPr>
                        <a:t>Mobile_desktop_view</a:t>
                      </a:r>
                    </a:p>
                  </a:txBody>
                  <a:tcPr marL="54864" marR="54864" marT="27432" marB="27432">
                    <a:solidFill>
                      <a:srgbClr val="F9FAFC"/>
                    </a:solidFill>
                  </a:tcPr>
                </a:tc>
                <a:tc>
                  <a:txBody>
                    <a:bodyPr/>
                    <a:lstStyle/>
                    <a:p>
                      <a:pPr algn="r"/>
                      <a:r>
                        <a:rPr sz="850" b="0">
                          <a:solidFill>
                            <a:srgbClr val="2B3147"/>
                          </a:solidFill>
                          <a:latin typeface="Calibri"/>
                        </a:rPr>
                        <a:t>$1,576</a:t>
                      </a:r>
                    </a:p>
                  </a:txBody>
                  <a:tcPr marL="54864" marR="54864" marT="27432" marB="27432">
                    <a:solidFill>
                      <a:srgbClr val="F9FAFC"/>
                    </a:solidFill>
                  </a:tcPr>
                </a:tc>
                <a:tc>
                  <a:txBody>
                    <a:bodyPr/>
                    <a:lstStyle/>
                    <a:p>
                      <a:pPr algn="r"/>
                      <a:r>
                        <a:rPr sz="850" b="0">
                          <a:solidFill>
                            <a:srgbClr val="2B3147"/>
                          </a:solidFill>
                          <a:latin typeface="Calibri"/>
                        </a:rPr>
                        <a:t>143</a:t>
                      </a:r>
                    </a:p>
                  </a:txBody>
                  <a:tcPr marL="54864" marR="54864" marT="27432" marB="27432">
                    <a:solidFill>
                      <a:srgbClr val="F9FAFC"/>
                    </a:solidFill>
                  </a:tcPr>
                </a:tc>
                <a:tc>
                  <a:txBody>
                    <a:bodyPr/>
                    <a:lstStyle/>
                    <a:p>
                      <a:pPr algn="r"/>
                      <a:r>
                        <a:rPr sz="850" b="0">
                          <a:solidFill>
                            <a:srgbClr val="2B3147"/>
                          </a:solidFill>
                          <a:latin typeface="Calibri"/>
                        </a:rPr>
                        <a:t>0.073%</a:t>
                      </a:r>
                    </a:p>
                  </a:txBody>
                  <a:tcPr marL="54864" marR="54864" marT="27432" marB="27432">
                    <a:solidFill>
                      <a:srgbClr val="F9FAFC"/>
                    </a:solidFill>
                  </a:tcPr>
                </a:tc>
                <a:tc>
                  <a:txBody>
                    <a:bodyPr/>
                    <a:lstStyle/>
                    <a:p>
                      <a:pPr algn="r"/>
                      <a:r>
                        <a:rPr sz="850" b="0">
                          <a:solidFill>
                            <a:srgbClr val="2B3147"/>
                          </a:solidFill>
                          <a:latin typeface="Calibri"/>
                        </a:rPr>
                        <a:t>SCALE</a:t>
                      </a:r>
                    </a:p>
                  </a:txBody>
                  <a:tcPr marL="54864" marR="54864" marT="27432" marB="27432">
                    <a:solidFill>
                      <a:srgbClr val="F9FAFC"/>
                    </a:solidFill>
                  </a:tcPr>
                </a:tc>
                <a:extLst>
                  <a:ext uri="{0D108BD9-81ED-4DB2-BD59-A6C34878D82A}">
                    <a16:rowId xmlns:a16="http://schemas.microsoft.com/office/drawing/2014/main" val="10002"/>
                  </a:ext>
                </a:extLst>
              </a:tr>
              <a:tr h="391885">
                <a:tc>
                  <a:txBody>
                    <a:bodyPr/>
                    <a:lstStyle/>
                    <a:p>
                      <a:pPr algn="l"/>
                      <a:r>
                        <a:rPr sz="850" b="1">
                          <a:solidFill>
                            <a:srgbClr val="2B3147"/>
                          </a:solidFill>
                          <a:latin typeface="Calibri"/>
                        </a:rPr>
                        <a:t>Phone_closeup</a:t>
                      </a:r>
                    </a:p>
                  </a:txBody>
                  <a:tcPr marL="54864" marR="54864" marT="27432" marB="27432">
                    <a:solidFill>
                      <a:srgbClr val="FFFFFF"/>
                    </a:solidFill>
                  </a:tcPr>
                </a:tc>
                <a:tc>
                  <a:txBody>
                    <a:bodyPr/>
                    <a:lstStyle/>
                    <a:p>
                      <a:pPr algn="r"/>
                      <a:r>
                        <a:rPr sz="850" b="0">
                          <a:solidFill>
                            <a:srgbClr val="2B3147"/>
                          </a:solidFill>
                          <a:latin typeface="Calibri"/>
                        </a:rPr>
                        <a:t>$1,570</a:t>
                      </a:r>
                    </a:p>
                  </a:txBody>
                  <a:tcPr marL="54864" marR="54864" marT="27432" marB="27432">
                    <a:solidFill>
                      <a:srgbClr val="FFFFFF"/>
                    </a:solidFill>
                  </a:tcPr>
                </a:tc>
                <a:tc>
                  <a:txBody>
                    <a:bodyPr/>
                    <a:lstStyle/>
                    <a:p>
                      <a:pPr algn="r"/>
                      <a:r>
                        <a:rPr sz="850" b="0">
                          <a:solidFill>
                            <a:srgbClr val="2B3147"/>
                          </a:solidFill>
                          <a:latin typeface="Calibri"/>
                        </a:rPr>
                        <a:t>139</a:t>
                      </a:r>
                    </a:p>
                  </a:txBody>
                  <a:tcPr marL="54864" marR="54864" marT="27432" marB="27432">
                    <a:solidFill>
                      <a:srgbClr val="FFFFFF"/>
                    </a:solidFill>
                  </a:tcPr>
                </a:tc>
                <a:tc>
                  <a:txBody>
                    <a:bodyPr/>
                    <a:lstStyle/>
                    <a:p>
                      <a:pPr algn="r"/>
                      <a:r>
                        <a:rPr sz="850" b="0">
                          <a:solidFill>
                            <a:srgbClr val="2B3147"/>
                          </a:solidFill>
                          <a:latin typeface="Calibri"/>
                        </a:rPr>
                        <a:t>0.071%</a:t>
                      </a:r>
                    </a:p>
                  </a:txBody>
                  <a:tcPr marL="54864" marR="54864" marT="27432" marB="27432">
                    <a:solidFill>
                      <a:srgbClr val="FFFFFF"/>
                    </a:solidFill>
                  </a:tcPr>
                </a:tc>
                <a:tc>
                  <a:txBody>
                    <a:bodyPr/>
                    <a:lstStyle/>
                    <a:p>
                      <a:pPr algn="r"/>
                      <a:r>
                        <a:rPr sz="850" b="0">
                          <a:solidFill>
                            <a:srgbClr val="2B3147"/>
                          </a:solidFill>
                          <a:latin typeface="Calibri"/>
                        </a:rPr>
                        <a:t>RETAIN-TEST</a:t>
                      </a:r>
                    </a:p>
                  </a:txBody>
                  <a:tcPr marL="54864" marR="54864" marT="27432" marB="27432">
                    <a:solidFill>
                      <a:srgbClr val="FFFFFF"/>
                    </a:solidFill>
                  </a:tcPr>
                </a:tc>
                <a:extLst>
                  <a:ext uri="{0D108BD9-81ED-4DB2-BD59-A6C34878D82A}">
                    <a16:rowId xmlns:a16="http://schemas.microsoft.com/office/drawing/2014/main" val="10003"/>
                  </a:ext>
                </a:extLst>
              </a:tr>
              <a:tr h="391885">
                <a:tc>
                  <a:txBody>
                    <a:bodyPr/>
                    <a:lstStyle/>
                    <a:p>
                      <a:pPr algn="l"/>
                      <a:r>
                        <a:rPr sz="850" b="1">
                          <a:solidFill>
                            <a:srgbClr val="2B3147"/>
                          </a:solidFill>
                          <a:latin typeface="Calibri"/>
                        </a:rPr>
                        <a:t>Third_person_perspective_mobile</a:t>
                      </a:r>
                    </a:p>
                  </a:txBody>
                  <a:tcPr marL="54864" marR="54864" marT="27432" marB="27432">
                    <a:solidFill>
                      <a:srgbClr val="F9FAFC"/>
                    </a:solidFill>
                  </a:tcPr>
                </a:tc>
                <a:tc>
                  <a:txBody>
                    <a:bodyPr/>
                    <a:lstStyle/>
                    <a:p>
                      <a:pPr algn="r"/>
                      <a:r>
                        <a:rPr sz="850" b="0">
                          <a:solidFill>
                            <a:srgbClr val="2B3147"/>
                          </a:solidFill>
                          <a:latin typeface="Calibri"/>
                        </a:rPr>
                        <a:t>$1,503</a:t>
                      </a:r>
                    </a:p>
                  </a:txBody>
                  <a:tcPr marL="54864" marR="54864" marT="27432" marB="27432">
                    <a:solidFill>
                      <a:srgbClr val="F9FAFC"/>
                    </a:solidFill>
                  </a:tcPr>
                </a:tc>
                <a:tc>
                  <a:txBody>
                    <a:bodyPr/>
                    <a:lstStyle/>
                    <a:p>
                      <a:pPr algn="r"/>
                      <a:r>
                        <a:rPr sz="850" b="0">
                          <a:solidFill>
                            <a:srgbClr val="2B3147"/>
                          </a:solidFill>
                          <a:latin typeface="Calibri"/>
                        </a:rPr>
                        <a:t>134</a:t>
                      </a:r>
                    </a:p>
                  </a:txBody>
                  <a:tcPr marL="54864" marR="54864" marT="27432" marB="27432">
                    <a:solidFill>
                      <a:srgbClr val="F9FAFC"/>
                    </a:solidFill>
                  </a:tcPr>
                </a:tc>
                <a:tc>
                  <a:txBody>
                    <a:bodyPr/>
                    <a:lstStyle/>
                    <a:p>
                      <a:pPr algn="r"/>
                      <a:r>
                        <a:rPr sz="850" b="0">
                          <a:solidFill>
                            <a:srgbClr val="2B3147"/>
                          </a:solidFill>
                          <a:latin typeface="Calibri"/>
                        </a:rPr>
                        <a:t>0.071%</a:t>
                      </a:r>
                    </a:p>
                  </a:txBody>
                  <a:tcPr marL="54864" marR="54864" marT="27432" marB="27432">
                    <a:solidFill>
                      <a:srgbClr val="F9FAFC"/>
                    </a:solidFill>
                  </a:tcPr>
                </a:tc>
                <a:tc>
                  <a:txBody>
                    <a:bodyPr/>
                    <a:lstStyle/>
                    <a:p>
                      <a:pPr algn="r"/>
                      <a:r>
                        <a:rPr sz="850" b="0">
                          <a:solidFill>
                            <a:srgbClr val="2B3147"/>
                          </a:solidFill>
                          <a:latin typeface="Calibri"/>
                        </a:rPr>
                        <a:t>RETAIN-TEST</a:t>
                      </a:r>
                    </a:p>
                  </a:txBody>
                  <a:tcPr marL="54864" marR="54864" marT="27432" marB="27432">
                    <a:solidFill>
                      <a:srgbClr val="F9FAFC"/>
                    </a:solidFill>
                  </a:tcPr>
                </a:tc>
                <a:extLst>
                  <a:ext uri="{0D108BD9-81ED-4DB2-BD59-A6C34878D82A}">
                    <a16:rowId xmlns:a16="http://schemas.microsoft.com/office/drawing/2014/main" val="10004"/>
                  </a:ext>
                </a:extLst>
              </a:tr>
              <a:tr h="391885">
                <a:tc>
                  <a:txBody>
                    <a:bodyPr/>
                    <a:lstStyle/>
                    <a:p>
                      <a:pPr algn="l"/>
                      <a:r>
                        <a:rPr sz="850" b="1">
                          <a:solidFill>
                            <a:srgbClr val="2B3147"/>
                          </a:solidFill>
                          <a:latin typeface="Calibri"/>
                        </a:rPr>
                        <a:t>Trader_laptop_thinking</a:t>
                      </a:r>
                    </a:p>
                  </a:txBody>
                  <a:tcPr marL="54864" marR="54864" marT="27432" marB="27432">
                    <a:solidFill>
                      <a:srgbClr val="FFFFFF"/>
                    </a:solidFill>
                  </a:tcPr>
                </a:tc>
                <a:tc>
                  <a:txBody>
                    <a:bodyPr/>
                    <a:lstStyle/>
                    <a:p>
                      <a:pPr algn="r"/>
                      <a:r>
                        <a:rPr sz="850" b="0">
                          <a:solidFill>
                            <a:srgbClr val="2B3147"/>
                          </a:solidFill>
                          <a:latin typeface="Calibri"/>
                        </a:rPr>
                        <a:t>$1,598</a:t>
                      </a:r>
                    </a:p>
                  </a:txBody>
                  <a:tcPr marL="54864" marR="54864" marT="27432" marB="27432">
                    <a:solidFill>
                      <a:srgbClr val="FFFFFF"/>
                    </a:solidFill>
                  </a:tcPr>
                </a:tc>
                <a:tc>
                  <a:txBody>
                    <a:bodyPr/>
                    <a:lstStyle/>
                    <a:p>
                      <a:pPr algn="r"/>
                      <a:r>
                        <a:rPr sz="850" b="0">
                          <a:solidFill>
                            <a:srgbClr val="2B3147"/>
                          </a:solidFill>
                          <a:latin typeface="Calibri"/>
                        </a:rPr>
                        <a:t>132</a:t>
                      </a:r>
                    </a:p>
                  </a:txBody>
                  <a:tcPr marL="54864" marR="54864" marT="27432" marB="27432">
                    <a:solidFill>
                      <a:srgbClr val="FFFFFF"/>
                    </a:solidFill>
                  </a:tcPr>
                </a:tc>
                <a:tc>
                  <a:txBody>
                    <a:bodyPr/>
                    <a:lstStyle/>
                    <a:p>
                      <a:pPr algn="r"/>
                      <a:r>
                        <a:rPr sz="850" b="0">
                          <a:solidFill>
                            <a:srgbClr val="2B3147"/>
                          </a:solidFill>
                          <a:latin typeface="Calibri"/>
                        </a:rPr>
                        <a:t>0.066%</a:t>
                      </a:r>
                    </a:p>
                  </a:txBody>
                  <a:tcPr marL="54864" marR="54864" marT="27432" marB="27432">
                    <a:solidFill>
                      <a:srgbClr val="FFFFFF"/>
                    </a:solidFill>
                  </a:tcPr>
                </a:tc>
                <a:tc>
                  <a:txBody>
                    <a:bodyPr/>
                    <a:lstStyle/>
                    <a:p>
                      <a:pPr algn="r"/>
                      <a:r>
                        <a:rPr sz="850" b="0">
                          <a:solidFill>
                            <a:srgbClr val="2B3147"/>
                          </a:solidFill>
                          <a:latin typeface="Calibri"/>
                        </a:rPr>
                        <a:t>RETAIN-TEST</a:t>
                      </a:r>
                    </a:p>
                  </a:txBody>
                  <a:tcPr marL="54864" marR="54864" marT="27432" marB="27432">
                    <a:solidFill>
                      <a:srgbClr val="FFFFFF"/>
                    </a:solidFill>
                  </a:tcPr>
                </a:tc>
                <a:extLst>
                  <a:ext uri="{0D108BD9-81ED-4DB2-BD59-A6C34878D82A}">
                    <a16:rowId xmlns:a16="http://schemas.microsoft.com/office/drawing/2014/main" val="10005"/>
                  </a:ext>
                </a:extLst>
              </a:tr>
              <a:tr h="391890">
                <a:tc>
                  <a:txBody>
                    <a:bodyPr/>
                    <a:lstStyle/>
                    <a:p>
                      <a:pPr algn="l"/>
                      <a:r>
                        <a:rPr sz="850" b="1">
                          <a:solidFill>
                            <a:srgbClr val="2B3147"/>
                          </a:solidFill>
                          <a:latin typeface="Calibri"/>
                        </a:rPr>
                        <a:t>Multiple_screens_graph</a:t>
                      </a:r>
                    </a:p>
                  </a:txBody>
                  <a:tcPr marL="54864" marR="54864" marT="27432" marB="27432">
                    <a:solidFill>
                      <a:srgbClr val="F9FAFC"/>
                    </a:solidFill>
                  </a:tcPr>
                </a:tc>
                <a:tc>
                  <a:txBody>
                    <a:bodyPr/>
                    <a:lstStyle/>
                    <a:p>
                      <a:pPr algn="r"/>
                      <a:r>
                        <a:rPr sz="850" b="0">
                          <a:solidFill>
                            <a:srgbClr val="2B3147"/>
                          </a:solidFill>
                          <a:latin typeface="Calibri"/>
                        </a:rPr>
                        <a:t>$1,598</a:t>
                      </a:r>
                    </a:p>
                  </a:txBody>
                  <a:tcPr marL="54864" marR="54864" marT="27432" marB="27432">
                    <a:solidFill>
                      <a:srgbClr val="F9FAFC"/>
                    </a:solidFill>
                  </a:tcPr>
                </a:tc>
                <a:tc>
                  <a:txBody>
                    <a:bodyPr/>
                    <a:lstStyle/>
                    <a:p>
                      <a:pPr algn="r"/>
                      <a:r>
                        <a:rPr sz="850" b="0">
                          <a:solidFill>
                            <a:srgbClr val="2B3147"/>
                          </a:solidFill>
                          <a:latin typeface="Calibri"/>
                        </a:rPr>
                        <a:t>125</a:t>
                      </a:r>
                    </a:p>
                  </a:txBody>
                  <a:tcPr marL="54864" marR="54864" marT="27432" marB="27432">
                    <a:solidFill>
                      <a:srgbClr val="F9FAFC"/>
                    </a:solidFill>
                  </a:tcPr>
                </a:tc>
                <a:tc>
                  <a:txBody>
                    <a:bodyPr/>
                    <a:lstStyle/>
                    <a:p>
                      <a:pPr algn="r"/>
                      <a:r>
                        <a:rPr sz="850" b="0">
                          <a:solidFill>
                            <a:srgbClr val="2B3147"/>
                          </a:solidFill>
                          <a:latin typeface="Calibri"/>
                        </a:rPr>
                        <a:t>0.063%</a:t>
                      </a:r>
                    </a:p>
                  </a:txBody>
                  <a:tcPr marL="54864" marR="54864" marT="27432" marB="27432">
                    <a:solidFill>
                      <a:srgbClr val="F9FAFC"/>
                    </a:solidFill>
                  </a:tcPr>
                </a:tc>
                <a:tc>
                  <a:txBody>
                    <a:bodyPr/>
                    <a:lstStyle/>
                    <a:p>
                      <a:pPr algn="r"/>
                      <a:r>
                        <a:rPr sz="850" b="0">
                          <a:solidFill>
                            <a:srgbClr val="2B3147"/>
                          </a:solidFill>
                          <a:latin typeface="Calibri"/>
                        </a:rPr>
                        <a:t>RETAIN-TEST</a:t>
                      </a:r>
                    </a:p>
                  </a:txBody>
                  <a:tcPr marL="54864" marR="54864" marT="27432" marB="27432">
                    <a:solidFill>
                      <a:srgbClr val="F9FAFC"/>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457200" y="4617720"/>
            <a:ext cx="7040880" cy="274320"/>
          </a:xfrm>
          <a:prstGeom prst="rect">
            <a:avLst/>
          </a:prstGeom>
          <a:noFill/>
        </p:spPr>
        <p:txBody>
          <a:bodyPr wrap="square" lIns="0" tIns="0" rIns="0" bIns="0" anchor="t">
            <a:spAutoFit/>
          </a:bodyPr>
          <a:lstStyle/>
          <a:p>
            <a:pPr algn="l"/>
            <a:r>
              <a:rPr sz="750" b="0">
                <a:solidFill>
                  <a:srgbClr val="5A6072"/>
                </a:solidFill>
                <a:latin typeface="Calibri"/>
              </a:rPr>
              <a:t>Native total: 1,170,255 impressions, 816 clicks, 72.68% viewability.</a:t>
            </a:r>
          </a:p>
        </p:txBody>
      </p:sp>
      <p:sp>
        <p:nvSpPr>
          <p:cNvPr id="12" name="Rectangle 11"/>
          <p:cNvSpPr/>
          <p:nvPr/>
        </p:nvSpPr>
        <p:spPr>
          <a:xfrm>
            <a:off x="7680960" y="1828800"/>
            <a:ext cx="3593592" cy="274320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680960" y="1828800"/>
            <a:ext cx="64008" cy="274320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0416" y="1993392"/>
            <a:ext cx="3191256" cy="274320"/>
          </a:xfrm>
          <a:prstGeom prst="rect">
            <a:avLst/>
          </a:prstGeom>
          <a:noFill/>
        </p:spPr>
        <p:txBody>
          <a:bodyPr wrap="square" lIns="0" tIns="0" rIns="0" bIns="0" anchor="t">
            <a:spAutoFit/>
          </a:bodyPr>
          <a:lstStyle/>
          <a:p>
            <a:pPr algn="l"/>
            <a:r>
              <a:rPr sz="1000" b="1">
                <a:solidFill>
                  <a:srgbClr val="1E2761"/>
                </a:solidFill>
                <a:latin typeface="Georgia"/>
              </a:rPr>
              <a:t>WHAT WE RECOMMEND</a:t>
            </a:r>
          </a:p>
        </p:txBody>
      </p:sp>
      <p:sp>
        <p:nvSpPr>
          <p:cNvPr id="15" name="TextBox 14"/>
          <p:cNvSpPr txBox="1"/>
          <p:nvPr/>
        </p:nvSpPr>
        <p:spPr>
          <a:xfrm>
            <a:off x="7900416" y="2331720"/>
            <a:ext cx="3191256" cy="2057400"/>
          </a:xfrm>
          <a:prstGeom prst="rect">
            <a:avLst/>
          </a:prstGeom>
          <a:noFill/>
        </p:spPr>
        <p:txBody>
          <a:bodyPr wrap="square" lIns="0" tIns="0" rIns="0" bIns="0" anchor="t">
            <a:spAutoFit/>
          </a:bodyPr>
          <a:lstStyle/>
          <a:p>
            <a:pPr algn="l"/>
            <a:r>
              <a:rPr sz="950" b="0" dirty="0">
                <a:solidFill>
                  <a:srgbClr val="2B3147"/>
                </a:solidFill>
                <a:latin typeface="Calibri"/>
              </a:rPr>
              <a:t>This line doesn’t track applications, only ad delivery. Click-through rate fell as delivery scaled, from 0.33% in week two to 0.05% in the final week.</a:t>
            </a:r>
          </a:p>
          <a:p>
            <a:pPr algn="l">
              <a:spcBef>
                <a:spcPts val="600"/>
              </a:spcBef>
            </a:pPr>
            <a:r>
              <a:rPr sz="950" b="0" dirty="0">
                <a:solidFill>
                  <a:srgbClr val="2B3147"/>
                </a:solidFill>
                <a:latin typeface="Calibri"/>
              </a:rPr>
              <a:t>DECISION: scale the two strongest creatives by click-through rate, </a:t>
            </a:r>
            <a:r>
              <a:rPr sz="950" b="0" dirty="0" err="1">
                <a:solidFill>
                  <a:srgbClr val="2B3147"/>
                </a:solidFill>
                <a:latin typeface="Calibri"/>
              </a:rPr>
              <a:t>City_view_MHTN</a:t>
            </a:r>
            <a:r>
              <a:rPr sz="950" b="0" dirty="0">
                <a:solidFill>
                  <a:srgbClr val="2B3147"/>
                </a:solidFill>
                <a:latin typeface="Calibri"/>
              </a:rPr>
              <a:t> and </a:t>
            </a:r>
            <a:r>
              <a:rPr sz="950" b="0" dirty="0" err="1">
                <a:solidFill>
                  <a:srgbClr val="2B3147"/>
                </a:solidFill>
                <a:latin typeface="Calibri"/>
              </a:rPr>
              <a:t>Mobile_desktop_view</a:t>
            </a:r>
            <a:r>
              <a:rPr sz="950" b="0" dirty="0">
                <a:solidFill>
                  <a:srgbClr val="2B3147"/>
                </a:solidFill>
                <a:latin typeface="Calibri"/>
              </a:rPr>
              <a:t>; hold the rest for a second month before any removal, this is the line’s first full month.</a:t>
            </a:r>
          </a:p>
        </p:txBody>
      </p:sp>
    </p:spTree>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SITE TRAFFIC  ·  GA4 (SPANISH AUDIENCE)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Sessions fell 17.2% to 66,398 as Meta spend pulled back by design.</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11 / 13</a:t>
            </a:r>
          </a:p>
        </p:txBody>
      </p:sp>
      <p:sp>
        <p:nvSpPr>
          <p:cNvPr id="10" name="Rectangle 9"/>
          <p:cNvSpPr/>
          <p:nvPr/>
        </p:nvSpPr>
        <p:spPr>
          <a:xfrm>
            <a:off x="457200" y="1828800"/>
            <a:ext cx="160020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874519"/>
            <a:ext cx="1325880" cy="274320"/>
          </a:xfrm>
          <a:prstGeom prst="rect">
            <a:avLst/>
          </a:prstGeom>
          <a:noFill/>
        </p:spPr>
        <p:txBody>
          <a:bodyPr wrap="square" lIns="0" tIns="0" rIns="0" bIns="0" anchor="t">
            <a:spAutoFit/>
          </a:bodyPr>
          <a:lstStyle/>
          <a:p>
            <a:pPr algn="l"/>
            <a:r>
              <a:rPr sz="800" b="1">
                <a:solidFill>
                  <a:srgbClr val="5A6072"/>
                </a:solidFill>
                <a:latin typeface="Calibri"/>
              </a:rPr>
              <a:t>ES SESSIONS</a:t>
            </a:r>
          </a:p>
        </p:txBody>
      </p:sp>
      <p:sp>
        <p:nvSpPr>
          <p:cNvPr id="13" name="TextBox 12"/>
          <p:cNvSpPr txBox="1"/>
          <p:nvPr/>
        </p:nvSpPr>
        <p:spPr>
          <a:xfrm>
            <a:off x="640080" y="2121408"/>
            <a:ext cx="1325880" cy="457200"/>
          </a:xfrm>
          <a:prstGeom prst="rect">
            <a:avLst/>
          </a:prstGeom>
          <a:noFill/>
        </p:spPr>
        <p:txBody>
          <a:bodyPr wrap="square" lIns="0" tIns="0" rIns="0" bIns="0" anchor="t">
            <a:spAutoFit/>
          </a:bodyPr>
          <a:lstStyle/>
          <a:p>
            <a:pPr algn="l"/>
            <a:r>
              <a:rPr sz="1500" b="1">
                <a:solidFill>
                  <a:srgbClr val="1E2761"/>
                </a:solidFill>
                <a:latin typeface="Calibri"/>
              </a:rPr>
              <a:t>66,398</a:t>
            </a:r>
          </a:p>
        </p:txBody>
      </p:sp>
      <p:sp>
        <p:nvSpPr>
          <p:cNvPr id="14" name="TextBox 13"/>
          <p:cNvSpPr txBox="1"/>
          <p:nvPr/>
        </p:nvSpPr>
        <p:spPr>
          <a:xfrm>
            <a:off x="640080" y="2578608"/>
            <a:ext cx="1325880" cy="219456"/>
          </a:xfrm>
          <a:prstGeom prst="rect">
            <a:avLst/>
          </a:prstGeom>
          <a:noFill/>
        </p:spPr>
        <p:txBody>
          <a:bodyPr wrap="square" lIns="0" tIns="0" rIns="0" bIns="0" anchor="t">
            <a:spAutoFit/>
          </a:bodyPr>
          <a:lstStyle/>
          <a:p>
            <a:pPr algn="l"/>
            <a:r>
              <a:rPr sz="800" b="0">
                <a:solidFill>
                  <a:srgbClr val="5A6072"/>
                </a:solidFill>
                <a:latin typeface="Calibri"/>
              </a:rPr>
              <a:t>June: 80,231</a:t>
            </a:r>
          </a:p>
        </p:txBody>
      </p:sp>
      <p:sp>
        <p:nvSpPr>
          <p:cNvPr id="15" name="Rectangle 14"/>
          <p:cNvSpPr/>
          <p:nvPr/>
        </p:nvSpPr>
        <p:spPr>
          <a:xfrm>
            <a:off x="2167128" y="1828800"/>
            <a:ext cx="160020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167128"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50008" y="1874519"/>
            <a:ext cx="1325880" cy="274320"/>
          </a:xfrm>
          <a:prstGeom prst="rect">
            <a:avLst/>
          </a:prstGeom>
          <a:noFill/>
        </p:spPr>
        <p:txBody>
          <a:bodyPr wrap="square" lIns="0" tIns="0" rIns="0" bIns="0" anchor="t">
            <a:spAutoFit/>
          </a:bodyPr>
          <a:lstStyle/>
          <a:p>
            <a:pPr algn="l"/>
            <a:r>
              <a:rPr sz="800" b="1">
                <a:solidFill>
                  <a:srgbClr val="5A6072"/>
                </a:solidFill>
                <a:latin typeface="Calibri"/>
              </a:rPr>
              <a:t>ES USERS</a:t>
            </a:r>
          </a:p>
        </p:txBody>
      </p:sp>
      <p:sp>
        <p:nvSpPr>
          <p:cNvPr id="18" name="TextBox 17"/>
          <p:cNvSpPr txBox="1"/>
          <p:nvPr/>
        </p:nvSpPr>
        <p:spPr>
          <a:xfrm>
            <a:off x="2350008" y="2121408"/>
            <a:ext cx="1325880" cy="457200"/>
          </a:xfrm>
          <a:prstGeom prst="rect">
            <a:avLst/>
          </a:prstGeom>
          <a:noFill/>
        </p:spPr>
        <p:txBody>
          <a:bodyPr wrap="square" lIns="0" tIns="0" rIns="0" bIns="0" anchor="t">
            <a:spAutoFit/>
          </a:bodyPr>
          <a:lstStyle/>
          <a:p>
            <a:pPr algn="l"/>
            <a:r>
              <a:rPr sz="1500" b="1">
                <a:solidFill>
                  <a:srgbClr val="1E2761"/>
                </a:solidFill>
                <a:latin typeface="Calibri"/>
              </a:rPr>
              <a:t>29,901</a:t>
            </a:r>
          </a:p>
        </p:txBody>
      </p:sp>
      <p:sp>
        <p:nvSpPr>
          <p:cNvPr id="19" name="TextBox 18"/>
          <p:cNvSpPr txBox="1"/>
          <p:nvPr/>
        </p:nvSpPr>
        <p:spPr>
          <a:xfrm>
            <a:off x="2350008" y="2578608"/>
            <a:ext cx="1325880" cy="219456"/>
          </a:xfrm>
          <a:prstGeom prst="rect">
            <a:avLst/>
          </a:prstGeom>
          <a:noFill/>
        </p:spPr>
        <p:txBody>
          <a:bodyPr wrap="square" lIns="0" tIns="0" rIns="0" bIns="0" anchor="t">
            <a:spAutoFit/>
          </a:bodyPr>
          <a:lstStyle/>
          <a:p>
            <a:pPr algn="l"/>
            <a:r>
              <a:rPr sz="800" b="0">
                <a:solidFill>
                  <a:srgbClr val="5A6072"/>
                </a:solidFill>
                <a:latin typeface="Calibri"/>
              </a:rPr>
              <a:t>June: 41,795</a:t>
            </a:r>
          </a:p>
        </p:txBody>
      </p:sp>
      <p:sp>
        <p:nvSpPr>
          <p:cNvPr id="20" name="Rectangle 19"/>
          <p:cNvSpPr/>
          <p:nvPr/>
        </p:nvSpPr>
        <p:spPr>
          <a:xfrm>
            <a:off x="3877056" y="1828800"/>
            <a:ext cx="160020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877056"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59936" y="1874519"/>
            <a:ext cx="1325880" cy="274320"/>
          </a:xfrm>
          <a:prstGeom prst="rect">
            <a:avLst/>
          </a:prstGeom>
          <a:noFill/>
        </p:spPr>
        <p:txBody>
          <a:bodyPr wrap="square" lIns="0" tIns="0" rIns="0" bIns="0" anchor="t">
            <a:spAutoFit/>
          </a:bodyPr>
          <a:lstStyle/>
          <a:p>
            <a:pPr algn="l"/>
            <a:r>
              <a:rPr sz="800" b="1">
                <a:solidFill>
                  <a:srgbClr val="5A6072"/>
                </a:solidFill>
                <a:latin typeface="Calibri"/>
              </a:rPr>
              <a:t>META CAPTURE</a:t>
            </a:r>
          </a:p>
        </p:txBody>
      </p:sp>
      <p:sp>
        <p:nvSpPr>
          <p:cNvPr id="23" name="TextBox 22"/>
          <p:cNvSpPr txBox="1"/>
          <p:nvPr/>
        </p:nvSpPr>
        <p:spPr>
          <a:xfrm>
            <a:off x="4059936" y="2121408"/>
            <a:ext cx="1325880" cy="457200"/>
          </a:xfrm>
          <a:prstGeom prst="rect">
            <a:avLst/>
          </a:prstGeom>
          <a:noFill/>
        </p:spPr>
        <p:txBody>
          <a:bodyPr wrap="square" lIns="0" tIns="0" rIns="0" bIns="0" anchor="t">
            <a:spAutoFit/>
          </a:bodyPr>
          <a:lstStyle/>
          <a:p>
            <a:pPr algn="l"/>
            <a:r>
              <a:rPr sz="1500" b="1">
                <a:solidFill>
                  <a:srgbClr val="1E2761"/>
                </a:solidFill>
                <a:latin typeface="Calibri"/>
              </a:rPr>
              <a:t>67.2%</a:t>
            </a:r>
          </a:p>
        </p:txBody>
      </p:sp>
      <p:sp>
        <p:nvSpPr>
          <p:cNvPr id="24" name="TextBox 23"/>
          <p:cNvSpPr txBox="1"/>
          <p:nvPr/>
        </p:nvSpPr>
        <p:spPr>
          <a:xfrm>
            <a:off x="4059936" y="2578608"/>
            <a:ext cx="1325880" cy="219456"/>
          </a:xfrm>
          <a:prstGeom prst="rect">
            <a:avLst/>
          </a:prstGeom>
          <a:noFill/>
        </p:spPr>
        <p:txBody>
          <a:bodyPr wrap="square" lIns="0" tIns="0" rIns="0" bIns="0" anchor="t">
            <a:spAutoFit/>
          </a:bodyPr>
          <a:lstStyle/>
          <a:p>
            <a:pPr algn="l"/>
            <a:r>
              <a:rPr sz="800" b="0">
                <a:solidFill>
                  <a:srgbClr val="5A6072"/>
                </a:solidFill>
                <a:latin typeface="Calibri"/>
              </a:rPr>
              <a:t>June: ~57%</a:t>
            </a:r>
          </a:p>
        </p:txBody>
      </p:sp>
      <p:sp>
        <p:nvSpPr>
          <p:cNvPr id="25" name="Rectangle 24"/>
          <p:cNvSpPr/>
          <p:nvPr/>
        </p:nvSpPr>
        <p:spPr>
          <a:xfrm>
            <a:off x="5586984" y="1828800"/>
            <a:ext cx="160020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586984" y="182880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69864" y="1874519"/>
            <a:ext cx="1325880" cy="274320"/>
          </a:xfrm>
          <a:prstGeom prst="rect">
            <a:avLst/>
          </a:prstGeom>
          <a:noFill/>
        </p:spPr>
        <p:txBody>
          <a:bodyPr wrap="square" lIns="0" tIns="0" rIns="0" bIns="0" anchor="t">
            <a:spAutoFit/>
          </a:bodyPr>
          <a:lstStyle/>
          <a:p>
            <a:pPr algn="l"/>
            <a:r>
              <a:rPr sz="800" b="1">
                <a:solidFill>
                  <a:srgbClr val="5A6072"/>
                </a:solidFill>
                <a:latin typeface="Calibri"/>
              </a:rPr>
              <a:t>JAN-MAY BASE</a:t>
            </a:r>
          </a:p>
        </p:txBody>
      </p:sp>
      <p:sp>
        <p:nvSpPr>
          <p:cNvPr id="28" name="TextBox 27"/>
          <p:cNvSpPr txBox="1"/>
          <p:nvPr/>
        </p:nvSpPr>
        <p:spPr>
          <a:xfrm>
            <a:off x="5769864" y="2121408"/>
            <a:ext cx="1325880" cy="457200"/>
          </a:xfrm>
          <a:prstGeom prst="rect">
            <a:avLst/>
          </a:prstGeom>
          <a:noFill/>
        </p:spPr>
        <p:txBody>
          <a:bodyPr wrap="square" lIns="0" tIns="0" rIns="0" bIns="0" anchor="t">
            <a:spAutoFit/>
          </a:bodyPr>
          <a:lstStyle/>
          <a:p>
            <a:pPr algn="l"/>
            <a:r>
              <a:rPr sz="1500" b="1">
                <a:solidFill>
                  <a:srgbClr val="1E2761"/>
                </a:solidFill>
                <a:latin typeface="Calibri"/>
              </a:rPr>
              <a:t>~70K</a:t>
            </a:r>
          </a:p>
        </p:txBody>
      </p:sp>
      <p:sp>
        <p:nvSpPr>
          <p:cNvPr id="29" name="TextBox 28"/>
          <p:cNvSpPr txBox="1"/>
          <p:nvPr/>
        </p:nvSpPr>
        <p:spPr>
          <a:xfrm>
            <a:off x="5769864" y="2578608"/>
            <a:ext cx="1325880" cy="219456"/>
          </a:xfrm>
          <a:prstGeom prst="rect">
            <a:avLst/>
          </a:prstGeom>
          <a:noFill/>
        </p:spPr>
        <p:txBody>
          <a:bodyPr wrap="square" lIns="0" tIns="0" rIns="0" bIns="0" anchor="t">
            <a:spAutoFit/>
          </a:bodyPr>
          <a:lstStyle/>
          <a:p>
            <a:pPr algn="l"/>
            <a:r>
              <a:rPr sz="800" b="0">
                <a:solidFill>
                  <a:srgbClr val="5A6072"/>
                </a:solidFill>
                <a:latin typeface="Calibri"/>
              </a:rPr>
              <a:t>sessions, range</a:t>
            </a:r>
          </a:p>
        </p:txBody>
      </p:sp>
      <p:sp>
        <p:nvSpPr>
          <p:cNvPr id="30" name="Rectangle 29"/>
          <p:cNvSpPr/>
          <p:nvPr/>
        </p:nvSpPr>
        <p:spPr>
          <a:xfrm>
            <a:off x="457200" y="3108960"/>
            <a:ext cx="5486400" cy="29260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3108960"/>
            <a:ext cx="64008" cy="292608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6656" y="3273552"/>
            <a:ext cx="5084064" cy="274320"/>
          </a:xfrm>
          <a:prstGeom prst="rect">
            <a:avLst/>
          </a:prstGeom>
          <a:noFill/>
        </p:spPr>
        <p:txBody>
          <a:bodyPr wrap="square" lIns="0" tIns="0" rIns="0" bIns="0" anchor="t">
            <a:spAutoFit/>
          </a:bodyPr>
          <a:lstStyle/>
          <a:p>
            <a:pPr algn="l"/>
            <a:r>
              <a:rPr sz="1000" b="1">
                <a:solidFill>
                  <a:srgbClr val="1E2761"/>
                </a:solidFill>
                <a:latin typeface="Georgia"/>
              </a:rPr>
              <a:t>WHAT THE DATA SHOWS</a:t>
            </a:r>
          </a:p>
        </p:txBody>
      </p:sp>
      <p:sp>
        <p:nvSpPr>
          <p:cNvPr id="33" name="TextBox 32"/>
          <p:cNvSpPr txBox="1"/>
          <p:nvPr/>
        </p:nvSpPr>
        <p:spPr>
          <a:xfrm>
            <a:off x="676656" y="3611880"/>
            <a:ext cx="5084064" cy="2240280"/>
          </a:xfrm>
          <a:prstGeom prst="rect">
            <a:avLst/>
          </a:prstGeom>
          <a:noFill/>
        </p:spPr>
        <p:txBody>
          <a:bodyPr wrap="square" lIns="0" tIns="0" rIns="0" bIns="0" anchor="t">
            <a:spAutoFit/>
          </a:bodyPr>
          <a:lstStyle/>
          <a:p>
            <a:pPr algn="l"/>
            <a:r>
              <a:rPr sz="950" b="0">
                <a:solidFill>
                  <a:srgbClr val="2B3147"/>
                </a:solidFill>
                <a:latin typeface="Calibri"/>
              </a:rPr>
              <a:t>Site visits gave back June’s paid-driven lift as Meta spend fell 77%, landing just under the roughly 70,000 base the channel held from January through May.</a:t>
            </a:r>
          </a:p>
          <a:p>
            <a:pPr algn="l">
              <a:spcBef>
                <a:spcPts val="600"/>
              </a:spcBef>
            </a:pPr>
            <a:r>
              <a:rPr sz="950" b="0">
                <a:solidFill>
                  <a:srgbClr val="2B3147"/>
                </a:solidFill>
                <a:latin typeface="Calibri"/>
              </a:rPr>
              <a:t>This isn’t a decline in unpaid (organic) traffic; the softness tracks the paid pullback.</a:t>
            </a:r>
          </a:p>
          <a:p>
            <a:pPr algn="l">
              <a:spcBef>
                <a:spcPts val="600"/>
              </a:spcBef>
            </a:pPr>
            <a:r>
              <a:rPr sz="950" b="0">
                <a:solidFill>
                  <a:srgbClr val="2B3147"/>
                </a:solidFill>
                <a:latin typeface="Calibri"/>
              </a:rPr>
              <a:t>GA4 recorded two-thirds (67.2%) of Meta’s reported clicks as site visits, up from about 57% in June.</a:t>
            </a:r>
          </a:p>
        </p:txBody>
      </p:sp>
      <p:sp>
        <p:nvSpPr>
          <p:cNvPr id="34" name="Rectangle 33"/>
          <p:cNvSpPr/>
          <p:nvPr/>
        </p:nvSpPr>
        <p:spPr>
          <a:xfrm>
            <a:off x="6126480" y="3108960"/>
            <a:ext cx="5148072" cy="29260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126480" y="3108960"/>
            <a:ext cx="64008" cy="292608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45936" y="3273552"/>
            <a:ext cx="4745736" cy="274320"/>
          </a:xfrm>
          <a:prstGeom prst="rect">
            <a:avLst/>
          </a:prstGeom>
          <a:noFill/>
        </p:spPr>
        <p:txBody>
          <a:bodyPr wrap="square" lIns="0" tIns="0" rIns="0" bIns="0" anchor="t">
            <a:spAutoFit/>
          </a:bodyPr>
          <a:lstStyle/>
          <a:p>
            <a:pPr algn="l"/>
            <a:r>
              <a:rPr sz="1000" b="1">
                <a:solidFill>
                  <a:srgbClr val="1E2761"/>
                </a:solidFill>
                <a:latin typeface="Georgia"/>
              </a:rPr>
              <a:t>WHAT TO EXPECT</a:t>
            </a:r>
          </a:p>
        </p:txBody>
      </p:sp>
      <p:sp>
        <p:nvSpPr>
          <p:cNvPr id="37" name="TextBox 36"/>
          <p:cNvSpPr txBox="1"/>
          <p:nvPr/>
        </p:nvSpPr>
        <p:spPr>
          <a:xfrm>
            <a:off x="6345936" y="3611880"/>
            <a:ext cx="4745736" cy="2240280"/>
          </a:xfrm>
          <a:prstGeom prst="rect">
            <a:avLst/>
          </a:prstGeom>
          <a:noFill/>
        </p:spPr>
        <p:txBody>
          <a:bodyPr wrap="square" lIns="0" tIns="0" rIns="0" bIns="0" anchor="t">
            <a:spAutoFit/>
          </a:bodyPr>
          <a:lstStyle/>
          <a:p>
            <a:pPr algn="l"/>
            <a:r>
              <a:rPr sz="950" b="0">
                <a:solidFill>
                  <a:srgbClr val="2B3147"/>
                </a:solidFill>
                <a:latin typeface="Calibri"/>
              </a:rPr>
              <a:t>TAKEAWAY: Meta is paused entering August; expect site visits to run lower without Meta’s contribution until StoneX resolves the account.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dirty="0">
                <a:solidFill>
                  <a:srgbClr val="FFFFFF"/>
                </a:solidFill>
                <a:latin typeface="Georgia"/>
              </a:rPr>
              <a:t>CLIENT FUNNEL  ·  JULY VIEW</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Submitted applications rose 24.3% to 404 while client-measured sessions fell 41.6%.</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12 / 13</a:t>
            </a:r>
          </a:p>
        </p:txBody>
      </p:sp>
      <p:sp>
        <p:nvSpPr>
          <p:cNvPr id="10" name="TextBox 9"/>
          <p:cNvSpPr txBox="1"/>
          <p:nvPr/>
        </p:nvSpPr>
        <p:spPr>
          <a:xfrm>
            <a:off x="457200" y="1572768"/>
            <a:ext cx="11247120" cy="365760"/>
          </a:xfrm>
          <a:prstGeom prst="rect">
            <a:avLst/>
          </a:prstGeom>
          <a:noFill/>
        </p:spPr>
        <p:txBody>
          <a:bodyPr wrap="square" lIns="0" tIns="0" rIns="0" bIns="0" anchor="t">
            <a:spAutoFit/>
          </a:bodyPr>
          <a:lstStyle/>
          <a:p>
            <a:pPr algn="l"/>
            <a:r>
              <a:rPr sz="950" b="0">
                <a:solidFill>
                  <a:srgbClr val="5A6072"/>
                </a:solidFill>
                <a:latin typeface="Calibri"/>
              </a:rPr>
              <a:t>Source: the client’s own application funnel export, Website = Forex.com US Spanish, Jan-Jul 2026. This is the client’s own website view; its session count differs in scope from the GA4 Spanish-audience cut on the prior slide.</a:t>
            </a:r>
          </a:p>
        </p:txBody>
      </p:sp>
      <p:graphicFrame>
        <p:nvGraphicFramePr>
          <p:cNvPr id="11" name="Table 10"/>
          <p:cNvGraphicFramePr>
            <a:graphicFrameLocks noGrp="1"/>
          </p:cNvGraphicFramePr>
          <p:nvPr/>
        </p:nvGraphicFramePr>
        <p:xfrm>
          <a:off x="457200" y="1965960"/>
          <a:ext cx="7315200" cy="306324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278476">
                <a:tc>
                  <a:txBody>
                    <a:bodyPr/>
                    <a:lstStyle/>
                    <a:p>
                      <a:pPr algn="l"/>
                      <a:r>
                        <a:rPr sz="850" b="1">
                          <a:solidFill>
                            <a:srgbClr val="FFFFFF"/>
                          </a:solidFill>
                          <a:latin typeface="Calibri"/>
                        </a:rPr>
                        <a:t>Metric</a:t>
                      </a:r>
                    </a:p>
                  </a:txBody>
                  <a:tcPr marL="54864" marR="54864" marT="27432" marB="27432">
                    <a:solidFill>
                      <a:srgbClr val="1E2761"/>
                    </a:solidFill>
                  </a:tcPr>
                </a:tc>
                <a:tc>
                  <a:txBody>
                    <a:bodyPr/>
                    <a:lstStyle/>
                    <a:p>
                      <a:pPr algn="r"/>
                      <a:r>
                        <a:rPr sz="850" b="1">
                          <a:solidFill>
                            <a:srgbClr val="FFFFFF"/>
                          </a:solidFill>
                          <a:latin typeface="Calibri"/>
                        </a:rPr>
                        <a:t>Q1 (Jan-Mar)</a:t>
                      </a:r>
                    </a:p>
                  </a:txBody>
                  <a:tcPr marL="54864" marR="54864" marT="27432" marB="27432">
                    <a:solidFill>
                      <a:srgbClr val="1E2761"/>
                    </a:solidFill>
                  </a:tcPr>
                </a:tc>
                <a:tc>
                  <a:txBody>
                    <a:bodyPr/>
                    <a:lstStyle/>
                    <a:p>
                      <a:pPr algn="r"/>
                      <a:r>
                        <a:rPr sz="850" b="1">
                          <a:solidFill>
                            <a:srgbClr val="FFFFFF"/>
                          </a:solidFill>
                          <a:latin typeface="Calibri"/>
                        </a:rPr>
                        <a:t>Q2 (Apr-Jun)</a:t>
                      </a:r>
                    </a:p>
                  </a:txBody>
                  <a:tcPr marL="54864" marR="54864" marT="27432" marB="27432">
                    <a:solidFill>
                      <a:srgbClr val="1E2761"/>
                    </a:solidFill>
                  </a:tcPr>
                </a:tc>
                <a:tc>
                  <a:txBody>
                    <a:bodyPr/>
                    <a:lstStyle/>
                    <a:p>
                      <a:pPr algn="r"/>
                      <a:r>
                        <a:rPr sz="850" b="1">
                          <a:solidFill>
                            <a:srgbClr val="FFFFFF"/>
                          </a:solidFill>
                          <a:latin typeface="Calibri"/>
                        </a:rPr>
                        <a:t>July</a:t>
                      </a:r>
                    </a:p>
                  </a:txBody>
                  <a:tcPr marL="54864" marR="54864" marT="27432" marB="27432">
                    <a:solidFill>
                      <a:srgbClr val="1E2761"/>
                    </a:solidFill>
                  </a:tcPr>
                </a:tc>
                <a:extLst>
                  <a:ext uri="{0D108BD9-81ED-4DB2-BD59-A6C34878D82A}">
                    <a16:rowId xmlns:a16="http://schemas.microsoft.com/office/drawing/2014/main" val="10000"/>
                  </a:ext>
                </a:extLst>
              </a:tr>
              <a:tr h="278476">
                <a:tc>
                  <a:txBody>
                    <a:bodyPr/>
                    <a:lstStyle/>
                    <a:p>
                      <a:pPr algn="l"/>
                      <a:r>
                        <a:rPr sz="850" b="1">
                          <a:solidFill>
                            <a:srgbClr val="2B3147"/>
                          </a:solidFill>
                          <a:latin typeface="Calibri"/>
                        </a:rPr>
                        <a:t>Unique Sessions</a:t>
                      </a:r>
                    </a:p>
                  </a:txBody>
                  <a:tcPr marL="54864" marR="54864" marT="27432" marB="27432">
                    <a:solidFill>
                      <a:srgbClr val="FFFFFF"/>
                    </a:solidFill>
                  </a:tcPr>
                </a:tc>
                <a:tc>
                  <a:txBody>
                    <a:bodyPr/>
                    <a:lstStyle/>
                    <a:p>
                      <a:pPr algn="r"/>
                      <a:r>
                        <a:rPr sz="850" b="0">
                          <a:solidFill>
                            <a:srgbClr val="2B3147"/>
                          </a:solidFill>
                          <a:latin typeface="Calibri"/>
                        </a:rPr>
                        <a:t>41,047</a:t>
                      </a:r>
                    </a:p>
                  </a:txBody>
                  <a:tcPr marL="54864" marR="54864" marT="27432" marB="27432">
                    <a:solidFill>
                      <a:srgbClr val="FFFFFF"/>
                    </a:solidFill>
                  </a:tcPr>
                </a:tc>
                <a:tc>
                  <a:txBody>
                    <a:bodyPr/>
                    <a:lstStyle/>
                    <a:p>
                      <a:pPr algn="r"/>
                      <a:r>
                        <a:rPr sz="850" b="0">
                          <a:solidFill>
                            <a:srgbClr val="2B3147"/>
                          </a:solidFill>
                          <a:latin typeface="Calibri"/>
                        </a:rPr>
                        <a:t>162,874</a:t>
                      </a:r>
                    </a:p>
                  </a:txBody>
                  <a:tcPr marL="54864" marR="54864" marT="27432" marB="27432">
                    <a:solidFill>
                      <a:srgbClr val="FFFFFF"/>
                    </a:solidFill>
                  </a:tcPr>
                </a:tc>
                <a:tc>
                  <a:txBody>
                    <a:bodyPr/>
                    <a:lstStyle/>
                    <a:p>
                      <a:pPr algn="r"/>
                      <a:r>
                        <a:rPr sz="850" b="0">
                          <a:solidFill>
                            <a:srgbClr val="2B3147"/>
                          </a:solidFill>
                          <a:latin typeface="Calibri"/>
                        </a:rPr>
                        <a:t>39,446</a:t>
                      </a:r>
                    </a:p>
                  </a:txBody>
                  <a:tcPr marL="54864" marR="54864" marT="27432" marB="27432">
                    <a:solidFill>
                      <a:srgbClr val="FFFFFF"/>
                    </a:solidFill>
                  </a:tcPr>
                </a:tc>
                <a:extLst>
                  <a:ext uri="{0D108BD9-81ED-4DB2-BD59-A6C34878D82A}">
                    <a16:rowId xmlns:a16="http://schemas.microsoft.com/office/drawing/2014/main" val="10001"/>
                  </a:ext>
                </a:extLst>
              </a:tr>
              <a:tr h="278476">
                <a:tc>
                  <a:txBody>
                    <a:bodyPr/>
                    <a:lstStyle/>
                    <a:p>
                      <a:pPr algn="l"/>
                      <a:r>
                        <a:rPr sz="850" b="1">
                          <a:solidFill>
                            <a:srgbClr val="2B3147"/>
                          </a:solidFill>
                          <a:latin typeface="Calibri"/>
                        </a:rPr>
                        <a:t>App Starts</a:t>
                      </a:r>
                    </a:p>
                  </a:txBody>
                  <a:tcPr marL="54864" marR="54864" marT="27432" marB="27432">
                    <a:solidFill>
                      <a:srgbClr val="F9FAFC"/>
                    </a:solidFill>
                  </a:tcPr>
                </a:tc>
                <a:tc>
                  <a:txBody>
                    <a:bodyPr/>
                    <a:lstStyle/>
                    <a:p>
                      <a:pPr algn="r"/>
                      <a:r>
                        <a:rPr sz="850" b="0">
                          <a:solidFill>
                            <a:srgbClr val="2B3147"/>
                          </a:solidFill>
                          <a:latin typeface="Calibri"/>
                        </a:rPr>
                        <a:t>6,997</a:t>
                      </a:r>
                    </a:p>
                  </a:txBody>
                  <a:tcPr marL="54864" marR="54864" marT="27432" marB="27432">
                    <a:solidFill>
                      <a:srgbClr val="F9FAFC"/>
                    </a:solidFill>
                  </a:tcPr>
                </a:tc>
                <a:tc>
                  <a:txBody>
                    <a:bodyPr/>
                    <a:lstStyle/>
                    <a:p>
                      <a:pPr algn="r"/>
                      <a:r>
                        <a:rPr sz="850" b="0">
                          <a:solidFill>
                            <a:srgbClr val="2B3147"/>
                          </a:solidFill>
                          <a:latin typeface="Calibri"/>
                        </a:rPr>
                        <a:t>7,977</a:t>
                      </a:r>
                    </a:p>
                  </a:txBody>
                  <a:tcPr marL="54864" marR="54864" marT="27432" marB="27432">
                    <a:solidFill>
                      <a:srgbClr val="F9FAFC"/>
                    </a:solidFill>
                  </a:tcPr>
                </a:tc>
                <a:tc>
                  <a:txBody>
                    <a:bodyPr/>
                    <a:lstStyle/>
                    <a:p>
                      <a:pPr algn="r"/>
                      <a:r>
                        <a:rPr sz="850" b="0">
                          <a:solidFill>
                            <a:srgbClr val="2B3147"/>
                          </a:solidFill>
                          <a:latin typeface="Calibri"/>
                        </a:rPr>
                        <a:t>2,970</a:t>
                      </a:r>
                    </a:p>
                  </a:txBody>
                  <a:tcPr marL="54864" marR="54864" marT="27432" marB="27432">
                    <a:solidFill>
                      <a:srgbClr val="F9FAFC"/>
                    </a:solidFill>
                  </a:tcPr>
                </a:tc>
                <a:extLst>
                  <a:ext uri="{0D108BD9-81ED-4DB2-BD59-A6C34878D82A}">
                    <a16:rowId xmlns:a16="http://schemas.microsoft.com/office/drawing/2014/main" val="10002"/>
                  </a:ext>
                </a:extLst>
              </a:tr>
              <a:tr h="278476">
                <a:tc>
                  <a:txBody>
                    <a:bodyPr/>
                    <a:lstStyle/>
                    <a:p>
                      <a:pPr algn="l"/>
                      <a:r>
                        <a:rPr sz="850" b="1">
                          <a:solidFill>
                            <a:srgbClr val="2B3147"/>
                          </a:solidFill>
                          <a:latin typeface="Calibri"/>
                        </a:rPr>
                        <a:t>App Start Rate</a:t>
                      </a:r>
                    </a:p>
                  </a:txBody>
                  <a:tcPr marL="54864" marR="54864" marT="27432" marB="27432">
                    <a:solidFill>
                      <a:srgbClr val="FFFFFF"/>
                    </a:solidFill>
                  </a:tcPr>
                </a:tc>
                <a:tc>
                  <a:txBody>
                    <a:bodyPr/>
                    <a:lstStyle/>
                    <a:p>
                      <a:pPr algn="r"/>
                      <a:r>
                        <a:rPr sz="850" b="0">
                          <a:solidFill>
                            <a:srgbClr val="2B3147"/>
                          </a:solidFill>
                          <a:latin typeface="Calibri"/>
                        </a:rPr>
                        <a:t>17.0%</a:t>
                      </a:r>
                    </a:p>
                  </a:txBody>
                  <a:tcPr marL="54864" marR="54864" marT="27432" marB="27432">
                    <a:solidFill>
                      <a:srgbClr val="FFFFFF"/>
                    </a:solidFill>
                  </a:tcPr>
                </a:tc>
                <a:tc>
                  <a:txBody>
                    <a:bodyPr/>
                    <a:lstStyle/>
                    <a:p>
                      <a:pPr algn="r"/>
                      <a:r>
                        <a:rPr sz="850" b="0">
                          <a:solidFill>
                            <a:srgbClr val="2B3147"/>
                          </a:solidFill>
                          <a:latin typeface="Calibri"/>
                        </a:rPr>
                        <a:t>4.9%</a:t>
                      </a:r>
                    </a:p>
                  </a:txBody>
                  <a:tcPr marL="54864" marR="54864" marT="27432" marB="27432">
                    <a:solidFill>
                      <a:srgbClr val="FFFFFF"/>
                    </a:solidFill>
                  </a:tcPr>
                </a:tc>
                <a:tc>
                  <a:txBody>
                    <a:bodyPr/>
                    <a:lstStyle/>
                    <a:p>
                      <a:pPr algn="r"/>
                      <a:r>
                        <a:rPr sz="850" b="0">
                          <a:solidFill>
                            <a:srgbClr val="2B3147"/>
                          </a:solidFill>
                          <a:latin typeface="Calibri"/>
                        </a:rPr>
                        <a:t>7.5%</a:t>
                      </a:r>
                    </a:p>
                  </a:txBody>
                  <a:tcPr marL="54864" marR="54864" marT="27432" marB="27432">
                    <a:solidFill>
                      <a:srgbClr val="FFFFFF"/>
                    </a:solidFill>
                  </a:tcPr>
                </a:tc>
                <a:extLst>
                  <a:ext uri="{0D108BD9-81ED-4DB2-BD59-A6C34878D82A}">
                    <a16:rowId xmlns:a16="http://schemas.microsoft.com/office/drawing/2014/main" val="10003"/>
                  </a:ext>
                </a:extLst>
              </a:tr>
              <a:tr h="278476">
                <a:tc>
                  <a:txBody>
                    <a:bodyPr/>
                    <a:lstStyle/>
                    <a:p>
                      <a:pPr algn="l"/>
                      <a:r>
                        <a:rPr sz="850" b="1">
                          <a:solidFill>
                            <a:srgbClr val="2B3147"/>
                          </a:solidFill>
                          <a:latin typeface="Calibri"/>
                        </a:rPr>
                        <a:t>Submitted</a:t>
                      </a:r>
                    </a:p>
                  </a:txBody>
                  <a:tcPr marL="54864" marR="54864" marT="27432" marB="27432">
                    <a:solidFill>
                      <a:srgbClr val="F9FAFC"/>
                    </a:solidFill>
                  </a:tcPr>
                </a:tc>
                <a:tc>
                  <a:txBody>
                    <a:bodyPr/>
                    <a:lstStyle/>
                    <a:p>
                      <a:pPr algn="r"/>
                      <a:r>
                        <a:rPr sz="850" b="0">
                          <a:solidFill>
                            <a:srgbClr val="2B3147"/>
                          </a:solidFill>
                          <a:latin typeface="Calibri"/>
                        </a:rPr>
                        <a:t>1,204</a:t>
                      </a:r>
                    </a:p>
                  </a:txBody>
                  <a:tcPr marL="54864" marR="54864" marT="27432" marB="27432">
                    <a:solidFill>
                      <a:srgbClr val="F9FAFC"/>
                    </a:solidFill>
                  </a:tcPr>
                </a:tc>
                <a:tc>
                  <a:txBody>
                    <a:bodyPr/>
                    <a:lstStyle/>
                    <a:p>
                      <a:pPr algn="r"/>
                      <a:r>
                        <a:rPr sz="850" b="0">
                          <a:solidFill>
                            <a:srgbClr val="2B3147"/>
                          </a:solidFill>
                          <a:latin typeface="Calibri"/>
                        </a:rPr>
                        <a:t>1,036</a:t>
                      </a:r>
                    </a:p>
                  </a:txBody>
                  <a:tcPr marL="54864" marR="54864" marT="27432" marB="27432">
                    <a:solidFill>
                      <a:srgbClr val="F9FAFC"/>
                    </a:solidFill>
                  </a:tcPr>
                </a:tc>
                <a:tc>
                  <a:txBody>
                    <a:bodyPr/>
                    <a:lstStyle/>
                    <a:p>
                      <a:pPr algn="r"/>
                      <a:r>
                        <a:rPr sz="850" b="0">
                          <a:solidFill>
                            <a:srgbClr val="2B3147"/>
                          </a:solidFill>
                          <a:latin typeface="Calibri"/>
                        </a:rPr>
                        <a:t>404</a:t>
                      </a:r>
                    </a:p>
                  </a:txBody>
                  <a:tcPr marL="54864" marR="54864" marT="27432" marB="27432">
                    <a:solidFill>
                      <a:srgbClr val="F9FAFC"/>
                    </a:solidFill>
                  </a:tcPr>
                </a:tc>
                <a:extLst>
                  <a:ext uri="{0D108BD9-81ED-4DB2-BD59-A6C34878D82A}">
                    <a16:rowId xmlns:a16="http://schemas.microsoft.com/office/drawing/2014/main" val="10004"/>
                  </a:ext>
                </a:extLst>
              </a:tr>
              <a:tr h="278476">
                <a:tc>
                  <a:txBody>
                    <a:bodyPr/>
                    <a:lstStyle/>
                    <a:p>
                      <a:pPr algn="l"/>
                      <a:r>
                        <a:rPr sz="850" b="1">
                          <a:solidFill>
                            <a:srgbClr val="2B3147"/>
                          </a:solidFill>
                          <a:latin typeface="Calibri"/>
                        </a:rPr>
                        <a:t>Live</a:t>
                      </a:r>
                    </a:p>
                  </a:txBody>
                  <a:tcPr marL="54864" marR="54864" marT="27432" marB="27432">
                    <a:solidFill>
                      <a:srgbClr val="FFFFFF"/>
                    </a:solidFill>
                  </a:tcPr>
                </a:tc>
                <a:tc>
                  <a:txBody>
                    <a:bodyPr/>
                    <a:lstStyle/>
                    <a:p>
                      <a:pPr algn="r"/>
                      <a:r>
                        <a:rPr sz="850" b="0">
                          <a:solidFill>
                            <a:srgbClr val="2B3147"/>
                          </a:solidFill>
                          <a:latin typeface="Calibri"/>
                        </a:rPr>
                        <a:t>1,166</a:t>
                      </a:r>
                    </a:p>
                  </a:txBody>
                  <a:tcPr marL="54864" marR="54864" marT="27432" marB="27432">
                    <a:solidFill>
                      <a:srgbClr val="FFFFFF"/>
                    </a:solidFill>
                  </a:tcPr>
                </a:tc>
                <a:tc>
                  <a:txBody>
                    <a:bodyPr/>
                    <a:lstStyle/>
                    <a:p>
                      <a:pPr algn="r"/>
                      <a:r>
                        <a:rPr sz="850" b="0">
                          <a:solidFill>
                            <a:srgbClr val="2B3147"/>
                          </a:solidFill>
                          <a:latin typeface="Calibri"/>
                        </a:rPr>
                        <a:t>996</a:t>
                      </a:r>
                    </a:p>
                  </a:txBody>
                  <a:tcPr marL="54864" marR="54864" marT="27432" marB="27432">
                    <a:solidFill>
                      <a:srgbClr val="FFFFFF"/>
                    </a:solidFill>
                  </a:tcPr>
                </a:tc>
                <a:tc>
                  <a:txBody>
                    <a:bodyPr/>
                    <a:lstStyle/>
                    <a:p>
                      <a:pPr algn="r"/>
                      <a:r>
                        <a:rPr sz="850" b="0">
                          <a:solidFill>
                            <a:srgbClr val="2B3147"/>
                          </a:solidFill>
                          <a:latin typeface="Calibri"/>
                        </a:rPr>
                        <a:t>389</a:t>
                      </a:r>
                    </a:p>
                  </a:txBody>
                  <a:tcPr marL="54864" marR="54864" marT="27432" marB="27432">
                    <a:solidFill>
                      <a:srgbClr val="FFFFFF"/>
                    </a:solidFill>
                  </a:tcPr>
                </a:tc>
                <a:extLst>
                  <a:ext uri="{0D108BD9-81ED-4DB2-BD59-A6C34878D82A}">
                    <a16:rowId xmlns:a16="http://schemas.microsoft.com/office/drawing/2014/main" val="10005"/>
                  </a:ext>
                </a:extLst>
              </a:tr>
              <a:tr h="278476">
                <a:tc>
                  <a:txBody>
                    <a:bodyPr/>
                    <a:lstStyle/>
                    <a:p>
                      <a:pPr algn="l"/>
                      <a:r>
                        <a:rPr sz="850" b="1">
                          <a:solidFill>
                            <a:srgbClr val="2B3147"/>
                          </a:solidFill>
                          <a:latin typeface="Calibri"/>
                        </a:rPr>
                        <a:t>Approved</a:t>
                      </a:r>
                    </a:p>
                  </a:txBody>
                  <a:tcPr marL="54864" marR="54864" marT="27432" marB="27432">
                    <a:solidFill>
                      <a:srgbClr val="F9FAFC"/>
                    </a:solidFill>
                  </a:tcPr>
                </a:tc>
                <a:tc>
                  <a:txBody>
                    <a:bodyPr/>
                    <a:lstStyle/>
                    <a:p>
                      <a:pPr algn="r"/>
                      <a:r>
                        <a:rPr sz="850" b="0">
                          <a:solidFill>
                            <a:srgbClr val="2B3147"/>
                          </a:solidFill>
                          <a:latin typeface="Calibri"/>
                        </a:rPr>
                        <a:t>525</a:t>
                      </a:r>
                    </a:p>
                  </a:txBody>
                  <a:tcPr marL="54864" marR="54864" marT="27432" marB="27432">
                    <a:solidFill>
                      <a:srgbClr val="F9FAFC"/>
                    </a:solidFill>
                  </a:tcPr>
                </a:tc>
                <a:tc>
                  <a:txBody>
                    <a:bodyPr/>
                    <a:lstStyle/>
                    <a:p>
                      <a:pPr algn="r"/>
                      <a:r>
                        <a:rPr sz="850" b="0">
                          <a:solidFill>
                            <a:srgbClr val="2B3147"/>
                          </a:solidFill>
                          <a:latin typeface="Calibri"/>
                        </a:rPr>
                        <a:t>475</a:t>
                      </a:r>
                    </a:p>
                  </a:txBody>
                  <a:tcPr marL="54864" marR="54864" marT="27432" marB="27432">
                    <a:solidFill>
                      <a:srgbClr val="F9FAFC"/>
                    </a:solidFill>
                  </a:tcPr>
                </a:tc>
                <a:tc>
                  <a:txBody>
                    <a:bodyPr/>
                    <a:lstStyle/>
                    <a:p>
                      <a:pPr algn="r"/>
                      <a:r>
                        <a:rPr sz="850" b="0">
                          <a:solidFill>
                            <a:srgbClr val="2B3147"/>
                          </a:solidFill>
                          <a:latin typeface="Calibri"/>
                        </a:rPr>
                        <a:t>162</a:t>
                      </a:r>
                    </a:p>
                  </a:txBody>
                  <a:tcPr marL="54864" marR="54864" marT="27432" marB="27432">
                    <a:solidFill>
                      <a:srgbClr val="F9FAFC"/>
                    </a:solidFill>
                  </a:tcPr>
                </a:tc>
                <a:extLst>
                  <a:ext uri="{0D108BD9-81ED-4DB2-BD59-A6C34878D82A}">
                    <a16:rowId xmlns:a16="http://schemas.microsoft.com/office/drawing/2014/main" val="10006"/>
                  </a:ext>
                </a:extLst>
              </a:tr>
              <a:tr h="278476">
                <a:tc>
                  <a:txBody>
                    <a:bodyPr/>
                    <a:lstStyle/>
                    <a:p>
                      <a:pPr algn="l"/>
                      <a:r>
                        <a:rPr sz="850" b="1">
                          <a:solidFill>
                            <a:srgbClr val="2B3147"/>
                          </a:solidFill>
                          <a:latin typeface="Calibri"/>
                        </a:rPr>
                        <a:t>Approved Rate</a:t>
                      </a:r>
                    </a:p>
                  </a:txBody>
                  <a:tcPr marL="54864" marR="54864" marT="27432" marB="27432">
                    <a:solidFill>
                      <a:srgbClr val="FFFFFF"/>
                    </a:solidFill>
                  </a:tcPr>
                </a:tc>
                <a:tc>
                  <a:txBody>
                    <a:bodyPr/>
                    <a:lstStyle/>
                    <a:p>
                      <a:pPr algn="r"/>
                      <a:r>
                        <a:rPr sz="850" b="0">
                          <a:solidFill>
                            <a:srgbClr val="2B3147"/>
                          </a:solidFill>
                          <a:latin typeface="Calibri"/>
                        </a:rPr>
                        <a:t>43.6%</a:t>
                      </a:r>
                    </a:p>
                  </a:txBody>
                  <a:tcPr marL="54864" marR="54864" marT="27432" marB="27432">
                    <a:solidFill>
                      <a:srgbClr val="FFFFFF"/>
                    </a:solidFill>
                  </a:tcPr>
                </a:tc>
                <a:tc>
                  <a:txBody>
                    <a:bodyPr/>
                    <a:lstStyle/>
                    <a:p>
                      <a:pPr algn="r"/>
                      <a:r>
                        <a:rPr sz="850" b="0">
                          <a:solidFill>
                            <a:srgbClr val="2B3147"/>
                          </a:solidFill>
                          <a:latin typeface="Calibri"/>
                        </a:rPr>
                        <a:t>45.8%</a:t>
                      </a:r>
                    </a:p>
                  </a:txBody>
                  <a:tcPr marL="54864" marR="54864" marT="27432" marB="27432">
                    <a:solidFill>
                      <a:srgbClr val="FFFFFF"/>
                    </a:solidFill>
                  </a:tcPr>
                </a:tc>
                <a:tc>
                  <a:txBody>
                    <a:bodyPr/>
                    <a:lstStyle/>
                    <a:p>
                      <a:pPr algn="r"/>
                      <a:r>
                        <a:rPr sz="850" b="0">
                          <a:solidFill>
                            <a:srgbClr val="2B3147"/>
                          </a:solidFill>
                          <a:latin typeface="Calibri"/>
                        </a:rPr>
                        <a:t>40.1%</a:t>
                      </a:r>
                    </a:p>
                  </a:txBody>
                  <a:tcPr marL="54864" marR="54864" marT="27432" marB="27432">
                    <a:solidFill>
                      <a:srgbClr val="FFFFFF"/>
                    </a:solidFill>
                  </a:tcPr>
                </a:tc>
                <a:extLst>
                  <a:ext uri="{0D108BD9-81ED-4DB2-BD59-A6C34878D82A}">
                    <a16:rowId xmlns:a16="http://schemas.microsoft.com/office/drawing/2014/main" val="10007"/>
                  </a:ext>
                </a:extLst>
              </a:tr>
              <a:tr h="278476">
                <a:tc>
                  <a:txBody>
                    <a:bodyPr/>
                    <a:lstStyle/>
                    <a:p>
                      <a:pPr algn="l"/>
                      <a:r>
                        <a:rPr sz="850" b="1">
                          <a:solidFill>
                            <a:srgbClr val="2B3147"/>
                          </a:solidFill>
                          <a:latin typeface="Calibri"/>
                        </a:rPr>
                        <a:t>Funded</a:t>
                      </a:r>
                    </a:p>
                  </a:txBody>
                  <a:tcPr marL="54864" marR="54864" marT="27432" marB="27432">
                    <a:solidFill>
                      <a:srgbClr val="F9FAFC"/>
                    </a:solidFill>
                  </a:tcPr>
                </a:tc>
                <a:tc>
                  <a:txBody>
                    <a:bodyPr/>
                    <a:lstStyle/>
                    <a:p>
                      <a:pPr algn="r"/>
                      <a:r>
                        <a:rPr sz="850" b="0">
                          <a:solidFill>
                            <a:srgbClr val="2B3147"/>
                          </a:solidFill>
                          <a:latin typeface="Calibri"/>
                        </a:rPr>
                        <a:t>153</a:t>
                      </a:r>
                    </a:p>
                  </a:txBody>
                  <a:tcPr marL="54864" marR="54864" marT="27432" marB="27432">
                    <a:solidFill>
                      <a:srgbClr val="F9FAFC"/>
                    </a:solidFill>
                  </a:tcPr>
                </a:tc>
                <a:tc>
                  <a:txBody>
                    <a:bodyPr/>
                    <a:lstStyle/>
                    <a:p>
                      <a:pPr algn="r"/>
                      <a:r>
                        <a:rPr sz="850" b="0">
                          <a:solidFill>
                            <a:srgbClr val="2B3147"/>
                          </a:solidFill>
                          <a:latin typeface="Calibri"/>
                        </a:rPr>
                        <a:t>164</a:t>
                      </a:r>
                    </a:p>
                  </a:txBody>
                  <a:tcPr marL="54864" marR="54864" marT="27432" marB="27432">
                    <a:solidFill>
                      <a:srgbClr val="F9FAFC"/>
                    </a:solidFill>
                  </a:tcPr>
                </a:tc>
                <a:tc>
                  <a:txBody>
                    <a:bodyPr/>
                    <a:lstStyle/>
                    <a:p>
                      <a:pPr algn="r"/>
                      <a:r>
                        <a:rPr sz="850" b="0">
                          <a:solidFill>
                            <a:srgbClr val="2B3147"/>
                          </a:solidFill>
                          <a:latin typeface="Calibri"/>
                        </a:rPr>
                        <a:t>32</a:t>
                      </a:r>
                    </a:p>
                  </a:txBody>
                  <a:tcPr marL="54864" marR="54864" marT="27432" marB="27432">
                    <a:solidFill>
                      <a:srgbClr val="F9FAFC"/>
                    </a:solidFill>
                  </a:tcPr>
                </a:tc>
                <a:extLst>
                  <a:ext uri="{0D108BD9-81ED-4DB2-BD59-A6C34878D82A}">
                    <a16:rowId xmlns:a16="http://schemas.microsoft.com/office/drawing/2014/main" val="10008"/>
                  </a:ext>
                </a:extLst>
              </a:tr>
              <a:tr h="278476">
                <a:tc>
                  <a:txBody>
                    <a:bodyPr/>
                    <a:lstStyle/>
                    <a:p>
                      <a:pPr algn="l"/>
                      <a:r>
                        <a:rPr sz="850" b="1">
                          <a:solidFill>
                            <a:srgbClr val="2B3147"/>
                          </a:solidFill>
                          <a:latin typeface="Calibri"/>
                        </a:rPr>
                        <a:t>Funded Rate</a:t>
                      </a:r>
                    </a:p>
                  </a:txBody>
                  <a:tcPr marL="54864" marR="54864" marT="27432" marB="27432">
                    <a:solidFill>
                      <a:srgbClr val="FFFFFF"/>
                    </a:solidFill>
                  </a:tcPr>
                </a:tc>
                <a:tc>
                  <a:txBody>
                    <a:bodyPr/>
                    <a:lstStyle/>
                    <a:p>
                      <a:pPr algn="r"/>
                      <a:r>
                        <a:rPr sz="850" b="0">
                          <a:solidFill>
                            <a:srgbClr val="2B3147"/>
                          </a:solidFill>
                          <a:latin typeface="Calibri"/>
                        </a:rPr>
                        <a:t>29.1%</a:t>
                      </a:r>
                    </a:p>
                  </a:txBody>
                  <a:tcPr marL="54864" marR="54864" marT="27432" marB="27432">
                    <a:solidFill>
                      <a:srgbClr val="FFFFFF"/>
                    </a:solidFill>
                  </a:tcPr>
                </a:tc>
                <a:tc>
                  <a:txBody>
                    <a:bodyPr/>
                    <a:lstStyle/>
                    <a:p>
                      <a:pPr algn="r"/>
                      <a:r>
                        <a:rPr sz="850" b="0">
                          <a:solidFill>
                            <a:srgbClr val="2B3147"/>
                          </a:solidFill>
                          <a:latin typeface="Calibri"/>
                        </a:rPr>
                        <a:t>34.5%</a:t>
                      </a:r>
                    </a:p>
                  </a:txBody>
                  <a:tcPr marL="54864" marR="54864" marT="27432" marB="27432">
                    <a:solidFill>
                      <a:srgbClr val="FFFFFF"/>
                    </a:solidFill>
                  </a:tcPr>
                </a:tc>
                <a:tc>
                  <a:txBody>
                    <a:bodyPr/>
                    <a:lstStyle/>
                    <a:p>
                      <a:pPr algn="r"/>
                      <a:r>
                        <a:rPr sz="850" b="0">
                          <a:solidFill>
                            <a:srgbClr val="2B3147"/>
                          </a:solidFill>
                          <a:latin typeface="Calibri"/>
                        </a:rPr>
                        <a:t>19.8%</a:t>
                      </a:r>
                    </a:p>
                  </a:txBody>
                  <a:tcPr marL="54864" marR="54864" marT="27432" marB="27432">
                    <a:solidFill>
                      <a:srgbClr val="FFFFFF"/>
                    </a:solidFill>
                  </a:tcPr>
                </a:tc>
                <a:extLst>
                  <a:ext uri="{0D108BD9-81ED-4DB2-BD59-A6C34878D82A}">
                    <a16:rowId xmlns:a16="http://schemas.microsoft.com/office/drawing/2014/main" val="10009"/>
                  </a:ext>
                </a:extLst>
              </a:tr>
              <a:tr h="278480">
                <a:tc>
                  <a:txBody>
                    <a:bodyPr/>
                    <a:lstStyle/>
                    <a:p>
                      <a:pPr algn="l"/>
                      <a:r>
                        <a:rPr sz="850" b="1">
                          <a:solidFill>
                            <a:srgbClr val="2B3147"/>
                          </a:solidFill>
                          <a:latin typeface="Calibri"/>
                        </a:rPr>
                        <a:t>Traded</a:t>
                      </a:r>
                    </a:p>
                  </a:txBody>
                  <a:tcPr marL="54864" marR="54864" marT="27432" marB="27432">
                    <a:solidFill>
                      <a:srgbClr val="F9FAFC"/>
                    </a:solidFill>
                  </a:tcPr>
                </a:tc>
                <a:tc>
                  <a:txBody>
                    <a:bodyPr/>
                    <a:lstStyle/>
                    <a:p>
                      <a:pPr algn="r"/>
                      <a:r>
                        <a:rPr sz="850" b="0">
                          <a:solidFill>
                            <a:srgbClr val="2B3147"/>
                          </a:solidFill>
                          <a:latin typeface="Calibri"/>
                        </a:rPr>
                        <a:t>124</a:t>
                      </a:r>
                    </a:p>
                  </a:txBody>
                  <a:tcPr marL="54864" marR="54864" marT="27432" marB="27432">
                    <a:solidFill>
                      <a:srgbClr val="F9FAFC"/>
                    </a:solidFill>
                  </a:tcPr>
                </a:tc>
                <a:tc>
                  <a:txBody>
                    <a:bodyPr/>
                    <a:lstStyle/>
                    <a:p>
                      <a:pPr algn="r"/>
                      <a:r>
                        <a:rPr sz="850" b="0">
                          <a:solidFill>
                            <a:srgbClr val="2B3147"/>
                          </a:solidFill>
                          <a:latin typeface="Calibri"/>
                        </a:rPr>
                        <a:t>132</a:t>
                      </a:r>
                    </a:p>
                  </a:txBody>
                  <a:tcPr marL="54864" marR="54864" marT="27432" marB="27432">
                    <a:solidFill>
                      <a:srgbClr val="F9FAFC"/>
                    </a:solidFill>
                  </a:tcPr>
                </a:tc>
                <a:tc>
                  <a:txBody>
                    <a:bodyPr/>
                    <a:lstStyle/>
                    <a:p>
                      <a:pPr algn="r"/>
                      <a:r>
                        <a:rPr sz="850" b="0">
                          <a:solidFill>
                            <a:srgbClr val="2B3147"/>
                          </a:solidFill>
                          <a:latin typeface="Calibri"/>
                        </a:rPr>
                        <a:t>24</a:t>
                      </a:r>
                    </a:p>
                  </a:txBody>
                  <a:tcPr marL="54864" marR="54864" marT="27432" marB="27432">
                    <a:solidFill>
                      <a:srgbClr val="F9FAFC"/>
                    </a:solidFill>
                  </a:tcPr>
                </a:tc>
                <a:extLst>
                  <a:ext uri="{0D108BD9-81ED-4DB2-BD59-A6C34878D82A}">
                    <a16:rowId xmlns:a16="http://schemas.microsoft.com/office/drawing/2014/main" val="10010"/>
                  </a:ext>
                </a:extLst>
              </a:tr>
            </a:tbl>
          </a:graphicData>
        </a:graphic>
      </p:graphicFrame>
      <p:sp>
        <p:nvSpPr>
          <p:cNvPr id="12" name="Rectangle 11"/>
          <p:cNvSpPr/>
          <p:nvPr/>
        </p:nvSpPr>
        <p:spPr>
          <a:xfrm>
            <a:off x="7955279" y="1965960"/>
            <a:ext cx="3319272" cy="30632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955279" y="1965960"/>
            <a:ext cx="64008" cy="30632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74736" y="2130552"/>
            <a:ext cx="2916936" cy="274320"/>
          </a:xfrm>
          <a:prstGeom prst="rect">
            <a:avLst/>
          </a:prstGeom>
          <a:noFill/>
        </p:spPr>
        <p:txBody>
          <a:bodyPr wrap="square" lIns="0" tIns="0" rIns="0" bIns="0" anchor="t">
            <a:spAutoFit/>
          </a:bodyPr>
          <a:lstStyle/>
          <a:p>
            <a:pPr algn="l"/>
            <a:r>
              <a:rPr sz="1000" b="1">
                <a:solidFill>
                  <a:srgbClr val="1E2761"/>
                </a:solidFill>
                <a:latin typeface="Georgia"/>
              </a:rPr>
              <a:t>TOP OF FUNNEL</a:t>
            </a:r>
          </a:p>
        </p:txBody>
      </p:sp>
      <p:sp>
        <p:nvSpPr>
          <p:cNvPr id="15" name="TextBox 14"/>
          <p:cNvSpPr txBox="1"/>
          <p:nvPr/>
        </p:nvSpPr>
        <p:spPr>
          <a:xfrm>
            <a:off x="8174736" y="2468880"/>
            <a:ext cx="2916936" cy="2377440"/>
          </a:xfrm>
          <a:prstGeom prst="rect">
            <a:avLst/>
          </a:prstGeom>
          <a:noFill/>
        </p:spPr>
        <p:txBody>
          <a:bodyPr wrap="square" lIns="0" tIns="0" rIns="0" bIns="0" anchor="t">
            <a:spAutoFit/>
          </a:bodyPr>
          <a:lstStyle/>
          <a:p>
            <a:pPr algn="l"/>
            <a:r>
              <a:rPr sz="950" b="0">
                <a:solidFill>
                  <a:srgbClr val="2B3147"/>
                </a:solidFill>
                <a:latin typeface="Calibri"/>
              </a:rPr>
              <a:t>June to July: submitted applications 325 to 404, sessions 67,545 to 39,446.</a:t>
            </a:r>
          </a:p>
          <a:p>
            <a:pPr algn="l">
              <a:spcBef>
                <a:spcPts val="600"/>
              </a:spcBef>
            </a:pPr>
            <a:r>
              <a:rPr sz="950" b="0">
                <a:solidFill>
                  <a:srgbClr val="2B3147"/>
                </a:solidFill>
                <a:latin typeface="Calibri"/>
              </a:rPr>
              <a:t>The application-start rate doubled to 7.5% of sessions, from June’s 3.8%, on far fewer sessions.</a:t>
            </a:r>
          </a:p>
          <a:p>
            <a:pPr algn="l">
              <a:spcBef>
                <a:spcPts val="600"/>
              </a:spcBef>
            </a:pPr>
            <a:r>
              <a:rPr sz="950" b="0">
                <a:solidFill>
                  <a:srgbClr val="2B3147"/>
                </a:solidFill>
                <a:latin typeface="Calibri"/>
              </a:rPr>
              <a:t>Live applications reached 389, up 25.9% from June’s 309, in step with submissions.</a:t>
            </a:r>
          </a:p>
        </p:txBody>
      </p:sp>
      <p:sp>
        <p:nvSpPr>
          <p:cNvPr id="16" name="Rectangle 15"/>
          <p:cNvSpPr/>
          <p:nvPr/>
        </p:nvSpPr>
        <p:spPr>
          <a:xfrm>
            <a:off x="457200" y="5212080"/>
            <a:ext cx="11274552" cy="10972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57200" y="5212080"/>
            <a:ext cx="64008" cy="109728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5376672"/>
            <a:ext cx="10872216" cy="274320"/>
          </a:xfrm>
          <a:prstGeom prst="rect">
            <a:avLst/>
          </a:prstGeom>
          <a:noFill/>
        </p:spPr>
        <p:txBody>
          <a:bodyPr wrap="square" lIns="0" tIns="0" rIns="0" bIns="0" anchor="t">
            <a:spAutoFit/>
          </a:bodyPr>
          <a:lstStyle/>
          <a:p>
            <a:pPr algn="l"/>
            <a:r>
              <a:rPr sz="1000" b="1">
                <a:solidFill>
                  <a:srgbClr val="1E2761"/>
                </a:solidFill>
                <a:latin typeface="Georgia"/>
              </a:rPr>
              <a:t>THE CLIENT’S OWN DOWNSTREAM STEPS</a:t>
            </a:r>
          </a:p>
        </p:txBody>
      </p:sp>
      <p:sp>
        <p:nvSpPr>
          <p:cNvPr id="19" name="TextBox 18"/>
          <p:cNvSpPr txBox="1"/>
          <p:nvPr/>
        </p:nvSpPr>
        <p:spPr>
          <a:xfrm>
            <a:off x="676656" y="5715000"/>
            <a:ext cx="10872216" cy="411479"/>
          </a:xfrm>
          <a:prstGeom prst="rect">
            <a:avLst/>
          </a:prstGeom>
          <a:noFill/>
        </p:spPr>
        <p:txBody>
          <a:bodyPr wrap="square" lIns="0" tIns="0" rIns="0" bIns="0" anchor="t">
            <a:spAutoFit/>
          </a:bodyPr>
          <a:lstStyle/>
          <a:p>
            <a:pPr algn="l"/>
            <a:r>
              <a:rPr sz="950" b="0">
                <a:solidFill>
                  <a:srgbClr val="2B3147"/>
                </a:solidFill>
                <a:latin typeface="Calibri"/>
              </a:rPr>
              <a:t>Approvals were 162 at a 40.1% rate, down from June’s 47.1%. Funding was 32 at a 19.8% rate against Q2’s 34.5% average, and 24 accounts traded, against June’s 41. Approval, funding and activation are the client’s own review and account-activation journey.</a:t>
            </a:r>
          </a:p>
          <a:p>
            <a:pPr algn="l">
              <a:spcBef>
                <a:spcPts val="600"/>
              </a:spcBef>
            </a:pPr>
            <a:r>
              <a:rPr sz="950" b="0">
                <a:solidFill>
                  <a:srgbClr val="2B3147"/>
                </a:solidFill>
                <a:latin typeface="Calibri"/>
              </a:rPr>
              <a:t>TAKEAWAY: the top of the funnel is converting more efficiently on fewer sessions; approved and funded rates are the client’s own downstream steps to monitor next cycle.</a:t>
            </a:r>
          </a:p>
        </p:txBody>
      </p:sp>
    </p:spTree>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8229600" cy="320040"/>
          </a:xfrm>
          <a:prstGeom prst="rect">
            <a:avLst/>
          </a:prstGeom>
          <a:noFill/>
        </p:spPr>
        <p:txBody>
          <a:bodyPr wrap="square" lIns="0" tIns="0" rIns="0" bIns="0" anchor="t">
            <a:spAutoFit/>
          </a:bodyPr>
          <a:lstStyle/>
          <a:p>
            <a:pPr algn="l"/>
            <a:r>
              <a:rPr sz="1100" b="1">
                <a:solidFill>
                  <a:srgbClr val="FFFFFF"/>
                </a:solidFill>
                <a:latin typeface="Georgia"/>
              </a:rPr>
              <a:t>CROSS-CHANNEL PRIORITIES</a:t>
            </a:r>
          </a:p>
        </p:txBody>
      </p:sp>
      <p:pic>
        <p:nvPicPr>
          <p:cNvPr id="5" name="Picture 4" descr="berelvant_logo.png"/>
          <p:cNvPicPr>
            <a:picLocks noChangeAspect="1"/>
          </p:cNvPicPr>
          <p:nvPr/>
        </p:nvPicPr>
        <p:blipFill>
          <a:blip r:embed="rId3"/>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lIns="0" tIns="0" rIns="0" bIns="0" anchor="t">
            <a:spAutoFit/>
          </a:bodyPr>
          <a:lstStyle/>
          <a:p>
            <a:pPr algn="l"/>
            <a:r>
              <a:rPr sz="2000" b="1">
                <a:solidFill>
                  <a:srgbClr val="1E2761"/>
                </a:solidFill>
                <a:latin typeface="Georgia"/>
              </a:rPr>
              <a:t>Google’s two lines closed July at 122 submitted applications and $390.60 per application; Azerion added 80 more at $393.46.</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656832"/>
            <a:ext cx="7315200" cy="201168"/>
          </a:xfrm>
          <a:prstGeom prst="rect">
            <a:avLst/>
          </a:prstGeom>
          <a:noFill/>
        </p:spPr>
        <p:txBody>
          <a:bodyPr wrap="square" lIns="0" tIns="0" rIns="0" bIns="0" anchor="t">
            <a:spAutoFit/>
          </a:bodyPr>
          <a:lstStyle/>
          <a:p>
            <a:pPr algn="l"/>
            <a:r>
              <a:rPr sz="800" b="0">
                <a:solidFill>
                  <a:srgbClr val="5A6072"/>
                </a:solidFill>
                <a:latin typeface="Calibri"/>
              </a:rPr>
              <a:t>GCG (US Hispanic)   |   July 2026 Performance Review   |   Berelvant</a:t>
            </a:r>
          </a:p>
        </p:txBody>
      </p:sp>
      <p:sp>
        <p:nvSpPr>
          <p:cNvPr id="9" name="TextBox 8"/>
          <p:cNvSpPr txBox="1"/>
          <p:nvPr/>
        </p:nvSpPr>
        <p:spPr>
          <a:xfrm>
            <a:off x="10820095" y="6656832"/>
            <a:ext cx="914400" cy="201168"/>
          </a:xfrm>
          <a:prstGeom prst="rect">
            <a:avLst/>
          </a:prstGeom>
          <a:noFill/>
        </p:spPr>
        <p:txBody>
          <a:bodyPr wrap="square" lIns="0" tIns="0" rIns="0" bIns="0" anchor="t">
            <a:spAutoFit/>
          </a:bodyPr>
          <a:lstStyle/>
          <a:p>
            <a:pPr algn="r"/>
            <a:r>
              <a:rPr sz="800" b="0">
                <a:solidFill>
                  <a:srgbClr val="5A6072"/>
                </a:solidFill>
                <a:latin typeface="Calibri"/>
              </a:rPr>
              <a:t>13 / 13</a:t>
            </a:r>
          </a:p>
        </p:txBody>
      </p:sp>
      <p:sp>
        <p:nvSpPr>
          <p:cNvPr id="10" name="Rectangle 9"/>
          <p:cNvSpPr/>
          <p:nvPr/>
        </p:nvSpPr>
        <p:spPr>
          <a:xfrm>
            <a:off x="457200" y="1828800"/>
            <a:ext cx="2697480" cy="292608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828800"/>
            <a:ext cx="2697480" cy="29260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1883664"/>
            <a:ext cx="2404872" cy="219456"/>
          </a:xfrm>
          <a:prstGeom prst="rect">
            <a:avLst/>
          </a:prstGeom>
          <a:noFill/>
        </p:spPr>
        <p:txBody>
          <a:bodyPr wrap="square" lIns="0" tIns="0" rIns="0" bIns="0" anchor="t">
            <a:spAutoFit/>
          </a:bodyPr>
          <a:lstStyle/>
          <a:p>
            <a:pPr algn="l"/>
            <a:r>
              <a:rPr sz="950" b="1">
                <a:solidFill>
                  <a:srgbClr val="FFFFFF"/>
                </a:solidFill>
                <a:latin typeface="Georgia"/>
              </a:rPr>
              <a:t>PRIORITY</a:t>
            </a:r>
          </a:p>
        </p:txBody>
      </p:sp>
      <p:sp>
        <p:nvSpPr>
          <p:cNvPr id="13" name="TextBox 12"/>
          <p:cNvSpPr txBox="1"/>
          <p:nvPr/>
        </p:nvSpPr>
        <p:spPr>
          <a:xfrm>
            <a:off x="603504" y="2231136"/>
            <a:ext cx="2404872" cy="2377440"/>
          </a:xfrm>
          <a:prstGeom prst="rect">
            <a:avLst/>
          </a:prstGeom>
          <a:noFill/>
        </p:spPr>
        <p:txBody>
          <a:bodyPr wrap="square" lIns="0" tIns="0" rIns="0" bIns="0" anchor="t">
            <a:spAutoFit/>
          </a:bodyPr>
          <a:lstStyle/>
          <a:p>
            <a:pPr algn="l"/>
            <a:r>
              <a:rPr sz="900" b="0">
                <a:solidFill>
                  <a:srgbClr val="2B3147"/>
                </a:solidFill>
                <a:latin typeface="Calibri"/>
              </a:rPr>
              <a:t>Extend the same ad-position work to Track B Authority and Platform.</a:t>
            </a:r>
          </a:p>
          <a:p>
            <a:pPr algn="l">
              <a:spcBef>
                <a:spcPts val="600"/>
              </a:spcBef>
            </a:pPr>
            <a:r>
              <a:rPr sz="900" b="0">
                <a:solidFill>
                  <a:srgbClr val="2B3147"/>
                </a:solidFill>
                <a:latin typeface="Calibri"/>
              </a:rPr>
              <a:t>Track A Trust proves it works: our ads show up more often in relevant searches, they lose the auction to competitors less, cost per application is down, and it’s now the top-performing group.</a:t>
            </a:r>
          </a:p>
          <a:p>
            <a:pPr algn="l">
              <a:spcBef>
                <a:spcPts val="600"/>
              </a:spcBef>
            </a:pPr>
            <a:r>
              <a:rPr sz="900" b="0">
                <a:solidFill>
                  <a:srgbClr val="2B3147"/>
                </a:solidFill>
                <a:latin typeface="Calibri"/>
              </a:rPr>
              <a:t>The other two groups still lose the auction to competitors 63 to 70% of the time.</a:t>
            </a:r>
          </a:p>
        </p:txBody>
      </p:sp>
      <p:sp>
        <p:nvSpPr>
          <p:cNvPr id="14" name="Rectangle 13"/>
          <p:cNvSpPr/>
          <p:nvPr/>
        </p:nvSpPr>
        <p:spPr>
          <a:xfrm>
            <a:off x="3337560" y="1828800"/>
            <a:ext cx="2697480" cy="292608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37560" y="1828800"/>
            <a:ext cx="2697480" cy="292608"/>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83864" y="1883664"/>
            <a:ext cx="2404872" cy="219456"/>
          </a:xfrm>
          <a:prstGeom prst="rect">
            <a:avLst/>
          </a:prstGeom>
          <a:noFill/>
        </p:spPr>
        <p:txBody>
          <a:bodyPr wrap="square" lIns="0" tIns="0" rIns="0" bIns="0" anchor="t">
            <a:spAutoFit/>
          </a:bodyPr>
          <a:lstStyle/>
          <a:p>
            <a:pPr algn="l"/>
            <a:r>
              <a:rPr sz="950" b="1">
                <a:solidFill>
                  <a:srgbClr val="0F1535"/>
                </a:solidFill>
                <a:latin typeface="Georgia"/>
              </a:rPr>
              <a:t>HIGH</a:t>
            </a:r>
          </a:p>
        </p:txBody>
      </p:sp>
      <p:sp>
        <p:nvSpPr>
          <p:cNvPr id="17" name="TextBox 16"/>
          <p:cNvSpPr txBox="1"/>
          <p:nvPr/>
        </p:nvSpPr>
        <p:spPr>
          <a:xfrm>
            <a:off x="3483864" y="2231136"/>
            <a:ext cx="2404872" cy="2377440"/>
          </a:xfrm>
          <a:prstGeom prst="rect">
            <a:avLst/>
          </a:prstGeom>
          <a:noFill/>
        </p:spPr>
        <p:txBody>
          <a:bodyPr wrap="square" lIns="0" tIns="0" rIns="0" bIns="0" anchor="t">
            <a:spAutoFit/>
          </a:bodyPr>
          <a:lstStyle/>
          <a:p>
            <a:pPr algn="l"/>
            <a:r>
              <a:rPr sz="900" b="0">
                <a:solidFill>
                  <a:srgbClr val="2B3147"/>
                </a:solidFill>
                <a:latin typeface="Calibri"/>
              </a:rPr>
              <a:t>Send the refreshed 35-domain Quantcast list ahead of August spend.</a:t>
            </a:r>
          </a:p>
          <a:p>
            <a:pPr algn="l">
              <a:spcBef>
                <a:spcPts val="600"/>
              </a:spcBef>
            </a:pPr>
            <a:r>
              <a:rPr sz="900" b="0">
                <a:solidFill>
                  <a:srgbClr val="2B3147"/>
                </a:solidFill>
                <a:latin typeface="Calibri"/>
              </a:rPr>
              <a:t>It concentrates spend on stronger-performing inventory.</a:t>
            </a:r>
          </a:p>
        </p:txBody>
      </p:sp>
      <p:sp>
        <p:nvSpPr>
          <p:cNvPr id="18" name="Rectangle 17"/>
          <p:cNvSpPr/>
          <p:nvPr/>
        </p:nvSpPr>
        <p:spPr>
          <a:xfrm>
            <a:off x="6217920" y="1828800"/>
            <a:ext cx="2697480" cy="292608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17920" y="1828800"/>
            <a:ext cx="2697480" cy="292608"/>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64224" y="1883664"/>
            <a:ext cx="2404872" cy="219456"/>
          </a:xfrm>
          <a:prstGeom prst="rect">
            <a:avLst/>
          </a:prstGeom>
          <a:noFill/>
        </p:spPr>
        <p:txBody>
          <a:bodyPr wrap="square" lIns="0" tIns="0" rIns="0" bIns="0" anchor="t">
            <a:spAutoFit/>
          </a:bodyPr>
          <a:lstStyle/>
          <a:p>
            <a:pPr algn="l"/>
            <a:r>
              <a:rPr sz="950" b="1">
                <a:solidFill>
                  <a:srgbClr val="FFFFFF"/>
                </a:solidFill>
                <a:latin typeface="Georgia"/>
              </a:rPr>
              <a:t>OPPORTUNITY</a:t>
            </a:r>
          </a:p>
        </p:txBody>
      </p:sp>
      <p:sp>
        <p:nvSpPr>
          <p:cNvPr id="21" name="TextBox 20"/>
          <p:cNvSpPr txBox="1"/>
          <p:nvPr/>
        </p:nvSpPr>
        <p:spPr>
          <a:xfrm>
            <a:off x="6364224" y="2231136"/>
            <a:ext cx="2404872" cy="2377440"/>
          </a:xfrm>
          <a:prstGeom prst="rect">
            <a:avLst/>
          </a:prstGeom>
          <a:noFill/>
        </p:spPr>
        <p:txBody>
          <a:bodyPr wrap="square" lIns="0" tIns="0" rIns="0" bIns="0" anchor="t">
            <a:spAutoFit/>
          </a:bodyPr>
          <a:lstStyle/>
          <a:p>
            <a:pPr algn="l"/>
            <a:r>
              <a:rPr sz="900" b="0">
                <a:solidFill>
                  <a:srgbClr val="2B3147"/>
                </a:solidFill>
                <a:latin typeface="Calibri"/>
              </a:rPr>
              <a:t>Give PMax a second full month before moving further budget; it matched Search’s efficiency in its first month.</a:t>
            </a:r>
          </a:p>
          <a:p>
            <a:pPr algn="l">
              <a:spcBef>
                <a:spcPts val="600"/>
              </a:spcBef>
            </a:pPr>
            <a:r>
              <a:rPr sz="900" b="0">
                <a:solidFill>
                  <a:srgbClr val="2B3147"/>
                </a:solidFill>
                <a:latin typeface="Calibri"/>
              </a:rPr>
              <a:t>Rebalance Azerion spend toward Professional Tools and Trust HTML, the strongest audiences on cost per application.</a:t>
            </a:r>
          </a:p>
        </p:txBody>
      </p:sp>
      <p:sp>
        <p:nvSpPr>
          <p:cNvPr id="22" name="Rectangle 21"/>
          <p:cNvSpPr/>
          <p:nvPr/>
        </p:nvSpPr>
        <p:spPr>
          <a:xfrm>
            <a:off x="9098280" y="1828800"/>
            <a:ext cx="2633472" cy="292608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828800"/>
            <a:ext cx="2633472" cy="292608"/>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44584" y="1883664"/>
            <a:ext cx="2340864" cy="219456"/>
          </a:xfrm>
          <a:prstGeom prst="rect">
            <a:avLst/>
          </a:prstGeom>
          <a:noFill/>
        </p:spPr>
        <p:txBody>
          <a:bodyPr wrap="square" lIns="0" tIns="0" rIns="0" bIns="0" anchor="t">
            <a:spAutoFit/>
          </a:bodyPr>
          <a:lstStyle/>
          <a:p>
            <a:pPr algn="l"/>
            <a:r>
              <a:rPr sz="950" b="1">
                <a:solidFill>
                  <a:srgbClr val="FFFFFF"/>
                </a:solidFill>
                <a:latin typeface="Georgia"/>
              </a:rPr>
              <a:t>DOWNSTREAM TO WATCH</a:t>
            </a:r>
          </a:p>
        </p:txBody>
      </p:sp>
      <p:sp>
        <p:nvSpPr>
          <p:cNvPr id="25" name="TextBox 24"/>
          <p:cNvSpPr txBox="1"/>
          <p:nvPr/>
        </p:nvSpPr>
        <p:spPr>
          <a:xfrm>
            <a:off x="9244584" y="2231136"/>
            <a:ext cx="2340864" cy="2377440"/>
          </a:xfrm>
          <a:prstGeom prst="rect">
            <a:avLst/>
          </a:prstGeom>
          <a:noFill/>
        </p:spPr>
        <p:txBody>
          <a:bodyPr wrap="square" lIns="0" tIns="0" rIns="0" bIns="0" anchor="t">
            <a:spAutoFit/>
          </a:bodyPr>
          <a:lstStyle/>
          <a:p>
            <a:pPr algn="l"/>
            <a:r>
              <a:rPr sz="900" b="0" dirty="0">
                <a:solidFill>
                  <a:srgbClr val="2B3147"/>
                </a:solidFill>
                <a:latin typeface="Calibri"/>
              </a:rPr>
              <a:t>Approved (40.1%) and funded (19.8%) rates softened against June and Q2 averages.</a:t>
            </a:r>
          </a:p>
          <a:p>
            <a:pPr algn="l">
              <a:spcBef>
                <a:spcPts val="600"/>
              </a:spcBef>
            </a:pPr>
            <a:r>
              <a:rPr sz="900" b="0" dirty="0">
                <a:solidFill>
                  <a:srgbClr val="2B3147"/>
                </a:solidFill>
                <a:latin typeface="Calibri"/>
              </a:rPr>
              <a:t>This sits in the client’s own review and activation journey, not media; see the funnel slide.</a:t>
            </a:r>
          </a:p>
        </p:txBody>
      </p:sp>
      <p:sp>
        <p:nvSpPr>
          <p:cNvPr id="26" name="Rectangle 25"/>
          <p:cNvSpPr/>
          <p:nvPr/>
        </p:nvSpPr>
        <p:spPr>
          <a:xfrm>
            <a:off x="457200" y="5029200"/>
            <a:ext cx="11277295" cy="82296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5029200"/>
            <a:ext cx="10728655" cy="822960"/>
          </a:xfrm>
          <a:prstGeom prst="rect">
            <a:avLst/>
          </a:prstGeom>
          <a:noFill/>
        </p:spPr>
        <p:txBody>
          <a:bodyPr wrap="square" lIns="0" tIns="0" rIns="0" bIns="0" anchor="ctr">
            <a:spAutoFit/>
          </a:bodyPr>
          <a:lstStyle/>
          <a:p>
            <a:pPr algn="l"/>
            <a:r>
              <a:rPr sz="1200" b="1">
                <a:solidFill>
                  <a:srgbClr val="FFFFFF"/>
                </a:solidFill>
                <a:latin typeface="Georgia"/>
              </a:rPr>
              <a:t>Google’s two lines and Azerion produced the month’s application volume through what’s already working; August scales it further.</a:t>
            </a:r>
          </a:p>
        </p:txBody>
      </p:sp>
    </p:spTree>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2947</Words>
  <Application>Microsoft Macintosh PowerPoint</Application>
  <PresentationFormat>Widescreen</PresentationFormat>
  <Paragraphs>533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Renzo Proano</cp:lastModifiedBy>
  <cp:revision>2</cp:revision>
  <dcterms:created xsi:type="dcterms:W3CDTF">2013-01-27T09:14:16Z</dcterms:created>
  <dcterms:modified xsi:type="dcterms:W3CDTF">2026-08-24T16:56:44Z</dcterms:modified>
  <cp:category/>
</cp:coreProperties>
</file>