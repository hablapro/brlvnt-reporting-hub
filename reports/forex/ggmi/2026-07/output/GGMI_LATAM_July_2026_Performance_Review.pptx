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Daily spend ($)</c:v>
                </c:pt>
              </c:strCache>
            </c:strRef>
          </c:tx>
          <c:spPr>
            <a:ln w="28575">
              <a:solidFill>
                <a:srgbClr val="1E2761"/>
              </a:solidFill>
            </a:ln>
          </c:spPr>
          <c:marker>
            <c:symbol val="circle"/>
            <c:size val="6"/>
            <c:spPr>
              <a:solidFill>
                <a:srgbClr val="1E2761"/>
              </a:solidFill>
              <a:ln>
                <a:solidFill>
                  <a:srgbClr val="FFFFFF"/>
                </a:solidFill>
              </a:ln>
            </c:spPr>
          </c:marker>
          <c:cat>
            <c:strRef>
              <c:f>Sheet1!$A$2:$A$32</c:f>
              <c:strCache>
                <c:ptCount val="3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strCache>
            </c:strRef>
          </c:cat>
          <c:val>
            <c:numRef>
              <c:f>Sheet1!$B$2:$B$32</c:f>
              <c:numCache>
                <c:formatCode>General</c:formatCode>
                <c:ptCount val="31"/>
                <c:pt idx="0">
                  <c:v>0</c:v>
                </c:pt>
                <c:pt idx="1">
                  <c:v>0</c:v>
                </c:pt>
                <c:pt idx="2">
                  <c:v>0</c:v>
                </c:pt>
                <c:pt idx="3">
                  <c:v>0</c:v>
                </c:pt>
                <c:pt idx="4">
                  <c:v>0</c:v>
                </c:pt>
                <c:pt idx="5">
                  <c:v>0</c:v>
                </c:pt>
                <c:pt idx="6">
                  <c:v>0</c:v>
                </c:pt>
                <c:pt idx="7">
                  <c:v>0</c:v>
                </c:pt>
                <c:pt idx="8">
                  <c:v>0</c:v>
                </c:pt>
                <c:pt idx="9">
                  <c:v>0</c:v>
                </c:pt>
                <c:pt idx="10">
                  <c:v>436.55</c:v>
                </c:pt>
                <c:pt idx="11">
                  <c:v>364.63</c:v>
                </c:pt>
                <c:pt idx="12">
                  <c:v>441.88</c:v>
                </c:pt>
                <c:pt idx="13">
                  <c:v>562.23</c:v>
                </c:pt>
                <c:pt idx="14">
                  <c:v>559.9</c:v>
                </c:pt>
                <c:pt idx="15">
                  <c:v>699.13</c:v>
                </c:pt>
                <c:pt idx="16">
                  <c:v>614.23</c:v>
                </c:pt>
                <c:pt idx="17">
                  <c:v>670.31</c:v>
                </c:pt>
                <c:pt idx="18">
                  <c:v>406.84</c:v>
                </c:pt>
                <c:pt idx="19">
                  <c:v>518.09</c:v>
                </c:pt>
                <c:pt idx="20">
                  <c:v>448.17</c:v>
                </c:pt>
                <c:pt idx="21">
                  <c:v>577.22</c:v>
                </c:pt>
                <c:pt idx="22">
                  <c:v>639.51</c:v>
                </c:pt>
                <c:pt idx="23">
                  <c:v>322.88</c:v>
                </c:pt>
                <c:pt idx="24">
                  <c:v>230.02</c:v>
                </c:pt>
                <c:pt idx="25">
                  <c:v>218.3</c:v>
                </c:pt>
                <c:pt idx="26">
                  <c:v>582.18</c:v>
                </c:pt>
                <c:pt idx="27">
                  <c:v>559.63</c:v>
                </c:pt>
                <c:pt idx="28">
                  <c:v>723.75</c:v>
                </c:pt>
                <c:pt idx="29">
                  <c:v>607.16</c:v>
                </c:pt>
                <c:pt idx="30">
                  <c:v>442.33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0D4DC"/>
            </a:solidFill>
          </a:ln>
        </c:spPr>
        <c:crossAx val="2140495176"/>
        <c:crosses val="autoZero"/>
        <c:auto val="1"/>
        <c:lblAlgn val="ctr"/>
        <c:lblOffset val="100"/>
        <c:noMultiLvlLbl val="0"/>
      </c:catAx>
      <c:valAx>
        <c:axId val="2140495176"/>
        <c:scaling/>
        <c:delete val="0"/>
        <c:axPos val="l"/>
        <c:majorGridlines>
          <c:spPr>
            <a:ln w="6350">
              <a:solidFill>
                <a:srgbClr val="D0D4DC"/>
              </a:solidFill>
            </a:ln>
          </c:spPr>
        </c:majorGridlines>
        <c:numFmt formatCode="#,##0" sourceLinked="0"/>
        <c:majorTickMark val="out"/>
        <c:minorTickMark val="none"/>
        <c:tickLblPos val="nextTo"/>
        <c:spPr>
          <a:ln>
            <a:noFill/>
          </a:ln>
        </c:spPr>
        <c:crossAx val="2118791784"/>
        <c:crosses val="autoZero"/>
      </c:valAx>
    </c:plotArea>
    <c:plotVisOnly val="1"/>
    <c:dispBlanksAs val="gap"/>
    <c:showDLblsOverMax val="0"/>
  </c:chart>
  <c:txPr>
    <a:bodyPr/>
    <a:lstStyle/>
    <a:p>
      <a:pPr>
        <a:defRPr sz="800">
          <a:solidFill>
            <a:srgbClr val="2B3147"/>
          </a:solidFill>
          <a:latin typeface="Calibr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011680"/>
            <a:ext cx="91440" cy="2286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orex_logo.png"/>
          <p:cNvPicPr>
            <a:picLocks noChangeAspect="1"/>
          </p:cNvPicPr>
          <p:nvPr/>
        </p:nvPicPr>
        <p:blipFill>
          <a:blip r:embed="rId2"/>
          <a:stretch>
            <a:fillRect/>
          </a:stretch>
        </p:blipFill>
        <p:spPr>
          <a:xfrm>
            <a:off x="457200" y="457200"/>
            <a:ext cx="2286000" cy="649224"/>
          </a:xfrm>
          <a:prstGeom prst="rect">
            <a:avLst/>
          </a:prstGeom>
        </p:spPr>
      </p:pic>
      <p:pic>
        <p:nvPicPr>
          <p:cNvPr id="5" name="Picture 4" descr="berelvant_logo.png"/>
          <p:cNvPicPr>
            <a:picLocks noChangeAspect="1"/>
          </p:cNvPicPr>
          <p:nvPr/>
        </p:nvPicPr>
        <p:blipFill>
          <a:blip r:embed="rId3"/>
          <a:stretch>
            <a:fillRect/>
          </a:stretch>
        </p:blipFill>
        <p:spPr>
          <a:xfrm>
            <a:off x="10362895" y="5943600"/>
            <a:ext cx="1280160" cy="365760"/>
          </a:xfrm>
          <a:prstGeom prst="rect">
            <a:avLst/>
          </a:prstGeom>
        </p:spPr>
      </p:pic>
      <p:sp>
        <p:nvSpPr>
          <p:cNvPr id="6" name="TextBox 5"/>
          <p:cNvSpPr txBox="1"/>
          <p:nvPr/>
        </p:nvSpPr>
        <p:spPr>
          <a:xfrm>
            <a:off x="822960" y="2011680"/>
            <a:ext cx="10058400" cy="365760"/>
          </a:xfrm>
          <a:prstGeom prst="rect">
            <a:avLst/>
          </a:prstGeom>
          <a:noFill/>
        </p:spPr>
        <p:txBody>
          <a:bodyPr wrap="square" anchor="t" lIns="0" rIns="0" tIns="0" bIns="0">
            <a:spAutoFit/>
          </a:bodyPr>
          <a:lstStyle/>
          <a:p>
            <a:pPr algn="l"/>
            <a:r>
              <a:rPr sz="1400" b="1">
                <a:solidFill>
                  <a:srgbClr val="F96167"/>
                </a:solidFill>
                <a:latin typeface="Georgia"/>
              </a:rPr>
              <a:t>MONTHLY PERFORMANCE REVIEW</a:t>
            </a:r>
          </a:p>
        </p:txBody>
      </p:sp>
      <p:sp>
        <p:nvSpPr>
          <p:cNvPr id="7" name="TextBox 6"/>
          <p:cNvSpPr txBox="1"/>
          <p:nvPr/>
        </p:nvSpPr>
        <p:spPr>
          <a:xfrm>
            <a:off x="822960" y="2468880"/>
            <a:ext cx="10972800" cy="914400"/>
          </a:xfrm>
          <a:prstGeom prst="rect">
            <a:avLst/>
          </a:prstGeom>
          <a:noFill/>
        </p:spPr>
        <p:txBody>
          <a:bodyPr wrap="square" anchor="t" lIns="0" rIns="0" tIns="0" bIns="0">
            <a:spAutoFit/>
          </a:bodyPr>
          <a:lstStyle/>
          <a:p>
            <a:pPr algn="l"/>
            <a:r>
              <a:rPr sz="3600" b="1">
                <a:solidFill>
                  <a:srgbClr val="FFFFFF"/>
                </a:solidFill>
                <a:latin typeface="Georgia"/>
              </a:rPr>
              <a:t>GGMI (LATAM) — Paid Media</a:t>
            </a:r>
          </a:p>
        </p:txBody>
      </p:sp>
      <p:sp>
        <p:nvSpPr>
          <p:cNvPr id="8" name="TextBox 7"/>
          <p:cNvSpPr txBox="1"/>
          <p:nvPr/>
        </p:nvSpPr>
        <p:spPr>
          <a:xfrm>
            <a:off x="822960" y="3474720"/>
            <a:ext cx="10972800" cy="548640"/>
          </a:xfrm>
          <a:prstGeom prst="rect">
            <a:avLst/>
          </a:prstGeom>
          <a:noFill/>
        </p:spPr>
        <p:txBody>
          <a:bodyPr wrap="square" anchor="t" lIns="0" rIns="0" tIns="0" bIns="0">
            <a:spAutoFit/>
          </a:bodyPr>
          <a:lstStyle/>
          <a:p>
            <a:pPr algn="l"/>
            <a:r>
              <a:rPr sz="2200" b="0">
                <a:solidFill>
                  <a:srgbClr val="CADCFC"/>
                </a:solidFill>
                <a:latin typeface="Georgia"/>
              </a:rPr>
              <a:t>July 2026 Performance</a:t>
            </a:r>
          </a:p>
        </p:txBody>
      </p:sp>
      <p:sp>
        <p:nvSpPr>
          <p:cNvPr id="9" name="TextBox 8"/>
          <p:cNvSpPr txBox="1"/>
          <p:nvPr/>
        </p:nvSpPr>
        <p:spPr>
          <a:xfrm>
            <a:off x="822960" y="4206240"/>
            <a:ext cx="10972800" cy="365760"/>
          </a:xfrm>
          <a:prstGeom prst="rect">
            <a:avLst/>
          </a:prstGeom>
          <a:noFill/>
        </p:spPr>
        <p:txBody>
          <a:bodyPr wrap="square" anchor="t" lIns="0" rIns="0" tIns="0" bIns="0">
            <a:spAutoFit/>
          </a:bodyPr>
          <a:lstStyle/>
          <a:p>
            <a:pPr algn="l"/>
            <a:r>
              <a:rPr sz="1200" b="0">
                <a:solidFill>
                  <a:srgbClr val="9AA4BA"/>
                </a:solidFill>
                <a:latin typeface="Calibri"/>
              </a:rPr>
              <a:t>Bing Ads  ·  Quantcast  ·  Azerion  ·  Native  ·  Meta  ·  DOOH</a:t>
            </a:r>
          </a:p>
        </p:txBody>
      </p:sp>
      <p:sp>
        <p:nvSpPr>
          <p:cNvPr id="10" name="TextBox 9"/>
          <p:cNvSpPr txBox="1"/>
          <p:nvPr/>
        </p:nvSpPr>
        <p:spPr>
          <a:xfrm>
            <a:off x="822960" y="6126480"/>
            <a:ext cx="10972800" cy="365760"/>
          </a:xfrm>
          <a:prstGeom prst="rect">
            <a:avLst/>
          </a:prstGeom>
          <a:noFill/>
        </p:spPr>
        <p:txBody>
          <a:bodyPr wrap="square" anchor="t" lIns="0" rIns="0" tIns="0" bIns="0">
            <a:spAutoFit/>
          </a:bodyPr>
          <a:lstStyle/>
          <a:p>
            <a:pPr algn="l"/>
            <a:r>
              <a:rPr sz="1000" b="0">
                <a:solidFill>
                  <a:srgbClr val="9AA4BA"/>
                </a:solidFill>
                <a:latin typeface="Calibri"/>
              </a:rPr>
              <a:t>Reporting period: July 1–31, 2026   |   Currency: USD   |   Prepared by Berelvant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SUMMARY  ·  BLENDED VIEW (ORGANIC + PAID)</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Submitted applications held near June on a 24% larger media month.</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2 / 14</a:t>
            </a:r>
          </a:p>
        </p:txBody>
      </p:sp>
      <p:sp>
        <p:nvSpPr>
          <p:cNvPr id="10" name="TextBox 9"/>
          <p:cNvSpPr txBox="1"/>
          <p:nvPr/>
        </p:nvSpPr>
        <p:spPr>
          <a:xfrm>
            <a:off x="457200" y="1600200"/>
            <a:ext cx="11247120" cy="1371600"/>
          </a:xfrm>
          <a:prstGeom prst="rect">
            <a:avLst/>
          </a:prstGeom>
          <a:noFill/>
        </p:spPr>
        <p:txBody>
          <a:bodyPr wrap="square" anchor="t" lIns="0" rIns="0" tIns="0" bIns="0">
            <a:spAutoFit/>
          </a:bodyPr>
          <a:lstStyle/>
          <a:p>
            <a:pPr algn="l"/>
            <a:r>
              <a:rPr sz="1000" b="0">
                <a:solidFill>
                  <a:srgbClr val="2B3147"/>
                </a:solidFill>
                <a:latin typeface="Calibri"/>
              </a:rPr>
              <a:t>•  July submitted applications came in at 653, down 5% MoM; the submit rate on application starts rose to 27%, the highest since January.</a:t>
            </a:r>
          </a:p>
          <a:p>
            <a:pPr algn="l">
              <a:spcBef>
                <a:spcPts val="400"/>
              </a:spcBef>
            </a:pPr>
            <a:r>
              <a:rPr sz="1000" b="0">
                <a:solidFill>
                  <a:srgbClr val="2B3147"/>
                </a:solidFill>
                <a:latin typeface="Calibri"/>
              </a:rPr>
              <a:t>•  New approved came in at 180 with the approval rate at 28%. New funded came in at 21 and the fund rate at 12%; the application-to-funding step remains the funnel constraint. New traded closed at 19.</a:t>
            </a:r>
          </a:p>
          <a:p>
            <a:pPr algn="l">
              <a:spcBef>
                <a:spcPts val="400"/>
              </a:spcBef>
            </a:pPr>
            <a:r>
              <a:rPr sz="1000" b="0">
                <a:solidFill>
                  <a:srgbClr val="2B3147"/>
                </a:solidFill>
                <a:latin typeface="Calibri"/>
              </a:rPr>
              <a:t>•  Working media reached $149,896 in July, up 24% MoM and the biggest month of 2026. The growth sits in the new Native and DOOH lines; the four continuing channels spent $95,401 against June’s total of $120,393, and paid submitted applications with a measured source (Bing plus Azerion) came in at 61.</a:t>
            </a:r>
          </a:p>
          <a:p>
            <a:pPr algn="l">
              <a:spcBef>
                <a:spcPts val="400"/>
              </a:spcBef>
            </a:pPr>
            <a:r>
              <a:rPr sz="1000" b="0">
                <a:solidFill>
                  <a:srgbClr val="2B3147"/>
                </a:solidFill>
                <a:latin typeface="Calibri"/>
              </a:rPr>
              <a:t>•  Mexico, the only market with paid media behind it, is the strongest converter in the client’s country data: a 40% approval rate against the 28% blended average, and roughly one in four of all funded accounts.</a:t>
            </a:r>
          </a:p>
        </p:txBody>
      </p:sp>
      <p:graphicFrame>
        <p:nvGraphicFramePr>
          <p:cNvPr id="11" name="Table 10"/>
          <p:cNvGraphicFramePr>
            <a:graphicFrameLocks noGrp="1"/>
          </p:cNvGraphicFramePr>
          <p:nvPr/>
        </p:nvGraphicFramePr>
        <p:xfrm>
          <a:off x="457200" y="3063240"/>
          <a:ext cx="10360150" cy="3017520"/>
        </p:xfrm>
        <a:graphic>
          <a:graphicData uri="http://schemas.openxmlformats.org/drawingml/2006/table">
            <a:tbl>
              <a:tblPr>
                <a:tableStyleId>{5C22544A-7EE6-4342-B048-85BDC9FD1C3A}</a:tableStyleId>
              </a:tblPr>
              <a:tblGrid>
                <a:gridCol w="2386584"/>
                <a:gridCol w="987552"/>
                <a:gridCol w="987552"/>
                <a:gridCol w="987552"/>
                <a:gridCol w="987552"/>
                <a:gridCol w="987552"/>
                <a:gridCol w="1042415"/>
                <a:gridCol w="1042415"/>
                <a:gridCol w="950976"/>
              </a:tblGrid>
              <a:tr h="274320">
                <a:tc>
                  <a:txBody>
                    <a:bodyPr/>
                    <a:lstStyle/>
                    <a:p>
                      <a:pPr algn="l"/>
                      <a:r>
                        <a:rPr sz="850" b="1">
                          <a:solidFill>
                            <a:srgbClr val="FFFFFF"/>
                          </a:solidFill>
                          <a:latin typeface="Calibri"/>
                        </a:rPr>
                        <a:t>GGMI — blended</a:t>
                      </a:r>
                    </a:p>
                  </a:txBody>
                  <a:tcPr marL="54864" marR="54864" marT="27432" marB="27432">
                    <a:solidFill>
                      <a:srgbClr val="1E2761"/>
                    </a:solidFill>
                  </a:tcPr>
                </a:tc>
                <a:tc>
                  <a:txBody>
                    <a:bodyPr/>
                    <a:lstStyle/>
                    <a:p>
                      <a:pPr algn="r"/>
                      <a:r>
                        <a:rPr sz="850" b="1">
                          <a:solidFill>
                            <a:srgbClr val="FFFFFF"/>
                          </a:solidFill>
                          <a:latin typeface="Calibri"/>
                        </a:rPr>
                        <a:t>Jan</a:t>
                      </a:r>
                    </a:p>
                  </a:txBody>
                  <a:tcPr marL="54864" marR="54864" marT="27432" marB="27432">
                    <a:solidFill>
                      <a:srgbClr val="1E2761"/>
                    </a:solidFill>
                  </a:tcPr>
                </a:tc>
                <a:tc>
                  <a:txBody>
                    <a:bodyPr/>
                    <a:lstStyle/>
                    <a:p>
                      <a:pPr algn="r"/>
                      <a:r>
                        <a:rPr sz="850" b="1">
                          <a:solidFill>
                            <a:srgbClr val="FFFFFF"/>
                          </a:solidFill>
                          <a:latin typeface="Calibri"/>
                        </a:rPr>
                        <a:t>Feb</a:t>
                      </a:r>
                    </a:p>
                  </a:txBody>
                  <a:tcPr marL="54864" marR="54864" marT="27432" marB="27432">
                    <a:solidFill>
                      <a:srgbClr val="1E2761"/>
                    </a:solidFill>
                  </a:tcPr>
                </a:tc>
                <a:tc>
                  <a:txBody>
                    <a:bodyPr/>
                    <a:lstStyle/>
                    <a:p>
                      <a:pPr algn="r"/>
                      <a:r>
                        <a:rPr sz="850" b="1">
                          <a:solidFill>
                            <a:srgbClr val="FFFFFF"/>
                          </a:solidFill>
                          <a:latin typeface="Calibri"/>
                        </a:rPr>
                        <a:t>Mar</a:t>
                      </a:r>
                    </a:p>
                  </a:txBody>
                  <a:tcPr marL="54864" marR="54864" marT="27432" marB="27432">
                    <a:solidFill>
                      <a:srgbClr val="1E2761"/>
                    </a:solidFill>
                  </a:tcPr>
                </a:tc>
                <a:tc>
                  <a:txBody>
                    <a:bodyPr/>
                    <a:lstStyle/>
                    <a:p>
                      <a:pPr algn="r"/>
                      <a:r>
                        <a:rPr sz="850" b="1">
                          <a:solidFill>
                            <a:srgbClr val="FFFFFF"/>
                          </a:solidFill>
                          <a:latin typeface="Calibri"/>
                        </a:rPr>
                        <a:t>Apr</a:t>
                      </a:r>
                    </a:p>
                  </a:txBody>
                  <a:tcPr marL="54864" marR="54864" marT="27432" marB="27432">
                    <a:solidFill>
                      <a:srgbClr val="1E2761"/>
                    </a:solidFill>
                  </a:tcPr>
                </a:tc>
                <a:tc>
                  <a:txBody>
                    <a:bodyPr/>
                    <a:lstStyle/>
                    <a:p>
                      <a:pPr algn="r"/>
                      <a:r>
                        <a:rPr sz="850" b="1">
                          <a:solidFill>
                            <a:srgbClr val="FFFFFF"/>
                          </a:solidFill>
                          <a:latin typeface="Calibri"/>
                        </a:rPr>
                        <a:t>May</a:t>
                      </a:r>
                    </a:p>
                  </a:txBody>
                  <a:tcPr marL="54864" marR="54864" marT="27432" marB="27432">
                    <a:solidFill>
                      <a:srgbClr val="1E2761"/>
                    </a:solidFill>
                  </a:tcPr>
                </a:tc>
                <a:tc>
                  <a:txBody>
                    <a:bodyPr/>
                    <a:lstStyle/>
                    <a:p>
                      <a:pPr algn="r"/>
                      <a:r>
                        <a:rPr sz="850" b="1">
                          <a:solidFill>
                            <a:srgbClr val="FFFFFF"/>
                          </a:solidFill>
                          <a:latin typeface="Calibri"/>
                        </a:rPr>
                        <a:t>Jun</a:t>
                      </a:r>
                    </a:p>
                  </a:txBody>
                  <a:tcPr marL="54864" marR="54864" marT="27432" marB="27432">
                    <a:solidFill>
                      <a:srgbClr val="1E2761"/>
                    </a:solidFill>
                  </a:tcPr>
                </a:tc>
                <a:tc>
                  <a:txBody>
                    <a:bodyPr/>
                    <a:lstStyle/>
                    <a:p>
                      <a:pPr algn="r"/>
                      <a:r>
                        <a:rPr sz="850" b="1">
                          <a:solidFill>
                            <a:srgbClr val="FFFFFF"/>
                          </a:solidFill>
                          <a:latin typeface="Calibri"/>
                        </a:rPr>
                        <a:t>Jul</a:t>
                      </a:r>
                    </a:p>
                  </a:txBody>
                  <a:tcPr marL="54864" marR="54864" marT="27432" marB="27432">
                    <a:solidFill>
                      <a:srgbClr val="1E2761"/>
                    </a:solidFill>
                  </a:tcPr>
                </a:tc>
                <a:tc>
                  <a:txBody>
                    <a:bodyPr/>
                    <a:lstStyle/>
                    <a:p>
                      <a:pPr algn="r"/>
                      <a:r>
                        <a:rPr sz="850" b="1">
                          <a:solidFill>
                            <a:srgbClr val="FFFFFF"/>
                          </a:solidFill>
                          <a:latin typeface="Calibri"/>
                        </a:rPr>
                        <a:t>MoM</a:t>
                      </a:r>
                    </a:p>
                  </a:txBody>
                  <a:tcPr marL="54864" marR="54864" marT="27432" marB="27432">
                    <a:solidFill>
                      <a:srgbClr val="1E2761"/>
                    </a:solidFill>
                  </a:tcPr>
                </a:tc>
              </a:tr>
              <a:tr h="274320">
                <a:tc>
                  <a:txBody>
                    <a:bodyPr/>
                    <a:lstStyle/>
                    <a:p>
                      <a:pPr algn="l"/>
                      <a:r>
                        <a:rPr sz="850" b="1">
                          <a:solidFill>
                            <a:srgbClr val="2B3147"/>
                          </a:solidFill>
                          <a:latin typeface="Calibri"/>
                        </a:rPr>
                        <a:t>Working Media Spend</a:t>
                      </a:r>
                    </a:p>
                  </a:txBody>
                  <a:tcPr marL="54864" marR="54864" marT="27432" marB="27432">
                    <a:solidFill>
                      <a:srgbClr val="FFFFFF"/>
                    </a:solidFill>
                  </a:tcPr>
                </a:tc>
                <a:tc>
                  <a:txBody>
                    <a:bodyPr/>
                    <a:lstStyle/>
                    <a:p>
                      <a:pPr algn="r"/>
                      <a:r>
                        <a:rPr sz="850" b="0">
                          <a:solidFill>
                            <a:srgbClr val="2B3147"/>
                          </a:solidFill>
                          <a:latin typeface="Calibri"/>
                        </a:rPr>
                        <a:t>$1,717</a:t>
                      </a:r>
                    </a:p>
                  </a:txBody>
                  <a:tcPr marL="54864" marR="54864" marT="27432" marB="27432">
                    <a:solidFill>
                      <a:srgbClr val="FFFFFF"/>
                    </a:solidFill>
                  </a:tcPr>
                </a:tc>
                <a:tc>
                  <a:txBody>
                    <a:bodyPr/>
                    <a:lstStyle/>
                    <a:p>
                      <a:pPr algn="r"/>
                      <a:r>
                        <a:rPr sz="850" b="0">
                          <a:solidFill>
                            <a:srgbClr val="2B3147"/>
                          </a:solidFill>
                          <a:latin typeface="Calibri"/>
                        </a:rPr>
                        <a:t>$20,578</a:t>
                      </a:r>
                    </a:p>
                  </a:txBody>
                  <a:tcPr marL="54864" marR="54864" marT="27432" marB="27432">
                    <a:solidFill>
                      <a:srgbClr val="FFFFFF"/>
                    </a:solidFill>
                  </a:tcPr>
                </a:tc>
                <a:tc>
                  <a:txBody>
                    <a:bodyPr/>
                    <a:lstStyle/>
                    <a:p>
                      <a:pPr algn="r"/>
                      <a:r>
                        <a:rPr sz="850" b="0">
                          <a:solidFill>
                            <a:srgbClr val="2B3147"/>
                          </a:solidFill>
                          <a:latin typeface="Calibri"/>
                        </a:rPr>
                        <a:t>$42,424</a:t>
                      </a:r>
                    </a:p>
                  </a:txBody>
                  <a:tcPr marL="54864" marR="54864" marT="27432" marB="27432">
                    <a:solidFill>
                      <a:srgbClr val="FFFFFF"/>
                    </a:solidFill>
                  </a:tcPr>
                </a:tc>
                <a:tc>
                  <a:txBody>
                    <a:bodyPr/>
                    <a:lstStyle/>
                    <a:p>
                      <a:pPr algn="r"/>
                      <a:r>
                        <a:rPr sz="850" b="0">
                          <a:solidFill>
                            <a:srgbClr val="2B3147"/>
                          </a:solidFill>
                          <a:latin typeface="Calibri"/>
                        </a:rPr>
                        <a:t>$46,294</a:t>
                      </a:r>
                    </a:p>
                  </a:txBody>
                  <a:tcPr marL="54864" marR="54864" marT="27432" marB="27432">
                    <a:solidFill>
                      <a:srgbClr val="FFFFFF"/>
                    </a:solidFill>
                  </a:tcPr>
                </a:tc>
                <a:tc>
                  <a:txBody>
                    <a:bodyPr/>
                    <a:lstStyle/>
                    <a:p>
                      <a:pPr algn="r"/>
                      <a:r>
                        <a:rPr sz="850" b="0">
                          <a:solidFill>
                            <a:srgbClr val="2B3147"/>
                          </a:solidFill>
                          <a:latin typeface="Calibri"/>
                        </a:rPr>
                        <a:t>$78,790</a:t>
                      </a:r>
                    </a:p>
                  </a:txBody>
                  <a:tcPr marL="54864" marR="54864" marT="27432" marB="27432">
                    <a:solidFill>
                      <a:srgbClr val="FFFFFF"/>
                    </a:solidFill>
                  </a:tcPr>
                </a:tc>
                <a:tc>
                  <a:txBody>
                    <a:bodyPr/>
                    <a:lstStyle/>
                    <a:p>
                      <a:pPr algn="r"/>
                      <a:r>
                        <a:rPr sz="850" b="0">
                          <a:solidFill>
                            <a:srgbClr val="2B3147"/>
                          </a:solidFill>
                          <a:latin typeface="Calibri"/>
                        </a:rPr>
                        <a:t>$120,393</a:t>
                      </a:r>
                    </a:p>
                  </a:txBody>
                  <a:tcPr marL="54864" marR="54864" marT="27432" marB="27432">
                    <a:solidFill>
                      <a:srgbClr val="FFFFFF"/>
                    </a:solidFill>
                  </a:tcPr>
                </a:tc>
                <a:tc>
                  <a:txBody>
                    <a:bodyPr/>
                    <a:lstStyle/>
                    <a:p>
                      <a:pPr algn="r"/>
                      <a:r>
                        <a:rPr sz="850" b="0">
                          <a:solidFill>
                            <a:srgbClr val="2B3147"/>
                          </a:solidFill>
                          <a:latin typeface="Calibri"/>
                        </a:rPr>
                        <a:t>$149,896</a:t>
                      </a:r>
                    </a:p>
                  </a:txBody>
                  <a:tcPr marL="54864" marR="54864" marT="27432" marB="27432">
                    <a:solidFill>
                      <a:srgbClr val="FFFFFF"/>
                    </a:solidFill>
                  </a:tcPr>
                </a:tc>
                <a:tc>
                  <a:txBody>
                    <a:bodyPr/>
                    <a:lstStyle/>
                    <a:p>
                      <a:pPr algn="r"/>
                      <a:r>
                        <a:rPr sz="850" b="0">
                          <a:solidFill>
                            <a:srgbClr val="2B3147"/>
                          </a:solidFill>
                          <a:latin typeface="Calibri"/>
                        </a:rPr>
                        <a:t>+24%</a:t>
                      </a:r>
                    </a:p>
                  </a:txBody>
                  <a:tcPr marL="54864" marR="54864" marT="27432" marB="27432">
                    <a:solidFill>
                      <a:srgbClr val="FFFFFF"/>
                    </a:solidFill>
                  </a:tcPr>
                </a:tc>
              </a:tr>
              <a:tr h="274320">
                <a:tc>
                  <a:txBody>
                    <a:bodyPr/>
                    <a:lstStyle/>
                    <a:p>
                      <a:pPr algn="l"/>
                      <a:r>
                        <a:rPr sz="850" b="1">
                          <a:solidFill>
                            <a:srgbClr val="2B3147"/>
                          </a:solidFill>
                          <a:latin typeface="Calibri"/>
                        </a:rPr>
                        <a:t>Submitted Applications</a:t>
                      </a:r>
                    </a:p>
                  </a:txBody>
                  <a:tcPr marL="54864" marR="54864" marT="27432" marB="27432">
                    <a:solidFill>
                      <a:srgbClr val="F9FAFC"/>
                    </a:solidFill>
                  </a:tcPr>
                </a:tc>
                <a:tc>
                  <a:txBody>
                    <a:bodyPr/>
                    <a:lstStyle/>
                    <a:p>
                      <a:pPr algn="r"/>
                      <a:r>
                        <a:rPr sz="850" b="0">
                          <a:solidFill>
                            <a:srgbClr val="2B3147"/>
                          </a:solidFill>
                          <a:latin typeface="Calibri"/>
                        </a:rPr>
                        <a:t>1,029</a:t>
                      </a:r>
                    </a:p>
                  </a:txBody>
                  <a:tcPr marL="54864" marR="54864" marT="27432" marB="27432">
                    <a:solidFill>
                      <a:srgbClr val="F9FAFC"/>
                    </a:solidFill>
                  </a:tcPr>
                </a:tc>
                <a:tc>
                  <a:txBody>
                    <a:bodyPr/>
                    <a:lstStyle/>
                    <a:p>
                      <a:pPr algn="r"/>
                      <a:r>
                        <a:rPr sz="850" b="0">
                          <a:solidFill>
                            <a:srgbClr val="2B3147"/>
                          </a:solidFill>
                          <a:latin typeface="Calibri"/>
                        </a:rPr>
                        <a:t>1,036</a:t>
                      </a:r>
                    </a:p>
                  </a:txBody>
                  <a:tcPr marL="54864" marR="54864" marT="27432" marB="27432">
                    <a:solidFill>
                      <a:srgbClr val="F9FAFC"/>
                    </a:solidFill>
                  </a:tcPr>
                </a:tc>
                <a:tc>
                  <a:txBody>
                    <a:bodyPr/>
                    <a:lstStyle/>
                    <a:p>
                      <a:pPr algn="r"/>
                      <a:r>
                        <a:rPr sz="850" b="0">
                          <a:solidFill>
                            <a:srgbClr val="2B3147"/>
                          </a:solidFill>
                          <a:latin typeface="Calibri"/>
                        </a:rPr>
                        <a:t>900</a:t>
                      </a:r>
                    </a:p>
                  </a:txBody>
                  <a:tcPr marL="54864" marR="54864" marT="27432" marB="27432">
                    <a:solidFill>
                      <a:srgbClr val="F9FAFC"/>
                    </a:solidFill>
                  </a:tcPr>
                </a:tc>
                <a:tc>
                  <a:txBody>
                    <a:bodyPr/>
                    <a:lstStyle/>
                    <a:p>
                      <a:pPr algn="r"/>
                      <a:r>
                        <a:rPr sz="850" b="0">
                          <a:solidFill>
                            <a:srgbClr val="2B3147"/>
                          </a:solidFill>
                          <a:latin typeface="Calibri"/>
                        </a:rPr>
                        <a:t>751</a:t>
                      </a:r>
                    </a:p>
                  </a:txBody>
                  <a:tcPr marL="54864" marR="54864" marT="27432" marB="27432">
                    <a:solidFill>
                      <a:srgbClr val="F9FAFC"/>
                    </a:solidFill>
                  </a:tcPr>
                </a:tc>
                <a:tc>
                  <a:txBody>
                    <a:bodyPr/>
                    <a:lstStyle/>
                    <a:p>
                      <a:pPr algn="r"/>
                      <a:r>
                        <a:rPr sz="850" b="0">
                          <a:solidFill>
                            <a:srgbClr val="2B3147"/>
                          </a:solidFill>
                          <a:latin typeface="Calibri"/>
                        </a:rPr>
                        <a:t>732</a:t>
                      </a:r>
                    </a:p>
                  </a:txBody>
                  <a:tcPr marL="54864" marR="54864" marT="27432" marB="27432">
                    <a:solidFill>
                      <a:srgbClr val="F9FAFC"/>
                    </a:solidFill>
                  </a:tcPr>
                </a:tc>
                <a:tc>
                  <a:txBody>
                    <a:bodyPr/>
                    <a:lstStyle/>
                    <a:p>
                      <a:pPr algn="r"/>
                      <a:r>
                        <a:rPr sz="850" b="0">
                          <a:solidFill>
                            <a:srgbClr val="2B3147"/>
                          </a:solidFill>
                          <a:latin typeface="Calibri"/>
                        </a:rPr>
                        <a:t>684</a:t>
                      </a:r>
                    </a:p>
                  </a:txBody>
                  <a:tcPr marL="54864" marR="54864" marT="27432" marB="27432">
                    <a:solidFill>
                      <a:srgbClr val="F9FAFC"/>
                    </a:solidFill>
                  </a:tcPr>
                </a:tc>
                <a:tc>
                  <a:txBody>
                    <a:bodyPr/>
                    <a:lstStyle/>
                    <a:p>
                      <a:pPr algn="r"/>
                      <a:r>
                        <a:rPr sz="850" b="0">
                          <a:solidFill>
                            <a:srgbClr val="2B3147"/>
                          </a:solidFill>
                          <a:latin typeface="Calibri"/>
                        </a:rPr>
                        <a:t>653</a:t>
                      </a:r>
                    </a:p>
                  </a:txBody>
                  <a:tcPr marL="54864" marR="54864" marT="27432" marB="27432">
                    <a:solidFill>
                      <a:srgbClr val="F9FAFC"/>
                    </a:solidFill>
                  </a:tcPr>
                </a:tc>
                <a:tc>
                  <a:txBody>
                    <a:bodyPr/>
                    <a:lstStyle/>
                    <a:p>
                      <a:pPr algn="r"/>
                      <a:r>
                        <a:rPr sz="850" b="0">
                          <a:solidFill>
                            <a:srgbClr val="2B3147"/>
                          </a:solidFill>
                          <a:latin typeface="Calibri"/>
                        </a:rPr>
                        <a:t>-5%</a:t>
                      </a:r>
                    </a:p>
                  </a:txBody>
                  <a:tcPr marL="54864" marR="54864" marT="27432" marB="27432">
                    <a:solidFill>
                      <a:srgbClr val="F9FAFC"/>
                    </a:solidFill>
                  </a:tcPr>
                </a:tc>
              </a:tr>
              <a:tr h="274320">
                <a:tc>
                  <a:txBody>
                    <a:bodyPr/>
                    <a:lstStyle/>
                    <a:p>
                      <a:pPr algn="l"/>
                      <a:r>
                        <a:rPr sz="850" b="1">
                          <a:solidFill>
                            <a:srgbClr val="2B3147"/>
                          </a:solidFill>
                          <a:latin typeface="Calibri"/>
                        </a:rPr>
                        <a:t>Approved Clients</a:t>
                      </a:r>
                    </a:p>
                  </a:txBody>
                  <a:tcPr marL="54864" marR="54864" marT="27432" marB="27432">
                    <a:solidFill>
                      <a:srgbClr val="FFFFFF"/>
                    </a:solidFill>
                  </a:tcPr>
                </a:tc>
                <a:tc>
                  <a:txBody>
                    <a:bodyPr/>
                    <a:lstStyle/>
                    <a:p>
                      <a:pPr algn="r"/>
                      <a:r>
                        <a:rPr sz="850" b="0">
                          <a:solidFill>
                            <a:srgbClr val="2B3147"/>
                          </a:solidFill>
                          <a:latin typeface="Calibri"/>
                        </a:rPr>
                        <a:t>288</a:t>
                      </a:r>
                    </a:p>
                  </a:txBody>
                  <a:tcPr marL="54864" marR="54864" marT="27432" marB="27432">
                    <a:solidFill>
                      <a:srgbClr val="FFFFFF"/>
                    </a:solidFill>
                  </a:tcPr>
                </a:tc>
                <a:tc>
                  <a:txBody>
                    <a:bodyPr/>
                    <a:lstStyle/>
                    <a:p>
                      <a:pPr algn="r"/>
                      <a:r>
                        <a:rPr sz="850" b="0">
                          <a:solidFill>
                            <a:srgbClr val="2B3147"/>
                          </a:solidFill>
                          <a:latin typeface="Calibri"/>
                        </a:rPr>
                        <a:t>337</a:t>
                      </a:r>
                    </a:p>
                  </a:txBody>
                  <a:tcPr marL="54864" marR="54864" marT="27432" marB="27432">
                    <a:solidFill>
                      <a:srgbClr val="FFFFFF"/>
                    </a:solidFill>
                  </a:tcPr>
                </a:tc>
                <a:tc>
                  <a:txBody>
                    <a:bodyPr/>
                    <a:lstStyle/>
                    <a:p>
                      <a:pPr algn="r"/>
                      <a:r>
                        <a:rPr sz="850" b="0">
                          <a:solidFill>
                            <a:srgbClr val="2B3147"/>
                          </a:solidFill>
                          <a:latin typeface="Calibri"/>
                        </a:rPr>
                        <a:t>261</a:t>
                      </a:r>
                    </a:p>
                  </a:txBody>
                  <a:tcPr marL="54864" marR="54864" marT="27432" marB="27432">
                    <a:solidFill>
                      <a:srgbClr val="FFFFFF"/>
                    </a:solidFill>
                  </a:tcPr>
                </a:tc>
                <a:tc>
                  <a:txBody>
                    <a:bodyPr/>
                    <a:lstStyle/>
                    <a:p>
                      <a:pPr algn="r"/>
                      <a:r>
                        <a:rPr sz="850" b="0">
                          <a:solidFill>
                            <a:srgbClr val="2B3147"/>
                          </a:solidFill>
                          <a:latin typeface="Calibri"/>
                        </a:rPr>
                        <a:t>202</a:t>
                      </a:r>
                    </a:p>
                  </a:txBody>
                  <a:tcPr marL="54864" marR="54864" marT="27432" marB="27432">
                    <a:solidFill>
                      <a:srgbClr val="FFFFFF"/>
                    </a:solidFill>
                  </a:tcPr>
                </a:tc>
                <a:tc>
                  <a:txBody>
                    <a:bodyPr/>
                    <a:lstStyle/>
                    <a:p>
                      <a:pPr algn="r"/>
                      <a:r>
                        <a:rPr sz="850" b="0">
                          <a:solidFill>
                            <a:srgbClr val="2B3147"/>
                          </a:solidFill>
                          <a:latin typeface="Calibri"/>
                        </a:rPr>
                        <a:t>195</a:t>
                      </a:r>
                    </a:p>
                  </a:txBody>
                  <a:tcPr marL="54864" marR="54864" marT="27432" marB="27432">
                    <a:solidFill>
                      <a:srgbClr val="FFFFFF"/>
                    </a:solidFill>
                  </a:tcPr>
                </a:tc>
                <a:tc>
                  <a:txBody>
                    <a:bodyPr/>
                    <a:lstStyle/>
                    <a:p>
                      <a:pPr algn="r"/>
                      <a:r>
                        <a:rPr sz="850" b="0">
                          <a:solidFill>
                            <a:srgbClr val="2B3147"/>
                          </a:solidFill>
                          <a:latin typeface="Calibri"/>
                        </a:rPr>
                        <a:t>209</a:t>
                      </a:r>
                    </a:p>
                  </a:txBody>
                  <a:tcPr marL="54864" marR="54864" marT="27432" marB="27432">
                    <a:solidFill>
                      <a:srgbClr val="FFFFFF"/>
                    </a:solidFill>
                  </a:tcPr>
                </a:tc>
                <a:tc>
                  <a:txBody>
                    <a:bodyPr/>
                    <a:lstStyle/>
                    <a:p>
                      <a:pPr algn="r"/>
                      <a:r>
                        <a:rPr sz="850" b="0">
                          <a:solidFill>
                            <a:srgbClr val="2B3147"/>
                          </a:solidFill>
                          <a:latin typeface="Calibri"/>
                        </a:rPr>
                        <a:t>180</a:t>
                      </a:r>
                    </a:p>
                  </a:txBody>
                  <a:tcPr marL="54864" marR="54864" marT="27432" marB="27432">
                    <a:solidFill>
                      <a:srgbClr val="FFFFFF"/>
                    </a:solidFill>
                  </a:tcPr>
                </a:tc>
                <a:tc>
                  <a:txBody>
                    <a:bodyPr/>
                    <a:lstStyle/>
                    <a:p>
                      <a:pPr algn="r"/>
                      <a:r>
                        <a:rPr sz="850" b="0">
                          <a:solidFill>
                            <a:srgbClr val="2B3147"/>
                          </a:solidFill>
                          <a:latin typeface="Calibri"/>
                        </a:rPr>
                        <a:t>-14%</a:t>
                      </a:r>
                    </a:p>
                  </a:txBody>
                  <a:tcPr marL="54864" marR="54864" marT="27432" marB="27432">
                    <a:solidFill>
                      <a:srgbClr val="FFFFFF"/>
                    </a:solidFill>
                  </a:tcPr>
                </a:tc>
              </a:tr>
              <a:tr h="274320">
                <a:tc>
                  <a:txBody>
                    <a:bodyPr/>
                    <a:lstStyle/>
                    <a:p>
                      <a:pPr algn="l"/>
                      <a:r>
                        <a:rPr sz="850" b="1">
                          <a:solidFill>
                            <a:srgbClr val="2B3147"/>
                          </a:solidFill>
                          <a:latin typeface="Calibri"/>
                        </a:rPr>
                        <a:t>Approval Rate</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33%</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31%</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New Funded Clients</a:t>
                      </a:r>
                    </a:p>
                  </a:txBody>
                  <a:tcPr marL="54864" marR="54864" marT="27432" marB="27432">
                    <a:solidFill>
                      <a:srgbClr val="FFFFFF"/>
                    </a:solidFill>
                  </a:tcPr>
                </a:tc>
                <a:tc>
                  <a:txBody>
                    <a:bodyPr/>
                    <a:lstStyle/>
                    <a:p>
                      <a:pPr algn="r"/>
                      <a:r>
                        <a:rPr sz="850" b="0">
                          <a:solidFill>
                            <a:srgbClr val="2B3147"/>
                          </a:solidFill>
                          <a:latin typeface="Calibri"/>
                        </a:rPr>
                        <a:t>66</a:t>
                      </a:r>
                    </a:p>
                  </a:txBody>
                  <a:tcPr marL="54864" marR="54864" marT="27432" marB="27432">
                    <a:solidFill>
                      <a:srgbClr val="FFFFFF"/>
                    </a:solidFill>
                  </a:tcPr>
                </a:tc>
                <a:tc>
                  <a:txBody>
                    <a:bodyPr/>
                    <a:lstStyle/>
                    <a:p>
                      <a:pPr algn="r"/>
                      <a:r>
                        <a:rPr sz="850" b="0">
                          <a:solidFill>
                            <a:srgbClr val="2B3147"/>
                          </a:solidFill>
                          <a:latin typeface="Calibri"/>
                        </a:rPr>
                        <a:t>59</a:t>
                      </a:r>
                    </a:p>
                  </a:txBody>
                  <a:tcPr marL="54864" marR="54864" marT="27432" marB="27432">
                    <a:solidFill>
                      <a:srgbClr val="FFFFFF"/>
                    </a:solidFill>
                  </a:tcPr>
                </a:tc>
                <a:tc>
                  <a:txBody>
                    <a:bodyPr/>
                    <a:lstStyle/>
                    <a:p>
                      <a:pPr algn="r"/>
                      <a:r>
                        <a:rPr sz="850" b="0">
                          <a:solidFill>
                            <a:srgbClr val="2B3147"/>
                          </a:solidFill>
                          <a:latin typeface="Calibri"/>
                        </a:rPr>
                        <a:t>63</a:t>
                      </a:r>
                    </a:p>
                  </a:txBody>
                  <a:tcPr marL="54864" marR="54864" marT="27432" marB="27432">
                    <a:solidFill>
                      <a:srgbClr val="FFFFFF"/>
                    </a:solidFill>
                  </a:tcPr>
                </a:tc>
                <a:tc>
                  <a:txBody>
                    <a:bodyPr/>
                    <a:lstStyle/>
                    <a:p>
                      <a:pPr algn="r"/>
                      <a:r>
                        <a:rPr sz="850" b="0">
                          <a:solidFill>
                            <a:srgbClr val="2B3147"/>
                          </a:solidFill>
                          <a:latin typeface="Calibri"/>
                        </a:rPr>
                        <a:t>38</a:t>
                      </a:r>
                    </a:p>
                  </a:txBody>
                  <a:tcPr marL="54864" marR="54864" marT="27432" marB="27432">
                    <a:solidFill>
                      <a:srgbClr val="FFFFFF"/>
                    </a:solidFill>
                  </a:tcPr>
                </a:tc>
                <a:tc>
                  <a:txBody>
                    <a:bodyPr/>
                    <a:lstStyle/>
                    <a:p>
                      <a:pPr algn="r"/>
                      <a:r>
                        <a:rPr sz="850" b="0">
                          <a:solidFill>
                            <a:srgbClr val="2B3147"/>
                          </a:solidFill>
                          <a:latin typeface="Calibri"/>
                        </a:rPr>
                        <a:t>36</a:t>
                      </a:r>
                    </a:p>
                  </a:txBody>
                  <a:tcPr marL="54864" marR="54864" marT="27432" marB="27432">
                    <a:solidFill>
                      <a:srgbClr val="FFFFFF"/>
                    </a:solidFill>
                  </a:tcPr>
                </a:tc>
                <a:tc>
                  <a:txBody>
                    <a:bodyPr/>
                    <a:lstStyle/>
                    <a:p>
                      <a:pPr algn="r"/>
                      <a:r>
                        <a:rPr sz="850" b="0">
                          <a:solidFill>
                            <a:srgbClr val="2B3147"/>
                          </a:solidFill>
                          <a:latin typeface="Calibri"/>
                        </a:rPr>
                        <a:t>32</a:t>
                      </a:r>
                    </a:p>
                  </a:txBody>
                  <a:tcPr marL="54864" marR="54864" marT="27432" marB="27432">
                    <a:solidFill>
                      <a:srgbClr val="FFFFFF"/>
                    </a:solidFill>
                  </a:tcPr>
                </a:tc>
                <a:tc>
                  <a:txBody>
                    <a:bodyPr/>
                    <a:lstStyle/>
                    <a:p>
                      <a:pPr algn="r"/>
                      <a:r>
                        <a:rPr sz="850" b="0">
                          <a:solidFill>
                            <a:srgbClr val="2B3147"/>
                          </a:solidFill>
                          <a:latin typeface="Calibri"/>
                        </a:rPr>
                        <a:t>21</a:t>
                      </a:r>
                    </a:p>
                  </a:txBody>
                  <a:tcPr marL="54864" marR="54864" marT="27432" marB="27432">
                    <a:solidFill>
                      <a:srgbClr val="FFFFFF"/>
                    </a:solidFill>
                  </a:tcPr>
                </a:tc>
                <a:tc>
                  <a:txBody>
                    <a:bodyPr/>
                    <a:lstStyle/>
                    <a:p>
                      <a:pPr algn="r"/>
                      <a:r>
                        <a:rPr sz="850" b="0">
                          <a:solidFill>
                            <a:srgbClr val="2B3147"/>
                          </a:solidFill>
                          <a:latin typeface="Calibri"/>
                        </a:rPr>
                        <a:t>-34%</a:t>
                      </a:r>
                    </a:p>
                  </a:txBody>
                  <a:tcPr marL="54864" marR="54864" marT="27432" marB="27432">
                    <a:solidFill>
                      <a:srgbClr val="FFFFFF"/>
                    </a:solidFill>
                  </a:tcPr>
                </a:tc>
              </a:tr>
              <a:tr h="274320">
                <a:tc>
                  <a:txBody>
                    <a:bodyPr/>
                    <a:lstStyle/>
                    <a:p>
                      <a:pPr algn="l"/>
                      <a:r>
                        <a:rPr sz="850" b="1">
                          <a:solidFill>
                            <a:srgbClr val="2B3147"/>
                          </a:solidFill>
                          <a:latin typeface="Calibri"/>
                        </a:rPr>
                        <a:t>Fund Rate</a:t>
                      </a:r>
                    </a:p>
                  </a:txBody>
                  <a:tcPr marL="54864" marR="54864" marT="27432" marB="27432">
                    <a:solidFill>
                      <a:srgbClr val="F9FAFC"/>
                    </a:solidFill>
                  </a:tcPr>
                </a:tc>
                <a:tc>
                  <a:txBody>
                    <a:bodyPr/>
                    <a:lstStyle/>
                    <a:p>
                      <a:pPr algn="r"/>
                      <a:r>
                        <a:rPr sz="850" b="0">
                          <a:solidFill>
                            <a:srgbClr val="2B3147"/>
                          </a:solidFill>
                          <a:latin typeface="Calibri"/>
                        </a:rPr>
                        <a:t>23%</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24%</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15%</a:t>
                      </a:r>
                    </a:p>
                  </a:txBody>
                  <a:tcPr marL="54864" marR="54864" marT="27432" marB="27432">
                    <a:solidFill>
                      <a:srgbClr val="F9FAFC"/>
                    </a:solidFill>
                  </a:tcPr>
                </a:tc>
                <a:tc>
                  <a:txBody>
                    <a:bodyPr/>
                    <a:lstStyle/>
                    <a:p>
                      <a:pPr algn="r"/>
                      <a:r>
                        <a:rPr sz="850" b="0">
                          <a:solidFill>
                            <a:srgbClr val="2B3147"/>
                          </a:solidFill>
                          <a:latin typeface="Calibri"/>
                        </a:rPr>
                        <a:t>12%</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Cost per Funded Client</a:t>
                      </a:r>
                    </a:p>
                  </a:txBody>
                  <a:tcPr marL="54864" marR="54864" marT="27432" marB="27432">
                    <a:solidFill>
                      <a:srgbClr val="FFFFFF"/>
                    </a:solidFill>
                  </a:tcPr>
                </a:tc>
                <a:tc>
                  <a:txBody>
                    <a:bodyPr/>
                    <a:lstStyle/>
                    <a:p>
                      <a:pPr algn="r"/>
                      <a:r>
                        <a:rPr sz="850" b="0">
                          <a:solidFill>
                            <a:srgbClr val="2B3147"/>
                          </a:solidFill>
                          <a:latin typeface="Calibri"/>
                        </a:rPr>
                        <a:t>$26</a:t>
                      </a:r>
                    </a:p>
                  </a:txBody>
                  <a:tcPr marL="54864" marR="54864" marT="27432" marB="27432">
                    <a:solidFill>
                      <a:srgbClr val="FFFFFF"/>
                    </a:solidFill>
                  </a:tcPr>
                </a:tc>
                <a:tc>
                  <a:txBody>
                    <a:bodyPr/>
                    <a:lstStyle/>
                    <a:p>
                      <a:pPr algn="r"/>
                      <a:r>
                        <a:rPr sz="850" b="0">
                          <a:solidFill>
                            <a:srgbClr val="2B3147"/>
                          </a:solidFill>
                          <a:latin typeface="Calibri"/>
                        </a:rPr>
                        <a:t>$349</a:t>
                      </a:r>
                    </a:p>
                  </a:txBody>
                  <a:tcPr marL="54864" marR="54864" marT="27432" marB="27432">
                    <a:solidFill>
                      <a:srgbClr val="FFFFFF"/>
                    </a:solidFill>
                  </a:tcPr>
                </a:tc>
                <a:tc>
                  <a:txBody>
                    <a:bodyPr/>
                    <a:lstStyle/>
                    <a:p>
                      <a:pPr algn="r"/>
                      <a:r>
                        <a:rPr sz="850" b="0">
                          <a:solidFill>
                            <a:srgbClr val="2B3147"/>
                          </a:solidFill>
                          <a:latin typeface="Calibri"/>
                        </a:rPr>
                        <a:t>$673</a:t>
                      </a:r>
                    </a:p>
                  </a:txBody>
                  <a:tcPr marL="54864" marR="54864" marT="27432" marB="27432">
                    <a:solidFill>
                      <a:srgbClr val="FFFFFF"/>
                    </a:solidFill>
                  </a:tcPr>
                </a:tc>
                <a:tc>
                  <a:txBody>
                    <a:bodyPr/>
                    <a:lstStyle/>
                    <a:p>
                      <a:pPr algn="r"/>
                      <a:r>
                        <a:rPr sz="850" b="0">
                          <a:solidFill>
                            <a:srgbClr val="2B3147"/>
                          </a:solidFill>
                          <a:latin typeface="Calibri"/>
                        </a:rPr>
                        <a:t>$1,218</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$3,762</a:t>
                      </a:r>
                    </a:p>
                  </a:txBody>
                  <a:tcPr marL="54864" marR="54864" marT="27432" marB="27432">
                    <a:solidFill>
                      <a:srgbClr val="FFFFFF"/>
                    </a:solidFill>
                  </a:tcPr>
                </a:tc>
                <a:tc>
                  <a:txBody>
                    <a:bodyPr/>
                    <a:lstStyle/>
                    <a:p>
                      <a:pPr algn="r"/>
                      <a:r>
                        <a:rPr sz="850" b="0">
                          <a:solidFill>
                            <a:srgbClr val="2B3147"/>
                          </a:solidFill>
                          <a:latin typeface="Calibri"/>
                        </a:rPr>
                        <a:t>$7,138</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New Traded Clients</a:t>
                      </a:r>
                    </a:p>
                  </a:txBody>
                  <a:tcPr marL="54864" marR="54864" marT="27432" marB="27432">
                    <a:solidFill>
                      <a:srgbClr val="F9FAFC"/>
                    </a:solidFill>
                  </a:tcPr>
                </a:tc>
                <a:tc>
                  <a:txBody>
                    <a:bodyPr/>
                    <a:lstStyle/>
                    <a:p>
                      <a:pPr algn="r"/>
                      <a:r>
                        <a:rPr sz="850" b="0">
                          <a:solidFill>
                            <a:srgbClr val="2B3147"/>
                          </a:solidFill>
                          <a:latin typeface="Calibri"/>
                        </a:rPr>
                        <a:t>56</a:t>
                      </a:r>
                    </a:p>
                  </a:txBody>
                  <a:tcPr marL="54864" marR="54864" marT="27432" marB="27432">
                    <a:solidFill>
                      <a:srgbClr val="F9FAFC"/>
                    </a:solidFill>
                  </a:tcPr>
                </a:tc>
                <a:tc>
                  <a:txBody>
                    <a:bodyPr/>
                    <a:lstStyle/>
                    <a:p>
                      <a:pPr algn="r"/>
                      <a:r>
                        <a:rPr sz="850" b="0">
                          <a:solidFill>
                            <a:srgbClr val="2B3147"/>
                          </a:solidFill>
                          <a:latin typeface="Calibri"/>
                        </a:rPr>
                        <a:t>52</a:t>
                      </a:r>
                    </a:p>
                  </a:txBody>
                  <a:tcPr marL="54864" marR="54864" marT="27432" marB="27432">
                    <a:solidFill>
                      <a:srgbClr val="F9FAFC"/>
                    </a:solidFill>
                  </a:tcPr>
                </a:tc>
                <a:tc>
                  <a:txBody>
                    <a:bodyPr/>
                    <a:lstStyle/>
                    <a:p>
                      <a:pPr algn="r"/>
                      <a:r>
                        <a:rPr sz="850" b="0">
                          <a:solidFill>
                            <a:srgbClr val="2B3147"/>
                          </a:solidFill>
                          <a:latin typeface="Calibri"/>
                        </a:rPr>
                        <a:t>57</a:t>
                      </a:r>
                    </a:p>
                  </a:txBody>
                  <a:tcPr marL="54864" marR="54864" marT="27432" marB="27432">
                    <a:solidFill>
                      <a:srgbClr val="F9FAFC"/>
                    </a:solidFill>
                  </a:tcPr>
                </a:tc>
                <a:tc>
                  <a:txBody>
                    <a:bodyPr/>
                    <a:lstStyle/>
                    <a:p>
                      <a:pPr algn="r"/>
                      <a:r>
                        <a:rPr sz="850" b="0">
                          <a:solidFill>
                            <a:srgbClr val="2B3147"/>
                          </a:solidFill>
                          <a:latin typeface="Calibri"/>
                        </a:rPr>
                        <a:t>35</a:t>
                      </a:r>
                    </a:p>
                  </a:txBody>
                  <a:tcPr marL="54864" marR="54864" marT="27432" marB="27432">
                    <a:solidFill>
                      <a:srgbClr val="F9FAFC"/>
                    </a:solidFill>
                  </a:tcPr>
                </a:tc>
                <a:tc>
                  <a:txBody>
                    <a:bodyPr/>
                    <a:lstStyle/>
                    <a:p>
                      <a:pPr algn="r"/>
                      <a:r>
                        <a:rPr sz="850" b="0">
                          <a:solidFill>
                            <a:srgbClr val="2B3147"/>
                          </a:solidFill>
                          <a:latin typeface="Calibri"/>
                        </a:rPr>
                        <a:t>36</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-34%</a:t>
                      </a:r>
                    </a:p>
                  </a:txBody>
                  <a:tcPr marL="54864" marR="54864" marT="27432" marB="27432">
                    <a:solidFill>
                      <a:srgbClr val="F9FAFC"/>
                    </a:solidFill>
                  </a:tcPr>
                </a:tc>
              </a:tr>
              <a:tr h="274320">
                <a:tc>
                  <a:txBody>
                    <a:bodyPr/>
                    <a:lstStyle/>
                    <a:p>
                      <a:pPr algn="l"/>
                      <a:r>
                        <a:rPr sz="850" b="1">
                          <a:solidFill>
                            <a:srgbClr val="2B3147"/>
                          </a:solidFill>
                          <a:latin typeface="Calibri"/>
                        </a:rPr>
                        <a:t>Cost per Traded Client</a:t>
                      </a:r>
                    </a:p>
                  </a:txBody>
                  <a:tcPr marL="54864" marR="54864" marT="27432" marB="27432">
                    <a:solidFill>
                      <a:srgbClr val="FFFFFF"/>
                    </a:solidFill>
                  </a:tcPr>
                </a:tc>
                <a:tc>
                  <a:txBody>
                    <a:bodyPr/>
                    <a:lstStyle/>
                    <a:p>
                      <a:pPr algn="r"/>
                      <a:r>
                        <a:rPr sz="850" b="0">
                          <a:solidFill>
                            <a:srgbClr val="2B3147"/>
                          </a:solidFill>
                          <a:latin typeface="Calibri"/>
                        </a:rPr>
                        <a:t>$31</a:t>
                      </a:r>
                    </a:p>
                  </a:txBody>
                  <a:tcPr marL="54864" marR="54864" marT="27432" marB="27432">
                    <a:solidFill>
                      <a:srgbClr val="FFFFFF"/>
                    </a:solidFill>
                  </a:tcPr>
                </a:tc>
                <a:tc>
                  <a:txBody>
                    <a:bodyPr/>
                    <a:lstStyle/>
                    <a:p>
                      <a:pPr algn="r"/>
                      <a:r>
                        <a:rPr sz="850" b="0">
                          <a:solidFill>
                            <a:srgbClr val="2B3147"/>
                          </a:solidFill>
                          <a:latin typeface="Calibri"/>
                        </a:rPr>
                        <a:t>$396</a:t>
                      </a:r>
                    </a:p>
                  </a:txBody>
                  <a:tcPr marL="54864" marR="54864" marT="27432" marB="27432">
                    <a:solidFill>
                      <a:srgbClr val="FFFFFF"/>
                    </a:solidFill>
                  </a:tcPr>
                </a:tc>
                <a:tc>
                  <a:txBody>
                    <a:bodyPr/>
                    <a:lstStyle/>
                    <a:p>
                      <a:pPr algn="r"/>
                      <a:r>
                        <a:rPr sz="850" b="0">
                          <a:solidFill>
                            <a:srgbClr val="2B3147"/>
                          </a:solidFill>
                          <a:latin typeface="Calibri"/>
                        </a:rPr>
                        <a:t>$744</a:t>
                      </a:r>
                    </a:p>
                  </a:txBody>
                  <a:tcPr marL="54864" marR="54864" marT="27432" marB="27432">
                    <a:solidFill>
                      <a:srgbClr val="FFFFFF"/>
                    </a:solidFill>
                  </a:tcPr>
                </a:tc>
                <a:tc>
                  <a:txBody>
                    <a:bodyPr/>
                    <a:lstStyle/>
                    <a:p>
                      <a:pPr algn="r"/>
                      <a:r>
                        <a:rPr sz="850" b="0">
                          <a:solidFill>
                            <a:srgbClr val="2B3147"/>
                          </a:solidFill>
                          <a:latin typeface="Calibri"/>
                        </a:rPr>
                        <a:t>$1,323</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$4,151</a:t>
                      </a:r>
                    </a:p>
                  </a:txBody>
                  <a:tcPr marL="54864" marR="54864" marT="27432" marB="27432">
                    <a:solidFill>
                      <a:srgbClr val="FFFFFF"/>
                    </a:solidFill>
                  </a:tcPr>
                </a:tc>
                <a:tc>
                  <a:txBody>
                    <a:bodyPr/>
                    <a:lstStyle/>
                    <a:p>
                      <a:pPr algn="r"/>
                      <a:r>
                        <a:rPr sz="850" b="0">
                          <a:solidFill>
                            <a:srgbClr val="2B3147"/>
                          </a:solidFill>
                          <a:latin typeface="Calibri"/>
                        </a:rPr>
                        <a:t>$7,889</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Trading Volume</a:t>
                      </a:r>
                    </a:p>
                  </a:txBody>
                  <a:tcPr marL="54864" marR="54864" marT="27432" marB="27432">
                    <a:solidFill>
                      <a:srgbClr val="F9FAFC"/>
                    </a:solidFill>
                  </a:tcPr>
                </a:tc>
                <a:tc>
                  <a:txBody>
                    <a:bodyPr/>
                    <a:lstStyle/>
                    <a:p>
                      <a:pPr algn="r"/>
                      <a:r>
                        <a:rPr sz="850" b="0">
                          <a:solidFill>
                            <a:srgbClr val="2B3147"/>
                          </a:solidFill>
                          <a:latin typeface="Calibri"/>
                        </a:rPr>
                        <a:t>$5.1B</a:t>
                      </a:r>
                    </a:p>
                  </a:txBody>
                  <a:tcPr marL="54864" marR="54864" marT="27432" marB="27432">
                    <a:solidFill>
                      <a:srgbClr val="F9FAFC"/>
                    </a:solidFill>
                  </a:tcPr>
                </a:tc>
                <a:tc>
                  <a:txBody>
                    <a:bodyPr/>
                    <a:lstStyle/>
                    <a:p>
                      <a:pPr algn="r"/>
                      <a:r>
                        <a:rPr sz="850" b="0">
                          <a:solidFill>
                            <a:srgbClr val="2B3147"/>
                          </a:solidFill>
                          <a:latin typeface="Calibri"/>
                        </a:rPr>
                        <a:t>$2.5B</a:t>
                      </a:r>
                    </a:p>
                  </a:txBody>
                  <a:tcPr marL="54864" marR="54864" marT="27432" marB="27432">
                    <a:solidFill>
                      <a:srgbClr val="F9FAFC"/>
                    </a:solidFill>
                  </a:tcPr>
                </a:tc>
                <a:tc>
                  <a:txBody>
                    <a:bodyPr/>
                    <a:lstStyle/>
                    <a:p>
                      <a:pPr algn="r"/>
                      <a:r>
                        <a:rPr sz="850" b="0">
                          <a:solidFill>
                            <a:srgbClr val="2B3147"/>
                          </a:solidFill>
                          <a:latin typeface="Calibri"/>
                        </a:rPr>
                        <a:t>$2.3B</a:t>
                      </a:r>
                    </a:p>
                  </a:txBody>
                  <a:tcPr marL="54864" marR="54864" marT="27432" marB="27432">
                    <a:solidFill>
                      <a:srgbClr val="F9FAFC"/>
                    </a:solidFill>
                  </a:tcPr>
                </a:tc>
                <a:tc>
                  <a:txBody>
                    <a:bodyPr/>
                    <a:lstStyle/>
                    <a:p>
                      <a:pPr algn="r"/>
                      <a:r>
                        <a:rPr sz="850" b="0">
                          <a:solidFill>
                            <a:srgbClr val="2B3147"/>
                          </a:solidFill>
                          <a:latin typeface="Calibri"/>
                        </a:rPr>
                        <a:t>$2.1B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2" name="TextBox 11"/>
          <p:cNvSpPr txBox="1"/>
          <p:nvPr/>
        </p:nvSpPr>
        <p:spPr>
          <a:xfrm>
            <a:off x="457200" y="6144768"/>
            <a:ext cx="11247120" cy="274320"/>
          </a:xfrm>
          <a:prstGeom prst="rect">
            <a:avLst/>
          </a:prstGeom>
          <a:noFill/>
        </p:spPr>
        <p:txBody>
          <a:bodyPr wrap="square" anchor="t" lIns="0" rIns="0" tIns="0" bIns="0">
            <a:spAutoFit/>
          </a:bodyPr>
          <a:lstStyle/>
          <a:p>
            <a:pPr algn="l"/>
            <a:r>
              <a:rPr sz="750" b="0">
                <a:solidFill>
                  <a:srgbClr val="5A6072"/>
                </a:solidFill>
                <a:latin typeface="Calibri"/>
              </a:rPr>
              <a:t>Funnel metrics are blended organic + paid, from the client dashboard. Working media per the budget tracker. MoM = July vs June. January cost figures reflect a near-zero media base ($1,717). July trading volume follows with the next dashboard refresh.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$149,896 deployed in July, up 24%, the biggest GGMI media month of 2026.</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3 / 14</a:t>
            </a:r>
          </a:p>
        </p:txBody>
      </p:sp>
      <p:graphicFrame>
        <p:nvGraphicFramePr>
          <p:cNvPr id="10" name="Table 9"/>
          <p:cNvGraphicFramePr>
            <a:graphicFrameLocks noGrp="1"/>
          </p:cNvGraphicFramePr>
          <p:nvPr/>
        </p:nvGraphicFramePr>
        <p:xfrm>
          <a:off x="457200" y="1737360"/>
          <a:ext cx="6766560" cy="2788920"/>
        </p:xfrm>
        <a:graphic>
          <a:graphicData uri="http://schemas.openxmlformats.org/drawingml/2006/table">
            <a:tbl>
              <a:tblPr>
                <a:tableStyleId>{5C22544A-7EE6-4342-B048-85BDC9FD1C3A}</a:tableStyleId>
              </a:tblPr>
              <a:tblGrid>
                <a:gridCol w="1965960"/>
                <a:gridCol w="1051560"/>
                <a:gridCol w="960120"/>
                <a:gridCol w="960120"/>
                <a:gridCol w="777240"/>
                <a:gridCol w="1051560"/>
              </a:tblGrid>
              <a:tr h="348615">
                <a:tc>
                  <a:txBody>
                    <a:bodyPr/>
                    <a:lstStyle/>
                    <a:p>
                      <a:pPr algn="l"/>
                      <a:r>
                        <a:rPr sz="850" b="1">
                          <a:solidFill>
                            <a:srgbClr val="FFFFFF"/>
                          </a:solidFill>
                          <a:latin typeface="Calibri"/>
                        </a:rPr>
                        <a:t>Channel</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Cost/app</a:t>
                      </a:r>
                    </a:p>
                  </a:txBody>
                  <a:tcPr marL="54864" marR="54864" marT="27432" marB="27432">
                    <a:solidFill>
                      <a:srgbClr val="1E2761"/>
                    </a:solidFill>
                  </a:tcPr>
                </a:tc>
              </a:tr>
              <a:tr h="348615">
                <a:tc>
                  <a:txBody>
                    <a:bodyPr/>
                    <a:lstStyle/>
                    <a:p>
                      <a:pPr algn="l"/>
                      <a:r>
                        <a:rPr sz="850" b="1">
                          <a:solidFill>
                            <a:srgbClr val="2B3147"/>
                          </a:solidFill>
                          <a:latin typeface="Calibri"/>
                        </a:rPr>
                        <a:t>Bing (Search)</a:t>
                      </a:r>
                    </a:p>
                  </a:txBody>
                  <a:tcPr marL="54864" marR="54864" marT="27432" marB="27432">
                    <a:solidFill>
                      <a:srgbClr val="FFFFFF"/>
                    </a:solidFill>
                  </a:tcPr>
                </a:tc>
                <a:tc>
                  <a:txBody>
                    <a:bodyPr/>
                    <a:lstStyle/>
                    <a:p>
                      <a:pPr algn="r"/>
                      <a:r>
                        <a:rPr sz="850" b="0">
                          <a:solidFill>
                            <a:srgbClr val="2B3147"/>
                          </a:solidFill>
                          <a:latin typeface="Calibri"/>
                        </a:rPr>
                        <a:t>$10,625</a:t>
                      </a:r>
                    </a:p>
                  </a:txBody>
                  <a:tcPr marL="54864" marR="54864" marT="27432" marB="27432">
                    <a:solidFill>
                      <a:srgbClr val="FFFFFF"/>
                    </a:solidFill>
                  </a:tcPr>
                </a:tc>
                <a:tc>
                  <a:txBody>
                    <a:bodyPr/>
                    <a:lstStyle/>
                    <a:p>
                      <a:pPr algn="r"/>
                      <a:r>
                        <a:rPr sz="850" b="0">
                          <a:solidFill>
                            <a:srgbClr val="2B3147"/>
                          </a:solidFill>
                          <a:latin typeface="Calibri"/>
                        </a:rPr>
                        <a:t>90,394</a:t>
                      </a:r>
                    </a:p>
                  </a:txBody>
                  <a:tcPr marL="54864" marR="54864" marT="27432" marB="27432">
                    <a:solidFill>
                      <a:srgbClr val="FFFFFF"/>
                    </a:solidFill>
                  </a:tcPr>
                </a:tc>
                <a:tc>
                  <a:txBody>
                    <a:bodyPr/>
                    <a:lstStyle/>
                    <a:p>
                      <a:pPr algn="r"/>
                      <a:r>
                        <a:rPr sz="850" b="0">
                          <a:solidFill>
                            <a:srgbClr val="2B3147"/>
                          </a:solidFill>
                          <a:latin typeface="Calibri"/>
                        </a:rPr>
                        <a:t>4,090</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$531.25</a:t>
                      </a:r>
                    </a:p>
                  </a:txBody>
                  <a:tcPr marL="54864" marR="54864" marT="27432" marB="27432">
                    <a:solidFill>
                      <a:srgbClr val="FFFFFF"/>
                    </a:solidFill>
                  </a:tcPr>
                </a:tc>
              </a:tr>
              <a:tr h="348615">
                <a:tc>
                  <a:txBody>
                    <a:bodyPr/>
                    <a:lstStyle/>
                    <a:p>
                      <a:pPr algn="l"/>
                      <a:r>
                        <a:rPr sz="850" b="1">
                          <a:solidFill>
                            <a:srgbClr val="2B3147"/>
                          </a:solidFill>
                          <a:latin typeface="Calibri"/>
                        </a:rPr>
                        <a:t>Quantcast (Display)</a:t>
                      </a:r>
                    </a:p>
                  </a:txBody>
                  <a:tcPr marL="54864" marR="54864" marT="27432" marB="27432">
                    <a:solidFill>
                      <a:srgbClr val="F9FAFC"/>
                    </a:solidFill>
                  </a:tcPr>
                </a:tc>
                <a:tc>
                  <a:txBody>
                    <a:bodyPr/>
                    <a:lstStyle/>
                    <a:p>
                      <a:pPr algn="r"/>
                      <a:r>
                        <a:rPr sz="850" b="0">
                          <a:solidFill>
                            <a:srgbClr val="2B3147"/>
                          </a:solidFill>
                          <a:latin typeface="Calibri"/>
                        </a:rPr>
                        <a:t>$39,240</a:t>
                      </a:r>
                    </a:p>
                  </a:txBody>
                  <a:tcPr marL="54864" marR="54864" marT="27432" marB="27432">
                    <a:solidFill>
                      <a:srgbClr val="F9FAFC"/>
                    </a:solidFill>
                  </a:tcPr>
                </a:tc>
                <a:tc>
                  <a:txBody>
                    <a:bodyPr/>
                    <a:lstStyle/>
                    <a:p>
                      <a:pPr algn="r"/>
                      <a:r>
                        <a:rPr sz="850" b="0">
                          <a:solidFill>
                            <a:srgbClr val="2B3147"/>
                          </a:solidFill>
                          <a:latin typeface="Calibri"/>
                        </a:rPr>
                        <a:t>50.48M</a:t>
                      </a:r>
                    </a:p>
                  </a:txBody>
                  <a:tcPr marL="54864" marR="54864" marT="27432" marB="27432">
                    <a:solidFill>
                      <a:srgbClr val="F9FAFC"/>
                    </a:solidFill>
                  </a:tcPr>
                </a:tc>
                <a:tc>
                  <a:txBody>
                    <a:bodyPr/>
                    <a:lstStyle/>
                    <a:p>
                      <a:pPr algn="r"/>
                      <a:r>
                        <a:rPr sz="850" b="0">
                          <a:solidFill>
                            <a:srgbClr val="2B3147"/>
                          </a:solidFill>
                          <a:latin typeface="Calibri"/>
                        </a:rPr>
                        <a:t>19,188</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Azerion (Display)</a:t>
                      </a:r>
                    </a:p>
                  </a:txBody>
                  <a:tcPr marL="54864" marR="54864" marT="27432" marB="27432">
                    <a:solidFill>
                      <a:srgbClr val="FFFFFF"/>
                    </a:solidFill>
                  </a:tcPr>
                </a:tc>
                <a:tc>
                  <a:txBody>
                    <a:bodyPr/>
                    <a:lstStyle/>
                    <a:p>
                      <a:pPr algn="r"/>
                      <a:r>
                        <a:rPr sz="850" b="0">
                          <a:solidFill>
                            <a:srgbClr val="2B3147"/>
                          </a:solidFill>
                          <a:latin typeface="Calibri"/>
                        </a:rPr>
                        <a:t>$37,509</a:t>
                      </a:r>
                    </a:p>
                  </a:txBody>
                  <a:tcPr marL="54864" marR="54864" marT="27432" marB="27432">
                    <a:solidFill>
                      <a:srgbClr val="FFFFFF"/>
                    </a:solidFill>
                  </a:tcPr>
                </a:tc>
                <a:tc>
                  <a:txBody>
                    <a:bodyPr/>
                    <a:lstStyle/>
                    <a:p>
                      <a:pPr algn="r"/>
                      <a:r>
                        <a:rPr sz="850" b="0">
                          <a:solidFill>
                            <a:srgbClr val="2B3147"/>
                          </a:solidFill>
                          <a:latin typeface="Calibri"/>
                        </a:rPr>
                        <a:t>7.58M</a:t>
                      </a:r>
                    </a:p>
                  </a:txBody>
                  <a:tcPr marL="54864" marR="54864" marT="27432" marB="27432">
                    <a:solidFill>
                      <a:srgbClr val="FFFFFF"/>
                    </a:solidFill>
                  </a:tcPr>
                </a:tc>
                <a:tc>
                  <a:txBody>
                    <a:bodyPr/>
                    <a:lstStyle/>
                    <a:p>
                      <a:pPr algn="r"/>
                      <a:r>
                        <a:rPr sz="850" b="0">
                          <a:solidFill>
                            <a:srgbClr val="2B3147"/>
                          </a:solidFill>
                          <a:latin typeface="Calibri"/>
                        </a:rPr>
                        <a:t>12,915</a:t>
                      </a:r>
                    </a:p>
                  </a:txBody>
                  <a:tcPr marL="54864" marR="54864" marT="27432" marB="27432">
                    <a:solidFill>
                      <a:srgbClr val="FFFFFF"/>
                    </a:solidFill>
                  </a:tcPr>
                </a:tc>
                <a:tc>
                  <a:txBody>
                    <a:bodyPr/>
                    <a:lstStyle/>
                    <a:p>
                      <a:pPr algn="r"/>
                      <a:r>
                        <a:rPr sz="850" b="0">
                          <a:solidFill>
                            <a:srgbClr val="2B3147"/>
                          </a:solidFill>
                          <a:latin typeface="Calibri"/>
                        </a:rPr>
                        <a:t>41*</a:t>
                      </a:r>
                    </a:p>
                  </a:txBody>
                  <a:tcPr marL="54864" marR="54864" marT="27432" marB="27432">
                    <a:solidFill>
                      <a:srgbClr val="FFFFFF"/>
                    </a:solidFill>
                  </a:tcPr>
                </a:tc>
                <a:tc>
                  <a:txBody>
                    <a:bodyPr/>
                    <a:lstStyle/>
                    <a:p>
                      <a:pPr algn="r"/>
                      <a:r>
                        <a:rPr sz="850" b="0">
                          <a:solidFill>
                            <a:srgbClr val="2B3147"/>
                          </a:solidFill>
                          <a:latin typeface="Calibri"/>
                        </a:rPr>
                        <a:t>$914.85*</a:t>
                      </a:r>
                    </a:p>
                  </a:txBody>
                  <a:tcPr marL="54864" marR="54864" marT="27432" marB="27432">
                    <a:solidFill>
                      <a:srgbClr val="FFFFFF"/>
                    </a:solidFill>
                  </a:tcPr>
                </a:tc>
              </a:tr>
              <a:tr h="348615">
                <a:tc>
                  <a:txBody>
                    <a:bodyPr/>
                    <a:lstStyle/>
                    <a:p>
                      <a:pPr algn="l"/>
                      <a:r>
                        <a:rPr sz="850" b="1">
                          <a:solidFill>
                            <a:srgbClr val="2B3147"/>
                          </a:solidFill>
                          <a:latin typeface="Calibri"/>
                        </a:rPr>
                        <a:t>Native (QC + Azerion)</a:t>
                      </a:r>
                    </a:p>
                  </a:txBody>
                  <a:tcPr marL="54864" marR="54864" marT="27432" marB="27432">
                    <a:solidFill>
                      <a:srgbClr val="F9FAFC"/>
                    </a:solidFill>
                  </a:tcPr>
                </a:tc>
                <a:tc>
                  <a:txBody>
                    <a:bodyPr/>
                    <a:lstStyle/>
                    <a:p>
                      <a:pPr algn="r"/>
                      <a:r>
                        <a:rPr sz="850" b="0">
                          <a:solidFill>
                            <a:srgbClr val="2B3147"/>
                          </a:solidFill>
                          <a:latin typeface="Calibri"/>
                        </a:rPr>
                        <a:t>$27,630</a:t>
                      </a:r>
                    </a:p>
                  </a:txBody>
                  <a:tcPr marL="54864" marR="54864" marT="27432" marB="27432">
                    <a:solidFill>
                      <a:srgbClr val="F9FAFC"/>
                    </a:solidFill>
                  </a:tcPr>
                </a:tc>
                <a:tc>
                  <a:txBody>
                    <a:bodyPr/>
                    <a:lstStyle/>
                    <a:p>
                      <a:pPr algn="r"/>
                      <a:r>
                        <a:rPr sz="850" b="0">
                          <a:solidFill>
                            <a:srgbClr val="2B3147"/>
                          </a:solidFill>
                          <a:latin typeface="Calibri"/>
                        </a:rPr>
                        <a:t>18.18M</a:t>
                      </a:r>
                    </a:p>
                  </a:txBody>
                  <a:tcPr marL="54864" marR="54864" marT="27432" marB="27432">
                    <a:solidFill>
                      <a:srgbClr val="F9FAFC"/>
                    </a:solidFill>
                  </a:tcPr>
                </a:tc>
                <a:tc>
                  <a:txBody>
                    <a:bodyPr/>
                    <a:lstStyle/>
                    <a:p>
                      <a:pPr algn="r"/>
                      <a:r>
                        <a:rPr sz="850" b="0">
                          <a:solidFill>
                            <a:srgbClr val="2B3147"/>
                          </a:solidFill>
                          <a:latin typeface="Calibri"/>
                        </a:rPr>
                        <a:t>9,953</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Meta (Social)</a:t>
                      </a:r>
                    </a:p>
                  </a:txBody>
                  <a:tcPr marL="54864" marR="54864" marT="27432" marB="27432">
                    <a:solidFill>
                      <a:srgbClr val="FFFFFF"/>
                    </a:solidFill>
                  </a:tcPr>
                </a:tc>
                <a:tc>
                  <a:txBody>
                    <a:bodyPr/>
                    <a:lstStyle/>
                    <a:p>
                      <a:pPr algn="r"/>
                      <a:r>
                        <a:rPr sz="850" b="0">
                          <a:solidFill>
                            <a:srgbClr val="2B3147"/>
                          </a:solidFill>
                          <a:latin typeface="Calibri"/>
                        </a:rPr>
                        <a:t>$8,027</a:t>
                      </a:r>
                    </a:p>
                  </a:txBody>
                  <a:tcPr marL="54864" marR="54864" marT="27432" marB="27432">
                    <a:solidFill>
                      <a:srgbClr val="FFFFFF"/>
                    </a:solidFill>
                  </a:tcPr>
                </a:tc>
                <a:tc>
                  <a:txBody>
                    <a:bodyPr/>
                    <a:lstStyle/>
                    <a:p>
                      <a:pPr algn="r"/>
                      <a:r>
                        <a:rPr sz="850" b="0">
                          <a:solidFill>
                            <a:srgbClr val="2B3147"/>
                          </a:solidFill>
                          <a:latin typeface="Calibri"/>
                        </a:rPr>
                        <a:t>4.25M</a:t>
                      </a:r>
                    </a:p>
                  </a:txBody>
                  <a:tcPr marL="54864" marR="54864" marT="27432" marB="27432">
                    <a:solidFill>
                      <a:srgbClr val="FFFFFF"/>
                    </a:solidFill>
                  </a:tcPr>
                </a:tc>
                <a:tc>
                  <a:txBody>
                    <a:bodyPr/>
                    <a:lstStyle/>
                    <a:p>
                      <a:pPr algn="r"/>
                      <a:r>
                        <a:rPr sz="850" b="0">
                          <a:solidFill>
                            <a:srgbClr val="2B3147"/>
                          </a:solidFill>
                          <a:latin typeface="Calibri"/>
                        </a:rPr>
                        <a:t>74,489</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48615">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$149,896</a:t>
                      </a:r>
                    </a:p>
                  </a:txBody>
                  <a:tcPr marL="54864" marR="54864" marT="27432" marB="27432">
                    <a:solidFill>
                      <a:srgbClr val="CADCFC"/>
                    </a:solidFill>
                  </a:tcPr>
                </a:tc>
                <a:tc>
                  <a:txBody>
                    <a:bodyPr/>
                    <a:lstStyle/>
                    <a:p>
                      <a:pPr algn="r"/>
                      <a:r>
                        <a:rPr sz="850" b="1">
                          <a:solidFill>
                            <a:srgbClr val="1E2761"/>
                          </a:solidFill>
                          <a:latin typeface="Calibri"/>
                        </a:rPr>
                        <a:t>80.58M</a:t>
                      </a:r>
                    </a:p>
                  </a:txBody>
                  <a:tcPr marL="54864" marR="54864" marT="27432" marB="27432">
                    <a:solidFill>
                      <a:srgbClr val="CADCFC"/>
                    </a:solidFill>
                  </a:tcPr>
                </a:tc>
                <a:tc>
                  <a:txBody>
                    <a:bodyPr/>
                    <a:lstStyle/>
                    <a:p>
                      <a:pPr algn="r"/>
                      <a:r>
                        <a:rPr sz="850" b="1">
                          <a:solidFill>
                            <a:srgbClr val="1E2761"/>
                          </a:solidFill>
                          <a:latin typeface="Calibri"/>
                        </a:rPr>
                        <a:t>120,635</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r>
            </a:tbl>
          </a:graphicData>
        </a:graphic>
      </p:graphicFrame>
      <p:sp>
        <p:nvSpPr>
          <p:cNvPr id="11" name="TextBox 10"/>
          <p:cNvSpPr txBox="1"/>
          <p:nvPr/>
        </p:nvSpPr>
        <p:spPr>
          <a:xfrm>
            <a:off x="457200" y="4572000"/>
            <a:ext cx="6766560" cy="685800"/>
          </a:xfrm>
          <a:prstGeom prst="rect">
            <a:avLst/>
          </a:prstGeom>
          <a:noFill/>
        </p:spPr>
        <p:txBody>
          <a:bodyPr wrap="square" anchor="t" lIns="0" rIns="0" tIns="0" bIns="0">
            <a:spAutoFit/>
          </a:bodyPr>
          <a:lstStyle/>
          <a:p>
            <a:pPr algn="l"/>
            <a:r>
              <a:rPr sz="750" b="0">
                <a:solidFill>
                  <a:srgbClr val="5A6072"/>
                </a:solidFill>
                <a:latin typeface="Calibri"/>
              </a:rPr>
              <a:t>* Azerion applications are vendor-reported; Bing applications are SA360-reported, the account’s conversion source of record. Conversions come from different systems per channel and are never summed; the combined Bing + Azerion view is the one sanctioned pairing. Meta clicks are link clicks. Spend per the client budget tracker.</a:t>
            </a:r>
          </a:p>
        </p:txBody>
      </p:sp>
      <p:sp>
        <p:nvSpPr>
          <p:cNvPr id="12" name="Rectangle 11"/>
          <p:cNvSpPr/>
          <p:nvPr/>
        </p:nvSpPr>
        <p:spPr>
          <a:xfrm>
            <a:off x="7406640" y="173736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737360"/>
            <a:ext cx="64008" cy="214884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01952"/>
            <a:ext cx="3895344" cy="274320"/>
          </a:xfrm>
          <a:prstGeom prst="rect">
            <a:avLst/>
          </a:prstGeom>
          <a:noFill/>
        </p:spPr>
        <p:txBody>
          <a:bodyPr wrap="square" anchor="t" lIns="0" rIns="0" tIns="0" bIns="0">
            <a:spAutoFit/>
          </a:bodyPr>
          <a:lstStyle/>
          <a:p>
            <a:pPr algn="l"/>
            <a:r>
              <a:rPr sz="1000" b="1">
                <a:solidFill>
                  <a:srgbClr val="1E2761"/>
                </a:solidFill>
                <a:latin typeface="Georgia"/>
              </a:rPr>
              <a:t>THE SCORECARD</a:t>
            </a:r>
          </a:p>
        </p:txBody>
      </p:sp>
      <p:sp>
        <p:nvSpPr>
          <p:cNvPr id="15" name="TextBox 14"/>
          <p:cNvSpPr txBox="1"/>
          <p:nvPr/>
        </p:nvSpPr>
        <p:spPr>
          <a:xfrm>
            <a:off x="7626096" y="2240280"/>
            <a:ext cx="3895344" cy="1463040"/>
          </a:xfrm>
          <a:prstGeom prst="rect">
            <a:avLst/>
          </a:prstGeom>
          <a:noFill/>
        </p:spPr>
        <p:txBody>
          <a:bodyPr wrap="square" anchor="t" lIns="0" rIns="0" tIns="0" bIns="0">
            <a:spAutoFit/>
          </a:bodyPr>
          <a:lstStyle/>
          <a:p>
            <a:pPr algn="l"/>
            <a:r>
              <a:rPr sz="950" b="0">
                <a:solidFill>
                  <a:srgbClr val="2B3147"/>
                </a:solidFill>
                <a:latin typeface="Calibri"/>
              </a:rPr>
              <a:t>Bing and Azerion, the two channels with a submitted-application figure behind them, produced 61 applications combined at $789.08 (June: 92 at $660.00).</a:t>
            </a:r>
          </a:p>
          <a:p>
            <a:pPr algn="l">
              <a:spcBef>
                <a:spcPts val="600"/>
              </a:spcBef>
            </a:pPr>
            <a:r>
              <a:rPr sz="950" b="0">
                <a:solidFill>
                  <a:srgbClr val="2B3147"/>
                </a:solidFill>
                <a:latin typeface="Calibri"/>
              </a:rPr>
              <a:t>The rise traces to Bing, which spent the first third of July rebuilding its campaign structure and the next third transitioning to it, not to Azerion, which held steady.</a:t>
            </a:r>
          </a:p>
        </p:txBody>
      </p:sp>
      <p:sp>
        <p:nvSpPr>
          <p:cNvPr id="16" name="Rectangle 15"/>
          <p:cNvSpPr/>
          <p:nvPr/>
        </p:nvSpPr>
        <p:spPr>
          <a:xfrm>
            <a:off x="7406640" y="406908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06640" y="4069080"/>
            <a:ext cx="64008" cy="2148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6096" y="4233672"/>
            <a:ext cx="3895344" cy="274320"/>
          </a:xfrm>
          <a:prstGeom prst="rect">
            <a:avLst/>
          </a:prstGeom>
          <a:noFill/>
        </p:spPr>
        <p:txBody>
          <a:bodyPr wrap="square" anchor="t" lIns="0" rIns="0" tIns="0" bIns="0">
            <a:spAutoFit/>
          </a:bodyPr>
          <a:lstStyle/>
          <a:p>
            <a:pPr algn="l"/>
            <a:r>
              <a:rPr sz="1000" b="1">
                <a:solidFill>
                  <a:srgbClr val="1E2761"/>
                </a:solidFill>
                <a:latin typeface="Georgia"/>
              </a:rPr>
              <a:t>THE REBUILT STRUCTURE</a:t>
            </a:r>
          </a:p>
        </p:txBody>
      </p:sp>
      <p:sp>
        <p:nvSpPr>
          <p:cNvPr id="19" name="TextBox 18"/>
          <p:cNvSpPr txBox="1"/>
          <p:nvPr/>
        </p:nvSpPr>
        <p:spPr>
          <a:xfrm>
            <a:off x="7626096" y="4572000"/>
            <a:ext cx="3895344" cy="1463040"/>
          </a:xfrm>
          <a:prstGeom prst="rect">
            <a:avLst/>
          </a:prstGeom>
          <a:noFill/>
        </p:spPr>
        <p:txBody>
          <a:bodyPr wrap="square" anchor="t" lIns="0" rIns="0" tIns="0" bIns="0">
            <a:spAutoFit/>
          </a:bodyPr>
          <a:lstStyle/>
          <a:p>
            <a:pPr algn="l"/>
            <a:r>
              <a:rPr sz="950" b="0">
                <a:solidFill>
                  <a:srgbClr val="2B3147"/>
                </a:solidFill>
                <a:latin typeface="Calibri"/>
              </a:rPr>
              <a:t>Bing’s rebuilt Mexico-only structure closed July at $237.12 per submitted application, less than half June’s $513.17.</a:t>
            </a:r>
          </a:p>
          <a:p>
            <a:pPr algn="l">
              <a:spcBef>
                <a:spcPts val="600"/>
              </a:spcBef>
            </a:pPr>
            <a:r>
              <a:rPr sz="950" b="0">
                <a:solidFill>
                  <a:srgbClr val="2B3147"/>
                </a:solidFill>
                <a:latin typeface="Calibri"/>
              </a:rPr>
              <a:t>August’s first days confirm the run rate at $243, now converting across three products instead of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CONT’ 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Three findings shape the August plan.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4 / 14</a:t>
            </a:r>
          </a:p>
        </p:txBody>
      </p:sp>
      <p:sp>
        <p:nvSpPr>
          <p:cNvPr id="10" name="Rectangle 9"/>
          <p:cNvSpPr/>
          <p:nvPr/>
        </p:nvSpPr>
        <p:spPr>
          <a:xfrm>
            <a:off x="4572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82880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83664"/>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Harden the Mexico targeting configuration as the rebuilt campaigns scale.</a:t>
            </a:r>
          </a:p>
          <a:p>
            <a:pPr algn="l">
              <a:spcBef>
                <a:spcPts val="600"/>
              </a:spcBef>
            </a:pPr>
            <a:r>
              <a:rPr sz="900" b="0">
                <a:solidFill>
                  <a:srgbClr val="2B3147"/>
                </a:solidFill>
                <a:latin typeface="Calibri"/>
              </a:rPr>
              <a:t>June’s correction held through July: delivery concentrated in-market on every one of the six new campaigns.</a:t>
            </a:r>
          </a:p>
          <a:p>
            <a:pPr algn="l">
              <a:spcBef>
                <a:spcPts val="600"/>
              </a:spcBef>
            </a:pPr>
            <a:r>
              <a:rPr sz="900" b="0">
                <a:solidFill>
                  <a:srgbClr val="2B3147"/>
                </a:solidFill>
                <a:latin typeface="Calibri"/>
              </a:rPr>
              <a:t>Next: presence-only targeting and an expanded location-exclusion list, so the concentration holds on its own rather than depending on the current campaign mix.</a:t>
            </a:r>
          </a:p>
        </p:txBody>
      </p:sp>
      <p:sp>
        <p:nvSpPr>
          <p:cNvPr id="14" name="Rectangle 13"/>
          <p:cNvSpPr/>
          <p:nvPr/>
        </p:nvSpPr>
        <p:spPr>
          <a:xfrm>
            <a:off x="43434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82880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83664"/>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Standardize every Bing campaign on the converting landing destination.</a:t>
            </a:r>
          </a:p>
          <a:p>
            <a:pPr algn="l">
              <a:spcBef>
                <a:spcPts val="600"/>
              </a:spcBef>
            </a:pPr>
            <a:r>
              <a:rPr sz="900" b="0">
                <a:solidFill>
                  <a:srgbClr val="2B3147"/>
                </a:solidFill>
                <a:latin typeface="Calibri"/>
              </a:rPr>
              <a:t>84% of the prior structure’s clicks landed on pages outside the application flow; none of the 207 application starts behind them became a submission.</a:t>
            </a:r>
          </a:p>
          <a:p>
            <a:pPr algn="l">
              <a:spcBef>
                <a:spcPts val="600"/>
              </a:spcBef>
            </a:pPr>
            <a:r>
              <a:rPr sz="900" b="0">
                <a:solidFill>
                  <a:srgbClr val="2B3147"/>
                </a:solidFill>
                <a:latin typeface="Calibri"/>
              </a:rPr>
              <a:t>The rebuilt campaigns landing on the Spanish-language site carried 13.4% of starts through to submission.</a:t>
            </a:r>
          </a:p>
        </p:txBody>
      </p:sp>
      <p:sp>
        <p:nvSpPr>
          <p:cNvPr id="18" name="Rectangle 17"/>
          <p:cNvSpPr/>
          <p:nvPr/>
        </p:nvSpPr>
        <p:spPr>
          <a:xfrm>
            <a:off x="8229600" y="1828800"/>
            <a:ext cx="352044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828800"/>
            <a:ext cx="352044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83664"/>
            <a:ext cx="3227832" cy="219456"/>
          </a:xfrm>
          <a:prstGeom prst="rect">
            <a:avLst/>
          </a:prstGeom>
          <a:noFill/>
        </p:spPr>
        <p:txBody>
          <a:bodyPr wrap="square" anchor="t" lIns="0" rIns="0" tIns="0" bIns="0">
            <a:spAutoFit/>
          </a:bodyPr>
          <a:lstStyle/>
          <a:p>
            <a:pPr algn="l"/>
            <a:r>
              <a:rPr sz="950" b="1">
                <a:solidFill>
                  <a:srgbClr val="FFFFFF"/>
                </a:solidFill>
                <a:latin typeface="Georgia"/>
              </a:rPr>
              <a:t>NEW THIS MONTH</a:t>
            </a:r>
          </a:p>
        </p:txBody>
      </p:sp>
      <p:sp>
        <p:nvSpPr>
          <p:cNvPr id="21" name="TextBox 20"/>
          <p:cNvSpPr txBox="1"/>
          <p:nvPr/>
        </p:nvSpPr>
        <p:spPr>
          <a:xfrm>
            <a:off x="8375904" y="2231136"/>
            <a:ext cx="3227832" cy="2560320"/>
          </a:xfrm>
          <a:prstGeom prst="rect">
            <a:avLst/>
          </a:prstGeom>
          <a:noFill/>
        </p:spPr>
        <p:txBody>
          <a:bodyPr wrap="square" anchor="t" lIns="0" rIns="0" tIns="0" bIns="0">
            <a:spAutoFit/>
          </a:bodyPr>
          <a:lstStyle/>
          <a:p>
            <a:pPr algn="l"/>
            <a:r>
              <a:rPr sz="900" b="0">
                <a:solidFill>
                  <a:srgbClr val="2B3147"/>
                </a:solidFill>
                <a:latin typeface="Calibri"/>
              </a:rPr>
              <a:t>Native ($27,630: Quantcast’s native placement plus Azerion’s native inventory) and DOOH ($26,865, Perion).</a:t>
            </a:r>
          </a:p>
          <a:p>
            <a:pPr algn="l">
              <a:spcBef>
                <a:spcPts val="600"/>
              </a:spcBef>
            </a:pPr>
            <a:r>
              <a:rPr sz="900" b="0">
                <a:solidFill>
                  <a:srgbClr val="2B3147"/>
                </a:solidFill>
                <a:latin typeface="Calibri"/>
              </a:rPr>
              <a:t>Both upper-funnel. Native reports spend and delivery with no conversion claim; DOOH reports spend only this cycle.</a:t>
            </a:r>
          </a:p>
          <a:p>
            <a:pPr algn="l">
              <a:spcBef>
                <a:spcPts val="600"/>
              </a:spcBef>
            </a:pPr>
            <a:r>
              <a:rPr sz="900" b="0">
                <a:solidFill>
                  <a:srgbClr val="2B3147"/>
                </a:solidFill>
                <a:latin typeface="Calibri"/>
              </a:rPr>
              <a:t>Both report in full once a second month allows comparison.</a:t>
            </a:r>
          </a:p>
        </p:txBody>
      </p:sp>
      <p:sp>
        <p:nvSpPr>
          <p:cNvPr id="22" name="Rectangle 21"/>
          <p:cNvSpPr/>
          <p:nvPr/>
        </p:nvSpPr>
        <p:spPr>
          <a:xfrm>
            <a:off x="457200" y="5257800"/>
            <a:ext cx="11277295" cy="731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257800"/>
            <a:ext cx="10728655" cy="731520"/>
          </a:xfrm>
          <a:prstGeom prst="rect">
            <a:avLst/>
          </a:prstGeom>
          <a:noFill/>
        </p:spPr>
        <p:txBody>
          <a:bodyPr wrap="square" anchor="ctr" lIns="0" rIns="0" tIns="0" bIns="0">
            <a:spAutoFit/>
          </a:bodyPr>
          <a:lstStyle/>
          <a:p>
            <a:pPr algn="l"/>
            <a:r>
              <a:rPr sz="1200" b="1">
                <a:solidFill>
                  <a:srgbClr val="FFFFFF"/>
                </a:solidFill>
                <a:latin typeface="Georgia"/>
              </a:rPr>
              <a:t>The rebuilt structure delivered $237.12 per submitted application. Next: harden the configuration so that holds at scale.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Three windows in one month. The rebuilt structure is the account’s current state.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5 / 14</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$10,625</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90,394</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4.52%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4,090</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avg CPC $2.60</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SUBMITTED APPS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20</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SA360 source of record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(FULL MONTH)</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$531.25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$513.17</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(REBUILT)</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$237.12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22–31</a:t>
            </a:r>
          </a:p>
        </p:txBody>
      </p:sp>
      <p:graphicFrame>
        <p:nvGraphicFramePr>
          <p:cNvPr id="40" name="Chart 39"/>
          <p:cNvGraphicFramePr>
            <a:graphicFrameLocks noGrp="1"/>
          </p:cNvGraphicFramePr>
          <p:nvPr/>
        </p:nvGraphicFramePr>
        <p:xfrm>
          <a:off x="457200" y="3246120"/>
          <a:ext cx="7223760" cy="2743200"/>
        </p:xfrm>
        <a:graphic>
          <a:graphicData uri="http://schemas.openxmlformats.org/drawingml/2006/chart">
            <c:chart xmlns:c="http://schemas.openxmlformats.org/drawingml/2006/chart" r:id="rId3"/>
          </a:graphicData>
        </a:graphic>
      </p:graphicFrame>
      <p:sp>
        <p:nvSpPr>
          <p:cNvPr id="41" name="TextBox 40"/>
          <p:cNvSpPr txBox="1"/>
          <p:nvPr/>
        </p:nvSpPr>
        <p:spPr>
          <a:xfrm>
            <a:off x="731520" y="3291840"/>
            <a:ext cx="2194560" cy="274320"/>
          </a:xfrm>
          <a:prstGeom prst="rect">
            <a:avLst/>
          </a:prstGeom>
          <a:noFill/>
        </p:spPr>
        <p:txBody>
          <a:bodyPr wrap="square" anchor="t" lIns="0" rIns="0" tIns="0" bIns="0">
            <a:spAutoFit/>
          </a:bodyPr>
          <a:lstStyle/>
          <a:p>
            <a:pPr algn="l"/>
            <a:r>
              <a:rPr sz="900" b="1">
                <a:solidFill>
                  <a:srgbClr val="5A6072"/>
                </a:solidFill>
                <a:latin typeface="Calibri"/>
              </a:rPr>
              <a:t>Jul 1–10 · rebuild</a:t>
            </a:r>
          </a:p>
        </p:txBody>
      </p:sp>
      <p:sp>
        <p:nvSpPr>
          <p:cNvPr id="42" name="TextBox 41"/>
          <p:cNvSpPr txBox="1"/>
          <p:nvPr/>
        </p:nvSpPr>
        <p:spPr>
          <a:xfrm>
            <a:off x="3108960" y="3291840"/>
            <a:ext cx="2651760" cy="274320"/>
          </a:xfrm>
          <a:prstGeom prst="rect">
            <a:avLst/>
          </a:prstGeom>
          <a:noFill/>
        </p:spPr>
        <p:txBody>
          <a:bodyPr wrap="square" anchor="t" lIns="0" rIns="0" tIns="0" bIns="0">
            <a:spAutoFit/>
          </a:bodyPr>
          <a:lstStyle/>
          <a:p>
            <a:pPr algn="l"/>
            <a:r>
              <a:rPr sz="900" b="1">
                <a:solidFill>
                  <a:srgbClr val="1E2761"/>
                </a:solidFill>
                <a:latin typeface="Calibri"/>
              </a:rPr>
              <a:t>Jul 11–22 · prior structure</a:t>
            </a:r>
          </a:p>
        </p:txBody>
      </p:sp>
      <p:sp>
        <p:nvSpPr>
          <p:cNvPr id="43" name="TextBox 42"/>
          <p:cNvSpPr txBox="1"/>
          <p:nvPr/>
        </p:nvSpPr>
        <p:spPr>
          <a:xfrm>
            <a:off x="5943600" y="3291840"/>
            <a:ext cx="2194560" cy="274320"/>
          </a:xfrm>
          <a:prstGeom prst="rect">
            <a:avLst/>
          </a:prstGeom>
          <a:noFill/>
        </p:spPr>
        <p:txBody>
          <a:bodyPr wrap="square" anchor="t" lIns="0" rIns="0" tIns="0" bIns="0">
            <a:spAutoFit/>
          </a:bodyPr>
          <a:lstStyle/>
          <a:p>
            <a:pPr algn="l"/>
            <a:r>
              <a:rPr sz="900" b="1">
                <a:solidFill>
                  <a:srgbClr val="F96167"/>
                </a:solidFill>
                <a:latin typeface="Calibri"/>
              </a:rPr>
              <a:t>Jul 22–31 · new structure</a:t>
            </a:r>
          </a:p>
        </p:txBody>
      </p:sp>
      <p:graphicFrame>
        <p:nvGraphicFramePr>
          <p:cNvPr id="44" name="Table 43"/>
          <p:cNvGraphicFramePr>
            <a:graphicFrameLocks noGrp="1"/>
          </p:cNvGraphicFramePr>
          <p:nvPr/>
        </p:nvGraphicFramePr>
        <p:xfrm>
          <a:off x="7863840" y="3246120"/>
          <a:ext cx="3840480" cy="2011680"/>
        </p:xfrm>
        <a:graphic>
          <a:graphicData uri="http://schemas.openxmlformats.org/drawingml/2006/table">
            <a:tbl>
              <a:tblPr>
                <a:tableStyleId>{5C22544A-7EE6-4342-B048-85BDC9FD1C3A}</a:tableStyleId>
              </a:tblPr>
              <a:tblGrid>
                <a:gridCol w="1554480"/>
                <a:gridCol w="822960"/>
                <a:gridCol w="548640"/>
                <a:gridCol w="914400"/>
              </a:tblGrid>
              <a:tr h="502920">
                <a:tc>
                  <a:txBody>
                    <a:bodyPr/>
                    <a:lstStyle/>
                    <a:p>
                      <a:pPr algn="l"/>
                      <a:r>
                        <a:rPr sz="850" b="1">
                          <a:solidFill>
                            <a:srgbClr val="FFFFFF"/>
                          </a:solidFill>
                          <a:latin typeface="Calibri"/>
                        </a:rPr>
                        <a:t>Window</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CPA</a:t>
                      </a:r>
                    </a:p>
                  </a:txBody>
                  <a:tcPr marL="54864" marR="54864" marT="27432" marB="27432">
                    <a:solidFill>
                      <a:srgbClr val="1E2761"/>
                    </a:solidFill>
                  </a:tcPr>
                </a:tc>
              </a:tr>
              <a:tr h="502920">
                <a:tc>
                  <a:txBody>
                    <a:bodyPr/>
                    <a:lstStyle/>
                    <a:p>
                      <a:pPr algn="l"/>
                      <a:r>
                        <a:rPr sz="850" b="1">
                          <a:solidFill>
                            <a:srgbClr val="2B3147"/>
                          </a:solidFill>
                          <a:latin typeface="Calibri"/>
                        </a:rPr>
                        <a:t>Jul 1–10  rebuild</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502920">
                <a:tc>
                  <a:txBody>
                    <a:bodyPr/>
                    <a:lstStyle/>
                    <a:p>
                      <a:pPr algn="l"/>
                      <a:r>
                        <a:rPr sz="850" b="1">
                          <a:solidFill>
                            <a:srgbClr val="2B3147"/>
                          </a:solidFill>
                          <a:latin typeface="Calibri"/>
                        </a:rPr>
                        <a:t>Jul 11–22  prior structure</a:t>
                      </a:r>
                    </a:p>
                  </a:txBody>
                  <a:tcPr marL="54864" marR="54864" marT="27432" marB="27432">
                    <a:solidFill>
                      <a:srgbClr val="F9FAFC"/>
                    </a:solidFill>
                  </a:tcPr>
                </a:tc>
                <a:tc>
                  <a:txBody>
                    <a:bodyPr/>
                    <a:lstStyle/>
                    <a:p>
                      <a:pPr algn="r"/>
                      <a:r>
                        <a:rPr sz="850" b="0">
                          <a:solidFill>
                            <a:srgbClr val="2B3147"/>
                          </a:solidFill>
                          <a:latin typeface="Calibri"/>
                        </a:rPr>
                        <a:t>$5,883</a:t>
                      </a:r>
                    </a:p>
                  </a:txBody>
                  <a:tcPr marL="54864" marR="54864" marT="27432" marB="27432">
                    <a:solidFill>
                      <a:srgbClr val="F9FAFC"/>
                    </a:solidFill>
                  </a:tcPr>
                </a:tc>
                <a:tc>
                  <a:txBody>
                    <a:bodyPr/>
                    <a:lstStyle/>
                    <a:p>
                      <a:pPr algn="r"/>
                      <a:r>
                        <a:rPr sz="850" b="0">
                          <a:solidFill>
                            <a:srgbClr val="2B3147"/>
                          </a:solidFill>
                          <a:latin typeface="Calibri"/>
                        </a:rPr>
                        <a:t>0</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502920">
                <a:tc>
                  <a:txBody>
                    <a:bodyPr/>
                    <a:lstStyle/>
                    <a:p>
                      <a:pPr algn="l"/>
                      <a:r>
                        <a:rPr sz="850" b="1">
                          <a:solidFill>
                            <a:srgbClr val="2B3147"/>
                          </a:solidFill>
                          <a:latin typeface="Calibri"/>
                        </a:rPr>
                        <a:t>Jul 22–31  new structure</a:t>
                      </a:r>
                    </a:p>
                  </a:txBody>
                  <a:tcPr marL="54864" marR="54864" marT="27432" marB="27432">
                    <a:solidFill>
                      <a:srgbClr val="FFFFFF"/>
                    </a:solidFill>
                  </a:tcPr>
                </a:tc>
                <a:tc>
                  <a:txBody>
                    <a:bodyPr/>
                    <a:lstStyle/>
                    <a:p>
                      <a:pPr algn="r"/>
                      <a:r>
                        <a:rPr sz="850" b="0">
                          <a:solidFill>
                            <a:srgbClr val="2B3147"/>
                          </a:solidFill>
                          <a:latin typeface="Calibri"/>
                        </a:rPr>
                        <a:t>$4,742</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$237.12</a:t>
                      </a:r>
                    </a:p>
                  </a:txBody>
                  <a:tcPr marL="54864" marR="54864" marT="27432" marB="27432">
                    <a:solidFill>
                      <a:srgbClr val="FFFFFF"/>
                    </a:solidFill>
                  </a:tcPr>
                </a:tc>
              </a:tr>
            </a:tbl>
          </a:graphicData>
        </a:graphic>
      </p:graphicFrame>
      <p:sp>
        <p:nvSpPr>
          <p:cNvPr id="45" name="TextBox 44"/>
          <p:cNvSpPr txBox="1"/>
          <p:nvPr/>
        </p:nvSpPr>
        <p:spPr>
          <a:xfrm>
            <a:off x="7863840" y="5303520"/>
            <a:ext cx="3840480" cy="1005840"/>
          </a:xfrm>
          <a:prstGeom prst="rect">
            <a:avLst/>
          </a:prstGeom>
          <a:noFill/>
        </p:spPr>
        <p:txBody>
          <a:bodyPr wrap="square" anchor="t" lIns="0" rIns="0" tIns="0" bIns="0">
            <a:spAutoFit/>
          </a:bodyPr>
          <a:lstStyle/>
          <a:p>
            <a:pPr algn="l"/>
            <a:r>
              <a:rPr sz="750" b="0">
                <a:solidFill>
                  <a:srgbClr val="5A6072"/>
                </a:solidFill>
                <a:latin typeface="Calibri"/>
              </a:rPr>
              <a:t>July was a planned rebuild: the first ten days went to constructing the new Mexico-only structure, the prior campaigns ran through the transition, and the new structure went live July 22. Two campaigns produced every July conversion: the TradingView theme (18 of 20) and one further new campaign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The rebuild superseded June’s campaign picks. Three actions carry it into August.</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6 / 14</a:t>
            </a:r>
          </a:p>
        </p:txBody>
      </p:sp>
      <p:sp>
        <p:nvSpPr>
          <p:cNvPr id="10" name="Rectangle 9"/>
          <p:cNvSpPr/>
          <p:nvPr/>
        </p:nvSpPr>
        <p:spPr>
          <a:xfrm>
            <a:off x="457200" y="1737360"/>
            <a:ext cx="557784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4805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794760"/>
          </a:xfrm>
          <a:prstGeom prst="rect">
            <a:avLst/>
          </a:prstGeom>
          <a:noFill/>
        </p:spPr>
        <p:txBody>
          <a:bodyPr wrap="square" anchor="t" lIns="0" rIns="0" tIns="0" bIns="0">
            <a:spAutoFit/>
          </a:bodyPr>
          <a:lstStyle/>
          <a:p>
            <a:pPr algn="l"/>
            <a:r>
              <a:rPr sz="950" b="0">
                <a:solidFill>
                  <a:srgbClr val="2B3147"/>
                </a:solidFill>
                <a:latin typeface="Calibri"/>
              </a:rPr>
              <a:t>June’s deck named Platform Intercept the efficiency leader at $285 and recommended rebalancing toward it. Both named June campaigns produced zero July applications in the transition window and retired when the new structure launched July 22; the TradingView campaign is now the leader with 18 of 20 applications and 13.4% start-to-submission.</a:t>
            </a:r>
          </a:p>
          <a:p>
            <a:pPr algn="l">
              <a:spcBef>
                <a:spcPts val="600"/>
              </a:spcBef>
            </a:pPr>
            <a:r>
              <a:rPr sz="950" b="0">
                <a:solidFill>
                  <a:srgbClr val="2B3147"/>
                </a:solidFill>
                <a:latin typeface="Calibri"/>
              </a:rPr>
              <a:t>84% of the prior structure’s clicks landed on pages outside the application flow, and every one of the 207 application starts stopped at the second step. The rebuilt campaigns land on the Spanish-language site and convert. Landing destination and keyword intent changed together, so this is a strong signal rather than a proven single cause. The step data itself is unambiguous: the loss sits between a started and a submitted application.</a:t>
            </a:r>
          </a:p>
          <a:p>
            <a:pPr algn="l">
              <a:spcBef>
                <a:spcPts val="600"/>
              </a:spcBef>
            </a:pPr>
            <a:r>
              <a:rPr sz="950" b="0">
                <a:solidFill>
                  <a:srgbClr val="2B3147"/>
                </a:solidFill>
                <a:latin typeface="Calibri"/>
              </a:rPr>
              <a:t>June’s Mexico commitment held: delivery concentrated in-market across the month, including on all six new campaigns.</a:t>
            </a:r>
          </a:p>
        </p:txBody>
      </p:sp>
      <p:sp>
        <p:nvSpPr>
          <p:cNvPr id="14" name="Rectangle 13"/>
          <p:cNvSpPr/>
          <p:nvPr/>
        </p:nvSpPr>
        <p:spPr>
          <a:xfrm>
            <a:off x="6309360" y="1737360"/>
            <a:ext cx="539496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4805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794760"/>
          </a:xfrm>
          <a:prstGeom prst="rect">
            <a:avLst/>
          </a:prstGeom>
          <a:noFill/>
        </p:spPr>
        <p:txBody>
          <a:bodyPr wrap="square" anchor="t" lIns="0" rIns="0" tIns="0" bIns="0">
            <a:spAutoFit/>
          </a:bodyPr>
          <a:lstStyle/>
          <a:p>
            <a:pPr algn="l"/>
            <a:r>
              <a:rPr sz="950" b="0">
                <a:solidFill>
                  <a:srgbClr val="2B3147"/>
                </a:solidFill>
                <a:latin typeface="Calibri"/>
              </a:rPr>
              <a:t>Harden the Mexico configuration as volume scales: presence-only targeting and an expanded location-exclusion list on every enabled campaign.</a:t>
            </a:r>
          </a:p>
          <a:p>
            <a:pPr algn="l">
              <a:spcBef>
                <a:spcPts val="600"/>
              </a:spcBef>
            </a:pPr>
            <a:r>
              <a:rPr sz="950" b="0">
                <a:solidFill>
                  <a:srgbClr val="2B3147"/>
                </a:solidFill>
                <a:latin typeface="Calibri"/>
              </a:rPr>
              <a:t>Standardize every campaign on the converting landing destination, and review the handoff from the older landing pages into the application flow.</a:t>
            </a:r>
          </a:p>
          <a:p>
            <a:pPr algn="l">
              <a:spcBef>
                <a:spcPts val="600"/>
              </a:spcBef>
            </a:pPr>
            <a:r>
              <a:rPr sz="950" b="0">
                <a:solidFill>
                  <a:srgbClr val="2B3147"/>
                </a:solidFill>
                <a:latin typeface="Calibri"/>
              </a:rPr>
              <a:t>Turn on bidding feedback: every conversion goal is still excluded from bidding and every campaign runs manual bids, so July’s $237.12 was earned with no automated signal. Enabling the goals lets the platform improve on it without manual tuning.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Reach delivered at scale, all in Mexico. Viewability is the bill to manage.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7 / 14</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$39,240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50.48M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19,188</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Advanced IVT</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100.00% MX</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spend + impressions</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54.45%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  ·  floor 70%</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RESULTS</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15</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directional only</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Every impression and dollar delivered in Mexico; the geo cut confirms 100.00% in-market.</a:t>
            </a:r>
          </a:p>
          <a:p>
            <a:pPr algn="l">
              <a:spcBef>
                <a:spcPts val="600"/>
              </a:spcBef>
            </a:pPr>
            <a:r>
              <a:rPr sz="950" b="0">
                <a:solidFill>
                  <a:srgbClr val="2B3147"/>
                </a:solidFill>
                <a:latin typeface="Calibri"/>
              </a:rPr>
              <a:t>Viewability improved 3.15 points to 54.45% and still sits under the 70% floor the account works against.</a:t>
            </a:r>
          </a:p>
          <a:p>
            <a:pPr algn="l">
              <a:spcBef>
                <a:spcPts val="600"/>
              </a:spcBef>
            </a:pPr>
            <a:r>
              <a:rPr sz="950" b="0">
                <a:solidFill>
                  <a:srgbClr val="2B3147"/>
                </a:solidFill>
                <a:latin typeface="Calibri"/>
              </a:rPr>
              <a:t>Result volume (15) is too low to support a cost-per-result figure; the channel reads as an awareness and reach story this month.</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THE SITE LIST IS THE LEVER</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June’s 49-site blocklist is refreshed to 66 domains this month.</a:t>
            </a:r>
          </a:p>
          <a:p>
            <a:pPr algn="l">
              <a:spcBef>
                <a:spcPts val="600"/>
              </a:spcBef>
            </a:pPr>
            <a:r>
              <a:rPr sz="950" b="0">
                <a:solidFill>
                  <a:srgbClr val="2B3147"/>
                </a:solidFill>
                <a:latin typeface="Calibri"/>
              </a:rPr>
              <a:t>tvazteca.com is the headline: spend on that single domain grew to $3,451.61 in July while its viewability held near 9.6%, the second consecutive month of the pattern. If one exclusion is actioned this month, that is the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Apply the refreshed list, then hold quality with a floor.</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8 / 14</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disallow list is the direct lever on viewability: 66 domains flagged for exclusion, led by low-viewability news and utility inventory.</a:t>
            </a:r>
          </a:p>
          <a:p>
            <a:pPr algn="l">
              <a:spcBef>
                <a:spcPts val="600"/>
              </a:spcBef>
            </a:pPr>
            <a:r>
              <a:rPr sz="950" b="0">
                <a:solidFill>
                  <a:srgbClr val="2B3147"/>
                </a:solidFill>
                <a:latin typeface="Calibri"/>
              </a:rPr>
              <a:t>The campaign-level viewability floor recommended in June has not yet been implemented; without it, excluded inventory is replaced by unscreened inventory as reach scales.</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Apply the refreshed 66-site disallow list, leading with tvazteca.com.</a:t>
            </a:r>
          </a:p>
          <a:p>
            <a:pPr algn="l">
              <a:spcBef>
                <a:spcPts val="600"/>
              </a:spcBef>
            </a:pPr>
            <a:r>
              <a:rPr sz="950" b="0">
                <a:solidFill>
                  <a:srgbClr val="2B3147"/>
                </a:solidFill>
                <a:latin typeface="Calibri"/>
              </a:rPr>
              <a:t>Implement the campaign-level viewability floor carried forward from June. It is the structural fix that holds quality as reach scales.</a:t>
            </a:r>
          </a:p>
          <a:p>
            <a:pPr algn="l">
              <a:spcBef>
                <a:spcPts val="600"/>
              </a:spcBef>
            </a:pPr>
            <a:r>
              <a:rPr sz="950" b="0">
                <a:solidFill>
                  <a:srgbClr val="2B3147"/>
                </a:solidFill>
                <a:latin typeface="Calibri"/>
              </a:rPr>
              <a:t>Keep the channel judged on reach and cost of reach until result volume supports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41 vendor-reported applications; viewability now clear of the floor on both formats.</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9 / 14</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$37,509</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7.58M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12,915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APPLICATIONS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41</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vendor-reported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COST / APP</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$914.85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vendor-reported</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82.47%</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native 77.34%</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Applications are reported by the vendor’s own tracking rather than by SA360, the source of record behind Bing’s count; the distinction travels with the number.</a:t>
            </a:r>
          </a:p>
          <a:p>
            <a:pPr algn="l">
              <a:spcBef>
                <a:spcPts val="600"/>
              </a:spcBef>
            </a:pPr>
            <a:r>
              <a:rPr sz="950" b="0">
                <a:solidFill>
                  <a:srgbClr val="2B3147"/>
                </a:solidFill>
                <a:latin typeface="Calibri"/>
              </a:rPr>
              <a:t>June’s viewability recommendation fully landed: display rose from 68.5% to 82.47%, native came in at 77.34%, both clear of the 70% floor.</a:t>
            </a:r>
          </a:p>
          <a:p>
            <a:pPr algn="l">
              <a:spcBef>
                <a:spcPts val="600"/>
              </a:spcBef>
            </a:pPr>
            <a:r>
              <a:rPr sz="950" b="0">
                <a:solidFill>
                  <a:srgbClr val="2B3147"/>
                </a:solidFill>
                <a:latin typeface="Calibri"/>
              </a:rPr>
              <a:t>Country-level delivery detail was requested from the vendor in early July; the follow-up runs with the August cycle. A data-completeness item.</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AD-SET ECONOMICS ROTATED</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 flagged Conversion_Commodities for reallocation (zero applications) and named Global Market the leader at $412. July reversed both: Commodities converted 6 at $500; Global Market fell to 2 at $1,660. The month’s leader was Conversion_Instruments, 9 at roughly $339.</a:t>
            </a:r>
          </a:p>
          <a:p>
            <a:pPr algn="l">
              <a:spcBef>
                <a:spcPts val="600"/>
              </a:spcBef>
            </a:pPr>
            <a:r>
              <a:rPr sz="950" b="0">
                <a:solidFill>
                  <a:srgbClr val="2B3147"/>
                </a:solidFill>
                <a:latin typeface="Calibri"/>
              </a:rPr>
              <a:t>At this volume, ad-set winners rotate faster than a reallocation decision can act on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Judge the channel at the monthly level. Close out the vendor confirmation.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10 / 14</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channel figure is the stable read: $914.85 per vendor-reported application, against $834 in June.</a:t>
            </a:r>
          </a:p>
          <a:p>
            <a:pPr algn="l">
              <a:spcBef>
                <a:spcPts val="600"/>
              </a:spcBef>
            </a:pPr>
            <a:r>
              <a:rPr sz="950" b="0">
                <a:solidFill>
                  <a:srgbClr val="2B3147"/>
                </a:solidFill>
                <a:latin typeface="Calibri"/>
              </a:rPr>
              <a:t>Ad-set level winners rotated against June’s picks, which closes out June’s reallocation call; the flagged ad set converted well on its own.</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Hold the channel’s pace and judge it on the monthly figure rather than reallocating off one month’s ad-set data.</a:t>
            </a:r>
          </a:p>
          <a:p>
            <a:pPr algn="l">
              <a:spcBef>
                <a:spcPts val="600"/>
              </a:spcBef>
            </a:pPr>
            <a:r>
              <a:rPr sz="950" b="0">
                <a:solidFill>
                  <a:srgbClr val="2B3147"/>
                </a:solidFill>
                <a:latin typeface="Calibri"/>
              </a:rPr>
              <a:t>Follow up with the vendor on the country-level delivery detail requested in early July, in the August cycle, and hold certification of that detail until it lands.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META  ·  SPEND &amp; DELIVERY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Reported on spend and delivery this month. Instagram testing delivered.</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11 / 14</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$8,027</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 only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4.25M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CPM ~$1.89</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LINK 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74,489</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1.75% · June 2.06%</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REACH</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2,251,346</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largest campaign</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Mexico</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all campaigns</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INSTAGRAM</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0.3%</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Delivery held to Mexico across every campaign.</a:t>
            </a:r>
          </a:p>
          <a:p>
            <a:pPr algn="l">
              <a:spcBef>
                <a:spcPts val="600"/>
              </a:spcBef>
            </a:pPr>
            <a:r>
              <a:rPr sz="950" b="0">
                <a:solidFill>
                  <a:srgbClr val="2B3147"/>
                </a:solidFill>
                <a:latin typeface="Calibri"/>
              </a:rPr>
              <a:t>Placement mix shifted toward Instagram: 10.2% of July delivery, up from 0.3%, answering the specific ask from the June review. Facebook carried 89.2%.</a:t>
            </a:r>
          </a:p>
          <a:p>
            <a:pPr algn="l">
              <a:spcBef>
                <a:spcPts val="600"/>
              </a:spcBef>
            </a:pPr>
            <a:r>
              <a:rPr sz="950" b="0">
                <a:solidFill>
                  <a:srgbClr val="2B3147"/>
                </a:solidFill>
                <a:latin typeface="Calibri"/>
              </a:rPr>
              <a:t>On the June ask to narrow targeting to 25 and over: Meta restricts demographic targeting for financial-services advertisers, so that refinement is not available in this vertical; delivery runs on the platform’s full 18–65 range.</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MEASUREMENT NOTE</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July’s Meta reporting covers spend and delivery: impressions, reach, frequency, link clicks, CTR, CPC, CPM, landing-page views, placements and geo.</a:t>
            </a:r>
          </a:p>
          <a:p>
            <a:pPr algn="l">
              <a:spcBef>
                <a:spcPts val="600"/>
              </a:spcBef>
            </a:pPr>
            <a:r>
              <a:rPr sz="950" b="0">
                <a:solidFill>
                  <a:srgbClr val="2B3147"/>
                </a:solidFill>
                <a:latin typeface="Calibri"/>
              </a:rPr>
              <a:t>The platform reports 117 submitted-application pixel fires; that figure is Meta-reported and unvalidated, is not compared to Bing’s SA360-reported count, and carries no cost-per-application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NATIVE &amp; DOOH  ·  NEW LINES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First full month for both. Upper-funnel roles, reported on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12 / 14</a:t>
            </a:r>
          </a:p>
        </p:txBody>
      </p:sp>
      <p:graphicFrame>
        <p:nvGraphicFramePr>
          <p:cNvPr id="10" name="Table 9"/>
          <p:cNvGraphicFramePr>
            <a:graphicFrameLocks noGrp="1"/>
          </p:cNvGraphicFramePr>
          <p:nvPr/>
        </p:nvGraphicFramePr>
        <p:xfrm>
          <a:off x="457200" y="1828800"/>
          <a:ext cx="6766560" cy="1600200"/>
        </p:xfrm>
        <a:graphic>
          <a:graphicData uri="http://schemas.openxmlformats.org/drawingml/2006/table">
            <a:tbl>
              <a:tblPr>
                <a:tableStyleId>{5C22544A-7EE6-4342-B048-85BDC9FD1C3A}</a:tableStyleId>
              </a:tblPr>
              <a:tblGrid>
                <a:gridCol w="3108960"/>
                <a:gridCol w="1188720"/>
                <a:gridCol w="1371600"/>
                <a:gridCol w="1097280"/>
              </a:tblGrid>
              <a:tr h="533400">
                <a:tc>
                  <a:txBody>
                    <a:bodyPr/>
                    <a:lstStyle/>
                    <a:p>
                      <a:pPr algn="l"/>
                      <a:r>
                        <a:rPr sz="850" b="1">
                          <a:solidFill>
                            <a:srgbClr val="FFFFFF"/>
                          </a:solidFill>
                          <a:latin typeface="Calibri"/>
                        </a:rPr>
                        <a:t>Line</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r>
              <a:tr h="533400">
                <a:tc>
                  <a:txBody>
                    <a:bodyPr/>
                    <a:lstStyle/>
                    <a:p>
                      <a:pPr algn="l"/>
                      <a:r>
                        <a:rPr sz="850" b="1">
                          <a:solidFill>
                            <a:srgbClr val="2B3147"/>
                          </a:solidFill>
                          <a:latin typeface="Calibri"/>
                        </a:rPr>
                        <a:t>Native (Quantcast + Azerion)</a:t>
                      </a:r>
                    </a:p>
                  </a:txBody>
                  <a:tcPr marL="54864" marR="54864" marT="27432" marB="27432">
                    <a:solidFill>
                      <a:srgbClr val="FFFFFF"/>
                    </a:solidFill>
                  </a:tcPr>
                </a:tc>
                <a:tc>
                  <a:txBody>
                    <a:bodyPr/>
                    <a:lstStyle/>
                    <a:p>
                      <a:pPr algn="r"/>
                      <a:r>
                        <a:rPr sz="850" b="0">
                          <a:solidFill>
                            <a:srgbClr val="2B3147"/>
                          </a:solidFill>
                          <a:latin typeface="Calibri"/>
                        </a:rPr>
                        <a:t>$27,630</a:t>
                      </a:r>
                    </a:p>
                  </a:txBody>
                  <a:tcPr marL="54864" marR="54864" marT="27432" marB="27432">
                    <a:solidFill>
                      <a:srgbClr val="FFFFFF"/>
                    </a:solidFill>
                  </a:tcPr>
                </a:tc>
                <a:tc>
                  <a:txBody>
                    <a:bodyPr/>
                    <a:lstStyle/>
                    <a:p>
                      <a:pPr algn="r"/>
                      <a:r>
                        <a:rPr sz="850" b="0">
                          <a:solidFill>
                            <a:srgbClr val="2B3147"/>
                          </a:solidFill>
                          <a:latin typeface="Calibri"/>
                        </a:rPr>
                        <a:t>18.18M</a:t>
                      </a:r>
                    </a:p>
                  </a:txBody>
                  <a:tcPr marL="54864" marR="54864" marT="27432" marB="27432">
                    <a:solidFill>
                      <a:srgbClr val="FFFFFF"/>
                    </a:solidFill>
                  </a:tcPr>
                </a:tc>
                <a:tc>
                  <a:txBody>
                    <a:bodyPr/>
                    <a:lstStyle/>
                    <a:p>
                      <a:pPr algn="r"/>
                      <a:r>
                        <a:rPr sz="850" b="0">
                          <a:solidFill>
                            <a:srgbClr val="2B3147"/>
                          </a:solidFill>
                          <a:latin typeface="Calibri"/>
                        </a:rPr>
                        <a:t>9,953</a:t>
                      </a:r>
                    </a:p>
                  </a:txBody>
                  <a:tcPr marL="54864" marR="54864" marT="27432" marB="27432">
                    <a:solidFill>
                      <a:srgbClr val="FFFFFF"/>
                    </a:solidFill>
                  </a:tcPr>
                </a:tc>
              </a:tr>
              <a:tr h="533400">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1" name="TextBox 10"/>
          <p:cNvSpPr txBox="1"/>
          <p:nvPr/>
        </p:nvSpPr>
        <p:spPr>
          <a:xfrm>
            <a:off x="457200" y="3566160"/>
            <a:ext cx="6766560" cy="548640"/>
          </a:xfrm>
          <a:prstGeom prst="rect">
            <a:avLst/>
          </a:prstGeom>
          <a:noFill/>
        </p:spPr>
        <p:txBody>
          <a:bodyPr wrap="square" anchor="t" lIns="0" rIns="0" tIns="0" bIns="0">
            <a:spAutoFit/>
          </a:bodyPr>
          <a:lstStyle/>
          <a:p>
            <a:pPr algn="l"/>
            <a:r>
              <a:rPr sz="750" b="0">
                <a:solidFill>
                  <a:srgbClr val="5A6072"/>
                </a:solidFill>
                <a:latin typeface="Calibri"/>
              </a:rPr>
              <a:t>Native combines Quantcast’s dedicated native placement and Azerion’s native inventory. Azerion native viewability: 77.34%, clear of the 70% floor. DOOH reports spend only this cycle.</a:t>
            </a:r>
          </a:p>
        </p:txBody>
      </p:sp>
      <p:sp>
        <p:nvSpPr>
          <p:cNvPr id="12" name="Rectangle 11"/>
          <p:cNvSpPr/>
          <p:nvPr/>
        </p:nvSpPr>
        <p:spPr>
          <a:xfrm>
            <a:off x="7406640" y="1828800"/>
            <a:ext cx="4297680" cy="29260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828800"/>
            <a:ext cx="64008" cy="292608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93392"/>
            <a:ext cx="3895344" cy="274320"/>
          </a:xfrm>
          <a:prstGeom prst="rect">
            <a:avLst/>
          </a:prstGeom>
          <a:noFill/>
        </p:spPr>
        <p:txBody>
          <a:bodyPr wrap="square" anchor="t" lIns="0" rIns="0" tIns="0" bIns="0">
            <a:spAutoFit/>
          </a:bodyPr>
          <a:lstStyle/>
          <a:p>
            <a:pPr algn="l"/>
            <a:r>
              <a:rPr sz="1000" b="1">
                <a:solidFill>
                  <a:srgbClr val="1E2761"/>
                </a:solidFill>
                <a:latin typeface="Georgia"/>
              </a:rPr>
              <a:t>HOW TO READ THE NEW LINES</a:t>
            </a:r>
          </a:p>
        </p:txBody>
      </p:sp>
      <p:sp>
        <p:nvSpPr>
          <p:cNvPr id="15" name="TextBox 14"/>
          <p:cNvSpPr txBox="1"/>
          <p:nvPr/>
        </p:nvSpPr>
        <p:spPr>
          <a:xfrm>
            <a:off x="7626096" y="2331720"/>
            <a:ext cx="3895344" cy="2240280"/>
          </a:xfrm>
          <a:prstGeom prst="rect">
            <a:avLst/>
          </a:prstGeom>
          <a:noFill/>
        </p:spPr>
        <p:txBody>
          <a:bodyPr wrap="square" anchor="t" lIns="0" rIns="0" tIns="0" bIns="0">
            <a:spAutoFit/>
          </a:bodyPr>
          <a:lstStyle/>
          <a:p>
            <a:pPr algn="l"/>
            <a:r>
              <a:rPr sz="950" b="0">
                <a:solidFill>
                  <a:srgbClr val="2B3147"/>
                </a:solidFill>
                <a:latin typeface="Calibri"/>
              </a:rPr>
              <a:t>Both are upper-funnel. Native carries a spend and delivery line with no conversion claim; DOOH carries spend only, with delivery detail out of scope this cycle.</a:t>
            </a:r>
          </a:p>
          <a:p>
            <a:pPr algn="l">
              <a:spcBef>
                <a:spcPts val="600"/>
              </a:spcBef>
            </a:pPr>
            <a:r>
              <a:rPr sz="950" b="0">
                <a:solidFill>
                  <a:srgbClr val="2B3147"/>
                </a:solidFill>
                <a:latin typeface="Calibri"/>
              </a:rPr>
              <a:t>Both report in full once a second month of data gives them something to compare against.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SITE TRAFFIC  ·  GA4 (MEXICO)</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Context this month. The measurement fix makes August the first fully measured month.</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13 / 14</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MEXICO SESSIONS</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7,310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9,236</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UNIQUE VISITORS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3,981</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KEY-EVENT CAPTURE</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Fixed</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live since Jul 31</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GA4 CORROBORATION</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August</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first full month</a:t>
            </a:r>
          </a:p>
        </p:txBody>
      </p:sp>
      <p:sp>
        <p:nvSpPr>
          <p:cNvPr id="30" name="Rectangle 2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33" name="TextBox 3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 large share of July’s session dip tracks Bing’s own month: ten days of rebuild, then the transition window. Property-wide, sessions without source attribution (largely untagged paid search) fell sharply; attributed sessions grew.</a:t>
            </a:r>
          </a:p>
          <a:p>
            <a:pPr algn="l">
              <a:spcBef>
                <a:spcPts val="600"/>
              </a:spcBef>
            </a:pPr>
            <a:r>
              <a:rPr sz="950" b="0">
                <a:solidFill>
                  <a:srgbClr val="2B3147"/>
                </a:solidFill>
                <a:latin typeface="Calibri"/>
              </a:rPr>
              <a:t>Venezuela’s session volume fell sharply as the prior campaigns retired, the same campaign-mix effect behind Bing’s in-market concentration this month.</a:t>
            </a:r>
          </a:p>
        </p:txBody>
      </p:sp>
      <p:sp>
        <p:nvSpPr>
          <p:cNvPr id="34" name="Rectangle 3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MEASUREMENT TO CLOSE</a:t>
            </a:r>
          </a:p>
        </p:txBody>
      </p:sp>
      <p:sp>
        <p:nvSpPr>
          <p:cNvPr id="37" name="TextBox 3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The submitted-application key event began counting correctly on July 31 and has held at full capture since. July is reported on the SA360 count; August is the first month GA4 can corroborate it independently.</a:t>
            </a:r>
          </a:p>
          <a:p>
            <a:pPr algn="l">
              <a:spcBef>
                <a:spcPts val="600"/>
              </a:spcBef>
            </a:pPr>
            <a:r>
              <a:rPr sz="950" b="0">
                <a:solidFill>
                  <a:srgbClr val="2B3147"/>
                </a:solidFill>
                <a:latin typeface="Calibri"/>
              </a:rPr>
              <a:t>Completion of the Bing-to-GA4 account link has not yet been verified; the paid-search restatement June’s deck flagged lands once it is, expected alongside August’s corroboration.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CROSS-CHANNEL PRIORITIES + NEXT STEPS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August priorities: targeting configuration, measurement completion, inventory quality.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14 / 14</a:t>
            </a:r>
          </a:p>
        </p:txBody>
      </p:sp>
      <p:sp>
        <p:nvSpPr>
          <p:cNvPr id="10" name="Rectangle 9"/>
          <p:cNvSpPr/>
          <p:nvPr/>
        </p:nvSpPr>
        <p:spPr>
          <a:xfrm>
            <a:off x="4572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8308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37943"/>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185416"/>
            <a:ext cx="3410712" cy="1554479"/>
          </a:xfrm>
          <a:prstGeom prst="rect">
            <a:avLst/>
          </a:prstGeom>
          <a:noFill/>
        </p:spPr>
        <p:txBody>
          <a:bodyPr wrap="square" anchor="t" lIns="0" rIns="0" tIns="0" bIns="0">
            <a:spAutoFit/>
          </a:bodyPr>
          <a:lstStyle/>
          <a:p>
            <a:pPr algn="l"/>
            <a:r>
              <a:rPr sz="900" b="0">
                <a:solidFill>
                  <a:srgbClr val="2B3147"/>
                </a:solidFill>
                <a:latin typeface="Calibri"/>
              </a:rPr>
              <a:t>Harden the Mexico configuration: presence-only targeting and an expanded exclusion list on every enabled campaign.</a:t>
            </a:r>
          </a:p>
          <a:p>
            <a:pPr algn="l">
              <a:spcBef>
                <a:spcPts val="600"/>
              </a:spcBef>
            </a:pPr>
            <a:r>
              <a:rPr sz="900" b="0">
                <a:solidFill>
                  <a:srgbClr val="2B3147"/>
                </a:solidFill>
                <a:latin typeface="Calibri"/>
              </a:rPr>
              <a:t>Standardize every Bing campaign on the converting landing destination.</a:t>
            </a:r>
          </a:p>
        </p:txBody>
      </p:sp>
      <p:sp>
        <p:nvSpPr>
          <p:cNvPr id="14" name="Rectangle 13"/>
          <p:cNvSpPr/>
          <p:nvPr/>
        </p:nvSpPr>
        <p:spPr>
          <a:xfrm>
            <a:off x="43434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78308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37943"/>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185416"/>
            <a:ext cx="3410712" cy="1554479"/>
          </a:xfrm>
          <a:prstGeom prst="rect">
            <a:avLst/>
          </a:prstGeom>
          <a:noFill/>
        </p:spPr>
        <p:txBody>
          <a:bodyPr wrap="square" anchor="t" lIns="0" rIns="0" tIns="0" bIns="0">
            <a:spAutoFit/>
          </a:bodyPr>
          <a:lstStyle/>
          <a:p>
            <a:pPr algn="l"/>
            <a:r>
              <a:rPr sz="900" b="0">
                <a:solidFill>
                  <a:srgbClr val="2B3147"/>
                </a:solidFill>
                <a:latin typeface="Calibri"/>
              </a:rPr>
              <a:t>Turn on bidding feedback for the Bing conversion goals; July’s $237.12 was earned with no automated signal.</a:t>
            </a:r>
          </a:p>
          <a:p>
            <a:pPr algn="l">
              <a:spcBef>
                <a:spcPts val="600"/>
              </a:spcBef>
            </a:pPr>
            <a:r>
              <a:rPr sz="900" b="0">
                <a:solidFill>
                  <a:srgbClr val="2B3147"/>
                </a:solidFill>
                <a:latin typeface="Calibri"/>
              </a:rPr>
              <a:t>Apply the 66-site Quantcast disallow list, led by tvazteca.com, and implement the viewability floor.</a:t>
            </a:r>
          </a:p>
        </p:txBody>
      </p:sp>
      <p:sp>
        <p:nvSpPr>
          <p:cNvPr id="18" name="Rectangle 17"/>
          <p:cNvSpPr/>
          <p:nvPr/>
        </p:nvSpPr>
        <p:spPr>
          <a:xfrm>
            <a:off x="8229600" y="1783080"/>
            <a:ext cx="352044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783080"/>
            <a:ext cx="3520440" cy="292608"/>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37943"/>
            <a:ext cx="3227832" cy="219456"/>
          </a:xfrm>
          <a:prstGeom prst="rect">
            <a:avLst/>
          </a:prstGeom>
          <a:noFill/>
        </p:spPr>
        <p:txBody>
          <a:bodyPr wrap="square" anchor="t" lIns="0" rIns="0" tIns="0" bIns="0">
            <a:spAutoFit/>
          </a:bodyPr>
          <a:lstStyle/>
          <a:p>
            <a:pPr algn="l"/>
            <a:r>
              <a:rPr sz="950" b="1">
                <a:solidFill>
                  <a:srgbClr val="FFFFFF"/>
                </a:solidFill>
                <a:latin typeface="Georgia"/>
              </a:rPr>
              <a:t>MEASUREMENT TO CLOSE</a:t>
            </a:r>
          </a:p>
        </p:txBody>
      </p:sp>
      <p:sp>
        <p:nvSpPr>
          <p:cNvPr id="21" name="TextBox 20"/>
          <p:cNvSpPr txBox="1"/>
          <p:nvPr/>
        </p:nvSpPr>
        <p:spPr>
          <a:xfrm>
            <a:off x="8375904" y="2185416"/>
            <a:ext cx="3227832" cy="1554479"/>
          </a:xfrm>
          <a:prstGeom prst="rect">
            <a:avLst/>
          </a:prstGeom>
          <a:noFill/>
        </p:spPr>
        <p:txBody>
          <a:bodyPr wrap="square" anchor="t" lIns="0" rIns="0" tIns="0" bIns="0">
            <a:spAutoFit/>
          </a:bodyPr>
          <a:lstStyle/>
          <a:p>
            <a:pPr algn="l"/>
            <a:r>
              <a:rPr sz="900" b="0">
                <a:solidFill>
                  <a:srgbClr val="2B3147"/>
                </a:solidFill>
                <a:latin typeface="Calibri"/>
              </a:rPr>
              <a:t>Complete the Bing-to-GA4 link; the flagged restatement lands with August’s key-event corroboration.</a:t>
            </a:r>
          </a:p>
          <a:p>
            <a:pPr algn="l">
              <a:spcBef>
                <a:spcPts val="600"/>
              </a:spcBef>
            </a:pPr>
            <a:r>
              <a:rPr sz="900" b="0">
                <a:solidFill>
                  <a:srgbClr val="2B3147"/>
                </a:solidFill>
                <a:latin typeface="Calibri"/>
              </a:rPr>
              <a:t>Close out Azerion’s country-level delivery confirmation with the vendor.</a:t>
            </a:r>
          </a:p>
        </p:txBody>
      </p:sp>
      <p:sp>
        <p:nvSpPr>
          <p:cNvPr id="22" name="Rectangle 21"/>
          <p:cNvSpPr/>
          <p:nvPr/>
        </p:nvSpPr>
        <p:spPr>
          <a:xfrm>
            <a:off x="457200" y="4069080"/>
            <a:ext cx="3703320" cy="182880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069080"/>
            <a:ext cx="370332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3504" y="4123944"/>
            <a:ext cx="3410712" cy="219456"/>
          </a:xfrm>
          <a:prstGeom prst="rect">
            <a:avLst/>
          </a:prstGeom>
          <a:noFill/>
        </p:spPr>
        <p:txBody>
          <a:bodyPr wrap="square" anchor="t" lIns="0" rIns="0" tIns="0" bIns="0">
            <a:spAutoFit/>
          </a:bodyPr>
          <a:lstStyle/>
          <a:p>
            <a:pPr algn="l"/>
            <a:r>
              <a:rPr sz="950" b="1">
                <a:solidFill>
                  <a:srgbClr val="FFFFFF"/>
                </a:solidFill>
                <a:latin typeface="Georgia"/>
              </a:rPr>
              <a:t>OPPORTUNITY</a:t>
            </a:r>
          </a:p>
        </p:txBody>
      </p:sp>
      <p:sp>
        <p:nvSpPr>
          <p:cNvPr id="25" name="TextBox 24"/>
          <p:cNvSpPr txBox="1"/>
          <p:nvPr/>
        </p:nvSpPr>
        <p:spPr>
          <a:xfrm>
            <a:off x="603504" y="4471416"/>
            <a:ext cx="3410712" cy="1280160"/>
          </a:xfrm>
          <a:prstGeom prst="rect">
            <a:avLst/>
          </a:prstGeom>
          <a:noFill/>
        </p:spPr>
        <p:txBody>
          <a:bodyPr wrap="square" anchor="t" lIns="0" rIns="0" tIns="0" bIns="0">
            <a:spAutoFit/>
          </a:bodyPr>
          <a:lstStyle/>
          <a:p>
            <a:pPr algn="l"/>
            <a:r>
              <a:rPr sz="900" b="0">
                <a:solidFill>
                  <a:srgbClr val="2B3147"/>
                </a:solidFill>
                <a:latin typeface="Calibri"/>
              </a:rPr>
              <a:t>Hold Azerion’s pace; judge the channel monthly.</a:t>
            </a:r>
          </a:p>
          <a:p>
            <a:pPr algn="l">
              <a:spcBef>
                <a:spcPts val="600"/>
              </a:spcBef>
            </a:pPr>
            <a:r>
              <a:rPr sz="900" b="0">
                <a:solidFill>
                  <a:srgbClr val="2B3147"/>
                </a:solidFill>
                <a:latin typeface="Calibri"/>
              </a:rPr>
              <a:t>Read Bing on the rebuilt structure’s $237.12, with August tracking at $243 across three products.</a:t>
            </a:r>
          </a:p>
        </p:txBody>
      </p:sp>
      <p:sp>
        <p:nvSpPr>
          <p:cNvPr id="26" name="Rectangle 25"/>
          <p:cNvSpPr/>
          <p:nvPr/>
        </p:nvSpPr>
        <p:spPr>
          <a:xfrm>
            <a:off x="4343400" y="4069080"/>
            <a:ext cx="7406640" cy="18288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7720" y="4069080"/>
            <a:ext cx="6858000" cy="1828800"/>
          </a:xfrm>
          <a:prstGeom prst="rect">
            <a:avLst/>
          </a:prstGeom>
          <a:noFill/>
        </p:spPr>
        <p:txBody>
          <a:bodyPr wrap="square" anchor="ctr" lIns="0" rIns="0" tIns="0" bIns="0">
            <a:spAutoFit/>
          </a:bodyPr>
          <a:lstStyle/>
          <a:p>
            <a:pPr algn="l"/>
            <a:r>
              <a:rPr sz="1200" b="1">
                <a:solidFill>
                  <a:srgbClr val="FFFFFF"/>
                </a:solidFill>
                <a:latin typeface="Georgia"/>
              </a:rPr>
              <a:t>The rebuilt structure converted at $237.12 in July. In August: harden the targeting configuration, standardize the landing destination, enable the bidding signal.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