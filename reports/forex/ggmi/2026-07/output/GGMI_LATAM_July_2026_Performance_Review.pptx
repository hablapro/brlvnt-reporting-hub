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fell 5% to 653 while media scaled to $149,896.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16</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and the biggest month of 2026.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Bing and Azerion produced 61 submitted applications at $789.08.</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16</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16</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Hold programmatic quality on Quantcast. Viewability improved 3.15 points to 54.45% and still sits under the 70% standard.</a:t>
            </a:r>
          </a:p>
          <a:p>
            <a:pPr algn="l">
              <a:spcBef>
                <a:spcPts val="600"/>
              </a:spcBef>
            </a:pPr>
            <a:r>
              <a:rPr sz="900" b="0">
                <a:solidFill>
                  <a:srgbClr val="2B3147"/>
                </a:solidFill>
                <a:latin typeface="Calibri"/>
              </a:rPr>
              <a:t>The refreshed 66-site disallow list is the direct lever, led by tvazteca.com.</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delivery on its own slides.</a:t>
            </a:r>
          </a:p>
          <a:p>
            <a:pPr algn="l">
              <a:spcBef>
                <a:spcPts val="600"/>
              </a:spcBef>
            </a:pPr>
            <a:r>
              <a:rPr sz="900" b="0">
                <a:solidFill>
                  <a:srgbClr val="2B3147"/>
                </a:solidFill>
                <a:latin typeface="Calibri"/>
              </a:rPr>
              <a:t>Both gain a month-over-month read with a second month of data.</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20 submitted applications at $531.25; the rebuilt structure closed the month at $237.12.</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16</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Scale the rebuilt structure behind the TradingView theme, holding the July close of $237.12 as volume grows. August’s first days track at $243, with three products converting.</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 reach month at a $0.78 CPM. Viewability is the bill to manage.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  ·  floor 70%</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Viewability improved 3.15 points to 54.45% and still sits under the 70% floor the account works against.</a:t>
            </a:r>
          </a:p>
          <a:p>
            <a:pPr algn="l">
              <a:spcBef>
                <a:spcPts val="600"/>
              </a:spcBef>
            </a:pPr>
            <a:r>
              <a:rPr sz="950" b="0">
                <a:solidFill>
                  <a:srgbClr val="2B3147"/>
                </a:solidFill>
                <a:latin typeface="Calibri"/>
              </a:rPr>
              <a:t>Result volume (15) is too low to support a cost-per-result figure; the channel reads as an awareness and reach story this month.</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 IS THE LEVER</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blocklist is refreshed to 66 domains this month.</a:t>
            </a:r>
          </a:p>
          <a:p>
            <a:pPr algn="l">
              <a:spcBef>
                <a:spcPts val="600"/>
              </a:spcBef>
            </a:pPr>
            <a:r>
              <a:rPr sz="950" b="0">
                <a:solidFill>
                  <a:srgbClr val="2B3147"/>
                </a:solidFill>
                <a:latin typeface="Calibri"/>
              </a:rPr>
              <a:t>tvazteca.com is the headline: spend on that single domain grew to $3,451.61 in July while its viewability held near 9.6%, the second consecutive month of the pattern.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disallow list. Hold the 70% standard.</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disallow list is the direct lever on viewability: 66 domains flagged for exclusion, led by low-viewability news and utility inventory.</a:t>
            </a:r>
          </a:p>
          <a:p>
            <a:pPr algn="l">
              <a:spcBef>
                <a:spcPts val="600"/>
              </a:spcBef>
            </a:pPr>
            <a:r>
              <a:rPr sz="950" b="0">
                <a:solidFill>
                  <a:srgbClr val="2B3147"/>
                </a:solidFill>
                <a:latin typeface="Calibri"/>
              </a:rPr>
              <a:t>The campaign-level viewability floor recommended in June has not yet been implemented; without it, excluded inventory is replaced by unscreened inventory as reach scales.</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Implement the campaign-level viewability floor carried forward from June. It is the structural fix that holds quality as reach scales.</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at $914.85, from 42 at $834 in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June’s viewability recommendation fully landed: display rose from 68.5% to 82.47%, native came in at 77.34%, both clear of the 70% floor.</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Hold the pace. Confirm the delivery detail.</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Meta reported on spend and delivery: $8,027 and 74,489 link clicks. Conversion measurement remains the open item.</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16</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Azerion native viewability: 77.34%, clear of the 70% floor. DOOH delivery follows on the next slides.</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delivery is reported on the two slides that follow.</a:t>
            </a:r>
          </a:p>
          <a:p>
            <a:pPr algn="l">
              <a:spcBef>
                <a:spcPts val="600"/>
              </a:spcBef>
            </a:pPr>
            <a:r>
              <a:rPr sz="950" b="0">
                <a:solidFill>
                  <a:srgbClr val="2B3147"/>
                </a:solidFill>
                <a:latin typeface="Calibri"/>
              </a:rPr>
              <a:t>Both gain a month-over-month read with a second month of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CAMPAIGN OVERVIEW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One DOOH campaign across Mexico City, Guadalajara and Monterrey.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 IMPRESSIONS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opportunities to see</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ESTIMATED REACH</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781,169</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unique audience, modeled</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INVESTMENT</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$26,865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USD per thousand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AD PLAYS</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126,121</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31 days</a:t>
            </a:r>
          </a:p>
        </p:txBody>
      </p:sp>
      <p:graphicFrame>
        <p:nvGraphicFramePr>
          <p:cNvPr id="35" name="Table 34"/>
          <p:cNvGraphicFramePr>
            <a:graphicFrameLocks noGrp="1"/>
          </p:cNvGraphicFramePr>
          <p:nvPr/>
        </p:nvGraphicFramePr>
        <p:xfrm>
          <a:off x="457200" y="3063240"/>
          <a:ext cx="5577840" cy="2286000"/>
        </p:xfrm>
        <a:graphic>
          <a:graphicData uri="http://schemas.openxmlformats.org/drawingml/2006/table">
            <a:tbl>
              <a:tblPr>
                <a:tableStyleId>{5C22544A-7EE6-4342-B048-85BDC9FD1C3A}</a:tableStyleId>
              </a:tblPr>
              <a:tblGrid>
                <a:gridCol w="1554480"/>
                <a:gridCol w="4023360"/>
              </a:tblGrid>
              <a:tr h="381000">
                <a:tc>
                  <a:txBody>
                    <a:bodyPr/>
                    <a:lstStyle/>
                    <a:p>
                      <a:pPr algn="l"/>
                      <a:r>
                        <a:rPr sz="850" b="1">
                          <a:solidFill>
                            <a:srgbClr val="FFFFFF"/>
                          </a:solidFill>
                          <a:latin typeface="Calibri"/>
                        </a:rPr>
                        <a:t>Parameter</a:t>
                      </a:r>
                    </a:p>
                  </a:txBody>
                  <a:tcPr marL="54864" marR="54864" marT="27432" marB="27432">
                    <a:solidFill>
                      <a:srgbClr val="1E2761"/>
                    </a:solidFill>
                  </a:tcPr>
                </a:tc>
                <a:tc>
                  <a:txBody>
                    <a:bodyPr/>
                    <a:lstStyle/>
                    <a:p>
                      <a:pPr algn="r"/>
                      <a:r>
                        <a:rPr sz="850" b="1">
                          <a:solidFill>
                            <a:srgbClr val="FFFFFF"/>
                          </a:solidFill>
                          <a:latin typeface="Calibri"/>
                        </a:rPr>
                        <a:t>Detail</a:t>
                      </a:r>
                    </a:p>
                  </a:txBody>
                  <a:tcPr marL="54864" marR="54864" marT="27432" marB="27432">
                    <a:solidFill>
                      <a:srgbClr val="1E2761"/>
                    </a:solidFill>
                  </a:tcPr>
                </a:tc>
              </a:tr>
              <a:tr h="381000">
                <a:tc>
                  <a:txBody>
                    <a:bodyPr/>
                    <a:lstStyle/>
                    <a:p>
                      <a:pPr algn="l"/>
                      <a:r>
                        <a:rPr sz="850" b="1">
                          <a:solidFill>
                            <a:srgbClr val="2B3147"/>
                          </a:solidFill>
                          <a:latin typeface="Calibri"/>
                        </a:rPr>
                        <a:t>Markets</a:t>
                      </a:r>
                    </a:p>
                  </a:txBody>
                  <a:tcPr marL="54864" marR="54864" marT="27432" marB="27432">
                    <a:solidFill>
                      <a:srgbClr val="FFFFFF"/>
                    </a:solidFill>
                  </a:tcPr>
                </a:tc>
                <a:tc>
                  <a:txBody>
                    <a:bodyPr/>
                    <a:lstStyle/>
                    <a:p>
                      <a:pPr algn="r"/>
                      <a:r>
                        <a:rPr sz="850" b="0">
                          <a:solidFill>
                            <a:srgbClr val="2B3147"/>
                          </a:solidFill>
                          <a:latin typeface="Calibri"/>
                        </a:rPr>
                        <a:t>Mexico City, Guadalajara, Monterrey</a:t>
                      </a:r>
                    </a:p>
                  </a:txBody>
                  <a:tcPr marL="54864" marR="54864" marT="27432" marB="27432">
                    <a:solidFill>
                      <a:srgbClr val="FFFFFF"/>
                    </a:solidFill>
                  </a:tcPr>
                </a:tc>
              </a:tr>
              <a:tr h="381000">
                <a:tc>
                  <a:txBody>
                    <a:bodyPr/>
                    <a:lstStyle/>
                    <a:p>
                      <a:pPr algn="l"/>
                      <a:r>
                        <a:rPr sz="850" b="1">
                          <a:solidFill>
                            <a:srgbClr val="2B3147"/>
                          </a:solidFill>
                          <a:latin typeface="Calibri"/>
                        </a:rPr>
                        <a:t>Flight</a:t>
                      </a:r>
                    </a:p>
                  </a:txBody>
                  <a:tcPr marL="54864" marR="54864" marT="27432" marB="27432">
                    <a:solidFill>
                      <a:srgbClr val="F9FAFC"/>
                    </a:solidFill>
                  </a:tcPr>
                </a:tc>
                <a:tc>
                  <a:txBody>
                    <a:bodyPr/>
                    <a:lstStyle/>
                    <a:p>
                      <a:pPr algn="r"/>
                      <a:r>
                        <a:rPr sz="850" b="0">
                          <a:solidFill>
                            <a:srgbClr val="2B3147"/>
                          </a:solidFill>
                          <a:latin typeface="Calibri"/>
                        </a:rPr>
                        <a:t>July 1–31, 2026</a:t>
                      </a:r>
                    </a:p>
                  </a:txBody>
                  <a:tcPr marL="54864" marR="54864" marT="27432" marB="27432">
                    <a:solidFill>
                      <a:srgbClr val="F9FAFC"/>
                    </a:solidFill>
                  </a:tcPr>
                </a:tc>
              </a:tr>
              <a:tr h="381000">
                <a:tc>
                  <a:txBody>
                    <a:bodyPr/>
                    <a:lstStyle/>
                    <a:p>
                      <a:pPr algn="l"/>
                      <a:r>
                        <a:rPr sz="850" b="1">
                          <a:solidFill>
                            <a:srgbClr val="2B3147"/>
                          </a:solidFill>
                          <a:latin typeface="Calibri"/>
                        </a:rPr>
                        <a:t>Media</a:t>
                      </a:r>
                    </a:p>
                  </a:txBody>
                  <a:tcPr marL="54864" marR="54864" marT="27432" marB="27432">
                    <a:solidFill>
                      <a:srgbClr val="FFFFFF"/>
                    </a:solidFill>
                  </a:tcPr>
                </a:tc>
                <a:tc>
                  <a:txBody>
                    <a:bodyPr/>
                    <a:lstStyle/>
                    <a:p>
                      <a:pPr algn="r"/>
                      <a:r>
                        <a:rPr sz="850" b="0">
                          <a:solidFill>
                            <a:srgbClr val="2B3147"/>
                          </a:solidFill>
                          <a:latin typeface="Calibri"/>
                        </a:rPr>
                        <a:t>Digital screens and bulletins</a:t>
                      </a:r>
                    </a:p>
                  </a:txBody>
                  <a:tcPr marL="54864" marR="54864" marT="27432" marB="27432">
                    <a:solidFill>
                      <a:srgbClr val="FFFFFF"/>
                    </a:solidFill>
                  </a:tcPr>
                </a:tc>
              </a:tr>
              <a:tr h="381000">
                <a:tc>
                  <a:txBody>
                    <a:bodyPr/>
                    <a:lstStyle/>
                    <a:p>
                      <a:pPr algn="l"/>
                      <a:r>
                        <a:rPr sz="850" b="1">
                          <a:solidFill>
                            <a:srgbClr val="2B3147"/>
                          </a:solidFill>
                          <a:latin typeface="Calibri"/>
                        </a:rPr>
                        <a:t>Creative</a:t>
                      </a:r>
                    </a:p>
                  </a:txBody>
                  <a:tcPr marL="54864" marR="54864" marT="27432" marB="27432">
                    <a:solidFill>
                      <a:srgbClr val="F9FAFC"/>
                    </a:solidFill>
                  </a:tcPr>
                </a:tc>
                <a:tc>
                  <a:txBody>
                    <a:bodyPr/>
                    <a:lstStyle/>
                    <a:p>
                      <a:pPr algn="r"/>
                      <a:r>
                        <a:rPr sz="850" b="0">
                          <a:solidFill>
                            <a:srgbClr val="2B3147"/>
                          </a:solidFill>
                          <a:latin typeface="Calibri"/>
                        </a:rPr>
                        <a:t>Commodities theme, Spanish</a:t>
                      </a:r>
                    </a:p>
                  </a:txBody>
                  <a:tcPr marL="54864" marR="54864" marT="27432" marB="27432">
                    <a:solidFill>
                      <a:srgbClr val="F9FAFC"/>
                    </a:solidFill>
                  </a:tcPr>
                </a:tc>
              </a:tr>
              <a:tr h="381000">
                <a:tc>
                  <a:txBody>
                    <a:bodyPr/>
                    <a:lstStyle/>
                    <a:p>
                      <a:pPr algn="l"/>
                      <a:r>
                        <a:rPr sz="850" b="1">
                          <a:solidFill>
                            <a:srgbClr val="2B3147"/>
                          </a:solidFill>
                          <a:latin typeface="Calibri"/>
                        </a:rPr>
                        <a:t>Formats</a:t>
                      </a:r>
                    </a:p>
                  </a:txBody>
                  <a:tcPr marL="54864" marR="54864" marT="27432" marB="27432">
                    <a:solidFill>
                      <a:srgbClr val="FFFFFF"/>
                    </a:solidFill>
                  </a:tcPr>
                </a:tc>
                <a:tc>
                  <a:txBody>
                    <a:bodyPr/>
                    <a:lstStyle/>
                    <a:p>
                      <a:pPr algn="r"/>
                      <a:r>
                        <a:rPr sz="850" b="0">
                          <a:solidFill>
                            <a:srgbClr val="2B3147"/>
                          </a:solidFill>
                          <a:latin typeface="Calibri"/>
                        </a:rPr>
                        <a:t>10s and 15s video, static image</a:t>
                      </a:r>
                    </a:p>
                  </a:txBody>
                  <a:tcPr marL="54864" marR="54864" marT="27432" marB="27432">
                    <a:solidFill>
                      <a:srgbClr val="FFFFFF"/>
                    </a:solidFill>
                  </a:tcPr>
                </a:tc>
              </a:tr>
            </a:tbl>
          </a:graphicData>
        </a:graphic>
      </p:graphicFrame>
      <p:sp>
        <p:nvSpPr>
          <p:cNvPr id="36" name="Rectangle 35"/>
          <p:cNvSpPr/>
          <p:nvPr/>
        </p:nvSpPr>
        <p:spPr>
          <a:xfrm>
            <a:off x="6309360" y="3063240"/>
            <a:ext cx="5394960" cy="30175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09360" y="3063240"/>
            <a:ext cx="64008" cy="3017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28816" y="3227832"/>
            <a:ext cx="4992624" cy="274320"/>
          </a:xfrm>
          <a:prstGeom prst="rect">
            <a:avLst/>
          </a:prstGeom>
          <a:noFill/>
        </p:spPr>
        <p:txBody>
          <a:bodyPr wrap="square" anchor="t" lIns="0" rIns="0" tIns="0" bIns="0">
            <a:spAutoFit/>
          </a:bodyPr>
          <a:lstStyle/>
          <a:p>
            <a:pPr algn="l"/>
            <a:r>
              <a:rPr sz="1000" b="1">
                <a:solidFill>
                  <a:srgbClr val="1E2761"/>
                </a:solidFill>
                <a:latin typeface="Georgia"/>
              </a:rPr>
              <a:t>CAMPAIGN TAKEAWAY</a:t>
            </a:r>
          </a:p>
        </p:txBody>
      </p:sp>
      <p:sp>
        <p:nvSpPr>
          <p:cNvPr id="39" name="TextBox 38"/>
          <p:cNvSpPr txBox="1"/>
          <p:nvPr/>
        </p:nvSpPr>
        <p:spPr>
          <a:xfrm>
            <a:off x="6528816" y="3566160"/>
            <a:ext cx="4992624" cy="2331720"/>
          </a:xfrm>
          <a:prstGeom prst="rect">
            <a:avLst/>
          </a:prstGeom>
          <a:noFill/>
        </p:spPr>
        <p:txBody>
          <a:bodyPr wrap="square" anchor="t" lIns="0" rIns="0" tIns="0" bIns="0">
            <a:spAutoFit/>
          </a:bodyPr>
          <a:lstStyle/>
          <a:p>
            <a:pPr algn="l"/>
            <a:r>
              <a:rPr sz="950" b="0">
                <a:solidFill>
                  <a:srgbClr val="2B3147"/>
                </a:solidFill>
                <a:latin typeface="Calibri"/>
              </a:rPr>
              <a:t>The campaign ran all 31 days across the same three markets as June, on the commodities creative theme in Spanish.</a:t>
            </a:r>
          </a:p>
          <a:p>
            <a:pPr algn="l">
              <a:spcBef>
                <a:spcPts val="600"/>
              </a:spcBef>
            </a:pPr>
            <a:r>
              <a:rPr sz="950" b="0">
                <a:solidFill>
                  <a:srgbClr val="2B3147"/>
                </a:solidFill>
                <a:latin typeface="Calibri"/>
              </a:rPr>
              <a:t>Mexico City carried 59% of delivery, with Guadalajara and Monterrey splitting the balance.</a:t>
            </a:r>
          </a:p>
          <a:p>
            <a:pPr algn="l">
              <a:spcBef>
                <a:spcPts val="600"/>
              </a:spcBef>
            </a:pPr>
            <a:r>
              <a:rPr sz="950" b="0">
                <a:solidFill>
                  <a:srgbClr val="2B3147"/>
                </a:solidFill>
                <a:latin typeface="Calibri"/>
              </a:rPr>
              <a:t>A second full month of delivery gives the line its first month-over-month read in the August report.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DELIVERY BY CITY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City carried 59% of July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CITY</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825,383</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459K reach · 59%</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GUADALAJARA</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314,817</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175K reach · 22%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MONTERREY</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265,905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148K reach · 19%</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781K reach · 100%</a:t>
            </a:r>
          </a:p>
        </p:txBody>
      </p:sp>
      <p:graphicFrame>
        <p:nvGraphicFramePr>
          <p:cNvPr id="30" name="Table 29"/>
          <p:cNvGraphicFramePr>
            <a:graphicFrameLocks noGrp="1"/>
          </p:cNvGraphicFramePr>
          <p:nvPr/>
        </p:nvGraphicFramePr>
        <p:xfrm>
          <a:off x="457200" y="2926080"/>
          <a:ext cx="5669280" cy="1920240"/>
        </p:xfrm>
        <a:graphic>
          <a:graphicData uri="http://schemas.openxmlformats.org/drawingml/2006/table">
            <a:tbl>
              <a:tblPr>
                <a:tableStyleId>{5C22544A-7EE6-4342-B048-85BDC9FD1C3A}</a:tableStyleId>
              </a:tblPr>
              <a:tblGrid>
                <a:gridCol w="1371600"/>
                <a:gridCol w="960120"/>
                <a:gridCol w="1234440"/>
                <a:gridCol w="1143000"/>
                <a:gridCol w="960120"/>
              </a:tblGrid>
              <a:tr h="384048">
                <a:tc>
                  <a:txBody>
                    <a:bodyPr/>
                    <a:lstStyle/>
                    <a:p>
                      <a:pPr algn="l"/>
                      <a:r>
                        <a:rPr sz="850" b="1">
                          <a:solidFill>
                            <a:srgbClr val="FFFFFF"/>
                          </a:solidFill>
                          <a:latin typeface="Calibri"/>
                        </a:rPr>
                        <a:t>City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Est. reach</a:t>
                      </a:r>
                    </a:p>
                  </a:txBody>
                  <a:tcPr marL="54864" marR="54864" marT="27432" marB="27432">
                    <a:solidFill>
                      <a:srgbClr val="1E2761"/>
                    </a:solidFill>
                  </a:tcPr>
                </a:tc>
                <a:tc>
                  <a:txBody>
                    <a:bodyPr/>
                    <a:lstStyle/>
                    <a:p>
                      <a:pPr algn="r"/>
                      <a:r>
                        <a:rPr sz="850" b="1">
                          <a:solidFill>
                            <a:srgbClr val="FFFFFF"/>
                          </a:solidFill>
                          <a:latin typeface="Calibri"/>
                        </a:rPr>
                        <a:t>Share</a:t>
                      </a:r>
                    </a:p>
                  </a:txBody>
                  <a:tcPr marL="54864" marR="54864" marT="27432" marB="27432">
                    <a:solidFill>
                      <a:srgbClr val="1E2761"/>
                    </a:solidFill>
                  </a:tcPr>
                </a:tc>
              </a:tr>
              <a:tr h="384048">
                <a:tc>
                  <a:txBody>
                    <a:bodyPr/>
                    <a:lstStyle/>
                    <a:p>
                      <a:pPr algn="l"/>
                      <a:r>
                        <a:rPr sz="850" b="1">
                          <a:solidFill>
                            <a:srgbClr val="2B3147"/>
                          </a:solidFill>
                          <a:latin typeface="Calibri"/>
                        </a:rPr>
                        <a:t>Mexico City</a:t>
                      </a:r>
                    </a:p>
                  </a:txBody>
                  <a:tcPr marL="54864" marR="54864" marT="27432" marB="27432">
                    <a:solidFill>
                      <a:srgbClr val="FFFFFF"/>
                    </a:solidFill>
                  </a:tcPr>
                </a:tc>
                <a:tc>
                  <a:txBody>
                    <a:bodyPr/>
                    <a:lstStyle/>
                    <a:p>
                      <a:pPr algn="r"/>
                      <a:r>
                        <a:rPr sz="850" b="0">
                          <a:solidFill>
                            <a:srgbClr val="2B3147"/>
                          </a:solidFill>
                          <a:latin typeface="Calibri"/>
                        </a:rPr>
                        <a:t>$15,724</a:t>
                      </a:r>
                    </a:p>
                  </a:txBody>
                  <a:tcPr marL="54864" marR="54864" marT="27432" marB="27432">
                    <a:solidFill>
                      <a:srgbClr val="FFFFFF"/>
                    </a:solidFill>
                  </a:tcPr>
                </a:tc>
                <a:tc>
                  <a:txBody>
                    <a:bodyPr/>
                    <a:lstStyle/>
                    <a:p>
                      <a:pPr algn="r"/>
                      <a:r>
                        <a:rPr sz="850" b="0">
                          <a:solidFill>
                            <a:srgbClr val="2B3147"/>
                          </a:solidFill>
                          <a:latin typeface="Calibri"/>
                        </a:rPr>
                        <a:t>825,383</a:t>
                      </a:r>
                    </a:p>
                  </a:txBody>
                  <a:tcPr marL="54864" marR="54864" marT="27432" marB="27432">
                    <a:solidFill>
                      <a:srgbClr val="FFFFFF"/>
                    </a:solidFill>
                  </a:tcPr>
                </a:tc>
                <a:tc>
                  <a:txBody>
                    <a:bodyPr/>
                    <a:lstStyle/>
                    <a:p>
                      <a:pPr algn="r"/>
                      <a:r>
                        <a:rPr sz="850" b="0">
                          <a:solidFill>
                            <a:srgbClr val="2B3147"/>
                          </a:solidFill>
                          <a:latin typeface="Calibri"/>
                        </a:rPr>
                        <a:t>458,546</a:t>
                      </a:r>
                    </a:p>
                  </a:txBody>
                  <a:tcPr marL="54864" marR="54864" marT="27432" marB="27432">
                    <a:solidFill>
                      <a:srgbClr val="FFFFFF"/>
                    </a:solidFill>
                  </a:tcPr>
                </a:tc>
                <a:tc>
                  <a:txBody>
                    <a:bodyPr/>
                    <a:lstStyle/>
                    <a:p>
                      <a:pPr algn="r"/>
                      <a:r>
                        <a:rPr sz="850" b="0">
                          <a:solidFill>
                            <a:srgbClr val="2B3147"/>
                          </a:solidFill>
                          <a:latin typeface="Calibri"/>
                        </a:rPr>
                        <a:t>58.7%</a:t>
                      </a:r>
                    </a:p>
                  </a:txBody>
                  <a:tcPr marL="54864" marR="54864" marT="27432" marB="27432">
                    <a:solidFill>
                      <a:srgbClr val="FFFFFF"/>
                    </a:solidFill>
                  </a:tcPr>
                </a:tc>
              </a:tr>
              <a:tr h="384048">
                <a:tc>
                  <a:txBody>
                    <a:bodyPr/>
                    <a:lstStyle/>
                    <a:p>
                      <a:pPr algn="l"/>
                      <a:r>
                        <a:rPr sz="850" b="1">
                          <a:solidFill>
                            <a:srgbClr val="2B3147"/>
                          </a:solidFill>
                          <a:latin typeface="Calibri"/>
                        </a:rPr>
                        <a:t>Guadalajara</a:t>
                      </a:r>
                    </a:p>
                  </a:txBody>
                  <a:tcPr marL="54864" marR="54864" marT="27432" marB="27432">
                    <a:solidFill>
                      <a:srgbClr val="F9FAFC"/>
                    </a:solidFill>
                  </a:tcPr>
                </a:tc>
                <a:tc>
                  <a:txBody>
                    <a:bodyPr/>
                    <a:lstStyle/>
                    <a:p>
                      <a:pPr algn="r"/>
                      <a:r>
                        <a:rPr sz="850" b="0">
                          <a:solidFill>
                            <a:srgbClr val="2B3147"/>
                          </a:solidFill>
                          <a:latin typeface="Calibri"/>
                        </a:rPr>
                        <a:t>$6,040</a:t>
                      </a:r>
                    </a:p>
                  </a:txBody>
                  <a:tcPr marL="54864" marR="54864" marT="27432" marB="27432">
                    <a:solidFill>
                      <a:srgbClr val="F9FAFC"/>
                    </a:solidFill>
                  </a:tcPr>
                </a:tc>
                <a:tc>
                  <a:txBody>
                    <a:bodyPr/>
                    <a:lstStyle/>
                    <a:p>
                      <a:pPr algn="r"/>
                      <a:r>
                        <a:rPr sz="850" b="0">
                          <a:solidFill>
                            <a:srgbClr val="2B3147"/>
                          </a:solidFill>
                          <a:latin typeface="Calibri"/>
                        </a:rPr>
                        <a:t>314,817</a:t>
                      </a:r>
                    </a:p>
                  </a:txBody>
                  <a:tcPr marL="54864" marR="54864" marT="27432" marB="27432">
                    <a:solidFill>
                      <a:srgbClr val="F9FAFC"/>
                    </a:solidFill>
                  </a:tcPr>
                </a:tc>
                <a:tc>
                  <a:txBody>
                    <a:bodyPr/>
                    <a:lstStyle/>
                    <a:p>
                      <a:pPr algn="r"/>
                      <a:r>
                        <a:rPr sz="850" b="0">
                          <a:solidFill>
                            <a:srgbClr val="2B3147"/>
                          </a:solidFill>
                          <a:latin typeface="Calibri"/>
                        </a:rPr>
                        <a:t>174,898</a:t>
                      </a:r>
                    </a:p>
                  </a:txBody>
                  <a:tcPr marL="54864" marR="54864" marT="27432" marB="27432">
                    <a:solidFill>
                      <a:srgbClr val="F9FAFC"/>
                    </a:solidFill>
                  </a:tcPr>
                </a:tc>
                <a:tc>
                  <a:txBody>
                    <a:bodyPr/>
                    <a:lstStyle/>
                    <a:p>
                      <a:pPr algn="r"/>
                      <a:r>
                        <a:rPr sz="850" b="0">
                          <a:solidFill>
                            <a:srgbClr val="2B3147"/>
                          </a:solidFill>
                          <a:latin typeface="Calibri"/>
                        </a:rPr>
                        <a:t>22.4%</a:t>
                      </a:r>
                    </a:p>
                  </a:txBody>
                  <a:tcPr marL="54864" marR="54864" marT="27432" marB="27432">
                    <a:solidFill>
                      <a:srgbClr val="F9FAFC"/>
                    </a:solidFill>
                  </a:tcPr>
                </a:tc>
              </a:tr>
              <a:tr h="384048">
                <a:tc>
                  <a:txBody>
                    <a:bodyPr/>
                    <a:lstStyle/>
                    <a:p>
                      <a:pPr algn="l"/>
                      <a:r>
                        <a:rPr sz="850" b="1">
                          <a:solidFill>
                            <a:srgbClr val="2B3147"/>
                          </a:solidFill>
                          <a:latin typeface="Calibri"/>
                        </a:rPr>
                        <a:t>Monterrey</a:t>
                      </a:r>
                    </a:p>
                  </a:txBody>
                  <a:tcPr marL="54864" marR="54864" marT="27432" marB="27432">
                    <a:solidFill>
                      <a:srgbClr val="FFFFFF"/>
                    </a:solidFill>
                  </a:tcPr>
                </a:tc>
                <a:tc>
                  <a:txBody>
                    <a:bodyPr/>
                    <a:lstStyle/>
                    <a:p>
                      <a:pPr algn="r"/>
                      <a:r>
                        <a:rPr sz="850" b="0">
                          <a:solidFill>
                            <a:srgbClr val="2B3147"/>
                          </a:solidFill>
                          <a:latin typeface="Calibri"/>
                        </a:rPr>
                        <a:t>$5,101</a:t>
                      </a:r>
                    </a:p>
                  </a:txBody>
                  <a:tcPr marL="54864" marR="54864" marT="27432" marB="27432">
                    <a:solidFill>
                      <a:srgbClr val="FFFFFF"/>
                    </a:solidFill>
                  </a:tcPr>
                </a:tc>
                <a:tc>
                  <a:txBody>
                    <a:bodyPr/>
                    <a:lstStyle/>
                    <a:p>
                      <a:pPr algn="r"/>
                      <a:r>
                        <a:rPr sz="850" b="0">
                          <a:solidFill>
                            <a:srgbClr val="2B3147"/>
                          </a:solidFill>
                          <a:latin typeface="Calibri"/>
                        </a:rPr>
                        <a:t>265,905</a:t>
                      </a:r>
                    </a:p>
                  </a:txBody>
                  <a:tcPr marL="54864" marR="54864" marT="27432" marB="27432">
                    <a:solidFill>
                      <a:srgbClr val="FFFFFF"/>
                    </a:solidFill>
                  </a:tcPr>
                </a:tc>
                <a:tc>
                  <a:txBody>
                    <a:bodyPr/>
                    <a:lstStyle/>
                    <a:p>
                      <a:pPr algn="r"/>
                      <a:r>
                        <a:rPr sz="850" b="0">
                          <a:solidFill>
                            <a:srgbClr val="2B3147"/>
                          </a:solidFill>
                          <a:latin typeface="Calibri"/>
                        </a:rPr>
                        <a:t>147,725</a:t>
                      </a:r>
                    </a:p>
                  </a:txBody>
                  <a:tcPr marL="54864" marR="54864" marT="27432" marB="27432">
                    <a:solidFill>
                      <a:srgbClr val="FFFFFF"/>
                    </a:solidFill>
                  </a:tcPr>
                </a:tc>
                <a:tc>
                  <a:txBody>
                    <a:bodyPr/>
                    <a:lstStyle/>
                    <a:p>
                      <a:pPr algn="r"/>
                      <a:r>
                        <a:rPr sz="850" b="0">
                          <a:solidFill>
                            <a:srgbClr val="2B3147"/>
                          </a:solidFill>
                          <a:latin typeface="Calibri"/>
                        </a:rPr>
                        <a:t>18.9%</a:t>
                      </a:r>
                    </a:p>
                  </a:txBody>
                  <a:tcPr marL="54864" marR="54864" marT="27432" marB="27432">
                    <a:solidFill>
                      <a:srgbClr val="FFFFFF"/>
                    </a:solidFill>
                  </a:tcPr>
                </a:tc>
              </a:tr>
              <a:tr h="384048">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$26,865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c>
                  <a:txBody>
                    <a:bodyPr/>
                    <a:lstStyle/>
                    <a:p>
                      <a:pPr algn="r"/>
                      <a:r>
                        <a:rPr sz="850" b="1">
                          <a:solidFill>
                            <a:srgbClr val="1E2761"/>
                          </a:solidFill>
                          <a:latin typeface="Calibri"/>
                        </a:rPr>
                        <a:t>781,169</a:t>
                      </a:r>
                    </a:p>
                  </a:txBody>
                  <a:tcPr marL="54864" marR="54864" marT="27432" marB="27432">
                    <a:solidFill>
                      <a:srgbClr val="CADCFC"/>
                    </a:solidFill>
                  </a:tcPr>
                </a:tc>
                <a:tc>
                  <a:txBody>
                    <a:bodyPr/>
                    <a:lstStyle/>
                    <a:p>
                      <a:pPr algn="r"/>
                      <a:r>
                        <a:rPr sz="850" b="1">
                          <a:solidFill>
                            <a:srgbClr val="1E2761"/>
                          </a:solidFill>
                          <a:latin typeface="Calibri"/>
                        </a:rPr>
                        <a:t>100%</a:t>
                      </a:r>
                    </a:p>
                  </a:txBody>
                  <a:tcPr marL="54864" marR="54864" marT="27432" marB="27432">
                    <a:solidFill>
                      <a:srgbClr val="CADCFC"/>
                    </a:solidFill>
                  </a:tcPr>
                </a:tc>
              </a:tr>
            </a:tbl>
          </a:graphicData>
        </a:graphic>
      </p:graphicFrame>
      <p:graphicFrame>
        <p:nvGraphicFramePr>
          <p:cNvPr id="31" name="Table 30"/>
          <p:cNvGraphicFramePr>
            <a:graphicFrameLocks noGrp="1"/>
          </p:cNvGraphicFramePr>
          <p:nvPr/>
        </p:nvGraphicFramePr>
        <p:xfrm>
          <a:off x="6400800" y="2926080"/>
          <a:ext cx="5303520" cy="2240280"/>
        </p:xfrm>
        <a:graphic>
          <a:graphicData uri="http://schemas.openxmlformats.org/drawingml/2006/table">
            <a:tbl>
              <a:tblPr>
                <a:tableStyleId>{5C22544A-7EE6-4342-B048-85BDC9FD1C3A}</a:tableStyleId>
              </a:tblPr>
              <a:tblGrid>
                <a:gridCol w="1828800"/>
                <a:gridCol w="868680"/>
                <a:gridCol w="868680"/>
                <a:gridCol w="868680"/>
                <a:gridCol w="868680"/>
              </a:tblGrid>
              <a:tr h="320040">
                <a:tc>
                  <a:txBody>
                    <a:bodyPr/>
                    <a:lstStyle/>
                    <a:p>
                      <a:pPr algn="l"/>
                      <a:r>
                        <a:rPr sz="850" b="1">
                          <a:solidFill>
                            <a:srgbClr val="FFFFFF"/>
                          </a:solidFill>
                          <a:latin typeface="Calibri"/>
                        </a:rPr>
                        <a:t>Category</a:t>
                      </a:r>
                    </a:p>
                  </a:txBody>
                  <a:tcPr marL="54864" marR="54864" marT="27432" marB="27432">
                    <a:solidFill>
                      <a:srgbClr val="1E2761"/>
                    </a:solidFill>
                  </a:tcPr>
                </a:tc>
                <a:tc>
                  <a:txBody>
                    <a:bodyPr/>
                    <a:lstStyle/>
                    <a:p>
                      <a:pPr algn="r"/>
                      <a:r>
                        <a:rPr sz="850" b="1">
                          <a:solidFill>
                            <a:srgbClr val="FFFFFF"/>
                          </a:solidFill>
                          <a:latin typeface="Calibri"/>
                        </a:rPr>
                        <a:t>Mexico City</a:t>
                      </a:r>
                    </a:p>
                  </a:txBody>
                  <a:tcPr marL="54864" marR="54864" marT="27432" marB="27432">
                    <a:solidFill>
                      <a:srgbClr val="1E2761"/>
                    </a:solidFill>
                  </a:tcPr>
                </a:tc>
                <a:tc>
                  <a:txBody>
                    <a:bodyPr/>
                    <a:lstStyle/>
                    <a:p>
                      <a:pPr algn="r"/>
                      <a:r>
                        <a:rPr sz="850" b="1">
                          <a:solidFill>
                            <a:srgbClr val="FFFFFF"/>
                          </a:solidFill>
                          <a:latin typeface="Calibri"/>
                        </a:rPr>
                        <a:t>Guadalajara</a:t>
                      </a:r>
                    </a:p>
                  </a:txBody>
                  <a:tcPr marL="54864" marR="54864" marT="27432" marB="27432">
                    <a:solidFill>
                      <a:srgbClr val="1E2761"/>
                    </a:solidFill>
                  </a:tcPr>
                </a:tc>
                <a:tc>
                  <a:txBody>
                    <a:bodyPr/>
                    <a:lstStyle/>
                    <a:p>
                      <a:pPr algn="r"/>
                      <a:r>
                        <a:rPr sz="850" b="1">
                          <a:solidFill>
                            <a:srgbClr val="FFFFFF"/>
                          </a:solidFill>
                          <a:latin typeface="Calibri"/>
                        </a:rPr>
                        <a:t>Monterrey</a:t>
                      </a:r>
                    </a:p>
                  </a:txBody>
                  <a:tcPr marL="54864" marR="54864" marT="27432" marB="27432">
                    <a:solidFill>
                      <a:srgbClr val="1E2761"/>
                    </a:solidFill>
                  </a:tcPr>
                </a:tc>
                <a:tc>
                  <a:txBody>
                    <a:bodyPr/>
                    <a:lstStyle/>
                    <a:p>
                      <a:pPr algn="r"/>
                      <a:r>
                        <a:rPr sz="850" b="1">
                          <a:solidFill>
                            <a:srgbClr val="FFFFFF"/>
                          </a:solidFill>
                          <a:latin typeface="Calibri"/>
                        </a:rPr>
                        <a:t>Total</a:t>
                      </a:r>
                    </a:p>
                  </a:txBody>
                  <a:tcPr marL="54864" marR="54864" marT="27432" marB="27432">
                    <a:solidFill>
                      <a:srgbClr val="1E2761"/>
                    </a:solidFill>
                  </a:tcPr>
                </a:tc>
              </a:tr>
              <a:tr h="320040">
                <a:tc>
                  <a:txBody>
                    <a:bodyPr/>
                    <a:lstStyle/>
                    <a:p>
                      <a:pPr algn="l"/>
                      <a:r>
                        <a:rPr sz="850" b="1">
                          <a:solidFill>
                            <a:srgbClr val="2B3147"/>
                          </a:solidFill>
                          <a:latin typeface="Calibri"/>
                        </a:rPr>
                        <a:t>Airport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Main Avenue / Roadside</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Shopping Mall / Retail</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Leisure &amp; Hospitality</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Other</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1E2761"/>
                          </a:solidFill>
                          <a:latin typeface="Calibri"/>
                        </a:rPr>
                        <a:t>City impressions</a:t>
                      </a:r>
                    </a:p>
                  </a:txBody>
                  <a:tcPr marL="54864" marR="54864" marT="27432" marB="27432">
                    <a:solidFill>
                      <a:srgbClr val="CADCFC"/>
                    </a:solidFill>
                  </a:tcPr>
                </a:tc>
                <a:tc>
                  <a:txBody>
                    <a:bodyPr/>
                    <a:lstStyle/>
                    <a:p>
                      <a:pPr algn="r"/>
                      <a:r>
                        <a:rPr sz="850" b="1">
                          <a:solidFill>
                            <a:srgbClr val="1E2761"/>
                          </a:solidFill>
                          <a:latin typeface="Calibri"/>
                        </a:rPr>
                        <a:t>825,383</a:t>
                      </a:r>
                    </a:p>
                  </a:txBody>
                  <a:tcPr marL="54864" marR="54864" marT="27432" marB="27432">
                    <a:solidFill>
                      <a:srgbClr val="CADCFC"/>
                    </a:solidFill>
                  </a:tcPr>
                </a:tc>
                <a:tc>
                  <a:txBody>
                    <a:bodyPr/>
                    <a:lstStyle/>
                    <a:p>
                      <a:pPr algn="r"/>
                      <a:r>
                        <a:rPr sz="850" b="1">
                          <a:solidFill>
                            <a:srgbClr val="1E2761"/>
                          </a:solidFill>
                          <a:latin typeface="Calibri"/>
                        </a:rPr>
                        <a:t>314,817</a:t>
                      </a:r>
                    </a:p>
                  </a:txBody>
                  <a:tcPr marL="54864" marR="54864" marT="27432" marB="27432">
                    <a:solidFill>
                      <a:srgbClr val="CADCFC"/>
                    </a:solidFill>
                  </a:tcPr>
                </a:tc>
                <a:tc>
                  <a:txBody>
                    <a:bodyPr/>
                    <a:lstStyle/>
                    <a:p>
                      <a:pPr algn="r"/>
                      <a:r>
                        <a:rPr sz="850" b="1">
                          <a:solidFill>
                            <a:srgbClr val="1E2761"/>
                          </a:solidFill>
                          <a:latin typeface="Calibri"/>
                        </a:rPr>
                        <a:t>265,905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r>
            </a:tbl>
          </a:graphicData>
        </a:graphic>
      </p:graphicFrame>
      <p:sp>
        <p:nvSpPr>
          <p:cNvPr id="32" name="TextBox 31"/>
          <p:cNvSpPr txBox="1"/>
          <p:nvPr/>
        </p:nvSpPr>
        <p:spPr>
          <a:xfrm>
            <a:off x="457200" y="5440680"/>
            <a:ext cx="11247120" cy="457200"/>
          </a:xfrm>
          <a:prstGeom prst="rect">
            <a:avLst/>
          </a:prstGeom>
          <a:noFill/>
        </p:spPr>
        <p:txBody>
          <a:bodyPr wrap="square" anchor="t" lIns="0" rIns="0" tIns="0" bIns="0">
            <a:spAutoFit/>
          </a:bodyPr>
          <a:lstStyle/>
          <a:p>
            <a:pPr algn="l"/>
            <a:r>
              <a:rPr sz="750" b="0">
                <a:solidFill>
                  <a:srgbClr val="5A6072"/>
                </a:solidFill>
                <a:latin typeface="Calibri"/>
              </a:rPr>
              <a:t>Impressions are opportunities to see. Estimated reach applies an average frequency of 1.8 to impressions, the same model as the June report. Spend per the client budget tracker; share is the impression share. Venue mix follows with the vendor placement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sessions fell 21% to 7,310, tracking Bing’s rebuild month. Key-event capture is fixed as of July 31.</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fell sharply; attributed sessions grew.</a:t>
            </a:r>
          </a:p>
          <a:p>
            <a:pPr algn="l">
              <a:spcBef>
                <a:spcPts val="600"/>
              </a:spcBef>
            </a:pPr>
            <a:r>
              <a:rPr sz="950" b="0">
                <a:solidFill>
                  <a:srgbClr val="2B3147"/>
                </a:solidFill>
                <a:latin typeface="Calibri"/>
              </a:rPr>
              <a:t>Venezuela’s session volume fell sharply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 Finish the measurement. Hold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16 / 16</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on the July close of $237.12; August is tracking at $243 across three products.</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Apply the 66-site Quantcast disallow list, led by tvazteca.com, and hold delivery to the 70% viewability standard.</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August is the first month GA4 can corroborate the submitted-application count.</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Native and DOOH report in full with a second month of data.</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August scales it, holds programmatic quality, and brings GA4 corroboration online.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