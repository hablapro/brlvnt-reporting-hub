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582.18</c:v>
                </c:pt>
                <c:pt idx="27">
                  <c:v>559.63</c:v>
                </c:pt>
                <c:pt idx="28">
                  <c:v>723.75</c:v>
                </c:pt>
                <c:pt idx="29">
                  <c:v>607.16</c:v>
                </c:pt>
                <c:pt idx="30">
                  <c:v>442.33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held near June on a 24% larger media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14</a:t>
            </a:r>
          </a:p>
        </p:txBody>
      </p:sp>
      <p:sp>
        <p:nvSpPr>
          <p:cNvPr id="10" name="TextBox 9"/>
          <p:cNvSpPr txBox="1"/>
          <p:nvPr/>
        </p:nvSpPr>
        <p:spPr>
          <a:xfrm>
            <a:off x="457200" y="1600200"/>
            <a:ext cx="11247120" cy="1371600"/>
          </a:xfrm>
          <a:prstGeom prst="rect">
            <a:avLst/>
          </a:prstGeom>
          <a:noFill/>
        </p:spPr>
        <p:txBody>
          <a:bodyPr wrap="square" anchor="t" lIns="0" rIns="0" tIns="0" bIns="0">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and the biggest month of 2026. The growth sits in the new Native and DOOH lines; the four continuing channels spent $95,401 against June’s total of $120,393, and paid submitted applications with a measured source (Bing plus Azerion) came in at 61.</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gridCol w="987552"/>
                <a:gridCol w="987552"/>
                <a:gridCol w="987552"/>
                <a:gridCol w="987552"/>
                <a:gridCol w="987552"/>
                <a:gridCol w="1042415"/>
                <a:gridCol w="1042415"/>
                <a:gridCol w="950976"/>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2" name="TextBox 11"/>
          <p:cNvSpPr txBox="1"/>
          <p:nvPr/>
        </p:nvSpPr>
        <p:spPr>
          <a:xfrm>
            <a:off x="457200" y="6144768"/>
            <a:ext cx="11247120" cy="27432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$149,896 deployed in July, up 24%, the biggest GGMI media month of 2026.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14</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 Azerion applications are vendor-reported; Bing applications are SA360-reported, the account’s conversion source of record. Conversions come from different systems per channel and are never summed; the combined Bing + Azerion view is the one sanctioned pairing.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Bing and Azerion, the two channels with a submitted-application figure behind them, produced 61 applications combined at $789.08 (June: 92 at $660.00).</a:t>
            </a:r>
          </a:p>
          <a:p>
            <a:pPr algn="l">
              <a:spcBef>
                <a:spcPts val="600"/>
              </a:spcBef>
            </a:pPr>
            <a:r>
              <a:rPr sz="950" b="0">
                <a:solidFill>
                  <a:srgbClr val="2B3147"/>
                </a:solidFill>
                <a:latin typeface="Calibri"/>
              </a:rPr>
              <a:t>The rise traces to Bing, which spent the first third of July rebuilding its campaign structure and the next third transitioning to it, not to Azerion, which held steady.</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14</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It closed July at $237.12 per submitted application, less than half June’s $513.17.</a:t>
            </a:r>
          </a:p>
          <a:p>
            <a:pPr algn="l">
              <a:spcBef>
                <a:spcPts val="600"/>
              </a:spcBef>
            </a:pPr>
            <a:r>
              <a:rPr sz="900" b="0">
                <a:solidFill>
                  <a:srgbClr val="2B3147"/>
                </a:solidFill>
                <a:latin typeface="Calibri"/>
              </a:rPr>
              <a:t>August’s first days track at $243, with three products converting.</a:t>
            </a:r>
          </a:p>
          <a:p>
            <a:pPr algn="l">
              <a:spcBef>
                <a:spcPts val="600"/>
              </a:spcBef>
            </a:pPr>
            <a:r>
              <a:rPr sz="900" b="0">
                <a:solidFill>
                  <a:srgbClr val="2B3147"/>
                </a:solidFill>
                <a:latin typeface="Calibri"/>
              </a:rPr>
              <a:t>June’s Mexico commitment held: delivery concentrated in-market across the month.</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83664"/>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Hold programmatic quality on Quantcast. Viewability improved 3.15 points to 54.45% and still sits under the 70% standard.</a:t>
            </a:r>
          </a:p>
          <a:p>
            <a:pPr algn="l">
              <a:spcBef>
                <a:spcPts val="600"/>
              </a:spcBef>
            </a:pPr>
            <a:r>
              <a:rPr sz="900" b="0">
                <a:solidFill>
                  <a:srgbClr val="2B3147"/>
                </a:solidFill>
                <a:latin typeface="Calibri"/>
              </a:rPr>
              <a:t>The refreshed 66-site disallow list is the direct lever, led by tvazteca.com.</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83664"/>
            <a:ext cx="3227832" cy="219456"/>
          </a:xfrm>
          <a:prstGeom prst="rect">
            <a:avLst/>
          </a:prstGeom>
          <a:noFill/>
        </p:spPr>
        <p:txBody>
          <a:bodyPr wrap="square" anchor="t" lIns="0" rIns="0" tIns="0" bIns="0">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anchor="t" lIns="0" rIns="0" tIns="0" bIns="0">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Both upper-funnel. Native reports spend and delivery with no conversion claim; DOOH reports spend only this cycle.</a:t>
            </a:r>
          </a:p>
          <a:p>
            <a:pPr algn="l">
              <a:spcBef>
                <a:spcPts val="600"/>
              </a:spcBef>
            </a:pPr>
            <a:r>
              <a:rPr sz="900" b="0">
                <a:solidFill>
                  <a:srgbClr val="2B3147"/>
                </a:solidFill>
                <a:latin typeface="Calibri"/>
              </a:rPr>
              <a:t>Both report in full once a second month allows comparison.</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57800"/>
            <a:ext cx="10728655" cy="731520"/>
          </a:xfrm>
          <a:prstGeom prst="rect">
            <a:avLst/>
          </a:prstGeom>
          <a:noFill/>
        </p:spPr>
        <p:txBody>
          <a:bodyPr wrap="square" anchor="ctr" lIns="0" rIns="0" tIns="0" bIns="0">
            <a:spAutoFit/>
          </a:bodyPr>
          <a:lstStyle/>
          <a:p>
            <a:pPr algn="l"/>
            <a:r>
              <a:rPr sz="1200" b="1">
                <a:solidFill>
                  <a:srgbClr val="FFFFFF"/>
                </a:solidFill>
                <a:latin typeface="Georgia"/>
              </a:rPr>
              <a:t>The rebuilt structure delivered $237.12 per submitted application. August scales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windows in one month. The rebuilt structure is the account’s current state.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r:id="rId3"/>
          </a:graphicData>
        </a:graphic>
      </p:graphicFrame>
      <p:sp>
        <p:nvSpPr>
          <p:cNvPr id="41" name="TextBox 40"/>
          <p:cNvSpPr txBox="1"/>
          <p:nvPr/>
        </p:nvSpPr>
        <p:spPr>
          <a:xfrm>
            <a:off x="731520" y="3291840"/>
            <a:ext cx="2194560" cy="274320"/>
          </a:xfrm>
          <a:prstGeom prst="rect">
            <a:avLst/>
          </a:prstGeom>
          <a:noFill/>
        </p:spPr>
        <p:txBody>
          <a:bodyPr wrap="square" anchor="t" lIns="0" rIns="0" tIns="0" bIns="0">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anchor="t" lIns="0" rIns="0" tIns="0" bIns="0">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anchor="t" lIns="0" rIns="0" tIns="0" bIns="0">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gridCol w="822960"/>
                <a:gridCol w="548640"/>
                <a:gridCol w="914400"/>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tr>
            </a:tbl>
          </a:graphicData>
        </a:graphic>
      </p:graphicFrame>
      <p:sp>
        <p:nvSpPr>
          <p:cNvPr id="45" name="TextBox 44"/>
          <p:cNvSpPr txBox="1"/>
          <p:nvPr/>
        </p:nvSpPr>
        <p:spPr>
          <a:xfrm>
            <a:off x="7863840" y="5303520"/>
            <a:ext cx="3840480" cy="1005840"/>
          </a:xfrm>
          <a:prstGeom prst="rect">
            <a:avLst/>
          </a:prstGeom>
          <a:noFill/>
        </p:spPr>
        <p:txBody>
          <a:bodyPr wrap="square" anchor="t" lIns="0" rIns="0" tIns="0" bIns="0">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The rebuild superseded June’s campaign picks. August scales what works.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14</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anchor="t" lIns="0" rIns="0" tIns="0" bIns="0">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anchor="t" lIns="0" rIns="0" tIns="0" bIns="0">
            <a:spAutoFit/>
          </a:bodyPr>
          <a:lstStyle/>
          <a:p>
            <a:pPr algn="l"/>
            <a:r>
              <a:rPr sz="950" b="0">
                <a:solidFill>
                  <a:srgbClr val="2B3147"/>
                </a:solidFill>
                <a:latin typeface="Calibri"/>
              </a:rPr>
              <a:t>Scale the rebuilt structure behind the TradingView theme, holding the July close of $237.12 as volume grows. August’s first days track at $243, with three products converting.</a:t>
            </a:r>
          </a:p>
          <a:p>
            <a:pPr algn="l">
              <a:spcBef>
                <a:spcPts val="600"/>
              </a:spcBef>
            </a:pPr>
            <a:r>
              <a:rPr sz="950" b="0">
                <a:solidFill>
                  <a:srgbClr val="2B3147"/>
                </a:solidFill>
                <a:latin typeface="Calibri"/>
              </a:rPr>
              <a:t>Read the account on the rebuilt structure’s results rather than the full-month average; the second half of July is the account’s current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Reach delivered at scale, all in Mexico. Viewability is the bill to manage.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  ·  floor 70%</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directional only</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Viewability improved 3.15 points to 54.45% and still sits under the 70% floor the account works against.</a:t>
            </a:r>
          </a:p>
          <a:p>
            <a:pPr algn="l">
              <a:spcBef>
                <a:spcPts val="600"/>
              </a:spcBef>
            </a:pPr>
            <a:r>
              <a:rPr sz="950" b="0">
                <a:solidFill>
                  <a:srgbClr val="2B3147"/>
                </a:solidFill>
                <a:latin typeface="Calibri"/>
              </a:rPr>
              <a:t>Result volume (15) is too low to support a cost-per-result figure; the channel reads as an awareness and reach story this month.</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THE SITE LIST IS THE LEVER</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June’s 49-site blocklist is refreshed to 66 domains this month.</a:t>
            </a:r>
          </a:p>
          <a:p>
            <a:pPr algn="l">
              <a:spcBef>
                <a:spcPts val="600"/>
              </a:spcBef>
            </a:pPr>
            <a:r>
              <a:rPr sz="950" b="0">
                <a:solidFill>
                  <a:srgbClr val="2B3147"/>
                </a:solidFill>
                <a:latin typeface="Calibri"/>
              </a:rPr>
              <a:t>tvazteca.com is the headline: spend on that single domain grew to $3,451.61 in July while its viewability held near 9.6%, the second consecutive month of the pattern. If one exclusion is actioned this month, that is the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Apply the refreshed list, then hold quality with a floor.</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14</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disallow list is the direct lever on viewability: 66 domains flagged for exclusion, led by low-viewability news and utility inventory.</a:t>
            </a:r>
          </a:p>
          <a:p>
            <a:pPr algn="l">
              <a:spcBef>
                <a:spcPts val="600"/>
              </a:spcBef>
            </a:pPr>
            <a:r>
              <a:rPr sz="950" b="0">
                <a:solidFill>
                  <a:srgbClr val="2B3147"/>
                </a:solidFill>
                <a:latin typeface="Calibri"/>
              </a:rPr>
              <a:t>The campaign-level viewability floor recommended in June has not yet been implemented; without it, excluded inventory is replaced by unscreened inventory as reach scales.</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Implement the campaign-level viewability floor carried forward from June. It is the structural fix that holds quality as reach scales.</a:t>
            </a:r>
          </a:p>
          <a:p>
            <a:pPr algn="l">
              <a:spcBef>
                <a:spcPts val="600"/>
              </a:spcBef>
            </a:pPr>
            <a:r>
              <a:rPr sz="950" b="0">
                <a:solidFill>
                  <a:srgbClr val="2B3147"/>
                </a:solidFill>
                <a:latin typeface="Calibri"/>
              </a:rPr>
              <a:t>Keep the channel judged on reach and cost of reach until result volume supports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41 vendor-reported applications; viewability now clear of the floor on both formats.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Applications are reported by the vendor’s own tracking rather than by SA360, the source of record behind Bing’s count; the distinction travels with the number.</a:t>
            </a:r>
          </a:p>
          <a:p>
            <a:pPr algn="l">
              <a:spcBef>
                <a:spcPts val="600"/>
              </a:spcBef>
            </a:pPr>
            <a:r>
              <a:rPr sz="950" b="0">
                <a:solidFill>
                  <a:srgbClr val="2B3147"/>
                </a:solidFill>
                <a:latin typeface="Calibri"/>
              </a:rPr>
              <a:t>June’s viewability recommendation fully landed: display rose from 68.5% to 82.47%, native came in at 77.34%, both clear of the 70% floor.</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Judge the channel at the monthly level. Close out the vendor confirmation.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14</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channel figure is the stable read: $914.85 per vendor-reported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Hold the channel’s pace and judge it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 and hold certification of that detail until it lands.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Reported on spend and delivery this month. Instagram testing delivered.</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NOTE</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July’s Meta reporting covers spend and delivery: impressions, reach, frequency, link clicks, CTR, CPC, CPM, landing-page views, placements and geo.</a:t>
            </a:r>
          </a:p>
          <a:p>
            <a:pPr algn="l">
              <a:spcBef>
                <a:spcPts val="600"/>
              </a:spcBef>
            </a:pPr>
            <a:r>
              <a:rPr sz="950" b="0">
                <a:solidFill>
                  <a:srgbClr val="2B3147"/>
                </a:solidFill>
                <a:latin typeface="Calibri"/>
              </a:rPr>
              <a:t>The platform reports 117 submitted-application pixel fires; that figure is Meta-reported and unvalidated, is not compared to Bing’s SA360-reported count, and carries no cost-per-application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14</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gridCol w="1188720"/>
                <a:gridCol w="1371600"/>
                <a:gridCol w="1097280"/>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1" name="TextBox 10"/>
          <p:cNvSpPr txBox="1"/>
          <p:nvPr/>
        </p:nvSpPr>
        <p:spPr>
          <a:xfrm>
            <a:off x="457200" y="3566160"/>
            <a:ext cx="6766560" cy="548640"/>
          </a:xfrm>
          <a:prstGeom prst="rect">
            <a:avLst/>
          </a:prstGeom>
          <a:noFill/>
        </p:spPr>
        <p:txBody>
          <a:bodyPr wrap="square" anchor="t" lIns="0" rIns="0" tIns="0" bIns="0">
            <a:spAutoFit/>
          </a:bodyPr>
          <a:lstStyle/>
          <a:p>
            <a:pPr algn="l"/>
            <a:r>
              <a:rPr sz="750" b="0">
                <a:solidFill>
                  <a:srgbClr val="5A6072"/>
                </a:solidFill>
                <a:latin typeface="Calibri"/>
              </a:rPr>
              <a:t>Native combines Quantcast’s dedicated native placement and Azerion’s native inventory. Azerion native viewability: 77.34%, clear of the 70% floor. DOOH reports spend only this cycle.</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93392"/>
            <a:ext cx="3895344" cy="274320"/>
          </a:xfrm>
          <a:prstGeom prst="rect">
            <a:avLst/>
          </a:prstGeom>
          <a:noFill/>
        </p:spPr>
        <p:txBody>
          <a:bodyPr wrap="square" anchor="t" lIns="0" rIns="0" tIns="0" bIns="0">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anchor="t" lIns="0" rIns="0" tIns="0" bIns="0">
            <a:spAutoFit/>
          </a:bodyPr>
          <a:lstStyle/>
          <a:p>
            <a:pPr algn="l"/>
            <a:r>
              <a:rPr sz="950" b="0">
                <a:solidFill>
                  <a:srgbClr val="2B3147"/>
                </a:solidFill>
                <a:latin typeface="Calibri"/>
              </a:rPr>
              <a:t>Both are upper-funnel. Native carries a spend and delivery line with no conversion claim; DOOH carries spend only, with delivery detail out of scope this cycle.</a:t>
            </a:r>
          </a:p>
          <a:p>
            <a:pPr algn="l">
              <a:spcBef>
                <a:spcPts val="600"/>
              </a:spcBef>
            </a:pPr>
            <a:r>
              <a:rPr sz="950" b="0">
                <a:solidFill>
                  <a:srgbClr val="2B3147"/>
                </a:solidFill>
                <a:latin typeface="Calibri"/>
              </a:rPr>
              <a:t>Both report in full once a second month of data gives them something to compare against.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Context this month. The measurement fix makes August the first fully measured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live since Jul 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GA4 CORROBORATION</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August</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first full month</a:t>
            </a:r>
          </a:p>
        </p:txBody>
      </p:sp>
      <p:sp>
        <p:nvSpPr>
          <p:cNvPr id="30" name="Rectangle 2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fell sharply; attributed sessions grew.</a:t>
            </a:r>
          </a:p>
          <a:p>
            <a:pPr algn="l">
              <a:spcBef>
                <a:spcPts val="600"/>
              </a:spcBef>
            </a:pPr>
            <a:r>
              <a:rPr sz="950" b="0">
                <a:solidFill>
                  <a:srgbClr val="2B3147"/>
                </a:solidFill>
                <a:latin typeface="Calibri"/>
              </a:rPr>
              <a:t>Venezuela’s session volume fell sharply as the prior campaigns retired, the same campaign-mix effect behind Bing’s in-market concentration this month.</a:t>
            </a:r>
          </a:p>
        </p:txBody>
      </p:sp>
      <p:sp>
        <p:nvSpPr>
          <p:cNvPr id="34" name="Rectangle 3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TO CLOSE</a:t>
            </a:r>
          </a:p>
        </p:txBody>
      </p:sp>
      <p:sp>
        <p:nvSpPr>
          <p:cNvPr id="37" name="TextBox 3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The submitted-application key event began counting correctly on July 31 and has held at full capture since. July is reported on the SA360 count; August is the first month GA4 can corroborate it independently.</a:t>
            </a:r>
          </a:p>
          <a:p>
            <a:pPr algn="l">
              <a:spcBef>
                <a:spcPts val="600"/>
              </a:spcBef>
            </a:pPr>
            <a:r>
              <a:rPr sz="950" b="0">
                <a:solidFill>
                  <a:srgbClr val="2B3147"/>
                </a:solidFill>
                <a:latin typeface="Calibri"/>
              </a:rPr>
              <a:t>Completion of the Bing-to-GA4 account link has not yet been verified; the paid-search restatement June’s deck flagged lands once it is, expected alongside August’s corroboration.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 + NEXT STEPS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August priorities: scale the rebuilt structure, complete measurement, hold inventory quality.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14</a:t>
            </a:r>
          </a:p>
        </p:txBody>
      </p:sp>
      <p:sp>
        <p:nvSpPr>
          <p:cNvPr id="10" name="Rectangle 9"/>
          <p:cNvSpPr/>
          <p:nvPr/>
        </p:nvSpPr>
        <p:spPr>
          <a:xfrm>
            <a:off x="4572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37943"/>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on the July close of $237.12; August is tracking at $243 across three products.</a:t>
            </a:r>
          </a:p>
        </p:txBody>
      </p:sp>
      <p:sp>
        <p:nvSpPr>
          <p:cNvPr id="14" name="Rectangle 13"/>
          <p:cNvSpPr/>
          <p:nvPr/>
        </p:nvSpPr>
        <p:spPr>
          <a:xfrm>
            <a:off x="43434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37943"/>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Apply the 66-site Quantcast disallow list, led by tvazteca.com, and hold delivery to the 70% viewability standard.</a:t>
            </a:r>
          </a:p>
        </p:txBody>
      </p:sp>
      <p:sp>
        <p:nvSpPr>
          <p:cNvPr id="18" name="Rectangle 17"/>
          <p:cNvSpPr/>
          <p:nvPr/>
        </p:nvSpPr>
        <p:spPr>
          <a:xfrm>
            <a:off x="8229600" y="1783080"/>
            <a:ext cx="352044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783080"/>
            <a:ext cx="3520440"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37943"/>
            <a:ext cx="3227832" cy="219456"/>
          </a:xfrm>
          <a:prstGeom prst="rect">
            <a:avLst/>
          </a:prstGeom>
          <a:noFill/>
        </p:spPr>
        <p:txBody>
          <a:bodyPr wrap="square" anchor="t" lIns="0" rIns="0" tIns="0" bIns="0">
            <a:spAutoFit/>
          </a:bodyPr>
          <a:lstStyle/>
          <a:p>
            <a:pPr algn="l"/>
            <a:r>
              <a:rPr sz="950" b="1">
                <a:solidFill>
                  <a:srgbClr val="FFFFFF"/>
                </a:solidFill>
                <a:latin typeface="Georgia"/>
              </a:rPr>
              <a:t>MEASUREMENT TO CLOSE</a:t>
            </a:r>
          </a:p>
        </p:txBody>
      </p:sp>
      <p:sp>
        <p:nvSpPr>
          <p:cNvPr id="21" name="TextBox 20"/>
          <p:cNvSpPr txBox="1"/>
          <p:nvPr/>
        </p:nvSpPr>
        <p:spPr>
          <a:xfrm>
            <a:off x="8375904" y="2185416"/>
            <a:ext cx="3227832" cy="1554479"/>
          </a:xfrm>
          <a:prstGeom prst="rect">
            <a:avLst/>
          </a:prstGeom>
          <a:noFill/>
        </p:spPr>
        <p:txBody>
          <a:bodyPr wrap="square" anchor="t" lIns="0" rIns="0" tIns="0" bIns="0">
            <a:spAutoFit/>
          </a:bodyPr>
          <a:lstStyle/>
          <a:p>
            <a:pPr algn="l"/>
            <a:r>
              <a:rPr sz="900" b="0">
                <a:solidFill>
                  <a:srgbClr val="2B3147"/>
                </a:solidFill>
                <a:latin typeface="Calibri"/>
              </a:rPr>
              <a:t>August is the first month GA4 can corroborate the submitted-application count.</a:t>
            </a:r>
          </a:p>
          <a:p>
            <a:pPr algn="l">
              <a:spcBef>
                <a:spcPts val="600"/>
              </a:spcBef>
            </a:pPr>
            <a:r>
              <a:rPr sz="900" b="0">
                <a:solidFill>
                  <a:srgbClr val="2B3147"/>
                </a:solidFill>
                <a:latin typeface="Calibri"/>
              </a:rPr>
              <a:t>Close out Azerion’s country-level delivery confirmation with the vendor.</a:t>
            </a:r>
          </a:p>
        </p:txBody>
      </p:sp>
      <p:sp>
        <p:nvSpPr>
          <p:cNvPr id="22" name="Rectangle 21"/>
          <p:cNvSpPr/>
          <p:nvPr/>
        </p:nvSpPr>
        <p:spPr>
          <a:xfrm>
            <a:off x="457200" y="4069080"/>
            <a:ext cx="3703320" cy="182880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69080"/>
            <a:ext cx="370332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4123944"/>
            <a:ext cx="341071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5" name="TextBox 24"/>
          <p:cNvSpPr txBox="1"/>
          <p:nvPr/>
        </p:nvSpPr>
        <p:spPr>
          <a:xfrm>
            <a:off x="603504" y="4471416"/>
            <a:ext cx="3410712" cy="1280160"/>
          </a:xfrm>
          <a:prstGeom prst="rect">
            <a:avLst/>
          </a:prstGeom>
          <a:noFill/>
        </p:spPr>
        <p:txBody>
          <a:bodyPr wrap="square" anchor="t" lIns="0" rIns="0" tIns="0" bIns="0">
            <a:spAutoFit/>
          </a:bodyPr>
          <a:lstStyle/>
          <a:p>
            <a:pPr algn="l"/>
            <a:r>
              <a:rPr sz="900" b="0">
                <a:solidFill>
                  <a:srgbClr val="2B3147"/>
                </a:solidFill>
                <a:latin typeface="Calibri"/>
              </a:rPr>
              <a:t>Hold Azerion’s pace; judge the channel monthly.</a:t>
            </a:r>
          </a:p>
          <a:p>
            <a:pPr algn="l">
              <a:spcBef>
                <a:spcPts val="600"/>
              </a:spcBef>
            </a:pPr>
            <a:r>
              <a:rPr sz="900" b="0">
                <a:solidFill>
                  <a:srgbClr val="2B3147"/>
                </a:solidFill>
                <a:latin typeface="Calibri"/>
              </a:rPr>
              <a:t>Native and DOOH report in full with a second month of data.</a:t>
            </a:r>
          </a:p>
        </p:txBody>
      </p:sp>
      <p:sp>
        <p:nvSpPr>
          <p:cNvPr id="26" name="Rectangle 25"/>
          <p:cNvSpPr/>
          <p:nvPr/>
        </p:nvSpPr>
        <p:spPr>
          <a:xfrm>
            <a:off x="4343400" y="4069080"/>
            <a:ext cx="7406640" cy="18288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4069080"/>
            <a:ext cx="6858000" cy="1828800"/>
          </a:xfrm>
          <a:prstGeom prst="rect">
            <a:avLst/>
          </a:prstGeom>
          <a:noFill/>
        </p:spPr>
        <p:txBody>
          <a:bodyPr wrap="square" anchor="ctr" lIns="0" rIns="0" tIns="0" bIns="0">
            <a:spAutoFit/>
          </a:bodyPr>
          <a:lstStyle/>
          <a:p>
            <a:pPr algn="l"/>
            <a:r>
              <a:rPr sz="1200" b="1">
                <a:solidFill>
                  <a:srgbClr val="FFFFFF"/>
                </a:solidFill>
                <a:latin typeface="Georgia"/>
              </a:rPr>
              <a:t>The rebuilt structure converted at $237.12 in July. August scales it, holds programmatic quality, and brings GA4 corroboration online.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