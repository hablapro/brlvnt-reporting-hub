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Daily spend ($)</c:v>
                </c:pt>
              </c:strCache>
            </c:strRef>
          </c:tx>
          <c:spPr>
            <a:ln w="28575">
              <a:solidFill>
                <a:srgbClr val="1E2761"/>
              </a:solidFill>
            </a:ln>
          </c:spPr>
          <c:marker>
            <c:symbol val="circle"/>
            <c:size val="6"/>
            <c:spPr>
              <a:solidFill>
                <a:srgbClr val="1E2761"/>
              </a:solidFill>
              <a:ln>
                <a:solidFill>
                  <a:srgbClr val="FFFFFF"/>
                </a:solidFill>
              </a:ln>
            </c:spPr>
          </c:marker>
          <c:cat>
            <c:strRef>
              <c:f>Sheet1!$A$2:$A$32</c:f>
              <c:strCache>
                <c:ptCount val="3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strCache>
            </c:strRef>
          </c:cat>
          <c:val>
            <c:numRef>
              <c:f>Sheet1!$B$2:$B$32</c:f>
              <c:numCache>
                <c:formatCode>General</c:formatCode>
                <c:ptCount val="31"/>
                <c:pt idx="0">
                  <c:v>0</c:v>
                </c:pt>
                <c:pt idx="1">
                  <c:v>0</c:v>
                </c:pt>
                <c:pt idx="2">
                  <c:v>0</c:v>
                </c:pt>
                <c:pt idx="3">
                  <c:v>0</c:v>
                </c:pt>
                <c:pt idx="4">
                  <c:v>0</c:v>
                </c:pt>
                <c:pt idx="5">
                  <c:v>0</c:v>
                </c:pt>
                <c:pt idx="6">
                  <c:v>0</c:v>
                </c:pt>
                <c:pt idx="7">
                  <c:v>0</c:v>
                </c:pt>
                <c:pt idx="8">
                  <c:v>0</c:v>
                </c:pt>
                <c:pt idx="9">
                  <c:v>0</c:v>
                </c:pt>
                <c:pt idx="10">
                  <c:v>436.55</c:v>
                </c:pt>
                <c:pt idx="11">
                  <c:v>364.63</c:v>
                </c:pt>
                <c:pt idx="12">
                  <c:v>441.88</c:v>
                </c:pt>
                <c:pt idx="13">
                  <c:v>562.23</c:v>
                </c:pt>
                <c:pt idx="14">
                  <c:v>559.9</c:v>
                </c:pt>
                <c:pt idx="15">
                  <c:v>699.13</c:v>
                </c:pt>
                <c:pt idx="16">
                  <c:v>614.23</c:v>
                </c:pt>
                <c:pt idx="17">
                  <c:v>670.31</c:v>
                </c:pt>
                <c:pt idx="18">
                  <c:v>406.84</c:v>
                </c:pt>
                <c:pt idx="19">
                  <c:v>518.09</c:v>
                </c:pt>
                <c:pt idx="20">
                  <c:v>448.17</c:v>
                </c:pt>
                <c:pt idx="21">
                  <c:v>577.22</c:v>
                </c:pt>
                <c:pt idx="22">
                  <c:v>639.51</c:v>
                </c:pt>
                <c:pt idx="23">
                  <c:v>322.88</c:v>
                </c:pt>
                <c:pt idx="24">
                  <c:v>230.02</c:v>
                </c:pt>
                <c:pt idx="25">
                  <c:v>218.3</c:v>
                </c:pt>
                <c:pt idx="26">
                  <c:v>582.18</c:v>
                </c:pt>
                <c:pt idx="27">
                  <c:v>559.63</c:v>
                </c:pt>
                <c:pt idx="28">
                  <c:v>723.75</c:v>
                </c:pt>
                <c:pt idx="29">
                  <c:v>607.16</c:v>
                </c:pt>
                <c:pt idx="30">
                  <c:v>442.33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0D4DC"/>
            </a:solidFill>
          </a:ln>
        </c:spPr>
        <c:crossAx val="2140495176"/>
        <c:crosses val="autoZero"/>
        <c:auto val="1"/>
        <c:lblAlgn val="ctr"/>
        <c:lblOffset val="100"/>
        <c:noMultiLvlLbl val="0"/>
      </c:catAx>
      <c:valAx>
        <c:axId val="2140495176"/>
        <c:scaling/>
        <c:delete val="0"/>
        <c:axPos val="l"/>
        <c:majorGridlines>
          <c:spPr>
            <a:ln w="6350">
              <a:solidFill>
                <a:srgbClr val="D0D4DC"/>
              </a:solidFill>
            </a:ln>
          </c:spPr>
        </c:majorGridlines>
        <c:numFmt formatCode="#,##0" sourceLinked="0"/>
        <c:majorTickMark val="out"/>
        <c:minorTickMark val="none"/>
        <c:tickLblPos val="nextTo"/>
        <c:spPr>
          <a:ln>
            <a:noFill/>
          </a:ln>
        </c:spPr>
        <c:crossAx val="2118791784"/>
        <c:crosses val="autoZero"/>
      </c:valAx>
    </c:plotArea>
    <c:plotVisOnly val="1"/>
    <c:dispBlanksAs val="gap"/>
    <c:showDLblsOverMax val="0"/>
  </c:chart>
  <c:txPr>
    <a:bodyPr/>
    <a:lstStyle/>
    <a:p>
      <a:pPr>
        <a:defRPr sz="800">
          <a:solidFill>
            <a:srgbClr val="2B3147"/>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2011680"/>
            <a:ext cx="91440" cy="228600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orex_logo.png"/>
          <p:cNvPicPr>
            <a:picLocks noChangeAspect="1"/>
          </p:cNvPicPr>
          <p:nvPr/>
        </p:nvPicPr>
        <p:blipFill>
          <a:blip r:embed="rId2"/>
          <a:stretch>
            <a:fillRect/>
          </a:stretch>
        </p:blipFill>
        <p:spPr>
          <a:xfrm>
            <a:off x="457200" y="457200"/>
            <a:ext cx="2286000" cy="649224"/>
          </a:xfrm>
          <a:prstGeom prst="rect">
            <a:avLst/>
          </a:prstGeom>
        </p:spPr>
      </p:pic>
      <p:pic>
        <p:nvPicPr>
          <p:cNvPr id="5" name="Picture 4" descr="berelvant_logo.png"/>
          <p:cNvPicPr>
            <a:picLocks noChangeAspect="1"/>
          </p:cNvPicPr>
          <p:nvPr/>
        </p:nvPicPr>
        <p:blipFill>
          <a:blip r:embed="rId3"/>
          <a:stretch>
            <a:fillRect/>
          </a:stretch>
        </p:blipFill>
        <p:spPr>
          <a:xfrm>
            <a:off x="10362895" y="5943600"/>
            <a:ext cx="1280160" cy="365760"/>
          </a:xfrm>
          <a:prstGeom prst="rect">
            <a:avLst/>
          </a:prstGeom>
        </p:spPr>
      </p:pic>
      <p:sp>
        <p:nvSpPr>
          <p:cNvPr id="6" name="TextBox 5"/>
          <p:cNvSpPr txBox="1"/>
          <p:nvPr/>
        </p:nvSpPr>
        <p:spPr>
          <a:xfrm>
            <a:off x="822960" y="2011680"/>
            <a:ext cx="10058400" cy="365760"/>
          </a:xfrm>
          <a:prstGeom prst="rect">
            <a:avLst/>
          </a:prstGeom>
          <a:noFill/>
        </p:spPr>
        <p:txBody>
          <a:bodyPr wrap="square" anchor="t" lIns="0" rIns="0" tIns="0" bIns="0">
            <a:spAutoFit/>
          </a:bodyPr>
          <a:lstStyle/>
          <a:p>
            <a:pPr algn="l"/>
            <a:r>
              <a:rPr sz="1400" b="1">
                <a:solidFill>
                  <a:srgbClr val="F96167"/>
                </a:solidFill>
                <a:latin typeface="Georgia"/>
              </a:rPr>
              <a:t>MONTHLY PERFORMANCE REVIEW</a:t>
            </a:r>
          </a:p>
        </p:txBody>
      </p:sp>
      <p:sp>
        <p:nvSpPr>
          <p:cNvPr id="7" name="TextBox 6"/>
          <p:cNvSpPr txBox="1"/>
          <p:nvPr/>
        </p:nvSpPr>
        <p:spPr>
          <a:xfrm>
            <a:off x="822960" y="2468880"/>
            <a:ext cx="10972800" cy="914400"/>
          </a:xfrm>
          <a:prstGeom prst="rect">
            <a:avLst/>
          </a:prstGeom>
          <a:noFill/>
        </p:spPr>
        <p:txBody>
          <a:bodyPr wrap="square" anchor="t" lIns="0" rIns="0" tIns="0" bIns="0">
            <a:spAutoFit/>
          </a:bodyPr>
          <a:lstStyle/>
          <a:p>
            <a:pPr algn="l"/>
            <a:r>
              <a:rPr sz="3600" b="1">
                <a:solidFill>
                  <a:srgbClr val="FFFFFF"/>
                </a:solidFill>
                <a:latin typeface="Georgia"/>
              </a:rPr>
              <a:t>GGMI (LATAM) — Paid Media</a:t>
            </a:r>
          </a:p>
        </p:txBody>
      </p:sp>
      <p:sp>
        <p:nvSpPr>
          <p:cNvPr id="8" name="TextBox 7"/>
          <p:cNvSpPr txBox="1"/>
          <p:nvPr/>
        </p:nvSpPr>
        <p:spPr>
          <a:xfrm>
            <a:off x="822960" y="3474720"/>
            <a:ext cx="10972800" cy="548640"/>
          </a:xfrm>
          <a:prstGeom prst="rect">
            <a:avLst/>
          </a:prstGeom>
          <a:noFill/>
        </p:spPr>
        <p:txBody>
          <a:bodyPr wrap="square" anchor="t" lIns="0" rIns="0" tIns="0" bIns="0">
            <a:spAutoFit/>
          </a:bodyPr>
          <a:lstStyle/>
          <a:p>
            <a:pPr algn="l"/>
            <a:r>
              <a:rPr sz="2200" b="0">
                <a:solidFill>
                  <a:srgbClr val="CADCFC"/>
                </a:solidFill>
                <a:latin typeface="Georgia"/>
              </a:rPr>
              <a:t>July 2026 Performance</a:t>
            </a:r>
          </a:p>
        </p:txBody>
      </p:sp>
      <p:sp>
        <p:nvSpPr>
          <p:cNvPr id="9" name="TextBox 8"/>
          <p:cNvSpPr txBox="1"/>
          <p:nvPr/>
        </p:nvSpPr>
        <p:spPr>
          <a:xfrm>
            <a:off x="822960" y="4206240"/>
            <a:ext cx="10972800" cy="365760"/>
          </a:xfrm>
          <a:prstGeom prst="rect">
            <a:avLst/>
          </a:prstGeom>
          <a:noFill/>
        </p:spPr>
        <p:txBody>
          <a:bodyPr wrap="square" anchor="t" lIns="0" rIns="0" tIns="0" bIns="0">
            <a:spAutoFit/>
          </a:bodyPr>
          <a:lstStyle/>
          <a:p>
            <a:pPr algn="l"/>
            <a:r>
              <a:rPr sz="1200" b="0">
                <a:solidFill>
                  <a:srgbClr val="9AA4BA"/>
                </a:solidFill>
                <a:latin typeface="Calibri"/>
              </a:rPr>
              <a:t>Bing Ads  ·  Quantcast  ·  Azerion  ·  Native  ·  Meta  ·  DOOH</a:t>
            </a:r>
          </a:p>
        </p:txBody>
      </p:sp>
      <p:sp>
        <p:nvSpPr>
          <p:cNvPr id="10" name="TextBox 9"/>
          <p:cNvSpPr txBox="1"/>
          <p:nvPr/>
        </p:nvSpPr>
        <p:spPr>
          <a:xfrm>
            <a:off x="822960" y="6126480"/>
            <a:ext cx="10972800" cy="365760"/>
          </a:xfrm>
          <a:prstGeom prst="rect">
            <a:avLst/>
          </a:prstGeom>
          <a:noFill/>
        </p:spPr>
        <p:txBody>
          <a:bodyPr wrap="square" anchor="t" lIns="0" rIns="0" tIns="0" bIns="0">
            <a:spAutoFit/>
          </a:bodyPr>
          <a:lstStyle/>
          <a:p>
            <a:pPr algn="l"/>
            <a:r>
              <a:rPr sz="1000" b="0">
                <a:solidFill>
                  <a:srgbClr val="9AA4BA"/>
                </a:solidFill>
                <a:latin typeface="Calibri"/>
              </a:rPr>
              <a:t>Reporting period: July 1–31, 2026   |   Currency: USD   |   Prepared by Berelvant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SUMMARY  ·  BLENDED VIEW (ORGANIC + PAID)</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Submitted applications held near June on a 24% larger media month.</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2 / 16</a:t>
            </a:r>
          </a:p>
        </p:txBody>
      </p:sp>
      <p:sp>
        <p:nvSpPr>
          <p:cNvPr id="10" name="TextBox 9"/>
          <p:cNvSpPr txBox="1"/>
          <p:nvPr/>
        </p:nvSpPr>
        <p:spPr>
          <a:xfrm>
            <a:off x="457200" y="1600200"/>
            <a:ext cx="11247120" cy="1371600"/>
          </a:xfrm>
          <a:prstGeom prst="rect">
            <a:avLst/>
          </a:prstGeom>
          <a:noFill/>
        </p:spPr>
        <p:txBody>
          <a:bodyPr wrap="square" anchor="t" lIns="0" rIns="0" tIns="0" bIns="0">
            <a:spAutoFit/>
          </a:bodyPr>
          <a:lstStyle/>
          <a:p>
            <a:pPr algn="l"/>
            <a:r>
              <a:rPr sz="1000" b="0">
                <a:solidFill>
                  <a:srgbClr val="2B3147"/>
                </a:solidFill>
                <a:latin typeface="Calibri"/>
              </a:rPr>
              <a:t>•  July submitted applications came in at 653, down 5% MoM; the submit rate on application starts rose to 27%, the highest since January.</a:t>
            </a:r>
          </a:p>
          <a:p>
            <a:pPr algn="l">
              <a:spcBef>
                <a:spcPts val="400"/>
              </a:spcBef>
            </a:pPr>
            <a:r>
              <a:rPr sz="1000" b="0">
                <a:solidFill>
                  <a:srgbClr val="2B3147"/>
                </a:solidFill>
                <a:latin typeface="Calibri"/>
              </a:rPr>
              <a:t>•  New approved came in at 180 with the approval rate at 28%. New funded came in at 21 and the fund rate at 12%; the application-to-funding step remains the funnel constraint. New traded closed at 19.</a:t>
            </a:r>
          </a:p>
          <a:p>
            <a:pPr algn="l">
              <a:spcBef>
                <a:spcPts val="400"/>
              </a:spcBef>
            </a:pPr>
            <a:r>
              <a:rPr sz="1000" b="0">
                <a:solidFill>
                  <a:srgbClr val="2B3147"/>
                </a:solidFill>
                <a:latin typeface="Calibri"/>
              </a:rPr>
              <a:t>•  Working media reached $149,896 in July, up 24% MoM and the biggest month of 2026. The growth sits in the new Native and DOOH lines; the four continuing channels spent $95,401 against June’s total of $120,393, and paid submitted applications with a measured source (Bing plus Azerion) came in at 61.</a:t>
            </a:r>
          </a:p>
          <a:p>
            <a:pPr algn="l">
              <a:spcBef>
                <a:spcPts val="400"/>
              </a:spcBef>
            </a:pPr>
            <a:r>
              <a:rPr sz="1000" b="0">
                <a:solidFill>
                  <a:srgbClr val="2B3147"/>
                </a:solidFill>
                <a:latin typeface="Calibri"/>
              </a:rPr>
              <a:t>•  Mexico, the only market with paid media behind it, is the strongest converter in the client’s country data: a 40% approval rate against the 28% blended average, and roughly one in four of all funded accounts.</a:t>
            </a:r>
          </a:p>
        </p:txBody>
      </p:sp>
      <p:graphicFrame>
        <p:nvGraphicFramePr>
          <p:cNvPr id="11" name="Table 10"/>
          <p:cNvGraphicFramePr>
            <a:graphicFrameLocks noGrp="1"/>
          </p:cNvGraphicFramePr>
          <p:nvPr/>
        </p:nvGraphicFramePr>
        <p:xfrm>
          <a:off x="457200" y="3063240"/>
          <a:ext cx="10360150" cy="3017520"/>
        </p:xfrm>
        <a:graphic>
          <a:graphicData uri="http://schemas.openxmlformats.org/drawingml/2006/table">
            <a:tbl>
              <a:tblPr>
                <a:tableStyleId>{5C22544A-7EE6-4342-B048-85BDC9FD1C3A}</a:tableStyleId>
              </a:tblPr>
              <a:tblGrid>
                <a:gridCol w="2386584"/>
                <a:gridCol w="987552"/>
                <a:gridCol w="987552"/>
                <a:gridCol w="987552"/>
                <a:gridCol w="987552"/>
                <a:gridCol w="987552"/>
                <a:gridCol w="1042415"/>
                <a:gridCol w="1042415"/>
                <a:gridCol w="950976"/>
              </a:tblGrid>
              <a:tr h="274320">
                <a:tc>
                  <a:txBody>
                    <a:bodyPr/>
                    <a:lstStyle/>
                    <a:p>
                      <a:pPr algn="l"/>
                      <a:r>
                        <a:rPr sz="850" b="1">
                          <a:solidFill>
                            <a:srgbClr val="FFFFFF"/>
                          </a:solidFill>
                          <a:latin typeface="Calibri"/>
                        </a:rPr>
                        <a:t>GGMI — blended</a:t>
                      </a:r>
                    </a:p>
                  </a:txBody>
                  <a:tcPr marL="54864" marR="54864" marT="27432" marB="27432">
                    <a:solidFill>
                      <a:srgbClr val="1E2761"/>
                    </a:solidFill>
                  </a:tcPr>
                </a:tc>
                <a:tc>
                  <a:txBody>
                    <a:bodyPr/>
                    <a:lstStyle/>
                    <a:p>
                      <a:pPr algn="r"/>
                      <a:r>
                        <a:rPr sz="850" b="1">
                          <a:solidFill>
                            <a:srgbClr val="FFFFFF"/>
                          </a:solidFill>
                          <a:latin typeface="Calibri"/>
                        </a:rPr>
                        <a:t>Jan</a:t>
                      </a:r>
                    </a:p>
                  </a:txBody>
                  <a:tcPr marL="54864" marR="54864" marT="27432" marB="27432">
                    <a:solidFill>
                      <a:srgbClr val="1E2761"/>
                    </a:solidFill>
                  </a:tcPr>
                </a:tc>
                <a:tc>
                  <a:txBody>
                    <a:bodyPr/>
                    <a:lstStyle/>
                    <a:p>
                      <a:pPr algn="r"/>
                      <a:r>
                        <a:rPr sz="850" b="1">
                          <a:solidFill>
                            <a:srgbClr val="FFFFFF"/>
                          </a:solidFill>
                          <a:latin typeface="Calibri"/>
                        </a:rPr>
                        <a:t>Feb</a:t>
                      </a:r>
                    </a:p>
                  </a:txBody>
                  <a:tcPr marL="54864" marR="54864" marT="27432" marB="27432">
                    <a:solidFill>
                      <a:srgbClr val="1E2761"/>
                    </a:solidFill>
                  </a:tcPr>
                </a:tc>
                <a:tc>
                  <a:txBody>
                    <a:bodyPr/>
                    <a:lstStyle/>
                    <a:p>
                      <a:pPr algn="r"/>
                      <a:r>
                        <a:rPr sz="850" b="1">
                          <a:solidFill>
                            <a:srgbClr val="FFFFFF"/>
                          </a:solidFill>
                          <a:latin typeface="Calibri"/>
                        </a:rPr>
                        <a:t>Mar</a:t>
                      </a:r>
                    </a:p>
                  </a:txBody>
                  <a:tcPr marL="54864" marR="54864" marT="27432" marB="27432">
                    <a:solidFill>
                      <a:srgbClr val="1E2761"/>
                    </a:solidFill>
                  </a:tcPr>
                </a:tc>
                <a:tc>
                  <a:txBody>
                    <a:bodyPr/>
                    <a:lstStyle/>
                    <a:p>
                      <a:pPr algn="r"/>
                      <a:r>
                        <a:rPr sz="850" b="1">
                          <a:solidFill>
                            <a:srgbClr val="FFFFFF"/>
                          </a:solidFill>
                          <a:latin typeface="Calibri"/>
                        </a:rPr>
                        <a:t>Apr</a:t>
                      </a:r>
                    </a:p>
                  </a:txBody>
                  <a:tcPr marL="54864" marR="54864" marT="27432" marB="27432">
                    <a:solidFill>
                      <a:srgbClr val="1E2761"/>
                    </a:solidFill>
                  </a:tcPr>
                </a:tc>
                <a:tc>
                  <a:txBody>
                    <a:bodyPr/>
                    <a:lstStyle/>
                    <a:p>
                      <a:pPr algn="r"/>
                      <a:r>
                        <a:rPr sz="850" b="1">
                          <a:solidFill>
                            <a:srgbClr val="FFFFFF"/>
                          </a:solidFill>
                          <a:latin typeface="Calibri"/>
                        </a:rPr>
                        <a:t>May</a:t>
                      </a:r>
                    </a:p>
                  </a:txBody>
                  <a:tcPr marL="54864" marR="54864" marT="27432" marB="27432">
                    <a:solidFill>
                      <a:srgbClr val="1E2761"/>
                    </a:solidFill>
                  </a:tcPr>
                </a:tc>
                <a:tc>
                  <a:txBody>
                    <a:bodyPr/>
                    <a:lstStyle/>
                    <a:p>
                      <a:pPr algn="r"/>
                      <a:r>
                        <a:rPr sz="850" b="1">
                          <a:solidFill>
                            <a:srgbClr val="FFFFFF"/>
                          </a:solidFill>
                          <a:latin typeface="Calibri"/>
                        </a:rPr>
                        <a:t>Jun</a:t>
                      </a:r>
                    </a:p>
                  </a:txBody>
                  <a:tcPr marL="54864" marR="54864" marT="27432" marB="27432">
                    <a:solidFill>
                      <a:srgbClr val="1E2761"/>
                    </a:solidFill>
                  </a:tcPr>
                </a:tc>
                <a:tc>
                  <a:txBody>
                    <a:bodyPr/>
                    <a:lstStyle/>
                    <a:p>
                      <a:pPr algn="r"/>
                      <a:r>
                        <a:rPr sz="850" b="1">
                          <a:solidFill>
                            <a:srgbClr val="FFFFFF"/>
                          </a:solidFill>
                          <a:latin typeface="Calibri"/>
                        </a:rPr>
                        <a:t>Jul</a:t>
                      </a:r>
                    </a:p>
                  </a:txBody>
                  <a:tcPr marL="54864" marR="54864" marT="27432" marB="27432">
                    <a:solidFill>
                      <a:srgbClr val="1E2761"/>
                    </a:solidFill>
                  </a:tcPr>
                </a:tc>
                <a:tc>
                  <a:txBody>
                    <a:bodyPr/>
                    <a:lstStyle/>
                    <a:p>
                      <a:pPr algn="r"/>
                      <a:r>
                        <a:rPr sz="850" b="1">
                          <a:solidFill>
                            <a:srgbClr val="FFFFFF"/>
                          </a:solidFill>
                          <a:latin typeface="Calibri"/>
                        </a:rPr>
                        <a:t>MoM</a:t>
                      </a:r>
                    </a:p>
                  </a:txBody>
                  <a:tcPr marL="54864" marR="54864" marT="27432" marB="27432">
                    <a:solidFill>
                      <a:srgbClr val="1E2761"/>
                    </a:solidFill>
                  </a:tcPr>
                </a:tc>
              </a:tr>
              <a:tr h="274320">
                <a:tc>
                  <a:txBody>
                    <a:bodyPr/>
                    <a:lstStyle/>
                    <a:p>
                      <a:pPr algn="l"/>
                      <a:r>
                        <a:rPr sz="850" b="1">
                          <a:solidFill>
                            <a:srgbClr val="2B3147"/>
                          </a:solidFill>
                          <a:latin typeface="Calibri"/>
                        </a:rPr>
                        <a:t>Working Media Spend</a:t>
                      </a:r>
                    </a:p>
                  </a:txBody>
                  <a:tcPr marL="54864" marR="54864" marT="27432" marB="27432">
                    <a:solidFill>
                      <a:srgbClr val="FFFFFF"/>
                    </a:solidFill>
                  </a:tcPr>
                </a:tc>
                <a:tc>
                  <a:txBody>
                    <a:bodyPr/>
                    <a:lstStyle/>
                    <a:p>
                      <a:pPr algn="r"/>
                      <a:r>
                        <a:rPr sz="850" b="0">
                          <a:solidFill>
                            <a:srgbClr val="2B3147"/>
                          </a:solidFill>
                          <a:latin typeface="Calibri"/>
                        </a:rPr>
                        <a:t>$1,717</a:t>
                      </a:r>
                    </a:p>
                  </a:txBody>
                  <a:tcPr marL="54864" marR="54864" marT="27432" marB="27432">
                    <a:solidFill>
                      <a:srgbClr val="FFFFFF"/>
                    </a:solidFill>
                  </a:tcPr>
                </a:tc>
                <a:tc>
                  <a:txBody>
                    <a:bodyPr/>
                    <a:lstStyle/>
                    <a:p>
                      <a:pPr algn="r"/>
                      <a:r>
                        <a:rPr sz="850" b="0">
                          <a:solidFill>
                            <a:srgbClr val="2B3147"/>
                          </a:solidFill>
                          <a:latin typeface="Calibri"/>
                        </a:rPr>
                        <a:t>$20,578</a:t>
                      </a:r>
                    </a:p>
                  </a:txBody>
                  <a:tcPr marL="54864" marR="54864" marT="27432" marB="27432">
                    <a:solidFill>
                      <a:srgbClr val="FFFFFF"/>
                    </a:solidFill>
                  </a:tcPr>
                </a:tc>
                <a:tc>
                  <a:txBody>
                    <a:bodyPr/>
                    <a:lstStyle/>
                    <a:p>
                      <a:pPr algn="r"/>
                      <a:r>
                        <a:rPr sz="850" b="0">
                          <a:solidFill>
                            <a:srgbClr val="2B3147"/>
                          </a:solidFill>
                          <a:latin typeface="Calibri"/>
                        </a:rPr>
                        <a:t>$42,424</a:t>
                      </a:r>
                    </a:p>
                  </a:txBody>
                  <a:tcPr marL="54864" marR="54864" marT="27432" marB="27432">
                    <a:solidFill>
                      <a:srgbClr val="FFFFFF"/>
                    </a:solidFill>
                  </a:tcPr>
                </a:tc>
                <a:tc>
                  <a:txBody>
                    <a:bodyPr/>
                    <a:lstStyle/>
                    <a:p>
                      <a:pPr algn="r"/>
                      <a:r>
                        <a:rPr sz="850" b="0">
                          <a:solidFill>
                            <a:srgbClr val="2B3147"/>
                          </a:solidFill>
                          <a:latin typeface="Calibri"/>
                        </a:rPr>
                        <a:t>$46,294</a:t>
                      </a:r>
                    </a:p>
                  </a:txBody>
                  <a:tcPr marL="54864" marR="54864" marT="27432" marB="27432">
                    <a:solidFill>
                      <a:srgbClr val="FFFFFF"/>
                    </a:solidFill>
                  </a:tcPr>
                </a:tc>
                <a:tc>
                  <a:txBody>
                    <a:bodyPr/>
                    <a:lstStyle/>
                    <a:p>
                      <a:pPr algn="r"/>
                      <a:r>
                        <a:rPr sz="850" b="0">
                          <a:solidFill>
                            <a:srgbClr val="2B3147"/>
                          </a:solidFill>
                          <a:latin typeface="Calibri"/>
                        </a:rPr>
                        <a:t>$78,790</a:t>
                      </a:r>
                    </a:p>
                  </a:txBody>
                  <a:tcPr marL="54864" marR="54864" marT="27432" marB="27432">
                    <a:solidFill>
                      <a:srgbClr val="FFFFFF"/>
                    </a:solidFill>
                  </a:tcPr>
                </a:tc>
                <a:tc>
                  <a:txBody>
                    <a:bodyPr/>
                    <a:lstStyle/>
                    <a:p>
                      <a:pPr algn="r"/>
                      <a:r>
                        <a:rPr sz="850" b="0">
                          <a:solidFill>
                            <a:srgbClr val="2B3147"/>
                          </a:solidFill>
                          <a:latin typeface="Calibri"/>
                        </a:rPr>
                        <a:t>$120,393</a:t>
                      </a:r>
                    </a:p>
                  </a:txBody>
                  <a:tcPr marL="54864" marR="54864" marT="27432" marB="27432">
                    <a:solidFill>
                      <a:srgbClr val="FFFFFF"/>
                    </a:solidFill>
                  </a:tcPr>
                </a:tc>
                <a:tc>
                  <a:txBody>
                    <a:bodyPr/>
                    <a:lstStyle/>
                    <a:p>
                      <a:pPr algn="r"/>
                      <a:r>
                        <a:rPr sz="850" b="0">
                          <a:solidFill>
                            <a:srgbClr val="2B3147"/>
                          </a:solidFill>
                          <a:latin typeface="Calibri"/>
                        </a:rPr>
                        <a:t>$149,896</a:t>
                      </a:r>
                    </a:p>
                  </a:txBody>
                  <a:tcPr marL="54864" marR="54864" marT="27432" marB="27432">
                    <a:solidFill>
                      <a:srgbClr val="FFFFFF"/>
                    </a:solidFill>
                  </a:tcPr>
                </a:tc>
                <a:tc>
                  <a:txBody>
                    <a:bodyPr/>
                    <a:lstStyle/>
                    <a:p>
                      <a:pPr algn="r"/>
                      <a:r>
                        <a:rPr sz="850" b="0">
                          <a:solidFill>
                            <a:srgbClr val="2B3147"/>
                          </a:solidFill>
                          <a:latin typeface="Calibri"/>
                        </a:rPr>
                        <a:t>+24%</a:t>
                      </a:r>
                    </a:p>
                  </a:txBody>
                  <a:tcPr marL="54864" marR="54864" marT="27432" marB="27432">
                    <a:solidFill>
                      <a:srgbClr val="FFFFFF"/>
                    </a:solidFill>
                  </a:tcPr>
                </a:tc>
              </a:tr>
              <a:tr h="274320">
                <a:tc>
                  <a:txBody>
                    <a:bodyPr/>
                    <a:lstStyle/>
                    <a:p>
                      <a:pPr algn="l"/>
                      <a:r>
                        <a:rPr sz="850" b="1">
                          <a:solidFill>
                            <a:srgbClr val="2B3147"/>
                          </a:solidFill>
                          <a:latin typeface="Calibri"/>
                        </a:rPr>
                        <a:t>Submitted Applications</a:t>
                      </a:r>
                    </a:p>
                  </a:txBody>
                  <a:tcPr marL="54864" marR="54864" marT="27432" marB="27432">
                    <a:solidFill>
                      <a:srgbClr val="F9FAFC"/>
                    </a:solidFill>
                  </a:tcPr>
                </a:tc>
                <a:tc>
                  <a:txBody>
                    <a:bodyPr/>
                    <a:lstStyle/>
                    <a:p>
                      <a:pPr algn="r"/>
                      <a:r>
                        <a:rPr sz="850" b="0">
                          <a:solidFill>
                            <a:srgbClr val="2B3147"/>
                          </a:solidFill>
                          <a:latin typeface="Calibri"/>
                        </a:rPr>
                        <a:t>1,029</a:t>
                      </a:r>
                    </a:p>
                  </a:txBody>
                  <a:tcPr marL="54864" marR="54864" marT="27432" marB="27432">
                    <a:solidFill>
                      <a:srgbClr val="F9FAFC"/>
                    </a:solidFill>
                  </a:tcPr>
                </a:tc>
                <a:tc>
                  <a:txBody>
                    <a:bodyPr/>
                    <a:lstStyle/>
                    <a:p>
                      <a:pPr algn="r"/>
                      <a:r>
                        <a:rPr sz="850" b="0">
                          <a:solidFill>
                            <a:srgbClr val="2B3147"/>
                          </a:solidFill>
                          <a:latin typeface="Calibri"/>
                        </a:rPr>
                        <a:t>1,036</a:t>
                      </a:r>
                    </a:p>
                  </a:txBody>
                  <a:tcPr marL="54864" marR="54864" marT="27432" marB="27432">
                    <a:solidFill>
                      <a:srgbClr val="F9FAFC"/>
                    </a:solidFill>
                  </a:tcPr>
                </a:tc>
                <a:tc>
                  <a:txBody>
                    <a:bodyPr/>
                    <a:lstStyle/>
                    <a:p>
                      <a:pPr algn="r"/>
                      <a:r>
                        <a:rPr sz="850" b="0">
                          <a:solidFill>
                            <a:srgbClr val="2B3147"/>
                          </a:solidFill>
                          <a:latin typeface="Calibri"/>
                        </a:rPr>
                        <a:t>900</a:t>
                      </a:r>
                    </a:p>
                  </a:txBody>
                  <a:tcPr marL="54864" marR="54864" marT="27432" marB="27432">
                    <a:solidFill>
                      <a:srgbClr val="F9FAFC"/>
                    </a:solidFill>
                  </a:tcPr>
                </a:tc>
                <a:tc>
                  <a:txBody>
                    <a:bodyPr/>
                    <a:lstStyle/>
                    <a:p>
                      <a:pPr algn="r"/>
                      <a:r>
                        <a:rPr sz="850" b="0">
                          <a:solidFill>
                            <a:srgbClr val="2B3147"/>
                          </a:solidFill>
                          <a:latin typeface="Calibri"/>
                        </a:rPr>
                        <a:t>751</a:t>
                      </a:r>
                    </a:p>
                  </a:txBody>
                  <a:tcPr marL="54864" marR="54864" marT="27432" marB="27432">
                    <a:solidFill>
                      <a:srgbClr val="F9FAFC"/>
                    </a:solidFill>
                  </a:tcPr>
                </a:tc>
                <a:tc>
                  <a:txBody>
                    <a:bodyPr/>
                    <a:lstStyle/>
                    <a:p>
                      <a:pPr algn="r"/>
                      <a:r>
                        <a:rPr sz="850" b="0">
                          <a:solidFill>
                            <a:srgbClr val="2B3147"/>
                          </a:solidFill>
                          <a:latin typeface="Calibri"/>
                        </a:rPr>
                        <a:t>732</a:t>
                      </a:r>
                    </a:p>
                  </a:txBody>
                  <a:tcPr marL="54864" marR="54864" marT="27432" marB="27432">
                    <a:solidFill>
                      <a:srgbClr val="F9FAFC"/>
                    </a:solidFill>
                  </a:tcPr>
                </a:tc>
                <a:tc>
                  <a:txBody>
                    <a:bodyPr/>
                    <a:lstStyle/>
                    <a:p>
                      <a:pPr algn="r"/>
                      <a:r>
                        <a:rPr sz="850" b="0">
                          <a:solidFill>
                            <a:srgbClr val="2B3147"/>
                          </a:solidFill>
                          <a:latin typeface="Calibri"/>
                        </a:rPr>
                        <a:t>684</a:t>
                      </a:r>
                    </a:p>
                  </a:txBody>
                  <a:tcPr marL="54864" marR="54864" marT="27432" marB="27432">
                    <a:solidFill>
                      <a:srgbClr val="F9FAFC"/>
                    </a:solidFill>
                  </a:tcPr>
                </a:tc>
                <a:tc>
                  <a:txBody>
                    <a:bodyPr/>
                    <a:lstStyle/>
                    <a:p>
                      <a:pPr algn="r"/>
                      <a:r>
                        <a:rPr sz="850" b="0">
                          <a:solidFill>
                            <a:srgbClr val="2B3147"/>
                          </a:solidFill>
                          <a:latin typeface="Calibri"/>
                        </a:rPr>
                        <a:t>653</a:t>
                      </a:r>
                    </a:p>
                  </a:txBody>
                  <a:tcPr marL="54864" marR="54864" marT="27432" marB="27432">
                    <a:solidFill>
                      <a:srgbClr val="F9FAFC"/>
                    </a:solidFill>
                  </a:tcPr>
                </a:tc>
                <a:tc>
                  <a:txBody>
                    <a:bodyPr/>
                    <a:lstStyle/>
                    <a:p>
                      <a:pPr algn="r"/>
                      <a:r>
                        <a:rPr sz="850" b="0">
                          <a:solidFill>
                            <a:srgbClr val="2B3147"/>
                          </a:solidFill>
                          <a:latin typeface="Calibri"/>
                        </a:rPr>
                        <a:t>-5%</a:t>
                      </a:r>
                    </a:p>
                  </a:txBody>
                  <a:tcPr marL="54864" marR="54864" marT="27432" marB="27432">
                    <a:solidFill>
                      <a:srgbClr val="F9FAFC"/>
                    </a:solidFill>
                  </a:tcPr>
                </a:tc>
              </a:tr>
              <a:tr h="274320">
                <a:tc>
                  <a:txBody>
                    <a:bodyPr/>
                    <a:lstStyle/>
                    <a:p>
                      <a:pPr algn="l"/>
                      <a:r>
                        <a:rPr sz="850" b="1">
                          <a:solidFill>
                            <a:srgbClr val="2B3147"/>
                          </a:solidFill>
                          <a:latin typeface="Calibri"/>
                        </a:rPr>
                        <a:t>Approved Clients</a:t>
                      </a:r>
                    </a:p>
                  </a:txBody>
                  <a:tcPr marL="54864" marR="54864" marT="27432" marB="27432">
                    <a:solidFill>
                      <a:srgbClr val="FFFFFF"/>
                    </a:solidFill>
                  </a:tcPr>
                </a:tc>
                <a:tc>
                  <a:txBody>
                    <a:bodyPr/>
                    <a:lstStyle/>
                    <a:p>
                      <a:pPr algn="r"/>
                      <a:r>
                        <a:rPr sz="850" b="0">
                          <a:solidFill>
                            <a:srgbClr val="2B3147"/>
                          </a:solidFill>
                          <a:latin typeface="Calibri"/>
                        </a:rPr>
                        <a:t>288</a:t>
                      </a:r>
                    </a:p>
                  </a:txBody>
                  <a:tcPr marL="54864" marR="54864" marT="27432" marB="27432">
                    <a:solidFill>
                      <a:srgbClr val="FFFFFF"/>
                    </a:solidFill>
                  </a:tcPr>
                </a:tc>
                <a:tc>
                  <a:txBody>
                    <a:bodyPr/>
                    <a:lstStyle/>
                    <a:p>
                      <a:pPr algn="r"/>
                      <a:r>
                        <a:rPr sz="850" b="0">
                          <a:solidFill>
                            <a:srgbClr val="2B3147"/>
                          </a:solidFill>
                          <a:latin typeface="Calibri"/>
                        </a:rPr>
                        <a:t>337</a:t>
                      </a:r>
                    </a:p>
                  </a:txBody>
                  <a:tcPr marL="54864" marR="54864" marT="27432" marB="27432">
                    <a:solidFill>
                      <a:srgbClr val="FFFFFF"/>
                    </a:solidFill>
                  </a:tcPr>
                </a:tc>
                <a:tc>
                  <a:txBody>
                    <a:bodyPr/>
                    <a:lstStyle/>
                    <a:p>
                      <a:pPr algn="r"/>
                      <a:r>
                        <a:rPr sz="850" b="0">
                          <a:solidFill>
                            <a:srgbClr val="2B3147"/>
                          </a:solidFill>
                          <a:latin typeface="Calibri"/>
                        </a:rPr>
                        <a:t>261</a:t>
                      </a:r>
                    </a:p>
                  </a:txBody>
                  <a:tcPr marL="54864" marR="54864" marT="27432" marB="27432">
                    <a:solidFill>
                      <a:srgbClr val="FFFFFF"/>
                    </a:solidFill>
                  </a:tcPr>
                </a:tc>
                <a:tc>
                  <a:txBody>
                    <a:bodyPr/>
                    <a:lstStyle/>
                    <a:p>
                      <a:pPr algn="r"/>
                      <a:r>
                        <a:rPr sz="850" b="0">
                          <a:solidFill>
                            <a:srgbClr val="2B3147"/>
                          </a:solidFill>
                          <a:latin typeface="Calibri"/>
                        </a:rPr>
                        <a:t>202</a:t>
                      </a:r>
                    </a:p>
                  </a:txBody>
                  <a:tcPr marL="54864" marR="54864" marT="27432" marB="27432">
                    <a:solidFill>
                      <a:srgbClr val="FFFFFF"/>
                    </a:solidFill>
                  </a:tcPr>
                </a:tc>
                <a:tc>
                  <a:txBody>
                    <a:bodyPr/>
                    <a:lstStyle/>
                    <a:p>
                      <a:pPr algn="r"/>
                      <a:r>
                        <a:rPr sz="850" b="0">
                          <a:solidFill>
                            <a:srgbClr val="2B3147"/>
                          </a:solidFill>
                          <a:latin typeface="Calibri"/>
                        </a:rPr>
                        <a:t>195</a:t>
                      </a:r>
                    </a:p>
                  </a:txBody>
                  <a:tcPr marL="54864" marR="54864" marT="27432" marB="27432">
                    <a:solidFill>
                      <a:srgbClr val="FFFFFF"/>
                    </a:solidFill>
                  </a:tcPr>
                </a:tc>
                <a:tc>
                  <a:txBody>
                    <a:bodyPr/>
                    <a:lstStyle/>
                    <a:p>
                      <a:pPr algn="r"/>
                      <a:r>
                        <a:rPr sz="850" b="0">
                          <a:solidFill>
                            <a:srgbClr val="2B3147"/>
                          </a:solidFill>
                          <a:latin typeface="Calibri"/>
                        </a:rPr>
                        <a:t>209</a:t>
                      </a:r>
                    </a:p>
                  </a:txBody>
                  <a:tcPr marL="54864" marR="54864" marT="27432" marB="27432">
                    <a:solidFill>
                      <a:srgbClr val="FFFFFF"/>
                    </a:solidFill>
                  </a:tcPr>
                </a:tc>
                <a:tc>
                  <a:txBody>
                    <a:bodyPr/>
                    <a:lstStyle/>
                    <a:p>
                      <a:pPr algn="r"/>
                      <a:r>
                        <a:rPr sz="850" b="0">
                          <a:solidFill>
                            <a:srgbClr val="2B3147"/>
                          </a:solidFill>
                          <a:latin typeface="Calibri"/>
                        </a:rPr>
                        <a:t>180</a:t>
                      </a:r>
                    </a:p>
                  </a:txBody>
                  <a:tcPr marL="54864" marR="54864" marT="27432" marB="27432">
                    <a:solidFill>
                      <a:srgbClr val="FFFFFF"/>
                    </a:solidFill>
                  </a:tcPr>
                </a:tc>
                <a:tc>
                  <a:txBody>
                    <a:bodyPr/>
                    <a:lstStyle/>
                    <a:p>
                      <a:pPr algn="r"/>
                      <a:r>
                        <a:rPr sz="850" b="0">
                          <a:solidFill>
                            <a:srgbClr val="2B3147"/>
                          </a:solidFill>
                          <a:latin typeface="Calibri"/>
                        </a:rPr>
                        <a:t>-14%</a:t>
                      </a:r>
                    </a:p>
                  </a:txBody>
                  <a:tcPr marL="54864" marR="54864" marT="27432" marB="27432">
                    <a:solidFill>
                      <a:srgbClr val="FFFFFF"/>
                    </a:solidFill>
                  </a:tcPr>
                </a:tc>
              </a:tr>
              <a:tr h="274320">
                <a:tc>
                  <a:txBody>
                    <a:bodyPr/>
                    <a:lstStyle/>
                    <a:p>
                      <a:pPr algn="l"/>
                      <a:r>
                        <a:rPr sz="850" b="1">
                          <a:solidFill>
                            <a:srgbClr val="2B3147"/>
                          </a:solidFill>
                          <a:latin typeface="Calibri"/>
                        </a:rPr>
                        <a:t>Approval Rate</a:t>
                      </a:r>
                    </a:p>
                  </a:txBody>
                  <a:tcPr marL="54864" marR="54864" marT="27432" marB="27432">
                    <a:solidFill>
                      <a:srgbClr val="F9FAFC"/>
                    </a:solidFill>
                  </a:tcPr>
                </a:tc>
                <a:tc>
                  <a:txBody>
                    <a:bodyPr/>
                    <a:lstStyle/>
                    <a:p>
                      <a:pPr algn="r"/>
                      <a:r>
                        <a:rPr sz="850" b="0">
                          <a:solidFill>
                            <a:srgbClr val="2B3147"/>
                          </a:solidFill>
                          <a:latin typeface="Calibri"/>
                        </a:rPr>
                        <a:t>28%</a:t>
                      </a:r>
                    </a:p>
                  </a:txBody>
                  <a:tcPr marL="54864" marR="54864" marT="27432" marB="27432">
                    <a:solidFill>
                      <a:srgbClr val="F9FAFC"/>
                    </a:solidFill>
                  </a:tcPr>
                </a:tc>
                <a:tc>
                  <a:txBody>
                    <a:bodyPr/>
                    <a:lstStyle/>
                    <a:p>
                      <a:pPr algn="r"/>
                      <a:r>
                        <a:rPr sz="850" b="0">
                          <a:solidFill>
                            <a:srgbClr val="2B3147"/>
                          </a:solidFill>
                          <a:latin typeface="Calibri"/>
                        </a:rPr>
                        <a:t>33%</a:t>
                      </a:r>
                    </a:p>
                  </a:txBody>
                  <a:tcPr marL="54864" marR="54864" marT="27432" marB="27432">
                    <a:solidFill>
                      <a:srgbClr val="F9FAFC"/>
                    </a:solidFill>
                  </a:tcPr>
                </a:tc>
                <a:tc>
                  <a:txBody>
                    <a:bodyPr/>
                    <a:lstStyle/>
                    <a:p>
                      <a:pPr algn="r"/>
                      <a:r>
                        <a:rPr sz="850" b="0">
                          <a:solidFill>
                            <a:srgbClr val="2B3147"/>
                          </a:solidFill>
                          <a:latin typeface="Calibri"/>
                        </a:rPr>
                        <a:t>29%</a:t>
                      </a:r>
                    </a:p>
                  </a:txBody>
                  <a:tcPr marL="54864" marR="54864" marT="27432" marB="27432">
                    <a:solidFill>
                      <a:srgbClr val="F9FAFC"/>
                    </a:solidFill>
                  </a:tcPr>
                </a:tc>
                <a:tc>
                  <a:txBody>
                    <a:bodyPr/>
                    <a:lstStyle/>
                    <a:p>
                      <a:pPr algn="r"/>
                      <a:r>
                        <a:rPr sz="850" b="0">
                          <a:solidFill>
                            <a:srgbClr val="2B3147"/>
                          </a:solidFill>
                          <a:latin typeface="Calibri"/>
                        </a:rPr>
                        <a:t>27%</a:t>
                      </a:r>
                    </a:p>
                  </a:txBody>
                  <a:tcPr marL="54864" marR="54864" marT="27432" marB="27432">
                    <a:solidFill>
                      <a:srgbClr val="F9FAFC"/>
                    </a:solidFill>
                  </a:tcPr>
                </a:tc>
                <a:tc>
                  <a:txBody>
                    <a:bodyPr/>
                    <a:lstStyle/>
                    <a:p>
                      <a:pPr algn="r"/>
                      <a:r>
                        <a:rPr sz="850" b="0">
                          <a:solidFill>
                            <a:srgbClr val="2B3147"/>
                          </a:solidFill>
                          <a:latin typeface="Calibri"/>
                        </a:rPr>
                        <a:t>27%</a:t>
                      </a:r>
                    </a:p>
                  </a:txBody>
                  <a:tcPr marL="54864" marR="54864" marT="27432" marB="27432">
                    <a:solidFill>
                      <a:srgbClr val="F9FAFC"/>
                    </a:solidFill>
                  </a:tcPr>
                </a:tc>
                <a:tc>
                  <a:txBody>
                    <a:bodyPr/>
                    <a:lstStyle/>
                    <a:p>
                      <a:pPr algn="r"/>
                      <a:r>
                        <a:rPr sz="850" b="0">
                          <a:solidFill>
                            <a:srgbClr val="2B3147"/>
                          </a:solidFill>
                          <a:latin typeface="Calibri"/>
                        </a:rPr>
                        <a:t>31%</a:t>
                      </a:r>
                    </a:p>
                  </a:txBody>
                  <a:tcPr marL="54864" marR="54864" marT="27432" marB="27432">
                    <a:solidFill>
                      <a:srgbClr val="F9FAFC"/>
                    </a:solidFill>
                  </a:tcPr>
                </a:tc>
                <a:tc>
                  <a:txBody>
                    <a:bodyPr/>
                    <a:lstStyle/>
                    <a:p>
                      <a:pPr algn="r"/>
                      <a:r>
                        <a:rPr sz="850" b="0">
                          <a:solidFill>
                            <a:srgbClr val="2B3147"/>
                          </a:solidFill>
                          <a:latin typeface="Calibri"/>
                        </a:rPr>
                        <a:t>28%</a:t>
                      </a:r>
                    </a:p>
                  </a:txBody>
                  <a:tcPr marL="54864" marR="54864" marT="27432" marB="27432">
                    <a:solidFill>
                      <a:srgbClr val="F9FAFC"/>
                    </a:solidFill>
                  </a:tcPr>
                </a:tc>
                <a:tc>
                  <a:txBody>
                    <a:bodyPr/>
                    <a:lstStyle/>
                    <a:p>
                      <a:pPr algn="r"/>
                      <a:r>
                        <a:rPr sz="850" b="0">
                          <a:solidFill>
                            <a:srgbClr val="2B3147"/>
                          </a:solidFill>
                          <a:latin typeface="Calibri"/>
                        </a:rPr>
                        <a:t>-3pp</a:t>
                      </a:r>
                    </a:p>
                  </a:txBody>
                  <a:tcPr marL="54864" marR="54864" marT="27432" marB="27432">
                    <a:solidFill>
                      <a:srgbClr val="F9FAFC"/>
                    </a:solidFill>
                  </a:tcPr>
                </a:tc>
              </a:tr>
              <a:tr h="274320">
                <a:tc>
                  <a:txBody>
                    <a:bodyPr/>
                    <a:lstStyle/>
                    <a:p>
                      <a:pPr algn="l"/>
                      <a:r>
                        <a:rPr sz="850" b="1">
                          <a:solidFill>
                            <a:srgbClr val="2B3147"/>
                          </a:solidFill>
                          <a:latin typeface="Calibri"/>
                        </a:rPr>
                        <a:t>New Funded Clients</a:t>
                      </a:r>
                    </a:p>
                  </a:txBody>
                  <a:tcPr marL="54864" marR="54864" marT="27432" marB="27432">
                    <a:solidFill>
                      <a:srgbClr val="FFFFFF"/>
                    </a:solidFill>
                  </a:tcPr>
                </a:tc>
                <a:tc>
                  <a:txBody>
                    <a:bodyPr/>
                    <a:lstStyle/>
                    <a:p>
                      <a:pPr algn="r"/>
                      <a:r>
                        <a:rPr sz="850" b="0">
                          <a:solidFill>
                            <a:srgbClr val="2B3147"/>
                          </a:solidFill>
                          <a:latin typeface="Calibri"/>
                        </a:rPr>
                        <a:t>66</a:t>
                      </a:r>
                    </a:p>
                  </a:txBody>
                  <a:tcPr marL="54864" marR="54864" marT="27432" marB="27432">
                    <a:solidFill>
                      <a:srgbClr val="FFFFFF"/>
                    </a:solidFill>
                  </a:tcPr>
                </a:tc>
                <a:tc>
                  <a:txBody>
                    <a:bodyPr/>
                    <a:lstStyle/>
                    <a:p>
                      <a:pPr algn="r"/>
                      <a:r>
                        <a:rPr sz="850" b="0">
                          <a:solidFill>
                            <a:srgbClr val="2B3147"/>
                          </a:solidFill>
                          <a:latin typeface="Calibri"/>
                        </a:rPr>
                        <a:t>59</a:t>
                      </a:r>
                    </a:p>
                  </a:txBody>
                  <a:tcPr marL="54864" marR="54864" marT="27432" marB="27432">
                    <a:solidFill>
                      <a:srgbClr val="FFFFFF"/>
                    </a:solidFill>
                  </a:tcPr>
                </a:tc>
                <a:tc>
                  <a:txBody>
                    <a:bodyPr/>
                    <a:lstStyle/>
                    <a:p>
                      <a:pPr algn="r"/>
                      <a:r>
                        <a:rPr sz="850" b="0">
                          <a:solidFill>
                            <a:srgbClr val="2B3147"/>
                          </a:solidFill>
                          <a:latin typeface="Calibri"/>
                        </a:rPr>
                        <a:t>63</a:t>
                      </a:r>
                    </a:p>
                  </a:txBody>
                  <a:tcPr marL="54864" marR="54864" marT="27432" marB="27432">
                    <a:solidFill>
                      <a:srgbClr val="FFFFFF"/>
                    </a:solidFill>
                  </a:tcPr>
                </a:tc>
                <a:tc>
                  <a:txBody>
                    <a:bodyPr/>
                    <a:lstStyle/>
                    <a:p>
                      <a:pPr algn="r"/>
                      <a:r>
                        <a:rPr sz="850" b="0">
                          <a:solidFill>
                            <a:srgbClr val="2B3147"/>
                          </a:solidFill>
                          <a:latin typeface="Calibri"/>
                        </a:rPr>
                        <a:t>38</a:t>
                      </a:r>
                    </a:p>
                  </a:txBody>
                  <a:tcPr marL="54864" marR="54864" marT="27432" marB="27432">
                    <a:solidFill>
                      <a:srgbClr val="FFFFFF"/>
                    </a:solidFill>
                  </a:tcPr>
                </a:tc>
                <a:tc>
                  <a:txBody>
                    <a:bodyPr/>
                    <a:lstStyle/>
                    <a:p>
                      <a:pPr algn="r"/>
                      <a:r>
                        <a:rPr sz="850" b="0">
                          <a:solidFill>
                            <a:srgbClr val="2B3147"/>
                          </a:solidFill>
                          <a:latin typeface="Calibri"/>
                        </a:rPr>
                        <a:t>36</a:t>
                      </a:r>
                    </a:p>
                  </a:txBody>
                  <a:tcPr marL="54864" marR="54864" marT="27432" marB="27432">
                    <a:solidFill>
                      <a:srgbClr val="FFFFFF"/>
                    </a:solidFill>
                  </a:tcPr>
                </a:tc>
                <a:tc>
                  <a:txBody>
                    <a:bodyPr/>
                    <a:lstStyle/>
                    <a:p>
                      <a:pPr algn="r"/>
                      <a:r>
                        <a:rPr sz="850" b="0">
                          <a:solidFill>
                            <a:srgbClr val="2B3147"/>
                          </a:solidFill>
                          <a:latin typeface="Calibri"/>
                        </a:rPr>
                        <a:t>32</a:t>
                      </a:r>
                    </a:p>
                  </a:txBody>
                  <a:tcPr marL="54864" marR="54864" marT="27432" marB="27432">
                    <a:solidFill>
                      <a:srgbClr val="FFFFFF"/>
                    </a:solidFill>
                  </a:tcPr>
                </a:tc>
                <a:tc>
                  <a:txBody>
                    <a:bodyPr/>
                    <a:lstStyle/>
                    <a:p>
                      <a:pPr algn="r"/>
                      <a:r>
                        <a:rPr sz="850" b="0">
                          <a:solidFill>
                            <a:srgbClr val="2B3147"/>
                          </a:solidFill>
                          <a:latin typeface="Calibri"/>
                        </a:rPr>
                        <a:t>21</a:t>
                      </a:r>
                    </a:p>
                  </a:txBody>
                  <a:tcPr marL="54864" marR="54864" marT="27432" marB="27432">
                    <a:solidFill>
                      <a:srgbClr val="FFFFFF"/>
                    </a:solidFill>
                  </a:tcPr>
                </a:tc>
                <a:tc>
                  <a:txBody>
                    <a:bodyPr/>
                    <a:lstStyle/>
                    <a:p>
                      <a:pPr algn="r"/>
                      <a:r>
                        <a:rPr sz="850" b="0">
                          <a:solidFill>
                            <a:srgbClr val="2B3147"/>
                          </a:solidFill>
                          <a:latin typeface="Calibri"/>
                        </a:rPr>
                        <a:t>-34%</a:t>
                      </a:r>
                    </a:p>
                  </a:txBody>
                  <a:tcPr marL="54864" marR="54864" marT="27432" marB="27432">
                    <a:solidFill>
                      <a:srgbClr val="FFFFFF"/>
                    </a:solidFill>
                  </a:tcPr>
                </a:tc>
              </a:tr>
              <a:tr h="274320">
                <a:tc>
                  <a:txBody>
                    <a:bodyPr/>
                    <a:lstStyle/>
                    <a:p>
                      <a:pPr algn="l"/>
                      <a:r>
                        <a:rPr sz="850" b="1">
                          <a:solidFill>
                            <a:srgbClr val="2B3147"/>
                          </a:solidFill>
                          <a:latin typeface="Calibri"/>
                        </a:rPr>
                        <a:t>Fund Rate</a:t>
                      </a:r>
                    </a:p>
                  </a:txBody>
                  <a:tcPr marL="54864" marR="54864" marT="27432" marB="27432">
                    <a:solidFill>
                      <a:srgbClr val="F9FAFC"/>
                    </a:solidFill>
                  </a:tcPr>
                </a:tc>
                <a:tc>
                  <a:txBody>
                    <a:bodyPr/>
                    <a:lstStyle/>
                    <a:p>
                      <a:pPr algn="r"/>
                      <a:r>
                        <a:rPr sz="850" b="0">
                          <a:solidFill>
                            <a:srgbClr val="2B3147"/>
                          </a:solidFill>
                          <a:latin typeface="Calibri"/>
                        </a:rPr>
                        <a:t>23%</a:t>
                      </a:r>
                    </a:p>
                  </a:txBody>
                  <a:tcPr marL="54864" marR="54864" marT="27432" marB="27432">
                    <a:solidFill>
                      <a:srgbClr val="F9FAFC"/>
                    </a:solidFill>
                  </a:tcPr>
                </a:tc>
                <a:tc>
                  <a:txBody>
                    <a:bodyPr/>
                    <a:lstStyle/>
                    <a:p>
                      <a:pPr algn="r"/>
                      <a:r>
                        <a:rPr sz="850" b="0">
                          <a:solidFill>
                            <a:srgbClr val="2B3147"/>
                          </a:solidFill>
                          <a:latin typeface="Calibri"/>
                        </a:rPr>
                        <a:t>18%</a:t>
                      </a:r>
                    </a:p>
                  </a:txBody>
                  <a:tcPr marL="54864" marR="54864" marT="27432" marB="27432">
                    <a:solidFill>
                      <a:srgbClr val="F9FAFC"/>
                    </a:solidFill>
                  </a:tcPr>
                </a:tc>
                <a:tc>
                  <a:txBody>
                    <a:bodyPr/>
                    <a:lstStyle/>
                    <a:p>
                      <a:pPr algn="r"/>
                      <a:r>
                        <a:rPr sz="850" b="0">
                          <a:solidFill>
                            <a:srgbClr val="2B3147"/>
                          </a:solidFill>
                          <a:latin typeface="Calibri"/>
                        </a:rPr>
                        <a:t>24%</a:t>
                      </a:r>
                    </a:p>
                  </a:txBody>
                  <a:tcPr marL="54864" marR="54864" marT="27432" marB="27432">
                    <a:solidFill>
                      <a:srgbClr val="F9FAFC"/>
                    </a:solidFill>
                  </a:tcPr>
                </a:tc>
                <a:tc>
                  <a:txBody>
                    <a:bodyPr/>
                    <a:lstStyle/>
                    <a:p>
                      <a:pPr algn="r"/>
                      <a:r>
                        <a:rPr sz="850" b="0">
                          <a:solidFill>
                            <a:srgbClr val="2B3147"/>
                          </a:solidFill>
                          <a:latin typeface="Calibri"/>
                        </a:rPr>
                        <a:t>19%</a:t>
                      </a:r>
                    </a:p>
                  </a:txBody>
                  <a:tcPr marL="54864" marR="54864" marT="27432" marB="27432">
                    <a:solidFill>
                      <a:srgbClr val="F9FAFC"/>
                    </a:solidFill>
                  </a:tcPr>
                </a:tc>
                <a:tc>
                  <a:txBody>
                    <a:bodyPr/>
                    <a:lstStyle/>
                    <a:p>
                      <a:pPr algn="r"/>
                      <a:r>
                        <a:rPr sz="850" b="0">
                          <a:solidFill>
                            <a:srgbClr val="2B3147"/>
                          </a:solidFill>
                          <a:latin typeface="Calibri"/>
                        </a:rPr>
                        <a:t>18%</a:t>
                      </a:r>
                    </a:p>
                  </a:txBody>
                  <a:tcPr marL="54864" marR="54864" marT="27432" marB="27432">
                    <a:solidFill>
                      <a:srgbClr val="F9FAFC"/>
                    </a:solidFill>
                  </a:tcPr>
                </a:tc>
                <a:tc>
                  <a:txBody>
                    <a:bodyPr/>
                    <a:lstStyle/>
                    <a:p>
                      <a:pPr algn="r"/>
                      <a:r>
                        <a:rPr sz="850" b="0">
                          <a:solidFill>
                            <a:srgbClr val="2B3147"/>
                          </a:solidFill>
                          <a:latin typeface="Calibri"/>
                        </a:rPr>
                        <a:t>15%</a:t>
                      </a:r>
                    </a:p>
                  </a:txBody>
                  <a:tcPr marL="54864" marR="54864" marT="27432" marB="27432">
                    <a:solidFill>
                      <a:srgbClr val="F9FAFC"/>
                    </a:solidFill>
                  </a:tcPr>
                </a:tc>
                <a:tc>
                  <a:txBody>
                    <a:bodyPr/>
                    <a:lstStyle/>
                    <a:p>
                      <a:pPr algn="r"/>
                      <a:r>
                        <a:rPr sz="850" b="0">
                          <a:solidFill>
                            <a:srgbClr val="2B3147"/>
                          </a:solidFill>
                          <a:latin typeface="Calibri"/>
                        </a:rPr>
                        <a:t>12%</a:t>
                      </a:r>
                    </a:p>
                  </a:txBody>
                  <a:tcPr marL="54864" marR="54864" marT="27432" marB="27432">
                    <a:solidFill>
                      <a:srgbClr val="F9FAFC"/>
                    </a:solidFill>
                  </a:tcPr>
                </a:tc>
                <a:tc>
                  <a:txBody>
                    <a:bodyPr/>
                    <a:lstStyle/>
                    <a:p>
                      <a:pPr algn="r"/>
                      <a:r>
                        <a:rPr sz="850" b="0">
                          <a:solidFill>
                            <a:srgbClr val="2B3147"/>
                          </a:solidFill>
                          <a:latin typeface="Calibri"/>
                        </a:rPr>
                        <a:t>-3pp</a:t>
                      </a:r>
                    </a:p>
                  </a:txBody>
                  <a:tcPr marL="54864" marR="54864" marT="27432" marB="27432">
                    <a:solidFill>
                      <a:srgbClr val="F9FAFC"/>
                    </a:solidFill>
                  </a:tcPr>
                </a:tc>
              </a:tr>
              <a:tr h="274320">
                <a:tc>
                  <a:txBody>
                    <a:bodyPr/>
                    <a:lstStyle/>
                    <a:p>
                      <a:pPr algn="l"/>
                      <a:r>
                        <a:rPr sz="850" b="1">
                          <a:solidFill>
                            <a:srgbClr val="2B3147"/>
                          </a:solidFill>
                          <a:latin typeface="Calibri"/>
                        </a:rPr>
                        <a:t>Cost per Funded Client</a:t>
                      </a:r>
                    </a:p>
                  </a:txBody>
                  <a:tcPr marL="54864" marR="54864" marT="27432" marB="27432">
                    <a:solidFill>
                      <a:srgbClr val="FFFFFF"/>
                    </a:solidFill>
                  </a:tcPr>
                </a:tc>
                <a:tc>
                  <a:txBody>
                    <a:bodyPr/>
                    <a:lstStyle/>
                    <a:p>
                      <a:pPr algn="r"/>
                      <a:r>
                        <a:rPr sz="850" b="0">
                          <a:solidFill>
                            <a:srgbClr val="2B3147"/>
                          </a:solidFill>
                          <a:latin typeface="Calibri"/>
                        </a:rPr>
                        <a:t>$26</a:t>
                      </a:r>
                    </a:p>
                  </a:txBody>
                  <a:tcPr marL="54864" marR="54864" marT="27432" marB="27432">
                    <a:solidFill>
                      <a:srgbClr val="FFFFFF"/>
                    </a:solidFill>
                  </a:tcPr>
                </a:tc>
                <a:tc>
                  <a:txBody>
                    <a:bodyPr/>
                    <a:lstStyle/>
                    <a:p>
                      <a:pPr algn="r"/>
                      <a:r>
                        <a:rPr sz="850" b="0">
                          <a:solidFill>
                            <a:srgbClr val="2B3147"/>
                          </a:solidFill>
                          <a:latin typeface="Calibri"/>
                        </a:rPr>
                        <a:t>$349</a:t>
                      </a:r>
                    </a:p>
                  </a:txBody>
                  <a:tcPr marL="54864" marR="54864" marT="27432" marB="27432">
                    <a:solidFill>
                      <a:srgbClr val="FFFFFF"/>
                    </a:solidFill>
                  </a:tcPr>
                </a:tc>
                <a:tc>
                  <a:txBody>
                    <a:bodyPr/>
                    <a:lstStyle/>
                    <a:p>
                      <a:pPr algn="r"/>
                      <a:r>
                        <a:rPr sz="850" b="0">
                          <a:solidFill>
                            <a:srgbClr val="2B3147"/>
                          </a:solidFill>
                          <a:latin typeface="Calibri"/>
                        </a:rPr>
                        <a:t>$673</a:t>
                      </a:r>
                    </a:p>
                  </a:txBody>
                  <a:tcPr marL="54864" marR="54864" marT="27432" marB="27432">
                    <a:solidFill>
                      <a:srgbClr val="FFFFFF"/>
                    </a:solidFill>
                  </a:tcPr>
                </a:tc>
                <a:tc>
                  <a:txBody>
                    <a:bodyPr/>
                    <a:lstStyle/>
                    <a:p>
                      <a:pPr algn="r"/>
                      <a:r>
                        <a:rPr sz="850" b="0">
                          <a:solidFill>
                            <a:srgbClr val="2B3147"/>
                          </a:solidFill>
                          <a:latin typeface="Calibri"/>
                        </a:rPr>
                        <a:t>$1,218</a:t>
                      </a:r>
                    </a:p>
                  </a:txBody>
                  <a:tcPr marL="54864" marR="54864" marT="27432" marB="27432">
                    <a:solidFill>
                      <a:srgbClr val="FFFFFF"/>
                    </a:solidFill>
                  </a:tcPr>
                </a:tc>
                <a:tc>
                  <a:txBody>
                    <a:bodyPr/>
                    <a:lstStyle/>
                    <a:p>
                      <a:pPr algn="r"/>
                      <a:r>
                        <a:rPr sz="850" b="0">
                          <a:solidFill>
                            <a:srgbClr val="2B3147"/>
                          </a:solidFill>
                          <a:latin typeface="Calibri"/>
                        </a:rPr>
                        <a:t>$2,189</a:t>
                      </a:r>
                    </a:p>
                  </a:txBody>
                  <a:tcPr marL="54864" marR="54864" marT="27432" marB="27432">
                    <a:solidFill>
                      <a:srgbClr val="FFFFFF"/>
                    </a:solidFill>
                  </a:tcPr>
                </a:tc>
                <a:tc>
                  <a:txBody>
                    <a:bodyPr/>
                    <a:lstStyle/>
                    <a:p>
                      <a:pPr algn="r"/>
                      <a:r>
                        <a:rPr sz="850" b="0">
                          <a:solidFill>
                            <a:srgbClr val="2B3147"/>
                          </a:solidFill>
                          <a:latin typeface="Calibri"/>
                        </a:rPr>
                        <a:t>$3,762</a:t>
                      </a:r>
                    </a:p>
                  </a:txBody>
                  <a:tcPr marL="54864" marR="54864" marT="27432" marB="27432">
                    <a:solidFill>
                      <a:srgbClr val="FFFFFF"/>
                    </a:solidFill>
                  </a:tcPr>
                </a:tc>
                <a:tc>
                  <a:txBody>
                    <a:bodyPr/>
                    <a:lstStyle/>
                    <a:p>
                      <a:pPr algn="r"/>
                      <a:r>
                        <a:rPr sz="850" b="0">
                          <a:solidFill>
                            <a:srgbClr val="2B3147"/>
                          </a:solidFill>
                          <a:latin typeface="Calibri"/>
                        </a:rPr>
                        <a:t>$7,138</a:t>
                      </a:r>
                    </a:p>
                  </a:txBody>
                  <a:tcPr marL="54864" marR="54864" marT="27432" marB="27432">
                    <a:solidFill>
                      <a:srgbClr val="FFFFFF"/>
                    </a:solidFill>
                  </a:tcPr>
                </a:tc>
                <a:tc>
                  <a:txBody>
                    <a:bodyPr/>
                    <a:lstStyle/>
                    <a:p>
                      <a:pPr algn="r"/>
                      <a:r>
                        <a:rPr sz="850" b="0">
                          <a:solidFill>
                            <a:srgbClr val="2B3147"/>
                          </a:solidFill>
                          <a:latin typeface="Calibri"/>
                        </a:rPr>
                        <a:t>+90%</a:t>
                      </a:r>
                    </a:p>
                  </a:txBody>
                  <a:tcPr marL="54864" marR="54864" marT="27432" marB="27432">
                    <a:solidFill>
                      <a:srgbClr val="FFFFFF"/>
                    </a:solidFill>
                  </a:tcPr>
                </a:tc>
              </a:tr>
              <a:tr h="274320">
                <a:tc>
                  <a:txBody>
                    <a:bodyPr/>
                    <a:lstStyle/>
                    <a:p>
                      <a:pPr algn="l"/>
                      <a:r>
                        <a:rPr sz="850" b="1">
                          <a:solidFill>
                            <a:srgbClr val="2B3147"/>
                          </a:solidFill>
                          <a:latin typeface="Calibri"/>
                        </a:rPr>
                        <a:t>New Traded Clients</a:t>
                      </a:r>
                    </a:p>
                  </a:txBody>
                  <a:tcPr marL="54864" marR="54864" marT="27432" marB="27432">
                    <a:solidFill>
                      <a:srgbClr val="F9FAFC"/>
                    </a:solidFill>
                  </a:tcPr>
                </a:tc>
                <a:tc>
                  <a:txBody>
                    <a:bodyPr/>
                    <a:lstStyle/>
                    <a:p>
                      <a:pPr algn="r"/>
                      <a:r>
                        <a:rPr sz="850" b="0">
                          <a:solidFill>
                            <a:srgbClr val="2B3147"/>
                          </a:solidFill>
                          <a:latin typeface="Calibri"/>
                        </a:rPr>
                        <a:t>56</a:t>
                      </a:r>
                    </a:p>
                  </a:txBody>
                  <a:tcPr marL="54864" marR="54864" marT="27432" marB="27432">
                    <a:solidFill>
                      <a:srgbClr val="F9FAFC"/>
                    </a:solidFill>
                  </a:tcPr>
                </a:tc>
                <a:tc>
                  <a:txBody>
                    <a:bodyPr/>
                    <a:lstStyle/>
                    <a:p>
                      <a:pPr algn="r"/>
                      <a:r>
                        <a:rPr sz="850" b="0">
                          <a:solidFill>
                            <a:srgbClr val="2B3147"/>
                          </a:solidFill>
                          <a:latin typeface="Calibri"/>
                        </a:rPr>
                        <a:t>52</a:t>
                      </a:r>
                    </a:p>
                  </a:txBody>
                  <a:tcPr marL="54864" marR="54864" marT="27432" marB="27432">
                    <a:solidFill>
                      <a:srgbClr val="F9FAFC"/>
                    </a:solidFill>
                  </a:tcPr>
                </a:tc>
                <a:tc>
                  <a:txBody>
                    <a:bodyPr/>
                    <a:lstStyle/>
                    <a:p>
                      <a:pPr algn="r"/>
                      <a:r>
                        <a:rPr sz="850" b="0">
                          <a:solidFill>
                            <a:srgbClr val="2B3147"/>
                          </a:solidFill>
                          <a:latin typeface="Calibri"/>
                        </a:rPr>
                        <a:t>57</a:t>
                      </a:r>
                    </a:p>
                  </a:txBody>
                  <a:tcPr marL="54864" marR="54864" marT="27432" marB="27432">
                    <a:solidFill>
                      <a:srgbClr val="F9FAFC"/>
                    </a:solidFill>
                  </a:tcPr>
                </a:tc>
                <a:tc>
                  <a:txBody>
                    <a:bodyPr/>
                    <a:lstStyle/>
                    <a:p>
                      <a:pPr algn="r"/>
                      <a:r>
                        <a:rPr sz="850" b="0">
                          <a:solidFill>
                            <a:srgbClr val="2B3147"/>
                          </a:solidFill>
                          <a:latin typeface="Calibri"/>
                        </a:rPr>
                        <a:t>35</a:t>
                      </a:r>
                    </a:p>
                  </a:txBody>
                  <a:tcPr marL="54864" marR="54864" marT="27432" marB="27432">
                    <a:solidFill>
                      <a:srgbClr val="F9FAFC"/>
                    </a:solidFill>
                  </a:tcPr>
                </a:tc>
                <a:tc>
                  <a:txBody>
                    <a:bodyPr/>
                    <a:lstStyle/>
                    <a:p>
                      <a:pPr algn="r"/>
                      <a:r>
                        <a:rPr sz="850" b="0">
                          <a:solidFill>
                            <a:srgbClr val="2B3147"/>
                          </a:solidFill>
                          <a:latin typeface="Calibri"/>
                        </a:rPr>
                        <a:t>36</a:t>
                      </a:r>
                    </a:p>
                  </a:txBody>
                  <a:tcPr marL="54864" marR="54864" marT="27432" marB="27432">
                    <a:solidFill>
                      <a:srgbClr val="F9FAFC"/>
                    </a:solidFill>
                  </a:tcPr>
                </a:tc>
                <a:tc>
                  <a:txBody>
                    <a:bodyPr/>
                    <a:lstStyle/>
                    <a:p>
                      <a:pPr algn="r"/>
                      <a:r>
                        <a:rPr sz="850" b="0">
                          <a:solidFill>
                            <a:srgbClr val="2B3147"/>
                          </a:solidFill>
                          <a:latin typeface="Calibri"/>
                        </a:rPr>
                        <a:t>29</a:t>
                      </a:r>
                    </a:p>
                  </a:txBody>
                  <a:tcPr marL="54864" marR="54864" marT="27432" marB="27432">
                    <a:solidFill>
                      <a:srgbClr val="F9FAFC"/>
                    </a:solidFill>
                  </a:tcPr>
                </a:tc>
                <a:tc>
                  <a:txBody>
                    <a:bodyPr/>
                    <a:lstStyle/>
                    <a:p>
                      <a:pPr algn="r"/>
                      <a:r>
                        <a:rPr sz="850" b="0">
                          <a:solidFill>
                            <a:srgbClr val="2B3147"/>
                          </a:solidFill>
                          <a:latin typeface="Calibri"/>
                        </a:rPr>
                        <a:t>19</a:t>
                      </a:r>
                    </a:p>
                  </a:txBody>
                  <a:tcPr marL="54864" marR="54864" marT="27432" marB="27432">
                    <a:solidFill>
                      <a:srgbClr val="F9FAFC"/>
                    </a:solidFill>
                  </a:tcPr>
                </a:tc>
                <a:tc>
                  <a:txBody>
                    <a:bodyPr/>
                    <a:lstStyle/>
                    <a:p>
                      <a:pPr algn="r"/>
                      <a:r>
                        <a:rPr sz="850" b="0">
                          <a:solidFill>
                            <a:srgbClr val="2B3147"/>
                          </a:solidFill>
                          <a:latin typeface="Calibri"/>
                        </a:rPr>
                        <a:t>-34%</a:t>
                      </a:r>
                    </a:p>
                  </a:txBody>
                  <a:tcPr marL="54864" marR="54864" marT="27432" marB="27432">
                    <a:solidFill>
                      <a:srgbClr val="F9FAFC"/>
                    </a:solidFill>
                  </a:tcPr>
                </a:tc>
              </a:tr>
              <a:tr h="274320">
                <a:tc>
                  <a:txBody>
                    <a:bodyPr/>
                    <a:lstStyle/>
                    <a:p>
                      <a:pPr algn="l"/>
                      <a:r>
                        <a:rPr sz="850" b="1">
                          <a:solidFill>
                            <a:srgbClr val="2B3147"/>
                          </a:solidFill>
                          <a:latin typeface="Calibri"/>
                        </a:rPr>
                        <a:t>Cost per Traded Client</a:t>
                      </a:r>
                    </a:p>
                  </a:txBody>
                  <a:tcPr marL="54864" marR="54864" marT="27432" marB="27432">
                    <a:solidFill>
                      <a:srgbClr val="FFFFFF"/>
                    </a:solidFill>
                  </a:tcPr>
                </a:tc>
                <a:tc>
                  <a:txBody>
                    <a:bodyPr/>
                    <a:lstStyle/>
                    <a:p>
                      <a:pPr algn="r"/>
                      <a:r>
                        <a:rPr sz="850" b="0">
                          <a:solidFill>
                            <a:srgbClr val="2B3147"/>
                          </a:solidFill>
                          <a:latin typeface="Calibri"/>
                        </a:rPr>
                        <a:t>$31</a:t>
                      </a:r>
                    </a:p>
                  </a:txBody>
                  <a:tcPr marL="54864" marR="54864" marT="27432" marB="27432">
                    <a:solidFill>
                      <a:srgbClr val="FFFFFF"/>
                    </a:solidFill>
                  </a:tcPr>
                </a:tc>
                <a:tc>
                  <a:txBody>
                    <a:bodyPr/>
                    <a:lstStyle/>
                    <a:p>
                      <a:pPr algn="r"/>
                      <a:r>
                        <a:rPr sz="850" b="0">
                          <a:solidFill>
                            <a:srgbClr val="2B3147"/>
                          </a:solidFill>
                          <a:latin typeface="Calibri"/>
                        </a:rPr>
                        <a:t>$396</a:t>
                      </a:r>
                    </a:p>
                  </a:txBody>
                  <a:tcPr marL="54864" marR="54864" marT="27432" marB="27432">
                    <a:solidFill>
                      <a:srgbClr val="FFFFFF"/>
                    </a:solidFill>
                  </a:tcPr>
                </a:tc>
                <a:tc>
                  <a:txBody>
                    <a:bodyPr/>
                    <a:lstStyle/>
                    <a:p>
                      <a:pPr algn="r"/>
                      <a:r>
                        <a:rPr sz="850" b="0">
                          <a:solidFill>
                            <a:srgbClr val="2B3147"/>
                          </a:solidFill>
                          <a:latin typeface="Calibri"/>
                        </a:rPr>
                        <a:t>$744</a:t>
                      </a:r>
                    </a:p>
                  </a:txBody>
                  <a:tcPr marL="54864" marR="54864" marT="27432" marB="27432">
                    <a:solidFill>
                      <a:srgbClr val="FFFFFF"/>
                    </a:solidFill>
                  </a:tcPr>
                </a:tc>
                <a:tc>
                  <a:txBody>
                    <a:bodyPr/>
                    <a:lstStyle/>
                    <a:p>
                      <a:pPr algn="r"/>
                      <a:r>
                        <a:rPr sz="850" b="0">
                          <a:solidFill>
                            <a:srgbClr val="2B3147"/>
                          </a:solidFill>
                          <a:latin typeface="Calibri"/>
                        </a:rPr>
                        <a:t>$1,323</a:t>
                      </a:r>
                    </a:p>
                  </a:txBody>
                  <a:tcPr marL="54864" marR="54864" marT="27432" marB="27432">
                    <a:solidFill>
                      <a:srgbClr val="FFFFFF"/>
                    </a:solidFill>
                  </a:tcPr>
                </a:tc>
                <a:tc>
                  <a:txBody>
                    <a:bodyPr/>
                    <a:lstStyle/>
                    <a:p>
                      <a:pPr algn="r"/>
                      <a:r>
                        <a:rPr sz="850" b="0">
                          <a:solidFill>
                            <a:srgbClr val="2B3147"/>
                          </a:solidFill>
                          <a:latin typeface="Calibri"/>
                        </a:rPr>
                        <a:t>$2,189</a:t>
                      </a:r>
                    </a:p>
                  </a:txBody>
                  <a:tcPr marL="54864" marR="54864" marT="27432" marB="27432">
                    <a:solidFill>
                      <a:srgbClr val="FFFFFF"/>
                    </a:solidFill>
                  </a:tcPr>
                </a:tc>
                <a:tc>
                  <a:txBody>
                    <a:bodyPr/>
                    <a:lstStyle/>
                    <a:p>
                      <a:pPr algn="r"/>
                      <a:r>
                        <a:rPr sz="850" b="0">
                          <a:solidFill>
                            <a:srgbClr val="2B3147"/>
                          </a:solidFill>
                          <a:latin typeface="Calibri"/>
                        </a:rPr>
                        <a:t>$4,151</a:t>
                      </a:r>
                    </a:p>
                  </a:txBody>
                  <a:tcPr marL="54864" marR="54864" marT="27432" marB="27432">
                    <a:solidFill>
                      <a:srgbClr val="FFFFFF"/>
                    </a:solidFill>
                  </a:tcPr>
                </a:tc>
                <a:tc>
                  <a:txBody>
                    <a:bodyPr/>
                    <a:lstStyle/>
                    <a:p>
                      <a:pPr algn="r"/>
                      <a:r>
                        <a:rPr sz="850" b="0">
                          <a:solidFill>
                            <a:srgbClr val="2B3147"/>
                          </a:solidFill>
                          <a:latin typeface="Calibri"/>
                        </a:rPr>
                        <a:t>$7,889</a:t>
                      </a:r>
                    </a:p>
                  </a:txBody>
                  <a:tcPr marL="54864" marR="54864" marT="27432" marB="27432">
                    <a:solidFill>
                      <a:srgbClr val="FFFFFF"/>
                    </a:solidFill>
                  </a:tcPr>
                </a:tc>
                <a:tc>
                  <a:txBody>
                    <a:bodyPr/>
                    <a:lstStyle/>
                    <a:p>
                      <a:pPr algn="r"/>
                      <a:r>
                        <a:rPr sz="850" b="0">
                          <a:solidFill>
                            <a:srgbClr val="2B3147"/>
                          </a:solidFill>
                          <a:latin typeface="Calibri"/>
                        </a:rPr>
                        <a:t>+90%</a:t>
                      </a:r>
                    </a:p>
                  </a:txBody>
                  <a:tcPr marL="54864" marR="54864" marT="27432" marB="27432">
                    <a:solidFill>
                      <a:srgbClr val="FFFFFF"/>
                    </a:solidFill>
                  </a:tcPr>
                </a:tc>
              </a:tr>
              <a:tr h="274320">
                <a:tc>
                  <a:txBody>
                    <a:bodyPr/>
                    <a:lstStyle/>
                    <a:p>
                      <a:pPr algn="l"/>
                      <a:r>
                        <a:rPr sz="850" b="1">
                          <a:solidFill>
                            <a:srgbClr val="2B3147"/>
                          </a:solidFill>
                          <a:latin typeface="Calibri"/>
                        </a:rPr>
                        <a:t>Trading Volume</a:t>
                      </a:r>
                    </a:p>
                  </a:txBody>
                  <a:tcPr marL="54864" marR="54864" marT="27432" marB="27432">
                    <a:solidFill>
                      <a:srgbClr val="F9FAFC"/>
                    </a:solidFill>
                  </a:tcPr>
                </a:tc>
                <a:tc>
                  <a:txBody>
                    <a:bodyPr/>
                    <a:lstStyle/>
                    <a:p>
                      <a:pPr algn="r"/>
                      <a:r>
                        <a:rPr sz="850" b="0">
                          <a:solidFill>
                            <a:srgbClr val="2B3147"/>
                          </a:solidFill>
                          <a:latin typeface="Calibri"/>
                        </a:rPr>
                        <a:t>$5.1B</a:t>
                      </a:r>
                    </a:p>
                  </a:txBody>
                  <a:tcPr marL="54864" marR="54864" marT="27432" marB="27432">
                    <a:solidFill>
                      <a:srgbClr val="F9FAFC"/>
                    </a:solidFill>
                  </a:tcPr>
                </a:tc>
                <a:tc>
                  <a:txBody>
                    <a:bodyPr/>
                    <a:lstStyle/>
                    <a:p>
                      <a:pPr algn="r"/>
                      <a:r>
                        <a:rPr sz="850" b="0">
                          <a:solidFill>
                            <a:srgbClr val="2B3147"/>
                          </a:solidFill>
                          <a:latin typeface="Calibri"/>
                        </a:rPr>
                        <a:t>$2.5B</a:t>
                      </a:r>
                    </a:p>
                  </a:txBody>
                  <a:tcPr marL="54864" marR="54864" marT="27432" marB="27432">
                    <a:solidFill>
                      <a:srgbClr val="F9FAFC"/>
                    </a:solidFill>
                  </a:tcPr>
                </a:tc>
                <a:tc>
                  <a:txBody>
                    <a:bodyPr/>
                    <a:lstStyle/>
                    <a:p>
                      <a:pPr algn="r"/>
                      <a:r>
                        <a:rPr sz="850" b="0">
                          <a:solidFill>
                            <a:srgbClr val="2B3147"/>
                          </a:solidFill>
                          <a:latin typeface="Calibri"/>
                        </a:rPr>
                        <a:t>$2.3B</a:t>
                      </a:r>
                    </a:p>
                  </a:txBody>
                  <a:tcPr marL="54864" marR="54864" marT="27432" marB="27432">
                    <a:solidFill>
                      <a:srgbClr val="F9FAFC"/>
                    </a:solidFill>
                  </a:tcPr>
                </a:tc>
                <a:tc>
                  <a:txBody>
                    <a:bodyPr/>
                    <a:lstStyle/>
                    <a:p>
                      <a:pPr algn="r"/>
                      <a:r>
                        <a:rPr sz="850" b="0">
                          <a:solidFill>
                            <a:srgbClr val="2B3147"/>
                          </a:solidFill>
                          <a:latin typeface="Calibri"/>
                        </a:rPr>
                        <a:t>$2.1B</a:t>
                      </a:r>
                    </a:p>
                  </a:txBody>
                  <a:tcPr marL="54864" marR="54864" marT="27432" marB="27432">
                    <a:solidFill>
                      <a:srgbClr val="F9FAFC"/>
                    </a:solidFill>
                  </a:tcPr>
                </a:tc>
                <a:tc>
                  <a:txBody>
                    <a:bodyPr/>
                    <a:lstStyle/>
                    <a:p>
                      <a:pPr algn="r"/>
                      <a:r>
                        <a:rPr sz="850" b="0">
                          <a:solidFill>
                            <a:srgbClr val="2B3147"/>
                          </a:solidFill>
                          <a:latin typeface="Calibri"/>
                        </a:rPr>
                        <a:t>$1.1B</a:t>
                      </a:r>
                    </a:p>
                  </a:txBody>
                  <a:tcPr marL="54864" marR="54864" marT="27432" marB="27432">
                    <a:solidFill>
                      <a:srgbClr val="F9FAFC"/>
                    </a:solidFill>
                  </a:tcPr>
                </a:tc>
                <a:tc>
                  <a:txBody>
                    <a:bodyPr/>
                    <a:lstStyle/>
                    <a:p>
                      <a:pPr algn="r"/>
                      <a:r>
                        <a:rPr sz="850" b="0">
                          <a:solidFill>
                            <a:srgbClr val="2B3147"/>
                          </a:solidFill>
                          <a:latin typeface="Calibri"/>
                        </a:rPr>
                        <a:t>$1.1B</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r>
            </a:tbl>
          </a:graphicData>
        </a:graphic>
      </p:graphicFrame>
      <p:sp>
        <p:nvSpPr>
          <p:cNvPr id="12" name="TextBox 11"/>
          <p:cNvSpPr txBox="1"/>
          <p:nvPr/>
        </p:nvSpPr>
        <p:spPr>
          <a:xfrm>
            <a:off x="457200" y="6144768"/>
            <a:ext cx="11247120" cy="274320"/>
          </a:xfrm>
          <a:prstGeom prst="rect">
            <a:avLst/>
          </a:prstGeom>
          <a:noFill/>
        </p:spPr>
        <p:txBody>
          <a:bodyPr wrap="square" anchor="t" lIns="0" rIns="0" tIns="0" bIns="0">
            <a:spAutoFit/>
          </a:bodyPr>
          <a:lstStyle/>
          <a:p>
            <a:pPr algn="l"/>
            <a:r>
              <a:rPr sz="750" b="0">
                <a:solidFill>
                  <a:srgbClr val="5A6072"/>
                </a:solidFill>
                <a:latin typeface="Calibri"/>
              </a:rPr>
              <a:t>Funnel metrics are blended organic + paid, from the client dashboard. Working media per the budget tracker. MoM = July vs June. January cost figures reflect a near-zero media base ($1,717). July trading volume follows with the next dashboard refresh.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EXECUTIVE SUMMARY</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$149,896 deployed in July, up 24%, the biggest GGMI media month of 2026.</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3 / 16</a:t>
            </a:r>
          </a:p>
        </p:txBody>
      </p:sp>
      <p:graphicFrame>
        <p:nvGraphicFramePr>
          <p:cNvPr id="10" name="Table 9"/>
          <p:cNvGraphicFramePr>
            <a:graphicFrameLocks noGrp="1"/>
          </p:cNvGraphicFramePr>
          <p:nvPr/>
        </p:nvGraphicFramePr>
        <p:xfrm>
          <a:off x="457200" y="1737360"/>
          <a:ext cx="6766560" cy="2788920"/>
        </p:xfrm>
        <a:graphic>
          <a:graphicData uri="http://schemas.openxmlformats.org/drawingml/2006/table">
            <a:tbl>
              <a:tblPr>
                <a:tableStyleId>{5C22544A-7EE6-4342-B048-85BDC9FD1C3A}</a:tableStyleId>
              </a:tblPr>
              <a:tblGrid>
                <a:gridCol w="1965960"/>
                <a:gridCol w="1051560"/>
                <a:gridCol w="960120"/>
                <a:gridCol w="960120"/>
                <a:gridCol w="777240"/>
                <a:gridCol w="1051560"/>
              </a:tblGrid>
              <a:tr h="348615">
                <a:tc>
                  <a:txBody>
                    <a:bodyPr/>
                    <a:lstStyle/>
                    <a:p>
                      <a:pPr algn="l"/>
                      <a:r>
                        <a:rPr sz="850" b="1">
                          <a:solidFill>
                            <a:srgbClr val="FFFFFF"/>
                          </a:solidFill>
                          <a:latin typeface="Calibri"/>
                        </a:rPr>
                        <a:t>Channel</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Impr</a:t>
                      </a:r>
                    </a:p>
                  </a:txBody>
                  <a:tcPr marL="54864" marR="54864" marT="27432" marB="27432">
                    <a:solidFill>
                      <a:srgbClr val="1E2761"/>
                    </a:solidFill>
                  </a:tcPr>
                </a:tc>
                <a:tc>
                  <a:txBody>
                    <a:bodyPr/>
                    <a:lstStyle/>
                    <a:p>
                      <a:pPr algn="r"/>
                      <a:r>
                        <a:rPr sz="850" b="1">
                          <a:solidFill>
                            <a:srgbClr val="FFFFFF"/>
                          </a:solidFill>
                          <a:latin typeface="Calibri"/>
                        </a:rPr>
                        <a:t>Clicks</a:t>
                      </a:r>
                    </a:p>
                  </a:txBody>
                  <a:tcPr marL="54864" marR="54864" marT="27432" marB="27432">
                    <a:solidFill>
                      <a:srgbClr val="1E2761"/>
                    </a:solidFill>
                  </a:tcPr>
                </a:tc>
                <a:tc>
                  <a:txBody>
                    <a:bodyPr/>
                    <a:lstStyle/>
                    <a:p>
                      <a:pPr algn="r"/>
                      <a:r>
                        <a:rPr sz="850" b="1">
                          <a:solidFill>
                            <a:srgbClr val="FFFFFF"/>
                          </a:solidFill>
                          <a:latin typeface="Calibri"/>
                        </a:rPr>
                        <a:t>Apps</a:t>
                      </a:r>
                    </a:p>
                  </a:txBody>
                  <a:tcPr marL="54864" marR="54864" marT="27432" marB="27432">
                    <a:solidFill>
                      <a:srgbClr val="1E2761"/>
                    </a:solidFill>
                  </a:tcPr>
                </a:tc>
                <a:tc>
                  <a:txBody>
                    <a:bodyPr/>
                    <a:lstStyle/>
                    <a:p>
                      <a:pPr algn="r"/>
                      <a:r>
                        <a:rPr sz="850" b="1">
                          <a:solidFill>
                            <a:srgbClr val="FFFFFF"/>
                          </a:solidFill>
                          <a:latin typeface="Calibri"/>
                        </a:rPr>
                        <a:t>Cost/app</a:t>
                      </a:r>
                    </a:p>
                  </a:txBody>
                  <a:tcPr marL="54864" marR="54864" marT="27432" marB="27432">
                    <a:solidFill>
                      <a:srgbClr val="1E2761"/>
                    </a:solidFill>
                  </a:tcPr>
                </a:tc>
              </a:tr>
              <a:tr h="348615">
                <a:tc>
                  <a:txBody>
                    <a:bodyPr/>
                    <a:lstStyle/>
                    <a:p>
                      <a:pPr algn="l"/>
                      <a:r>
                        <a:rPr sz="850" b="1">
                          <a:solidFill>
                            <a:srgbClr val="2B3147"/>
                          </a:solidFill>
                          <a:latin typeface="Calibri"/>
                        </a:rPr>
                        <a:t>Bing (Search)</a:t>
                      </a:r>
                    </a:p>
                  </a:txBody>
                  <a:tcPr marL="54864" marR="54864" marT="27432" marB="27432">
                    <a:solidFill>
                      <a:srgbClr val="FFFFFF"/>
                    </a:solidFill>
                  </a:tcPr>
                </a:tc>
                <a:tc>
                  <a:txBody>
                    <a:bodyPr/>
                    <a:lstStyle/>
                    <a:p>
                      <a:pPr algn="r"/>
                      <a:r>
                        <a:rPr sz="850" b="0">
                          <a:solidFill>
                            <a:srgbClr val="2B3147"/>
                          </a:solidFill>
                          <a:latin typeface="Calibri"/>
                        </a:rPr>
                        <a:t>$10,625</a:t>
                      </a:r>
                    </a:p>
                  </a:txBody>
                  <a:tcPr marL="54864" marR="54864" marT="27432" marB="27432">
                    <a:solidFill>
                      <a:srgbClr val="FFFFFF"/>
                    </a:solidFill>
                  </a:tcPr>
                </a:tc>
                <a:tc>
                  <a:txBody>
                    <a:bodyPr/>
                    <a:lstStyle/>
                    <a:p>
                      <a:pPr algn="r"/>
                      <a:r>
                        <a:rPr sz="850" b="0">
                          <a:solidFill>
                            <a:srgbClr val="2B3147"/>
                          </a:solidFill>
                          <a:latin typeface="Calibri"/>
                        </a:rPr>
                        <a:t>90,394</a:t>
                      </a:r>
                    </a:p>
                  </a:txBody>
                  <a:tcPr marL="54864" marR="54864" marT="27432" marB="27432">
                    <a:solidFill>
                      <a:srgbClr val="FFFFFF"/>
                    </a:solidFill>
                  </a:tcPr>
                </a:tc>
                <a:tc>
                  <a:txBody>
                    <a:bodyPr/>
                    <a:lstStyle/>
                    <a:p>
                      <a:pPr algn="r"/>
                      <a:r>
                        <a:rPr sz="850" b="0">
                          <a:solidFill>
                            <a:srgbClr val="2B3147"/>
                          </a:solidFill>
                          <a:latin typeface="Calibri"/>
                        </a:rPr>
                        <a:t>4,090</a:t>
                      </a:r>
                    </a:p>
                  </a:txBody>
                  <a:tcPr marL="54864" marR="54864" marT="27432" marB="27432">
                    <a:solidFill>
                      <a:srgbClr val="FFFFFF"/>
                    </a:solidFill>
                  </a:tcPr>
                </a:tc>
                <a:tc>
                  <a:txBody>
                    <a:bodyPr/>
                    <a:lstStyle/>
                    <a:p>
                      <a:pPr algn="r"/>
                      <a:r>
                        <a:rPr sz="850" b="0">
                          <a:solidFill>
                            <a:srgbClr val="2B3147"/>
                          </a:solidFill>
                          <a:latin typeface="Calibri"/>
                        </a:rPr>
                        <a:t>20</a:t>
                      </a:r>
                    </a:p>
                  </a:txBody>
                  <a:tcPr marL="54864" marR="54864" marT="27432" marB="27432">
                    <a:solidFill>
                      <a:srgbClr val="FFFFFF"/>
                    </a:solidFill>
                  </a:tcPr>
                </a:tc>
                <a:tc>
                  <a:txBody>
                    <a:bodyPr/>
                    <a:lstStyle/>
                    <a:p>
                      <a:pPr algn="r"/>
                      <a:r>
                        <a:rPr sz="850" b="0">
                          <a:solidFill>
                            <a:srgbClr val="2B3147"/>
                          </a:solidFill>
                          <a:latin typeface="Calibri"/>
                        </a:rPr>
                        <a:t>$531.25</a:t>
                      </a:r>
                    </a:p>
                  </a:txBody>
                  <a:tcPr marL="54864" marR="54864" marT="27432" marB="27432">
                    <a:solidFill>
                      <a:srgbClr val="FFFFFF"/>
                    </a:solidFill>
                  </a:tcPr>
                </a:tc>
              </a:tr>
              <a:tr h="348615">
                <a:tc>
                  <a:txBody>
                    <a:bodyPr/>
                    <a:lstStyle/>
                    <a:p>
                      <a:pPr algn="l"/>
                      <a:r>
                        <a:rPr sz="850" b="1">
                          <a:solidFill>
                            <a:srgbClr val="2B3147"/>
                          </a:solidFill>
                          <a:latin typeface="Calibri"/>
                        </a:rPr>
                        <a:t>Quantcast (Display)</a:t>
                      </a:r>
                    </a:p>
                  </a:txBody>
                  <a:tcPr marL="54864" marR="54864" marT="27432" marB="27432">
                    <a:solidFill>
                      <a:srgbClr val="F9FAFC"/>
                    </a:solidFill>
                  </a:tcPr>
                </a:tc>
                <a:tc>
                  <a:txBody>
                    <a:bodyPr/>
                    <a:lstStyle/>
                    <a:p>
                      <a:pPr algn="r"/>
                      <a:r>
                        <a:rPr sz="850" b="0">
                          <a:solidFill>
                            <a:srgbClr val="2B3147"/>
                          </a:solidFill>
                          <a:latin typeface="Calibri"/>
                        </a:rPr>
                        <a:t>$39,240</a:t>
                      </a:r>
                    </a:p>
                  </a:txBody>
                  <a:tcPr marL="54864" marR="54864" marT="27432" marB="27432">
                    <a:solidFill>
                      <a:srgbClr val="F9FAFC"/>
                    </a:solidFill>
                  </a:tcPr>
                </a:tc>
                <a:tc>
                  <a:txBody>
                    <a:bodyPr/>
                    <a:lstStyle/>
                    <a:p>
                      <a:pPr algn="r"/>
                      <a:r>
                        <a:rPr sz="850" b="0">
                          <a:solidFill>
                            <a:srgbClr val="2B3147"/>
                          </a:solidFill>
                          <a:latin typeface="Calibri"/>
                        </a:rPr>
                        <a:t>50.48M</a:t>
                      </a:r>
                    </a:p>
                  </a:txBody>
                  <a:tcPr marL="54864" marR="54864" marT="27432" marB="27432">
                    <a:solidFill>
                      <a:srgbClr val="F9FAFC"/>
                    </a:solidFill>
                  </a:tcPr>
                </a:tc>
                <a:tc>
                  <a:txBody>
                    <a:bodyPr/>
                    <a:lstStyle/>
                    <a:p>
                      <a:pPr algn="r"/>
                      <a:r>
                        <a:rPr sz="850" b="0">
                          <a:solidFill>
                            <a:srgbClr val="2B3147"/>
                          </a:solidFill>
                          <a:latin typeface="Calibri"/>
                        </a:rPr>
                        <a:t>19,188</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r>
              <a:tr h="348615">
                <a:tc>
                  <a:txBody>
                    <a:bodyPr/>
                    <a:lstStyle/>
                    <a:p>
                      <a:pPr algn="l"/>
                      <a:r>
                        <a:rPr sz="850" b="1">
                          <a:solidFill>
                            <a:srgbClr val="2B3147"/>
                          </a:solidFill>
                          <a:latin typeface="Calibri"/>
                        </a:rPr>
                        <a:t>Azerion (Display)</a:t>
                      </a:r>
                    </a:p>
                  </a:txBody>
                  <a:tcPr marL="54864" marR="54864" marT="27432" marB="27432">
                    <a:solidFill>
                      <a:srgbClr val="FFFFFF"/>
                    </a:solidFill>
                  </a:tcPr>
                </a:tc>
                <a:tc>
                  <a:txBody>
                    <a:bodyPr/>
                    <a:lstStyle/>
                    <a:p>
                      <a:pPr algn="r"/>
                      <a:r>
                        <a:rPr sz="850" b="0">
                          <a:solidFill>
                            <a:srgbClr val="2B3147"/>
                          </a:solidFill>
                          <a:latin typeface="Calibri"/>
                        </a:rPr>
                        <a:t>$37,509</a:t>
                      </a:r>
                    </a:p>
                  </a:txBody>
                  <a:tcPr marL="54864" marR="54864" marT="27432" marB="27432">
                    <a:solidFill>
                      <a:srgbClr val="FFFFFF"/>
                    </a:solidFill>
                  </a:tcPr>
                </a:tc>
                <a:tc>
                  <a:txBody>
                    <a:bodyPr/>
                    <a:lstStyle/>
                    <a:p>
                      <a:pPr algn="r"/>
                      <a:r>
                        <a:rPr sz="850" b="0">
                          <a:solidFill>
                            <a:srgbClr val="2B3147"/>
                          </a:solidFill>
                          <a:latin typeface="Calibri"/>
                        </a:rPr>
                        <a:t>7.58M</a:t>
                      </a:r>
                    </a:p>
                  </a:txBody>
                  <a:tcPr marL="54864" marR="54864" marT="27432" marB="27432">
                    <a:solidFill>
                      <a:srgbClr val="FFFFFF"/>
                    </a:solidFill>
                  </a:tcPr>
                </a:tc>
                <a:tc>
                  <a:txBody>
                    <a:bodyPr/>
                    <a:lstStyle/>
                    <a:p>
                      <a:pPr algn="r"/>
                      <a:r>
                        <a:rPr sz="850" b="0">
                          <a:solidFill>
                            <a:srgbClr val="2B3147"/>
                          </a:solidFill>
                          <a:latin typeface="Calibri"/>
                        </a:rPr>
                        <a:t>12,915</a:t>
                      </a:r>
                    </a:p>
                  </a:txBody>
                  <a:tcPr marL="54864" marR="54864" marT="27432" marB="27432">
                    <a:solidFill>
                      <a:srgbClr val="FFFFFF"/>
                    </a:solidFill>
                  </a:tcPr>
                </a:tc>
                <a:tc>
                  <a:txBody>
                    <a:bodyPr/>
                    <a:lstStyle/>
                    <a:p>
                      <a:pPr algn="r"/>
                      <a:r>
                        <a:rPr sz="850" b="0">
                          <a:solidFill>
                            <a:srgbClr val="2B3147"/>
                          </a:solidFill>
                          <a:latin typeface="Calibri"/>
                        </a:rPr>
                        <a:t>41*</a:t>
                      </a:r>
                    </a:p>
                  </a:txBody>
                  <a:tcPr marL="54864" marR="54864" marT="27432" marB="27432">
                    <a:solidFill>
                      <a:srgbClr val="FFFFFF"/>
                    </a:solidFill>
                  </a:tcPr>
                </a:tc>
                <a:tc>
                  <a:txBody>
                    <a:bodyPr/>
                    <a:lstStyle/>
                    <a:p>
                      <a:pPr algn="r"/>
                      <a:r>
                        <a:rPr sz="850" b="0">
                          <a:solidFill>
                            <a:srgbClr val="2B3147"/>
                          </a:solidFill>
                          <a:latin typeface="Calibri"/>
                        </a:rPr>
                        <a:t>$914.85*</a:t>
                      </a:r>
                    </a:p>
                  </a:txBody>
                  <a:tcPr marL="54864" marR="54864" marT="27432" marB="27432">
                    <a:solidFill>
                      <a:srgbClr val="FFFFFF"/>
                    </a:solidFill>
                  </a:tcPr>
                </a:tc>
              </a:tr>
              <a:tr h="348615">
                <a:tc>
                  <a:txBody>
                    <a:bodyPr/>
                    <a:lstStyle/>
                    <a:p>
                      <a:pPr algn="l"/>
                      <a:r>
                        <a:rPr sz="850" b="1">
                          <a:solidFill>
                            <a:srgbClr val="2B3147"/>
                          </a:solidFill>
                          <a:latin typeface="Calibri"/>
                        </a:rPr>
                        <a:t>Native (QC + Azerion)</a:t>
                      </a:r>
                    </a:p>
                  </a:txBody>
                  <a:tcPr marL="54864" marR="54864" marT="27432" marB="27432">
                    <a:solidFill>
                      <a:srgbClr val="F9FAFC"/>
                    </a:solidFill>
                  </a:tcPr>
                </a:tc>
                <a:tc>
                  <a:txBody>
                    <a:bodyPr/>
                    <a:lstStyle/>
                    <a:p>
                      <a:pPr algn="r"/>
                      <a:r>
                        <a:rPr sz="850" b="0">
                          <a:solidFill>
                            <a:srgbClr val="2B3147"/>
                          </a:solidFill>
                          <a:latin typeface="Calibri"/>
                        </a:rPr>
                        <a:t>$27,630</a:t>
                      </a:r>
                    </a:p>
                  </a:txBody>
                  <a:tcPr marL="54864" marR="54864" marT="27432" marB="27432">
                    <a:solidFill>
                      <a:srgbClr val="F9FAFC"/>
                    </a:solidFill>
                  </a:tcPr>
                </a:tc>
                <a:tc>
                  <a:txBody>
                    <a:bodyPr/>
                    <a:lstStyle/>
                    <a:p>
                      <a:pPr algn="r"/>
                      <a:r>
                        <a:rPr sz="850" b="0">
                          <a:solidFill>
                            <a:srgbClr val="2B3147"/>
                          </a:solidFill>
                          <a:latin typeface="Calibri"/>
                        </a:rPr>
                        <a:t>18.18M</a:t>
                      </a:r>
                    </a:p>
                  </a:txBody>
                  <a:tcPr marL="54864" marR="54864" marT="27432" marB="27432">
                    <a:solidFill>
                      <a:srgbClr val="F9FAFC"/>
                    </a:solidFill>
                  </a:tcPr>
                </a:tc>
                <a:tc>
                  <a:txBody>
                    <a:bodyPr/>
                    <a:lstStyle/>
                    <a:p>
                      <a:pPr algn="r"/>
                      <a:r>
                        <a:rPr sz="850" b="0">
                          <a:solidFill>
                            <a:srgbClr val="2B3147"/>
                          </a:solidFill>
                          <a:latin typeface="Calibri"/>
                        </a:rPr>
                        <a:t>9,953</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r>
              <a:tr h="348615">
                <a:tc>
                  <a:txBody>
                    <a:bodyPr/>
                    <a:lstStyle/>
                    <a:p>
                      <a:pPr algn="l"/>
                      <a:r>
                        <a:rPr sz="850" b="1">
                          <a:solidFill>
                            <a:srgbClr val="2B3147"/>
                          </a:solidFill>
                          <a:latin typeface="Calibri"/>
                        </a:rPr>
                        <a:t>Meta (Social)</a:t>
                      </a:r>
                    </a:p>
                  </a:txBody>
                  <a:tcPr marL="54864" marR="54864" marT="27432" marB="27432">
                    <a:solidFill>
                      <a:srgbClr val="FFFFFF"/>
                    </a:solidFill>
                  </a:tcPr>
                </a:tc>
                <a:tc>
                  <a:txBody>
                    <a:bodyPr/>
                    <a:lstStyle/>
                    <a:p>
                      <a:pPr algn="r"/>
                      <a:r>
                        <a:rPr sz="850" b="0">
                          <a:solidFill>
                            <a:srgbClr val="2B3147"/>
                          </a:solidFill>
                          <a:latin typeface="Calibri"/>
                        </a:rPr>
                        <a:t>$8,027</a:t>
                      </a:r>
                    </a:p>
                  </a:txBody>
                  <a:tcPr marL="54864" marR="54864" marT="27432" marB="27432">
                    <a:solidFill>
                      <a:srgbClr val="FFFFFF"/>
                    </a:solidFill>
                  </a:tcPr>
                </a:tc>
                <a:tc>
                  <a:txBody>
                    <a:bodyPr/>
                    <a:lstStyle/>
                    <a:p>
                      <a:pPr algn="r"/>
                      <a:r>
                        <a:rPr sz="850" b="0">
                          <a:solidFill>
                            <a:srgbClr val="2B3147"/>
                          </a:solidFill>
                          <a:latin typeface="Calibri"/>
                        </a:rPr>
                        <a:t>4.25M</a:t>
                      </a:r>
                    </a:p>
                  </a:txBody>
                  <a:tcPr marL="54864" marR="54864" marT="27432" marB="27432">
                    <a:solidFill>
                      <a:srgbClr val="FFFFFF"/>
                    </a:solidFill>
                  </a:tcPr>
                </a:tc>
                <a:tc>
                  <a:txBody>
                    <a:bodyPr/>
                    <a:lstStyle/>
                    <a:p>
                      <a:pPr algn="r"/>
                      <a:r>
                        <a:rPr sz="850" b="0">
                          <a:solidFill>
                            <a:srgbClr val="2B3147"/>
                          </a:solidFill>
                          <a:latin typeface="Calibri"/>
                        </a:rPr>
                        <a:t>74,489</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r>
              <a:tr h="348615">
                <a:tc>
                  <a:txBody>
                    <a:bodyPr/>
                    <a:lstStyle/>
                    <a:p>
                      <a:pPr algn="l"/>
                      <a:r>
                        <a:rPr sz="850" b="1">
                          <a:solidFill>
                            <a:srgbClr val="2B3147"/>
                          </a:solidFill>
                          <a:latin typeface="Calibri"/>
                        </a:rPr>
                        <a:t>DOOH (Perion)</a:t>
                      </a:r>
                    </a:p>
                  </a:txBody>
                  <a:tcPr marL="54864" marR="54864" marT="27432" marB="27432">
                    <a:solidFill>
                      <a:srgbClr val="F9FAFC"/>
                    </a:solidFill>
                  </a:tcPr>
                </a:tc>
                <a:tc>
                  <a:txBody>
                    <a:bodyPr/>
                    <a:lstStyle/>
                    <a:p>
                      <a:pPr algn="r"/>
                      <a:r>
                        <a:rPr sz="850" b="0">
                          <a:solidFill>
                            <a:srgbClr val="2B3147"/>
                          </a:solidFill>
                          <a:latin typeface="Calibri"/>
                        </a:rPr>
                        <a:t>$26,865</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r>
              <a:tr h="348615">
                <a:tc>
                  <a:txBody>
                    <a:bodyPr/>
                    <a:lstStyle/>
                    <a:p>
                      <a:pPr algn="l"/>
                      <a:r>
                        <a:rPr sz="850" b="1">
                          <a:solidFill>
                            <a:srgbClr val="1E2761"/>
                          </a:solidFill>
                          <a:latin typeface="Calibri"/>
                        </a:rPr>
                        <a:t>Total</a:t>
                      </a:r>
                    </a:p>
                  </a:txBody>
                  <a:tcPr marL="54864" marR="54864" marT="27432" marB="27432">
                    <a:solidFill>
                      <a:srgbClr val="CADCFC"/>
                    </a:solidFill>
                  </a:tcPr>
                </a:tc>
                <a:tc>
                  <a:txBody>
                    <a:bodyPr/>
                    <a:lstStyle/>
                    <a:p>
                      <a:pPr algn="r"/>
                      <a:r>
                        <a:rPr sz="850" b="1">
                          <a:solidFill>
                            <a:srgbClr val="1E2761"/>
                          </a:solidFill>
                          <a:latin typeface="Calibri"/>
                        </a:rPr>
                        <a:t>$149,896</a:t>
                      </a:r>
                    </a:p>
                  </a:txBody>
                  <a:tcPr marL="54864" marR="54864" marT="27432" marB="27432">
                    <a:solidFill>
                      <a:srgbClr val="CADCFC"/>
                    </a:solidFill>
                  </a:tcPr>
                </a:tc>
                <a:tc>
                  <a:txBody>
                    <a:bodyPr/>
                    <a:lstStyle/>
                    <a:p>
                      <a:pPr algn="r"/>
                      <a:r>
                        <a:rPr sz="850" b="1">
                          <a:solidFill>
                            <a:srgbClr val="1E2761"/>
                          </a:solidFill>
                          <a:latin typeface="Calibri"/>
                        </a:rPr>
                        <a:t>80.58M</a:t>
                      </a:r>
                    </a:p>
                  </a:txBody>
                  <a:tcPr marL="54864" marR="54864" marT="27432" marB="27432">
                    <a:solidFill>
                      <a:srgbClr val="CADCFC"/>
                    </a:solidFill>
                  </a:tcPr>
                </a:tc>
                <a:tc>
                  <a:txBody>
                    <a:bodyPr/>
                    <a:lstStyle/>
                    <a:p>
                      <a:pPr algn="r"/>
                      <a:r>
                        <a:rPr sz="850" b="1">
                          <a:solidFill>
                            <a:srgbClr val="1E2761"/>
                          </a:solidFill>
                          <a:latin typeface="Calibri"/>
                        </a:rPr>
                        <a:t>120,635</a:t>
                      </a:r>
                    </a:p>
                  </a:txBody>
                  <a:tcPr marL="54864" marR="54864" marT="27432" marB="27432">
                    <a:solidFill>
                      <a:srgbClr val="CADCFC"/>
                    </a:solidFill>
                  </a:tcPr>
                </a:tc>
                <a:tc>
                  <a:txBody>
                    <a:bodyPr/>
                    <a:lstStyle/>
                    <a:p>
                      <a:pPr algn="r"/>
                      <a:r>
                        <a:rPr sz="850" b="1">
                          <a:solidFill>
                            <a:srgbClr val="1E2761"/>
                          </a:solidFill>
                          <a:latin typeface="Calibri"/>
                        </a:rPr>
                        <a:t>—</a:t>
                      </a:r>
                    </a:p>
                  </a:txBody>
                  <a:tcPr marL="54864" marR="54864" marT="27432" marB="27432">
                    <a:solidFill>
                      <a:srgbClr val="CADCFC"/>
                    </a:solidFill>
                  </a:tcPr>
                </a:tc>
                <a:tc>
                  <a:txBody>
                    <a:bodyPr/>
                    <a:lstStyle/>
                    <a:p>
                      <a:pPr algn="r"/>
                      <a:r>
                        <a:rPr sz="850" b="1">
                          <a:solidFill>
                            <a:srgbClr val="1E2761"/>
                          </a:solidFill>
                          <a:latin typeface="Calibri"/>
                        </a:rPr>
                        <a:t>—</a:t>
                      </a:r>
                    </a:p>
                  </a:txBody>
                  <a:tcPr marL="54864" marR="54864" marT="27432" marB="27432">
                    <a:solidFill>
                      <a:srgbClr val="CADCFC"/>
                    </a:solidFill>
                  </a:tcPr>
                </a:tc>
              </a:tr>
            </a:tbl>
          </a:graphicData>
        </a:graphic>
      </p:graphicFrame>
      <p:sp>
        <p:nvSpPr>
          <p:cNvPr id="11" name="TextBox 10"/>
          <p:cNvSpPr txBox="1"/>
          <p:nvPr/>
        </p:nvSpPr>
        <p:spPr>
          <a:xfrm>
            <a:off x="457200" y="4572000"/>
            <a:ext cx="6766560" cy="685800"/>
          </a:xfrm>
          <a:prstGeom prst="rect">
            <a:avLst/>
          </a:prstGeom>
          <a:noFill/>
        </p:spPr>
        <p:txBody>
          <a:bodyPr wrap="square" anchor="t" lIns="0" rIns="0" tIns="0" bIns="0">
            <a:spAutoFit/>
          </a:bodyPr>
          <a:lstStyle/>
          <a:p>
            <a:pPr algn="l"/>
            <a:r>
              <a:rPr sz="750" b="0">
                <a:solidFill>
                  <a:srgbClr val="5A6072"/>
                </a:solidFill>
                <a:latin typeface="Calibri"/>
              </a:rPr>
              <a:t>* Azerion applications are vendor-reported; Bing applications are SA360-reported, the account’s conversion source of record. Conversions come from different systems per channel and are never summed; the combined Bing + Azerion view is the one sanctioned pairing. Meta clicks are link clicks. Spend per the client budget tracker.</a:t>
            </a:r>
          </a:p>
        </p:txBody>
      </p:sp>
      <p:sp>
        <p:nvSpPr>
          <p:cNvPr id="12" name="Rectangle 11"/>
          <p:cNvSpPr/>
          <p:nvPr/>
        </p:nvSpPr>
        <p:spPr>
          <a:xfrm>
            <a:off x="7406640" y="1737360"/>
            <a:ext cx="4297680" cy="2148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737360"/>
            <a:ext cx="64008" cy="21488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1901952"/>
            <a:ext cx="3895344" cy="274320"/>
          </a:xfrm>
          <a:prstGeom prst="rect">
            <a:avLst/>
          </a:prstGeom>
          <a:noFill/>
        </p:spPr>
        <p:txBody>
          <a:bodyPr wrap="square" anchor="t" lIns="0" rIns="0" tIns="0" bIns="0">
            <a:spAutoFit/>
          </a:bodyPr>
          <a:lstStyle/>
          <a:p>
            <a:pPr algn="l"/>
            <a:r>
              <a:rPr sz="1000" b="1">
                <a:solidFill>
                  <a:srgbClr val="1E2761"/>
                </a:solidFill>
                <a:latin typeface="Georgia"/>
              </a:rPr>
              <a:t>THE SCORECARD</a:t>
            </a:r>
          </a:p>
        </p:txBody>
      </p:sp>
      <p:sp>
        <p:nvSpPr>
          <p:cNvPr id="15" name="TextBox 14"/>
          <p:cNvSpPr txBox="1"/>
          <p:nvPr/>
        </p:nvSpPr>
        <p:spPr>
          <a:xfrm>
            <a:off x="7626096" y="2240280"/>
            <a:ext cx="3895344" cy="1463040"/>
          </a:xfrm>
          <a:prstGeom prst="rect">
            <a:avLst/>
          </a:prstGeom>
          <a:noFill/>
        </p:spPr>
        <p:txBody>
          <a:bodyPr wrap="square" anchor="t" lIns="0" rIns="0" tIns="0" bIns="0">
            <a:spAutoFit/>
          </a:bodyPr>
          <a:lstStyle/>
          <a:p>
            <a:pPr algn="l"/>
            <a:r>
              <a:rPr sz="950" b="0">
                <a:solidFill>
                  <a:srgbClr val="2B3147"/>
                </a:solidFill>
                <a:latin typeface="Calibri"/>
              </a:rPr>
              <a:t>Bing and Azerion, the two channels with a submitted-application figure behind them, produced 61 applications combined at $789.08 (June: 92 at $660.00).</a:t>
            </a:r>
          </a:p>
          <a:p>
            <a:pPr algn="l">
              <a:spcBef>
                <a:spcPts val="600"/>
              </a:spcBef>
            </a:pPr>
            <a:r>
              <a:rPr sz="950" b="0">
                <a:solidFill>
                  <a:srgbClr val="2B3147"/>
                </a:solidFill>
                <a:latin typeface="Calibri"/>
              </a:rPr>
              <a:t>The rise traces to Bing, which spent the first third of July rebuilding its campaign structure and the next third transitioning to it, not to Azerion, which held steady.</a:t>
            </a:r>
          </a:p>
        </p:txBody>
      </p:sp>
      <p:sp>
        <p:nvSpPr>
          <p:cNvPr id="16" name="Rectangle 15"/>
          <p:cNvSpPr/>
          <p:nvPr/>
        </p:nvSpPr>
        <p:spPr>
          <a:xfrm>
            <a:off x="7406640" y="4069080"/>
            <a:ext cx="4297680" cy="2148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06640" y="4069080"/>
            <a:ext cx="64008" cy="2148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26096" y="4233672"/>
            <a:ext cx="3895344" cy="274320"/>
          </a:xfrm>
          <a:prstGeom prst="rect">
            <a:avLst/>
          </a:prstGeom>
          <a:noFill/>
        </p:spPr>
        <p:txBody>
          <a:bodyPr wrap="square" anchor="t" lIns="0" rIns="0" tIns="0" bIns="0">
            <a:spAutoFit/>
          </a:bodyPr>
          <a:lstStyle/>
          <a:p>
            <a:pPr algn="l"/>
            <a:r>
              <a:rPr sz="1000" b="1">
                <a:solidFill>
                  <a:srgbClr val="1E2761"/>
                </a:solidFill>
                <a:latin typeface="Georgia"/>
              </a:rPr>
              <a:t>THE REBUILT STRUCTURE</a:t>
            </a:r>
          </a:p>
        </p:txBody>
      </p:sp>
      <p:sp>
        <p:nvSpPr>
          <p:cNvPr id="19" name="TextBox 18"/>
          <p:cNvSpPr txBox="1"/>
          <p:nvPr/>
        </p:nvSpPr>
        <p:spPr>
          <a:xfrm>
            <a:off x="7626096" y="4572000"/>
            <a:ext cx="3895344" cy="1463040"/>
          </a:xfrm>
          <a:prstGeom prst="rect">
            <a:avLst/>
          </a:prstGeom>
          <a:noFill/>
        </p:spPr>
        <p:txBody>
          <a:bodyPr wrap="square" anchor="t" lIns="0" rIns="0" tIns="0" bIns="0">
            <a:spAutoFit/>
          </a:bodyPr>
          <a:lstStyle/>
          <a:p>
            <a:pPr algn="l"/>
            <a:r>
              <a:rPr sz="950" b="0">
                <a:solidFill>
                  <a:srgbClr val="2B3147"/>
                </a:solidFill>
                <a:latin typeface="Calibri"/>
              </a:rPr>
              <a:t>Bing’s rebuilt Mexico-only structure closed July at $237.12 per submitted application, less than half June’s $513.17.</a:t>
            </a:r>
          </a:p>
          <a:p>
            <a:pPr algn="l">
              <a:spcBef>
                <a:spcPts val="600"/>
              </a:spcBef>
            </a:pPr>
            <a:r>
              <a:rPr sz="950" b="0">
                <a:solidFill>
                  <a:srgbClr val="2B3147"/>
                </a:solidFill>
                <a:latin typeface="Calibri"/>
              </a:rPr>
              <a:t>August’s first days confirm the run rate at $243, now converting across three products instead of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CONT’ EXECUTIVE SUMMARY</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Three findings shape the August plan.</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4 / 16</a:t>
            </a:r>
          </a:p>
        </p:txBody>
      </p:sp>
      <p:sp>
        <p:nvSpPr>
          <p:cNvPr id="10" name="Rectangle 9"/>
          <p:cNvSpPr/>
          <p:nvPr/>
        </p:nvSpPr>
        <p:spPr>
          <a:xfrm>
            <a:off x="457200" y="1828800"/>
            <a:ext cx="3703320" cy="310896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3703320" cy="292608"/>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1883664"/>
            <a:ext cx="3410712" cy="219456"/>
          </a:xfrm>
          <a:prstGeom prst="rect">
            <a:avLst/>
          </a:prstGeom>
          <a:noFill/>
        </p:spPr>
        <p:txBody>
          <a:bodyPr wrap="square" anchor="t" lIns="0" rIns="0" tIns="0" bIns="0">
            <a:spAutoFit/>
          </a:bodyPr>
          <a:lstStyle/>
          <a:p>
            <a:pPr algn="l"/>
            <a:r>
              <a:rPr sz="950" b="1">
                <a:solidFill>
                  <a:srgbClr val="FFFFFF"/>
                </a:solidFill>
                <a:latin typeface="Georgia"/>
              </a:rPr>
              <a:t>PRIORITY</a:t>
            </a:r>
          </a:p>
        </p:txBody>
      </p:sp>
      <p:sp>
        <p:nvSpPr>
          <p:cNvPr id="13" name="TextBox 12"/>
          <p:cNvSpPr txBox="1"/>
          <p:nvPr/>
        </p:nvSpPr>
        <p:spPr>
          <a:xfrm>
            <a:off x="603504" y="2231136"/>
            <a:ext cx="3410712" cy="2560320"/>
          </a:xfrm>
          <a:prstGeom prst="rect">
            <a:avLst/>
          </a:prstGeom>
          <a:noFill/>
        </p:spPr>
        <p:txBody>
          <a:bodyPr wrap="square" anchor="t" lIns="0" rIns="0" tIns="0" bIns="0">
            <a:spAutoFit/>
          </a:bodyPr>
          <a:lstStyle/>
          <a:p>
            <a:pPr algn="l"/>
            <a:r>
              <a:rPr sz="900" b="0">
                <a:solidFill>
                  <a:srgbClr val="2B3147"/>
                </a:solidFill>
                <a:latin typeface="Calibri"/>
              </a:rPr>
              <a:t>Scale the rebuilt Bing structure. It closed July at $237.12 per submitted application, less than half June’s $513.17.</a:t>
            </a:r>
          </a:p>
          <a:p>
            <a:pPr algn="l">
              <a:spcBef>
                <a:spcPts val="600"/>
              </a:spcBef>
            </a:pPr>
            <a:r>
              <a:rPr sz="900" b="0">
                <a:solidFill>
                  <a:srgbClr val="2B3147"/>
                </a:solidFill>
                <a:latin typeface="Calibri"/>
              </a:rPr>
              <a:t>August’s first days track at $243, with three products converting.</a:t>
            </a:r>
          </a:p>
          <a:p>
            <a:pPr algn="l">
              <a:spcBef>
                <a:spcPts val="600"/>
              </a:spcBef>
            </a:pPr>
            <a:r>
              <a:rPr sz="900" b="0">
                <a:solidFill>
                  <a:srgbClr val="2B3147"/>
                </a:solidFill>
                <a:latin typeface="Calibri"/>
              </a:rPr>
              <a:t>June’s Mexico commitment held: delivery concentrated in-market across the month.</a:t>
            </a:r>
          </a:p>
        </p:txBody>
      </p:sp>
      <p:sp>
        <p:nvSpPr>
          <p:cNvPr id="14" name="Rectangle 13"/>
          <p:cNvSpPr/>
          <p:nvPr/>
        </p:nvSpPr>
        <p:spPr>
          <a:xfrm>
            <a:off x="4343400" y="1828800"/>
            <a:ext cx="3703320" cy="310896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828800"/>
            <a:ext cx="3703320" cy="292608"/>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9704" y="1883664"/>
            <a:ext cx="3410712" cy="219456"/>
          </a:xfrm>
          <a:prstGeom prst="rect">
            <a:avLst/>
          </a:prstGeom>
          <a:noFill/>
        </p:spPr>
        <p:txBody>
          <a:bodyPr wrap="square" anchor="t" lIns="0" rIns="0" tIns="0" bIns="0">
            <a:spAutoFit/>
          </a:bodyPr>
          <a:lstStyle/>
          <a:p>
            <a:pPr algn="l"/>
            <a:r>
              <a:rPr sz="950" b="1">
                <a:solidFill>
                  <a:srgbClr val="0F1535"/>
                </a:solidFill>
                <a:latin typeface="Georgia"/>
              </a:rPr>
              <a:t>HIGH</a:t>
            </a:r>
          </a:p>
        </p:txBody>
      </p:sp>
      <p:sp>
        <p:nvSpPr>
          <p:cNvPr id="17" name="TextBox 16"/>
          <p:cNvSpPr txBox="1"/>
          <p:nvPr/>
        </p:nvSpPr>
        <p:spPr>
          <a:xfrm>
            <a:off x="4489704" y="2231136"/>
            <a:ext cx="3410712" cy="2560320"/>
          </a:xfrm>
          <a:prstGeom prst="rect">
            <a:avLst/>
          </a:prstGeom>
          <a:noFill/>
        </p:spPr>
        <p:txBody>
          <a:bodyPr wrap="square" anchor="t" lIns="0" rIns="0" tIns="0" bIns="0">
            <a:spAutoFit/>
          </a:bodyPr>
          <a:lstStyle/>
          <a:p>
            <a:pPr algn="l"/>
            <a:r>
              <a:rPr sz="900" b="0">
                <a:solidFill>
                  <a:srgbClr val="2B3147"/>
                </a:solidFill>
                <a:latin typeface="Calibri"/>
              </a:rPr>
              <a:t>Hold programmatic quality on Quantcast. Viewability improved 3.15 points to 54.45% and still sits under the 70% standard.</a:t>
            </a:r>
          </a:p>
          <a:p>
            <a:pPr algn="l">
              <a:spcBef>
                <a:spcPts val="600"/>
              </a:spcBef>
            </a:pPr>
            <a:r>
              <a:rPr sz="900" b="0">
                <a:solidFill>
                  <a:srgbClr val="2B3147"/>
                </a:solidFill>
                <a:latin typeface="Calibri"/>
              </a:rPr>
              <a:t>The refreshed 66-site disallow list is the direct lever, led by tvazteca.com.</a:t>
            </a:r>
          </a:p>
        </p:txBody>
      </p:sp>
      <p:sp>
        <p:nvSpPr>
          <p:cNvPr id="18" name="Rectangle 17"/>
          <p:cNvSpPr/>
          <p:nvPr/>
        </p:nvSpPr>
        <p:spPr>
          <a:xfrm>
            <a:off x="8229600" y="1828800"/>
            <a:ext cx="3520440" cy="310896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828800"/>
            <a:ext cx="3520440" cy="292608"/>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75904" y="1883664"/>
            <a:ext cx="3227832" cy="219456"/>
          </a:xfrm>
          <a:prstGeom prst="rect">
            <a:avLst/>
          </a:prstGeom>
          <a:noFill/>
        </p:spPr>
        <p:txBody>
          <a:bodyPr wrap="square" anchor="t" lIns="0" rIns="0" tIns="0" bIns="0">
            <a:spAutoFit/>
          </a:bodyPr>
          <a:lstStyle/>
          <a:p>
            <a:pPr algn="l"/>
            <a:r>
              <a:rPr sz="950" b="1">
                <a:solidFill>
                  <a:srgbClr val="FFFFFF"/>
                </a:solidFill>
                <a:latin typeface="Georgia"/>
              </a:rPr>
              <a:t>NEW THIS MONTH</a:t>
            </a:r>
          </a:p>
        </p:txBody>
      </p:sp>
      <p:sp>
        <p:nvSpPr>
          <p:cNvPr id="21" name="TextBox 20"/>
          <p:cNvSpPr txBox="1"/>
          <p:nvPr/>
        </p:nvSpPr>
        <p:spPr>
          <a:xfrm>
            <a:off x="8375904" y="2231136"/>
            <a:ext cx="3227832" cy="2560320"/>
          </a:xfrm>
          <a:prstGeom prst="rect">
            <a:avLst/>
          </a:prstGeom>
          <a:noFill/>
        </p:spPr>
        <p:txBody>
          <a:bodyPr wrap="square" anchor="t" lIns="0" rIns="0" tIns="0" bIns="0">
            <a:spAutoFit/>
          </a:bodyPr>
          <a:lstStyle/>
          <a:p>
            <a:pPr algn="l"/>
            <a:r>
              <a:rPr sz="900" b="0">
                <a:solidFill>
                  <a:srgbClr val="2B3147"/>
                </a:solidFill>
                <a:latin typeface="Calibri"/>
              </a:rPr>
              <a:t>Native ($27,630: Quantcast’s native placement plus Azerion’s native inventory) and DOOH ($26,865, Perion).</a:t>
            </a:r>
          </a:p>
          <a:p>
            <a:pPr algn="l">
              <a:spcBef>
                <a:spcPts val="600"/>
              </a:spcBef>
            </a:pPr>
            <a:r>
              <a:rPr sz="900" b="0">
                <a:solidFill>
                  <a:srgbClr val="2B3147"/>
                </a:solidFill>
                <a:latin typeface="Calibri"/>
              </a:rPr>
              <a:t>Both upper-funnel. Native reports spend and delivery with no conversion claim; DOOH reports delivery on its own slides.</a:t>
            </a:r>
          </a:p>
          <a:p>
            <a:pPr algn="l">
              <a:spcBef>
                <a:spcPts val="600"/>
              </a:spcBef>
            </a:pPr>
            <a:r>
              <a:rPr sz="900" b="0">
                <a:solidFill>
                  <a:srgbClr val="2B3147"/>
                </a:solidFill>
                <a:latin typeface="Calibri"/>
              </a:rPr>
              <a:t>Both gain a month-over-month read with a second month of data.</a:t>
            </a:r>
          </a:p>
        </p:txBody>
      </p:sp>
      <p:sp>
        <p:nvSpPr>
          <p:cNvPr id="22" name="Rectangle 21"/>
          <p:cNvSpPr/>
          <p:nvPr/>
        </p:nvSpPr>
        <p:spPr>
          <a:xfrm>
            <a:off x="457200" y="5257800"/>
            <a:ext cx="11277295" cy="73152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257800"/>
            <a:ext cx="10728655" cy="731520"/>
          </a:xfrm>
          <a:prstGeom prst="rect">
            <a:avLst/>
          </a:prstGeom>
          <a:noFill/>
        </p:spPr>
        <p:txBody>
          <a:bodyPr wrap="square" anchor="ctr" lIns="0" rIns="0" tIns="0" bIns="0">
            <a:spAutoFit/>
          </a:bodyPr>
          <a:lstStyle/>
          <a:p>
            <a:pPr algn="l"/>
            <a:r>
              <a:rPr sz="1200" b="1">
                <a:solidFill>
                  <a:srgbClr val="FFFFFF"/>
                </a:solidFill>
                <a:latin typeface="Georgia"/>
              </a:rPr>
              <a:t>The rebuilt structure delivered $237.12 per submitted application. August scales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BING ADS  ·  PERFORMANCE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Three windows in one month. The rebuilt structure is the account’s current state.</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5 / 16</a:t>
            </a:r>
          </a:p>
        </p:txBody>
      </p:sp>
      <p:sp>
        <p:nvSpPr>
          <p:cNvPr id="10" name="Rectangle 9"/>
          <p:cNvSpPr/>
          <p:nvPr/>
        </p:nvSpPr>
        <p:spPr>
          <a:xfrm>
            <a:off x="45720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SPEND</a:t>
            </a:r>
          </a:p>
        </p:txBody>
      </p:sp>
      <p:sp>
        <p:nvSpPr>
          <p:cNvPr id="13" name="TextBox 12"/>
          <p:cNvSpPr txBox="1"/>
          <p:nvPr/>
        </p:nvSpPr>
        <p:spPr>
          <a:xfrm>
            <a:off x="64008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$10,625</a:t>
            </a:r>
          </a:p>
        </p:txBody>
      </p:sp>
      <p:sp>
        <p:nvSpPr>
          <p:cNvPr id="14" name="TextBox 13"/>
          <p:cNvSpPr txBox="1"/>
          <p:nvPr/>
        </p:nvSpPr>
        <p:spPr>
          <a:xfrm>
            <a:off x="64008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Jul 1–31</a:t>
            </a:r>
          </a:p>
        </p:txBody>
      </p:sp>
      <p:sp>
        <p:nvSpPr>
          <p:cNvPr id="15" name="Rectangle 14"/>
          <p:cNvSpPr/>
          <p:nvPr/>
        </p:nvSpPr>
        <p:spPr>
          <a:xfrm>
            <a:off x="2359152"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59152"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2032"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IMPRESSIONS</a:t>
            </a:r>
          </a:p>
        </p:txBody>
      </p:sp>
      <p:sp>
        <p:nvSpPr>
          <p:cNvPr id="18" name="TextBox 17"/>
          <p:cNvSpPr txBox="1"/>
          <p:nvPr/>
        </p:nvSpPr>
        <p:spPr>
          <a:xfrm>
            <a:off x="2542032"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90,394</a:t>
            </a:r>
          </a:p>
        </p:txBody>
      </p:sp>
      <p:sp>
        <p:nvSpPr>
          <p:cNvPr id="19" name="TextBox 18"/>
          <p:cNvSpPr txBox="1"/>
          <p:nvPr/>
        </p:nvSpPr>
        <p:spPr>
          <a:xfrm>
            <a:off x="2542032"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CTR 4.52%</a:t>
            </a:r>
          </a:p>
        </p:txBody>
      </p:sp>
      <p:sp>
        <p:nvSpPr>
          <p:cNvPr id="20" name="Rectangle 19"/>
          <p:cNvSpPr/>
          <p:nvPr/>
        </p:nvSpPr>
        <p:spPr>
          <a:xfrm>
            <a:off x="4261104"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61104"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3984"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CLICKS</a:t>
            </a:r>
          </a:p>
        </p:txBody>
      </p:sp>
      <p:sp>
        <p:nvSpPr>
          <p:cNvPr id="23" name="TextBox 22"/>
          <p:cNvSpPr txBox="1"/>
          <p:nvPr/>
        </p:nvSpPr>
        <p:spPr>
          <a:xfrm>
            <a:off x="4443984"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4,090</a:t>
            </a:r>
          </a:p>
        </p:txBody>
      </p:sp>
      <p:sp>
        <p:nvSpPr>
          <p:cNvPr id="24" name="TextBox 23"/>
          <p:cNvSpPr txBox="1"/>
          <p:nvPr/>
        </p:nvSpPr>
        <p:spPr>
          <a:xfrm>
            <a:off x="4443984"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avg CPC $2.60</a:t>
            </a:r>
          </a:p>
        </p:txBody>
      </p:sp>
      <p:sp>
        <p:nvSpPr>
          <p:cNvPr id="25" name="Rectangle 24"/>
          <p:cNvSpPr/>
          <p:nvPr/>
        </p:nvSpPr>
        <p:spPr>
          <a:xfrm>
            <a:off x="6163056"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3056"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5936"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SUBMITTED APPS</a:t>
            </a:r>
          </a:p>
        </p:txBody>
      </p:sp>
      <p:sp>
        <p:nvSpPr>
          <p:cNvPr id="28" name="TextBox 27"/>
          <p:cNvSpPr txBox="1"/>
          <p:nvPr/>
        </p:nvSpPr>
        <p:spPr>
          <a:xfrm>
            <a:off x="6345936"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20</a:t>
            </a:r>
          </a:p>
        </p:txBody>
      </p:sp>
      <p:sp>
        <p:nvSpPr>
          <p:cNvPr id="29" name="TextBox 28"/>
          <p:cNvSpPr txBox="1"/>
          <p:nvPr/>
        </p:nvSpPr>
        <p:spPr>
          <a:xfrm>
            <a:off x="6345936"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SA360 source of record</a:t>
            </a:r>
          </a:p>
        </p:txBody>
      </p:sp>
      <p:sp>
        <p:nvSpPr>
          <p:cNvPr id="30" name="Rectangle 29"/>
          <p:cNvSpPr/>
          <p:nvPr/>
        </p:nvSpPr>
        <p:spPr>
          <a:xfrm>
            <a:off x="8065008"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65008"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CPA (FULL MONTH)</a:t>
            </a:r>
          </a:p>
        </p:txBody>
      </p:sp>
      <p:sp>
        <p:nvSpPr>
          <p:cNvPr id="33" name="TextBox 32"/>
          <p:cNvSpPr txBox="1"/>
          <p:nvPr/>
        </p:nvSpPr>
        <p:spPr>
          <a:xfrm>
            <a:off x="8247888"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$531.25</a:t>
            </a:r>
          </a:p>
        </p:txBody>
      </p:sp>
      <p:sp>
        <p:nvSpPr>
          <p:cNvPr id="34" name="TextBox 33"/>
          <p:cNvSpPr txBox="1"/>
          <p:nvPr/>
        </p:nvSpPr>
        <p:spPr>
          <a:xfrm>
            <a:off x="8247888"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June: $513.17</a:t>
            </a:r>
          </a:p>
        </p:txBody>
      </p:sp>
      <p:sp>
        <p:nvSpPr>
          <p:cNvPr id="35" name="Rectangle 34"/>
          <p:cNvSpPr/>
          <p:nvPr/>
        </p:nvSpPr>
        <p:spPr>
          <a:xfrm>
            <a:off x="996696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96696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4984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CPA (REBUILT)</a:t>
            </a:r>
          </a:p>
        </p:txBody>
      </p:sp>
      <p:sp>
        <p:nvSpPr>
          <p:cNvPr id="38" name="TextBox 37"/>
          <p:cNvSpPr txBox="1"/>
          <p:nvPr/>
        </p:nvSpPr>
        <p:spPr>
          <a:xfrm>
            <a:off x="1014984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$237.12</a:t>
            </a:r>
          </a:p>
        </p:txBody>
      </p:sp>
      <p:sp>
        <p:nvSpPr>
          <p:cNvPr id="39" name="TextBox 38"/>
          <p:cNvSpPr txBox="1"/>
          <p:nvPr/>
        </p:nvSpPr>
        <p:spPr>
          <a:xfrm>
            <a:off x="1014984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Jul 22–31</a:t>
            </a:r>
          </a:p>
        </p:txBody>
      </p:sp>
      <p:graphicFrame>
        <p:nvGraphicFramePr>
          <p:cNvPr id="40" name="Chart 39"/>
          <p:cNvGraphicFramePr>
            <a:graphicFrameLocks noGrp="1"/>
          </p:cNvGraphicFramePr>
          <p:nvPr/>
        </p:nvGraphicFramePr>
        <p:xfrm>
          <a:off x="457200" y="3246120"/>
          <a:ext cx="7223760" cy="2743200"/>
        </p:xfrm>
        <a:graphic>
          <a:graphicData uri="http://schemas.openxmlformats.org/drawingml/2006/chart">
            <c:chart xmlns:c="http://schemas.openxmlformats.org/drawingml/2006/chart" r:id="rId3"/>
          </a:graphicData>
        </a:graphic>
      </p:graphicFrame>
      <p:sp>
        <p:nvSpPr>
          <p:cNvPr id="41" name="TextBox 40"/>
          <p:cNvSpPr txBox="1"/>
          <p:nvPr/>
        </p:nvSpPr>
        <p:spPr>
          <a:xfrm>
            <a:off x="731520" y="3291840"/>
            <a:ext cx="2194560" cy="274320"/>
          </a:xfrm>
          <a:prstGeom prst="rect">
            <a:avLst/>
          </a:prstGeom>
          <a:noFill/>
        </p:spPr>
        <p:txBody>
          <a:bodyPr wrap="square" anchor="t" lIns="0" rIns="0" tIns="0" bIns="0">
            <a:spAutoFit/>
          </a:bodyPr>
          <a:lstStyle/>
          <a:p>
            <a:pPr algn="l"/>
            <a:r>
              <a:rPr sz="900" b="1">
                <a:solidFill>
                  <a:srgbClr val="5A6072"/>
                </a:solidFill>
                <a:latin typeface="Calibri"/>
              </a:rPr>
              <a:t>Jul 1–10 · rebuild</a:t>
            </a:r>
          </a:p>
        </p:txBody>
      </p:sp>
      <p:sp>
        <p:nvSpPr>
          <p:cNvPr id="42" name="TextBox 41"/>
          <p:cNvSpPr txBox="1"/>
          <p:nvPr/>
        </p:nvSpPr>
        <p:spPr>
          <a:xfrm>
            <a:off x="3108960" y="3291840"/>
            <a:ext cx="2651760" cy="274320"/>
          </a:xfrm>
          <a:prstGeom prst="rect">
            <a:avLst/>
          </a:prstGeom>
          <a:noFill/>
        </p:spPr>
        <p:txBody>
          <a:bodyPr wrap="square" anchor="t" lIns="0" rIns="0" tIns="0" bIns="0">
            <a:spAutoFit/>
          </a:bodyPr>
          <a:lstStyle/>
          <a:p>
            <a:pPr algn="l"/>
            <a:r>
              <a:rPr sz="900" b="1">
                <a:solidFill>
                  <a:srgbClr val="1E2761"/>
                </a:solidFill>
                <a:latin typeface="Calibri"/>
              </a:rPr>
              <a:t>Jul 11–22 · prior structure</a:t>
            </a:r>
          </a:p>
        </p:txBody>
      </p:sp>
      <p:sp>
        <p:nvSpPr>
          <p:cNvPr id="43" name="TextBox 42"/>
          <p:cNvSpPr txBox="1"/>
          <p:nvPr/>
        </p:nvSpPr>
        <p:spPr>
          <a:xfrm>
            <a:off x="5943600" y="3291840"/>
            <a:ext cx="2194560" cy="274320"/>
          </a:xfrm>
          <a:prstGeom prst="rect">
            <a:avLst/>
          </a:prstGeom>
          <a:noFill/>
        </p:spPr>
        <p:txBody>
          <a:bodyPr wrap="square" anchor="t" lIns="0" rIns="0" tIns="0" bIns="0">
            <a:spAutoFit/>
          </a:bodyPr>
          <a:lstStyle/>
          <a:p>
            <a:pPr algn="l"/>
            <a:r>
              <a:rPr sz="900" b="1">
                <a:solidFill>
                  <a:srgbClr val="F96167"/>
                </a:solidFill>
                <a:latin typeface="Calibri"/>
              </a:rPr>
              <a:t>Jul 22–31 · new structure</a:t>
            </a:r>
          </a:p>
        </p:txBody>
      </p:sp>
      <p:graphicFrame>
        <p:nvGraphicFramePr>
          <p:cNvPr id="44" name="Table 43"/>
          <p:cNvGraphicFramePr>
            <a:graphicFrameLocks noGrp="1"/>
          </p:cNvGraphicFramePr>
          <p:nvPr/>
        </p:nvGraphicFramePr>
        <p:xfrm>
          <a:off x="7863840" y="3246120"/>
          <a:ext cx="3840480" cy="2011680"/>
        </p:xfrm>
        <a:graphic>
          <a:graphicData uri="http://schemas.openxmlformats.org/drawingml/2006/table">
            <a:tbl>
              <a:tblPr>
                <a:tableStyleId>{5C22544A-7EE6-4342-B048-85BDC9FD1C3A}</a:tableStyleId>
              </a:tblPr>
              <a:tblGrid>
                <a:gridCol w="1554480"/>
                <a:gridCol w="822960"/>
                <a:gridCol w="548640"/>
                <a:gridCol w="914400"/>
              </a:tblGrid>
              <a:tr h="502920">
                <a:tc>
                  <a:txBody>
                    <a:bodyPr/>
                    <a:lstStyle/>
                    <a:p>
                      <a:pPr algn="l"/>
                      <a:r>
                        <a:rPr sz="850" b="1">
                          <a:solidFill>
                            <a:srgbClr val="FFFFFF"/>
                          </a:solidFill>
                          <a:latin typeface="Calibri"/>
                        </a:rPr>
                        <a:t>Window</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Apps</a:t>
                      </a:r>
                    </a:p>
                  </a:txBody>
                  <a:tcPr marL="54864" marR="54864" marT="27432" marB="27432">
                    <a:solidFill>
                      <a:srgbClr val="1E2761"/>
                    </a:solidFill>
                  </a:tcPr>
                </a:tc>
                <a:tc>
                  <a:txBody>
                    <a:bodyPr/>
                    <a:lstStyle/>
                    <a:p>
                      <a:pPr algn="r"/>
                      <a:r>
                        <a:rPr sz="850" b="1">
                          <a:solidFill>
                            <a:srgbClr val="FFFFFF"/>
                          </a:solidFill>
                          <a:latin typeface="Calibri"/>
                        </a:rPr>
                        <a:t>CPA</a:t>
                      </a:r>
                    </a:p>
                  </a:txBody>
                  <a:tcPr marL="54864" marR="54864" marT="27432" marB="27432">
                    <a:solidFill>
                      <a:srgbClr val="1E2761"/>
                    </a:solidFill>
                  </a:tcPr>
                </a:tc>
              </a:tr>
              <a:tr h="502920">
                <a:tc>
                  <a:txBody>
                    <a:bodyPr/>
                    <a:lstStyle/>
                    <a:p>
                      <a:pPr algn="l"/>
                      <a:r>
                        <a:rPr sz="850" b="1">
                          <a:solidFill>
                            <a:srgbClr val="2B3147"/>
                          </a:solidFill>
                          <a:latin typeface="Calibri"/>
                        </a:rPr>
                        <a:t>Jul 1–10  rebuild</a:t>
                      </a:r>
                    </a:p>
                  </a:txBody>
                  <a:tcPr marL="54864" marR="54864" marT="27432" marB="27432">
                    <a:solidFill>
                      <a:srgbClr val="FFFFFF"/>
                    </a:solidFill>
                  </a:tcPr>
                </a:tc>
                <a:tc>
                  <a:txBody>
                    <a:bodyPr/>
                    <a:lstStyle/>
                    <a:p>
                      <a:pPr algn="r"/>
                      <a:r>
                        <a:rPr sz="850" b="0">
                          <a:solidFill>
                            <a:srgbClr val="2B3147"/>
                          </a:solidFill>
                          <a:latin typeface="Calibri"/>
                        </a:rPr>
                        <a:t>$0</a:t>
                      </a:r>
                    </a:p>
                  </a:txBody>
                  <a:tcPr marL="54864" marR="54864" marT="27432" marB="27432">
                    <a:solidFill>
                      <a:srgbClr val="FFFFFF"/>
                    </a:solidFill>
                  </a:tcPr>
                </a:tc>
                <a:tc>
                  <a:txBody>
                    <a:bodyPr/>
                    <a:lstStyle/>
                    <a:p>
                      <a:pPr algn="r"/>
                      <a:r>
                        <a:rPr sz="850" b="0">
                          <a:solidFill>
                            <a:srgbClr val="2B3147"/>
                          </a:solidFill>
                          <a:latin typeface="Calibri"/>
                        </a:rPr>
                        <a:t>0</a:t>
                      </a:r>
                    </a:p>
                  </a:txBody>
                  <a:tcPr marL="54864" marR="54864" marT="27432" marB="27432">
                    <a:solidFill>
                      <a:srgbClr val="FFFFFF"/>
                    </a:solidFill>
                  </a:tcPr>
                </a:tc>
                <a:tc>
                  <a:txBody>
                    <a:bodyPr/>
                    <a:lstStyle/>
                    <a:p>
                      <a:pPr algn="r"/>
                      <a:r>
                        <a:rPr sz="850" b="0">
                          <a:solidFill>
                            <a:srgbClr val="2B3147"/>
                          </a:solidFill>
                          <a:latin typeface="Calibri"/>
                        </a:rPr>
                        <a:t>—</a:t>
                      </a:r>
                    </a:p>
                  </a:txBody>
                  <a:tcPr marL="54864" marR="54864" marT="27432" marB="27432">
                    <a:solidFill>
                      <a:srgbClr val="FFFFFF"/>
                    </a:solidFill>
                  </a:tcPr>
                </a:tc>
              </a:tr>
              <a:tr h="502920">
                <a:tc>
                  <a:txBody>
                    <a:bodyPr/>
                    <a:lstStyle/>
                    <a:p>
                      <a:pPr algn="l"/>
                      <a:r>
                        <a:rPr sz="850" b="1">
                          <a:solidFill>
                            <a:srgbClr val="2B3147"/>
                          </a:solidFill>
                          <a:latin typeface="Calibri"/>
                        </a:rPr>
                        <a:t>Jul 11–22  prior structure</a:t>
                      </a:r>
                    </a:p>
                  </a:txBody>
                  <a:tcPr marL="54864" marR="54864" marT="27432" marB="27432">
                    <a:solidFill>
                      <a:srgbClr val="F9FAFC"/>
                    </a:solidFill>
                  </a:tcPr>
                </a:tc>
                <a:tc>
                  <a:txBody>
                    <a:bodyPr/>
                    <a:lstStyle/>
                    <a:p>
                      <a:pPr algn="r"/>
                      <a:r>
                        <a:rPr sz="850" b="0">
                          <a:solidFill>
                            <a:srgbClr val="2B3147"/>
                          </a:solidFill>
                          <a:latin typeface="Calibri"/>
                        </a:rPr>
                        <a:t>$5,883</a:t>
                      </a:r>
                    </a:p>
                  </a:txBody>
                  <a:tcPr marL="54864" marR="54864" marT="27432" marB="27432">
                    <a:solidFill>
                      <a:srgbClr val="F9FAFC"/>
                    </a:solidFill>
                  </a:tcPr>
                </a:tc>
                <a:tc>
                  <a:txBody>
                    <a:bodyPr/>
                    <a:lstStyle/>
                    <a:p>
                      <a:pPr algn="r"/>
                      <a:r>
                        <a:rPr sz="850" b="0">
                          <a:solidFill>
                            <a:srgbClr val="2B3147"/>
                          </a:solidFill>
                          <a:latin typeface="Calibri"/>
                        </a:rPr>
                        <a:t>0</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r>
              <a:tr h="502920">
                <a:tc>
                  <a:txBody>
                    <a:bodyPr/>
                    <a:lstStyle/>
                    <a:p>
                      <a:pPr algn="l"/>
                      <a:r>
                        <a:rPr sz="850" b="1">
                          <a:solidFill>
                            <a:srgbClr val="2B3147"/>
                          </a:solidFill>
                          <a:latin typeface="Calibri"/>
                        </a:rPr>
                        <a:t>Jul 22–31  new structure</a:t>
                      </a:r>
                    </a:p>
                  </a:txBody>
                  <a:tcPr marL="54864" marR="54864" marT="27432" marB="27432">
                    <a:solidFill>
                      <a:srgbClr val="FFFFFF"/>
                    </a:solidFill>
                  </a:tcPr>
                </a:tc>
                <a:tc>
                  <a:txBody>
                    <a:bodyPr/>
                    <a:lstStyle/>
                    <a:p>
                      <a:pPr algn="r"/>
                      <a:r>
                        <a:rPr sz="850" b="0">
                          <a:solidFill>
                            <a:srgbClr val="2B3147"/>
                          </a:solidFill>
                          <a:latin typeface="Calibri"/>
                        </a:rPr>
                        <a:t>$4,742</a:t>
                      </a:r>
                    </a:p>
                  </a:txBody>
                  <a:tcPr marL="54864" marR="54864" marT="27432" marB="27432">
                    <a:solidFill>
                      <a:srgbClr val="FFFFFF"/>
                    </a:solidFill>
                  </a:tcPr>
                </a:tc>
                <a:tc>
                  <a:txBody>
                    <a:bodyPr/>
                    <a:lstStyle/>
                    <a:p>
                      <a:pPr algn="r"/>
                      <a:r>
                        <a:rPr sz="850" b="0">
                          <a:solidFill>
                            <a:srgbClr val="2B3147"/>
                          </a:solidFill>
                          <a:latin typeface="Calibri"/>
                        </a:rPr>
                        <a:t>20</a:t>
                      </a:r>
                    </a:p>
                  </a:txBody>
                  <a:tcPr marL="54864" marR="54864" marT="27432" marB="27432">
                    <a:solidFill>
                      <a:srgbClr val="FFFFFF"/>
                    </a:solidFill>
                  </a:tcPr>
                </a:tc>
                <a:tc>
                  <a:txBody>
                    <a:bodyPr/>
                    <a:lstStyle/>
                    <a:p>
                      <a:pPr algn="r"/>
                      <a:r>
                        <a:rPr sz="850" b="0">
                          <a:solidFill>
                            <a:srgbClr val="2B3147"/>
                          </a:solidFill>
                          <a:latin typeface="Calibri"/>
                        </a:rPr>
                        <a:t>$237.12</a:t>
                      </a:r>
                    </a:p>
                  </a:txBody>
                  <a:tcPr marL="54864" marR="54864" marT="27432" marB="27432">
                    <a:solidFill>
                      <a:srgbClr val="FFFFFF"/>
                    </a:solidFill>
                  </a:tcPr>
                </a:tc>
              </a:tr>
            </a:tbl>
          </a:graphicData>
        </a:graphic>
      </p:graphicFrame>
      <p:sp>
        <p:nvSpPr>
          <p:cNvPr id="45" name="TextBox 44"/>
          <p:cNvSpPr txBox="1"/>
          <p:nvPr/>
        </p:nvSpPr>
        <p:spPr>
          <a:xfrm>
            <a:off x="7863840" y="5303520"/>
            <a:ext cx="3840480" cy="1005840"/>
          </a:xfrm>
          <a:prstGeom prst="rect">
            <a:avLst/>
          </a:prstGeom>
          <a:noFill/>
        </p:spPr>
        <p:txBody>
          <a:bodyPr wrap="square" anchor="t" lIns="0" rIns="0" tIns="0" bIns="0">
            <a:spAutoFit/>
          </a:bodyPr>
          <a:lstStyle/>
          <a:p>
            <a:pPr algn="l"/>
            <a:r>
              <a:rPr sz="750" b="0">
                <a:solidFill>
                  <a:srgbClr val="5A6072"/>
                </a:solidFill>
                <a:latin typeface="Calibri"/>
              </a:rPr>
              <a:t>July was a planned rebuild: the first ten days went to constructing the new Mexico-only structure, the prior campaigns ran through the transition, and the new structure went live July 22. Two campaigns produced every July conversion: the TradingView theme (18 of 20) and one further new campaign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BING ADS  ·  READ &amp; RECOMMENDATIONS</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The rebuild superseded June’s campaign picks. August scales what works.</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6 / 16</a:t>
            </a:r>
          </a:p>
        </p:txBody>
      </p:sp>
      <p:sp>
        <p:nvSpPr>
          <p:cNvPr id="10" name="Rectangle 9"/>
          <p:cNvSpPr/>
          <p:nvPr/>
        </p:nvSpPr>
        <p:spPr>
          <a:xfrm>
            <a:off x="457200" y="1737360"/>
            <a:ext cx="5577840" cy="44805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64008" cy="448056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1901952"/>
            <a:ext cx="5175503"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13" name="TextBox 12"/>
          <p:cNvSpPr txBox="1"/>
          <p:nvPr/>
        </p:nvSpPr>
        <p:spPr>
          <a:xfrm>
            <a:off x="676656" y="2240280"/>
            <a:ext cx="5175503" cy="3794760"/>
          </a:xfrm>
          <a:prstGeom prst="rect">
            <a:avLst/>
          </a:prstGeom>
          <a:noFill/>
        </p:spPr>
        <p:txBody>
          <a:bodyPr wrap="square" anchor="t" lIns="0" rIns="0" tIns="0" bIns="0">
            <a:spAutoFit/>
          </a:bodyPr>
          <a:lstStyle/>
          <a:p>
            <a:pPr algn="l"/>
            <a:r>
              <a:rPr sz="950" b="0">
                <a:solidFill>
                  <a:srgbClr val="2B3147"/>
                </a:solidFill>
                <a:latin typeface="Calibri"/>
              </a:rPr>
              <a:t>June’s deck named Platform Intercept the efficiency leader at $285 and recommended rebalancing toward it. Both named June campaigns produced zero July applications in the transition window and retired when the new structure launched July 22; the TradingView campaign is now the leader with 18 of 20 applications and 13.4% start-to-submission.</a:t>
            </a:r>
          </a:p>
          <a:p>
            <a:pPr algn="l">
              <a:spcBef>
                <a:spcPts val="600"/>
              </a:spcBef>
            </a:pPr>
            <a:r>
              <a:rPr sz="950" b="0">
                <a:solidFill>
                  <a:srgbClr val="2B3147"/>
                </a:solidFill>
                <a:latin typeface="Calibri"/>
              </a:rPr>
              <a:t>84% of the prior structure’s clicks landed on pages outside the application flow, and every one of the 207 application starts stopped at the second step. The rebuilt campaigns land on the Spanish-language site and convert. Landing destination and keyword intent changed together, so this is a strong signal rather than a proven single cause. The step data itself is unambiguous: the loss sits between a started and a submitted application.</a:t>
            </a:r>
          </a:p>
          <a:p>
            <a:pPr algn="l">
              <a:spcBef>
                <a:spcPts val="600"/>
              </a:spcBef>
            </a:pPr>
            <a:r>
              <a:rPr sz="950" b="0">
                <a:solidFill>
                  <a:srgbClr val="2B3147"/>
                </a:solidFill>
                <a:latin typeface="Calibri"/>
              </a:rPr>
              <a:t>June’s Mexico commitment held: delivery concentrated in-market across the month, including on all six new campaigns.</a:t>
            </a:r>
          </a:p>
        </p:txBody>
      </p:sp>
      <p:sp>
        <p:nvSpPr>
          <p:cNvPr id="14" name="Rectangle 13"/>
          <p:cNvSpPr/>
          <p:nvPr/>
        </p:nvSpPr>
        <p:spPr>
          <a:xfrm>
            <a:off x="6309360" y="1737360"/>
            <a:ext cx="5394960" cy="44805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64008" cy="448056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1901952"/>
            <a:ext cx="4992624" cy="274320"/>
          </a:xfrm>
          <a:prstGeom prst="rect">
            <a:avLst/>
          </a:prstGeom>
          <a:noFill/>
        </p:spPr>
        <p:txBody>
          <a:bodyPr wrap="square" anchor="t" lIns="0" rIns="0" tIns="0" bIns="0">
            <a:spAutoFit/>
          </a:bodyPr>
          <a:lstStyle/>
          <a:p>
            <a:pPr algn="l"/>
            <a:r>
              <a:rPr sz="1000" b="1">
                <a:solidFill>
                  <a:srgbClr val="1E2761"/>
                </a:solidFill>
                <a:latin typeface="Georgia"/>
              </a:rPr>
              <a:t>WHAT WE RECOMMEND</a:t>
            </a:r>
          </a:p>
        </p:txBody>
      </p:sp>
      <p:sp>
        <p:nvSpPr>
          <p:cNvPr id="17" name="TextBox 16"/>
          <p:cNvSpPr txBox="1"/>
          <p:nvPr/>
        </p:nvSpPr>
        <p:spPr>
          <a:xfrm>
            <a:off x="6528816" y="2240280"/>
            <a:ext cx="4992624" cy="3794760"/>
          </a:xfrm>
          <a:prstGeom prst="rect">
            <a:avLst/>
          </a:prstGeom>
          <a:noFill/>
        </p:spPr>
        <p:txBody>
          <a:bodyPr wrap="square" anchor="t" lIns="0" rIns="0" tIns="0" bIns="0">
            <a:spAutoFit/>
          </a:bodyPr>
          <a:lstStyle/>
          <a:p>
            <a:pPr algn="l"/>
            <a:r>
              <a:rPr sz="950" b="0">
                <a:solidFill>
                  <a:srgbClr val="2B3147"/>
                </a:solidFill>
                <a:latin typeface="Calibri"/>
              </a:rPr>
              <a:t>Scale the rebuilt structure behind the TradingView theme, holding the July close of $237.12 as volume grows. August’s first days track at $243, with three products converting.</a:t>
            </a:r>
          </a:p>
          <a:p>
            <a:pPr algn="l">
              <a:spcBef>
                <a:spcPts val="600"/>
              </a:spcBef>
            </a:pPr>
            <a:r>
              <a:rPr sz="950" b="0">
                <a:solidFill>
                  <a:srgbClr val="2B3147"/>
                </a:solidFill>
                <a:latin typeface="Calibri"/>
              </a:rPr>
              <a:t>Read the account on the rebuilt structure’s results rather than the full-month average; the second half of July is the account’s current state.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QUANTCAST  ·  PERFORMANCE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Reach delivered at scale, all in Mexico. Viewability is the bill to manage.</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7 / 16</a:t>
            </a:r>
          </a:p>
        </p:txBody>
      </p:sp>
      <p:sp>
        <p:nvSpPr>
          <p:cNvPr id="10" name="Rectangle 9"/>
          <p:cNvSpPr/>
          <p:nvPr/>
        </p:nvSpPr>
        <p:spPr>
          <a:xfrm>
            <a:off x="45720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SPEND</a:t>
            </a:r>
          </a:p>
        </p:txBody>
      </p:sp>
      <p:sp>
        <p:nvSpPr>
          <p:cNvPr id="13" name="TextBox 12"/>
          <p:cNvSpPr txBox="1"/>
          <p:nvPr/>
        </p:nvSpPr>
        <p:spPr>
          <a:xfrm>
            <a:off x="64008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$39,240</a:t>
            </a:r>
          </a:p>
        </p:txBody>
      </p:sp>
      <p:sp>
        <p:nvSpPr>
          <p:cNvPr id="14" name="TextBox 13"/>
          <p:cNvSpPr txBox="1"/>
          <p:nvPr/>
        </p:nvSpPr>
        <p:spPr>
          <a:xfrm>
            <a:off x="64008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main campaign</a:t>
            </a:r>
          </a:p>
        </p:txBody>
      </p:sp>
      <p:sp>
        <p:nvSpPr>
          <p:cNvPr id="15" name="Rectangle 14"/>
          <p:cNvSpPr/>
          <p:nvPr/>
        </p:nvSpPr>
        <p:spPr>
          <a:xfrm>
            <a:off x="2359152"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59152"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2032"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IMPRESSIONS</a:t>
            </a:r>
          </a:p>
        </p:txBody>
      </p:sp>
      <p:sp>
        <p:nvSpPr>
          <p:cNvPr id="18" name="TextBox 17"/>
          <p:cNvSpPr txBox="1"/>
          <p:nvPr/>
        </p:nvSpPr>
        <p:spPr>
          <a:xfrm>
            <a:off x="2542032"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50.48M</a:t>
            </a:r>
          </a:p>
        </p:txBody>
      </p:sp>
      <p:sp>
        <p:nvSpPr>
          <p:cNvPr id="19" name="TextBox 18"/>
          <p:cNvSpPr txBox="1"/>
          <p:nvPr/>
        </p:nvSpPr>
        <p:spPr>
          <a:xfrm>
            <a:off x="2542032"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main campaign</a:t>
            </a:r>
          </a:p>
        </p:txBody>
      </p:sp>
      <p:sp>
        <p:nvSpPr>
          <p:cNvPr id="20" name="Rectangle 19"/>
          <p:cNvSpPr/>
          <p:nvPr/>
        </p:nvSpPr>
        <p:spPr>
          <a:xfrm>
            <a:off x="4261104"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61104"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3984"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CLICKS</a:t>
            </a:r>
          </a:p>
        </p:txBody>
      </p:sp>
      <p:sp>
        <p:nvSpPr>
          <p:cNvPr id="23" name="TextBox 22"/>
          <p:cNvSpPr txBox="1"/>
          <p:nvPr/>
        </p:nvSpPr>
        <p:spPr>
          <a:xfrm>
            <a:off x="4443984"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19,188</a:t>
            </a:r>
          </a:p>
        </p:txBody>
      </p:sp>
      <p:sp>
        <p:nvSpPr>
          <p:cNvPr id="24" name="TextBox 23"/>
          <p:cNvSpPr txBox="1"/>
          <p:nvPr/>
        </p:nvSpPr>
        <p:spPr>
          <a:xfrm>
            <a:off x="4443984"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Advanced IVT</a:t>
            </a:r>
          </a:p>
        </p:txBody>
      </p:sp>
      <p:sp>
        <p:nvSpPr>
          <p:cNvPr id="25" name="Rectangle 24"/>
          <p:cNvSpPr/>
          <p:nvPr/>
        </p:nvSpPr>
        <p:spPr>
          <a:xfrm>
            <a:off x="6163056"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3056"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5936"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GEO</a:t>
            </a:r>
          </a:p>
        </p:txBody>
      </p:sp>
      <p:sp>
        <p:nvSpPr>
          <p:cNvPr id="28" name="TextBox 27"/>
          <p:cNvSpPr txBox="1"/>
          <p:nvPr/>
        </p:nvSpPr>
        <p:spPr>
          <a:xfrm>
            <a:off x="6345936"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100.00% MX</a:t>
            </a:r>
          </a:p>
        </p:txBody>
      </p:sp>
      <p:sp>
        <p:nvSpPr>
          <p:cNvPr id="29" name="TextBox 28"/>
          <p:cNvSpPr txBox="1"/>
          <p:nvPr/>
        </p:nvSpPr>
        <p:spPr>
          <a:xfrm>
            <a:off x="6345936"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spend + impressions</a:t>
            </a:r>
          </a:p>
        </p:txBody>
      </p:sp>
      <p:sp>
        <p:nvSpPr>
          <p:cNvPr id="30" name="Rectangle 29"/>
          <p:cNvSpPr/>
          <p:nvPr/>
        </p:nvSpPr>
        <p:spPr>
          <a:xfrm>
            <a:off x="8065008"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65008"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VIEWABILITY</a:t>
            </a:r>
          </a:p>
        </p:txBody>
      </p:sp>
      <p:sp>
        <p:nvSpPr>
          <p:cNvPr id="33" name="TextBox 32"/>
          <p:cNvSpPr txBox="1"/>
          <p:nvPr/>
        </p:nvSpPr>
        <p:spPr>
          <a:xfrm>
            <a:off x="8247888"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54.45%</a:t>
            </a:r>
          </a:p>
        </p:txBody>
      </p:sp>
      <p:sp>
        <p:nvSpPr>
          <p:cNvPr id="34" name="TextBox 33"/>
          <p:cNvSpPr txBox="1"/>
          <p:nvPr/>
        </p:nvSpPr>
        <p:spPr>
          <a:xfrm>
            <a:off x="8247888"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June: 51.3%  ·  floor 70%</a:t>
            </a:r>
          </a:p>
        </p:txBody>
      </p:sp>
      <p:sp>
        <p:nvSpPr>
          <p:cNvPr id="35" name="Rectangle 34"/>
          <p:cNvSpPr/>
          <p:nvPr/>
        </p:nvSpPr>
        <p:spPr>
          <a:xfrm>
            <a:off x="996696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96696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4984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RESULTS</a:t>
            </a:r>
          </a:p>
        </p:txBody>
      </p:sp>
      <p:sp>
        <p:nvSpPr>
          <p:cNvPr id="38" name="TextBox 37"/>
          <p:cNvSpPr txBox="1"/>
          <p:nvPr/>
        </p:nvSpPr>
        <p:spPr>
          <a:xfrm>
            <a:off x="1014984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15</a:t>
            </a:r>
          </a:p>
        </p:txBody>
      </p:sp>
      <p:sp>
        <p:nvSpPr>
          <p:cNvPr id="39" name="TextBox 38"/>
          <p:cNvSpPr txBox="1"/>
          <p:nvPr/>
        </p:nvSpPr>
        <p:spPr>
          <a:xfrm>
            <a:off x="1014984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directional only</a:t>
            </a:r>
          </a:p>
        </p:txBody>
      </p:sp>
      <p:sp>
        <p:nvSpPr>
          <p:cNvPr id="40" name="Rectangle 39"/>
          <p:cNvSpPr/>
          <p:nvPr/>
        </p:nvSpPr>
        <p:spPr>
          <a:xfrm>
            <a:off x="457200" y="3017520"/>
            <a:ext cx="5577840" cy="31089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017520"/>
            <a:ext cx="64008" cy="310896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 y="3182112"/>
            <a:ext cx="5175503"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43" name="TextBox 42"/>
          <p:cNvSpPr txBox="1"/>
          <p:nvPr/>
        </p:nvSpPr>
        <p:spPr>
          <a:xfrm>
            <a:off x="676656" y="3520439"/>
            <a:ext cx="5175503" cy="2423160"/>
          </a:xfrm>
          <a:prstGeom prst="rect">
            <a:avLst/>
          </a:prstGeom>
          <a:noFill/>
        </p:spPr>
        <p:txBody>
          <a:bodyPr wrap="square" anchor="t" lIns="0" rIns="0" tIns="0" bIns="0">
            <a:spAutoFit/>
          </a:bodyPr>
          <a:lstStyle/>
          <a:p>
            <a:pPr algn="l"/>
            <a:r>
              <a:rPr sz="950" b="0">
                <a:solidFill>
                  <a:srgbClr val="2B3147"/>
                </a:solidFill>
                <a:latin typeface="Calibri"/>
              </a:rPr>
              <a:t>Every impression and dollar delivered in Mexico; the geo cut confirms 100.00% in-market.</a:t>
            </a:r>
          </a:p>
          <a:p>
            <a:pPr algn="l">
              <a:spcBef>
                <a:spcPts val="600"/>
              </a:spcBef>
            </a:pPr>
            <a:r>
              <a:rPr sz="950" b="0">
                <a:solidFill>
                  <a:srgbClr val="2B3147"/>
                </a:solidFill>
                <a:latin typeface="Calibri"/>
              </a:rPr>
              <a:t>Viewability improved 3.15 points to 54.45% and still sits under the 70% floor the account works against.</a:t>
            </a:r>
          </a:p>
          <a:p>
            <a:pPr algn="l">
              <a:spcBef>
                <a:spcPts val="600"/>
              </a:spcBef>
            </a:pPr>
            <a:r>
              <a:rPr sz="950" b="0">
                <a:solidFill>
                  <a:srgbClr val="2B3147"/>
                </a:solidFill>
                <a:latin typeface="Calibri"/>
              </a:rPr>
              <a:t>Result volume (15) is too low to support a cost-per-result figure; the channel reads as an awareness and reach story this month.</a:t>
            </a:r>
          </a:p>
        </p:txBody>
      </p:sp>
      <p:sp>
        <p:nvSpPr>
          <p:cNvPr id="44" name="Rectangle 43"/>
          <p:cNvSpPr/>
          <p:nvPr/>
        </p:nvSpPr>
        <p:spPr>
          <a:xfrm>
            <a:off x="6309360" y="3017520"/>
            <a:ext cx="5394960" cy="31089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09360" y="3017520"/>
            <a:ext cx="64008" cy="310896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28816" y="3182112"/>
            <a:ext cx="4992624" cy="274320"/>
          </a:xfrm>
          <a:prstGeom prst="rect">
            <a:avLst/>
          </a:prstGeom>
          <a:noFill/>
        </p:spPr>
        <p:txBody>
          <a:bodyPr wrap="square" anchor="t" lIns="0" rIns="0" tIns="0" bIns="0">
            <a:spAutoFit/>
          </a:bodyPr>
          <a:lstStyle/>
          <a:p>
            <a:pPr algn="l"/>
            <a:r>
              <a:rPr sz="1000" b="1">
                <a:solidFill>
                  <a:srgbClr val="1E2761"/>
                </a:solidFill>
                <a:latin typeface="Georgia"/>
              </a:rPr>
              <a:t>THE SITE LIST IS THE LEVER</a:t>
            </a:r>
          </a:p>
        </p:txBody>
      </p:sp>
      <p:sp>
        <p:nvSpPr>
          <p:cNvPr id="47" name="TextBox 46"/>
          <p:cNvSpPr txBox="1"/>
          <p:nvPr/>
        </p:nvSpPr>
        <p:spPr>
          <a:xfrm>
            <a:off x="6528816" y="3520439"/>
            <a:ext cx="4992624" cy="2423160"/>
          </a:xfrm>
          <a:prstGeom prst="rect">
            <a:avLst/>
          </a:prstGeom>
          <a:noFill/>
        </p:spPr>
        <p:txBody>
          <a:bodyPr wrap="square" anchor="t" lIns="0" rIns="0" tIns="0" bIns="0">
            <a:spAutoFit/>
          </a:bodyPr>
          <a:lstStyle/>
          <a:p>
            <a:pPr algn="l"/>
            <a:r>
              <a:rPr sz="950" b="0">
                <a:solidFill>
                  <a:srgbClr val="2B3147"/>
                </a:solidFill>
                <a:latin typeface="Calibri"/>
              </a:rPr>
              <a:t>June’s 49-site blocklist is refreshed to 66 domains this month.</a:t>
            </a:r>
          </a:p>
          <a:p>
            <a:pPr algn="l">
              <a:spcBef>
                <a:spcPts val="600"/>
              </a:spcBef>
            </a:pPr>
            <a:r>
              <a:rPr sz="950" b="0">
                <a:solidFill>
                  <a:srgbClr val="2B3147"/>
                </a:solidFill>
                <a:latin typeface="Calibri"/>
              </a:rPr>
              <a:t>tvazteca.com is the headline: spend on that single domain grew to $3,451.61 in July while its viewability held near 9.6%, the second consecutive month of the pattern. If one exclusion is actioned this month, that is the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QUANTCAST  ·  READ &amp; RECOMMENDATIONS</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Apply the refreshed list, then hold quality with a floor.</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8 / 16</a:t>
            </a:r>
          </a:p>
        </p:txBody>
      </p:sp>
      <p:sp>
        <p:nvSpPr>
          <p:cNvPr id="10" name="Rectangle 9"/>
          <p:cNvSpPr/>
          <p:nvPr/>
        </p:nvSpPr>
        <p:spPr>
          <a:xfrm>
            <a:off x="457200" y="1737360"/>
            <a:ext cx="557784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64008" cy="402336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1901952"/>
            <a:ext cx="5175503"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13" name="TextBox 12"/>
          <p:cNvSpPr txBox="1"/>
          <p:nvPr/>
        </p:nvSpPr>
        <p:spPr>
          <a:xfrm>
            <a:off x="676656" y="2240280"/>
            <a:ext cx="5175503" cy="3337560"/>
          </a:xfrm>
          <a:prstGeom prst="rect">
            <a:avLst/>
          </a:prstGeom>
          <a:noFill/>
        </p:spPr>
        <p:txBody>
          <a:bodyPr wrap="square" anchor="t" lIns="0" rIns="0" tIns="0" bIns="0">
            <a:spAutoFit/>
          </a:bodyPr>
          <a:lstStyle/>
          <a:p>
            <a:pPr algn="l"/>
            <a:r>
              <a:rPr sz="950" b="0">
                <a:solidFill>
                  <a:srgbClr val="2B3147"/>
                </a:solidFill>
                <a:latin typeface="Calibri"/>
              </a:rPr>
              <a:t>The disallow list is the direct lever on viewability: 66 domains flagged for exclusion, led by low-viewability news and utility inventory.</a:t>
            </a:r>
          </a:p>
          <a:p>
            <a:pPr algn="l">
              <a:spcBef>
                <a:spcPts val="600"/>
              </a:spcBef>
            </a:pPr>
            <a:r>
              <a:rPr sz="950" b="0">
                <a:solidFill>
                  <a:srgbClr val="2B3147"/>
                </a:solidFill>
                <a:latin typeface="Calibri"/>
              </a:rPr>
              <a:t>The campaign-level viewability floor recommended in June has not yet been implemented; without it, excluded inventory is replaced by unscreened inventory as reach scales.</a:t>
            </a:r>
          </a:p>
        </p:txBody>
      </p:sp>
      <p:sp>
        <p:nvSpPr>
          <p:cNvPr id="14" name="Rectangle 13"/>
          <p:cNvSpPr/>
          <p:nvPr/>
        </p:nvSpPr>
        <p:spPr>
          <a:xfrm>
            <a:off x="6309360" y="1737360"/>
            <a:ext cx="539496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64008" cy="402336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1901952"/>
            <a:ext cx="4992624" cy="274320"/>
          </a:xfrm>
          <a:prstGeom prst="rect">
            <a:avLst/>
          </a:prstGeom>
          <a:noFill/>
        </p:spPr>
        <p:txBody>
          <a:bodyPr wrap="square" anchor="t" lIns="0" rIns="0" tIns="0" bIns="0">
            <a:spAutoFit/>
          </a:bodyPr>
          <a:lstStyle/>
          <a:p>
            <a:pPr algn="l"/>
            <a:r>
              <a:rPr sz="1000" b="1">
                <a:solidFill>
                  <a:srgbClr val="1E2761"/>
                </a:solidFill>
                <a:latin typeface="Georgia"/>
              </a:rPr>
              <a:t>WHAT WE RECOMMEND</a:t>
            </a:r>
          </a:p>
        </p:txBody>
      </p:sp>
      <p:sp>
        <p:nvSpPr>
          <p:cNvPr id="17" name="TextBox 16"/>
          <p:cNvSpPr txBox="1"/>
          <p:nvPr/>
        </p:nvSpPr>
        <p:spPr>
          <a:xfrm>
            <a:off x="6528816" y="2240280"/>
            <a:ext cx="4992624" cy="3337560"/>
          </a:xfrm>
          <a:prstGeom prst="rect">
            <a:avLst/>
          </a:prstGeom>
          <a:noFill/>
        </p:spPr>
        <p:txBody>
          <a:bodyPr wrap="square" anchor="t" lIns="0" rIns="0" tIns="0" bIns="0">
            <a:spAutoFit/>
          </a:bodyPr>
          <a:lstStyle/>
          <a:p>
            <a:pPr algn="l"/>
            <a:r>
              <a:rPr sz="950" b="0">
                <a:solidFill>
                  <a:srgbClr val="2B3147"/>
                </a:solidFill>
                <a:latin typeface="Calibri"/>
              </a:rPr>
              <a:t>Apply the refreshed 66-site disallow list, leading with tvazteca.com.</a:t>
            </a:r>
          </a:p>
          <a:p>
            <a:pPr algn="l">
              <a:spcBef>
                <a:spcPts val="600"/>
              </a:spcBef>
            </a:pPr>
            <a:r>
              <a:rPr sz="950" b="0">
                <a:solidFill>
                  <a:srgbClr val="2B3147"/>
                </a:solidFill>
                <a:latin typeface="Calibri"/>
              </a:rPr>
              <a:t>Implement the campaign-level viewability floor carried forward from June. It is the structural fix that holds quality as reach scales.</a:t>
            </a:r>
          </a:p>
          <a:p>
            <a:pPr algn="l">
              <a:spcBef>
                <a:spcPts val="600"/>
              </a:spcBef>
            </a:pPr>
            <a:r>
              <a:rPr sz="950" b="0">
                <a:solidFill>
                  <a:srgbClr val="2B3147"/>
                </a:solidFill>
                <a:latin typeface="Calibri"/>
              </a:rPr>
              <a:t>Keep the channel judged on reach and cost of reach until result volume supports more.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AZERION  ·  PERFORMANCE</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41 vendor-reported applications; viewability now clear of the floor on both formats.</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9 / 16</a:t>
            </a:r>
          </a:p>
        </p:txBody>
      </p:sp>
      <p:sp>
        <p:nvSpPr>
          <p:cNvPr id="10" name="Rectangle 9"/>
          <p:cNvSpPr/>
          <p:nvPr/>
        </p:nvSpPr>
        <p:spPr>
          <a:xfrm>
            <a:off x="45720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SPEND</a:t>
            </a:r>
          </a:p>
        </p:txBody>
      </p:sp>
      <p:sp>
        <p:nvSpPr>
          <p:cNvPr id="13" name="TextBox 12"/>
          <p:cNvSpPr txBox="1"/>
          <p:nvPr/>
        </p:nvSpPr>
        <p:spPr>
          <a:xfrm>
            <a:off x="64008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$37,509</a:t>
            </a:r>
          </a:p>
        </p:txBody>
      </p:sp>
      <p:sp>
        <p:nvSpPr>
          <p:cNvPr id="14" name="TextBox 13"/>
          <p:cNvSpPr txBox="1"/>
          <p:nvPr/>
        </p:nvSpPr>
        <p:spPr>
          <a:xfrm>
            <a:off x="64008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display</a:t>
            </a:r>
          </a:p>
        </p:txBody>
      </p:sp>
      <p:sp>
        <p:nvSpPr>
          <p:cNvPr id="15" name="Rectangle 14"/>
          <p:cNvSpPr/>
          <p:nvPr/>
        </p:nvSpPr>
        <p:spPr>
          <a:xfrm>
            <a:off x="2359152"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59152"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2032"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IMPRESSIONS</a:t>
            </a:r>
          </a:p>
        </p:txBody>
      </p:sp>
      <p:sp>
        <p:nvSpPr>
          <p:cNvPr id="18" name="TextBox 17"/>
          <p:cNvSpPr txBox="1"/>
          <p:nvPr/>
        </p:nvSpPr>
        <p:spPr>
          <a:xfrm>
            <a:off x="2542032"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7.58M</a:t>
            </a:r>
          </a:p>
        </p:txBody>
      </p:sp>
      <p:sp>
        <p:nvSpPr>
          <p:cNvPr id="19" name="TextBox 18"/>
          <p:cNvSpPr txBox="1"/>
          <p:nvPr/>
        </p:nvSpPr>
        <p:spPr>
          <a:xfrm>
            <a:off x="2542032"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display</a:t>
            </a:r>
          </a:p>
        </p:txBody>
      </p:sp>
      <p:sp>
        <p:nvSpPr>
          <p:cNvPr id="20" name="Rectangle 19"/>
          <p:cNvSpPr/>
          <p:nvPr/>
        </p:nvSpPr>
        <p:spPr>
          <a:xfrm>
            <a:off x="4261104"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61104"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3984"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CLICKS</a:t>
            </a:r>
          </a:p>
        </p:txBody>
      </p:sp>
      <p:sp>
        <p:nvSpPr>
          <p:cNvPr id="23" name="TextBox 22"/>
          <p:cNvSpPr txBox="1"/>
          <p:nvPr/>
        </p:nvSpPr>
        <p:spPr>
          <a:xfrm>
            <a:off x="4443984"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12,915</a:t>
            </a:r>
          </a:p>
        </p:txBody>
      </p:sp>
      <p:sp>
        <p:nvSpPr>
          <p:cNvPr id="24" name="TextBox 23"/>
          <p:cNvSpPr txBox="1"/>
          <p:nvPr/>
        </p:nvSpPr>
        <p:spPr>
          <a:xfrm>
            <a:off x="4443984"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display</a:t>
            </a:r>
          </a:p>
        </p:txBody>
      </p:sp>
      <p:sp>
        <p:nvSpPr>
          <p:cNvPr id="25" name="Rectangle 24"/>
          <p:cNvSpPr/>
          <p:nvPr/>
        </p:nvSpPr>
        <p:spPr>
          <a:xfrm>
            <a:off x="6163056"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3056"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5936"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APPLICATIONS</a:t>
            </a:r>
          </a:p>
        </p:txBody>
      </p:sp>
      <p:sp>
        <p:nvSpPr>
          <p:cNvPr id="28" name="TextBox 27"/>
          <p:cNvSpPr txBox="1"/>
          <p:nvPr/>
        </p:nvSpPr>
        <p:spPr>
          <a:xfrm>
            <a:off x="6345936"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41</a:t>
            </a:r>
          </a:p>
        </p:txBody>
      </p:sp>
      <p:sp>
        <p:nvSpPr>
          <p:cNvPr id="29" name="TextBox 28"/>
          <p:cNvSpPr txBox="1"/>
          <p:nvPr/>
        </p:nvSpPr>
        <p:spPr>
          <a:xfrm>
            <a:off x="6345936"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vendor-reported</a:t>
            </a:r>
          </a:p>
        </p:txBody>
      </p:sp>
      <p:sp>
        <p:nvSpPr>
          <p:cNvPr id="30" name="Rectangle 29"/>
          <p:cNvSpPr/>
          <p:nvPr/>
        </p:nvSpPr>
        <p:spPr>
          <a:xfrm>
            <a:off x="8065008"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65008"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COST / APP</a:t>
            </a:r>
          </a:p>
        </p:txBody>
      </p:sp>
      <p:sp>
        <p:nvSpPr>
          <p:cNvPr id="33" name="TextBox 32"/>
          <p:cNvSpPr txBox="1"/>
          <p:nvPr/>
        </p:nvSpPr>
        <p:spPr>
          <a:xfrm>
            <a:off x="8247888"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$914.85</a:t>
            </a:r>
          </a:p>
        </p:txBody>
      </p:sp>
      <p:sp>
        <p:nvSpPr>
          <p:cNvPr id="34" name="TextBox 33"/>
          <p:cNvSpPr txBox="1"/>
          <p:nvPr/>
        </p:nvSpPr>
        <p:spPr>
          <a:xfrm>
            <a:off x="8247888"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vendor-reported</a:t>
            </a:r>
          </a:p>
        </p:txBody>
      </p:sp>
      <p:sp>
        <p:nvSpPr>
          <p:cNvPr id="35" name="Rectangle 34"/>
          <p:cNvSpPr/>
          <p:nvPr/>
        </p:nvSpPr>
        <p:spPr>
          <a:xfrm>
            <a:off x="996696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96696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4984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VIEWABILITY</a:t>
            </a:r>
          </a:p>
        </p:txBody>
      </p:sp>
      <p:sp>
        <p:nvSpPr>
          <p:cNvPr id="38" name="TextBox 37"/>
          <p:cNvSpPr txBox="1"/>
          <p:nvPr/>
        </p:nvSpPr>
        <p:spPr>
          <a:xfrm>
            <a:off x="1014984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82.47%</a:t>
            </a:r>
          </a:p>
        </p:txBody>
      </p:sp>
      <p:sp>
        <p:nvSpPr>
          <p:cNvPr id="39" name="TextBox 38"/>
          <p:cNvSpPr txBox="1"/>
          <p:nvPr/>
        </p:nvSpPr>
        <p:spPr>
          <a:xfrm>
            <a:off x="1014984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native 77.34%</a:t>
            </a:r>
          </a:p>
        </p:txBody>
      </p:sp>
      <p:sp>
        <p:nvSpPr>
          <p:cNvPr id="40" name="Rectangle 39"/>
          <p:cNvSpPr/>
          <p:nvPr/>
        </p:nvSpPr>
        <p:spPr>
          <a:xfrm>
            <a:off x="457200" y="3017520"/>
            <a:ext cx="5577840" cy="31089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017520"/>
            <a:ext cx="64008" cy="310896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 y="3182112"/>
            <a:ext cx="5175503"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43" name="TextBox 42"/>
          <p:cNvSpPr txBox="1"/>
          <p:nvPr/>
        </p:nvSpPr>
        <p:spPr>
          <a:xfrm>
            <a:off x="676656" y="3520439"/>
            <a:ext cx="5175503" cy="2423160"/>
          </a:xfrm>
          <a:prstGeom prst="rect">
            <a:avLst/>
          </a:prstGeom>
          <a:noFill/>
        </p:spPr>
        <p:txBody>
          <a:bodyPr wrap="square" anchor="t" lIns="0" rIns="0" tIns="0" bIns="0">
            <a:spAutoFit/>
          </a:bodyPr>
          <a:lstStyle/>
          <a:p>
            <a:pPr algn="l"/>
            <a:r>
              <a:rPr sz="950" b="0">
                <a:solidFill>
                  <a:srgbClr val="2B3147"/>
                </a:solidFill>
                <a:latin typeface="Calibri"/>
              </a:rPr>
              <a:t>Applications are reported by the vendor’s own tracking rather than by SA360, the source of record behind Bing’s count; the distinction travels with the number.</a:t>
            </a:r>
          </a:p>
          <a:p>
            <a:pPr algn="l">
              <a:spcBef>
                <a:spcPts val="600"/>
              </a:spcBef>
            </a:pPr>
            <a:r>
              <a:rPr sz="950" b="0">
                <a:solidFill>
                  <a:srgbClr val="2B3147"/>
                </a:solidFill>
                <a:latin typeface="Calibri"/>
              </a:rPr>
              <a:t>June’s viewability recommendation fully landed: display rose from 68.5% to 82.47%, native came in at 77.34%, both clear of the 70% floor.</a:t>
            </a:r>
          </a:p>
          <a:p>
            <a:pPr algn="l">
              <a:spcBef>
                <a:spcPts val="600"/>
              </a:spcBef>
            </a:pPr>
            <a:r>
              <a:rPr sz="950" b="0">
                <a:solidFill>
                  <a:srgbClr val="2B3147"/>
                </a:solidFill>
                <a:latin typeface="Calibri"/>
              </a:rPr>
              <a:t>Country-level delivery detail was requested from the vendor in early July; the follow-up runs with the August cycle. A data-completeness item.</a:t>
            </a:r>
          </a:p>
        </p:txBody>
      </p:sp>
      <p:sp>
        <p:nvSpPr>
          <p:cNvPr id="44" name="Rectangle 43"/>
          <p:cNvSpPr/>
          <p:nvPr/>
        </p:nvSpPr>
        <p:spPr>
          <a:xfrm>
            <a:off x="6309360" y="3017520"/>
            <a:ext cx="5394960" cy="31089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09360" y="3017520"/>
            <a:ext cx="64008" cy="310896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28816" y="3182112"/>
            <a:ext cx="4992624" cy="274320"/>
          </a:xfrm>
          <a:prstGeom prst="rect">
            <a:avLst/>
          </a:prstGeom>
          <a:noFill/>
        </p:spPr>
        <p:txBody>
          <a:bodyPr wrap="square" anchor="t" lIns="0" rIns="0" tIns="0" bIns="0">
            <a:spAutoFit/>
          </a:bodyPr>
          <a:lstStyle/>
          <a:p>
            <a:pPr algn="l"/>
            <a:r>
              <a:rPr sz="1000" b="1">
                <a:solidFill>
                  <a:srgbClr val="1E2761"/>
                </a:solidFill>
                <a:latin typeface="Georgia"/>
              </a:rPr>
              <a:t>AD-SET ECONOMICS ROTATED</a:t>
            </a:r>
          </a:p>
        </p:txBody>
      </p:sp>
      <p:sp>
        <p:nvSpPr>
          <p:cNvPr id="47" name="TextBox 46"/>
          <p:cNvSpPr txBox="1"/>
          <p:nvPr/>
        </p:nvSpPr>
        <p:spPr>
          <a:xfrm>
            <a:off x="6528816" y="3520439"/>
            <a:ext cx="4992624" cy="2423160"/>
          </a:xfrm>
          <a:prstGeom prst="rect">
            <a:avLst/>
          </a:prstGeom>
          <a:noFill/>
        </p:spPr>
        <p:txBody>
          <a:bodyPr wrap="square" anchor="t" lIns="0" rIns="0" tIns="0" bIns="0">
            <a:spAutoFit/>
          </a:bodyPr>
          <a:lstStyle/>
          <a:p>
            <a:pPr algn="l"/>
            <a:r>
              <a:rPr sz="950" b="0">
                <a:solidFill>
                  <a:srgbClr val="2B3147"/>
                </a:solidFill>
                <a:latin typeface="Calibri"/>
              </a:rPr>
              <a:t>June flagged Conversion_Commodities for reallocation (zero applications) and named Global Market the leader at $412. July reversed both: Commodities converted 6 at $500; Global Market fell to 2 at $1,660. The month’s leader was Conversion_Instruments, 9 at roughly $339.</a:t>
            </a:r>
          </a:p>
          <a:p>
            <a:pPr algn="l">
              <a:spcBef>
                <a:spcPts val="600"/>
              </a:spcBef>
            </a:pPr>
            <a:r>
              <a:rPr sz="950" b="0">
                <a:solidFill>
                  <a:srgbClr val="2B3147"/>
                </a:solidFill>
                <a:latin typeface="Calibri"/>
              </a:rPr>
              <a:t>At this volume, ad-set winners rotate faster than a reallocation decision can act on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AZERION  ·  READ &amp; RECOMMENDATIONS</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Judge the channel at the monthly level. Close out the vendor confirmation.</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10 / 16</a:t>
            </a:r>
          </a:p>
        </p:txBody>
      </p:sp>
      <p:sp>
        <p:nvSpPr>
          <p:cNvPr id="10" name="Rectangle 9"/>
          <p:cNvSpPr/>
          <p:nvPr/>
        </p:nvSpPr>
        <p:spPr>
          <a:xfrm>
            <a:off x="457200" y="1737360"/>
            <a:ext cx="557784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64008" cy="402336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6656" y="1901952"/>
            <a:ext cx="5175503"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13" name="TextBox 12"/>
          <p:cNvSpPr txBox="1"/>
          <p:nvPr/>
        </p:nvSpPr>
        <p:spPr>
          <a:xfrm>
            <a:off x="676656" y="2240280"/>
            <a:ext cx="5175503" cy="3337560"/>
          </a:xfrm>
          <a:prstGeom prst="rect">
            <a:avLst/>
          </a:prstGeom>
          <a:noFill/>
        </p:spPr>
        <p:txBody>
          <a:bodyPr wrap="square" anchor="t" lIns="0" rIns="0" tIns="0" bIns="0">
            <a:spAutoFit/>
          </a:bodyPr>
          <a:lstStyle/>
          <a:p>
            <a:pPr algn="l"/>
            <a:r>
              <a:rPr sz="950" b="0">
                <a:solidFill>
                  <a:srgbClr val="2B3147"/>
                </a:solidFill>
                <a:latin typeface="Calibri"/>
              </a:rPr>
              <a:t>The channel figure is the stable read: $914.85 per vendor-reported application, against $834 in June.</a:t>
            </a:r>
          </a:p>
          <a:p>
            <a:pPr algn="l">
              <a:spcBef>
                <a:spcPts val="600"/>
              </a:spcBef>
            </a:pPr>
            <a:r>
              <a:rPr sz="950" b="0">
                <a:solidFill>
                  <a:srgbClr val="2B3147"/>
                </a:solidFill>
                <a:latin typeface="Calibri"/>
              </a:rPr>
              <a:t>Ad-set level winners rotated against June’s picks, which closes out June’s reallocation call; the flagged ad set converted well on its own.</a:t>
            </a:r>
          </a:p>
        </p:txBody>
      </p:sp>
      <p:sp>
        <p:nvSpPr>
          <p:cNvPr id="14" name="Rectangle 13"/>
          <p:cNvSpPr/>
          <p:nvPr/>
        </p:nvSpPr>
        <p:spPr>
          <a:xfrm>
            <a:off x="6309360" y="1737360"/>
            <a:ext cx="5394960" cy="40233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64008" cy="4023360"/>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8816" y="1901952"/>
            <a:ext cx="4992624" cy="274320"/>
          </a:xfrm>
          <a:prstGeom prst="rect">
            <a:avLst/>
          </a:prstGeom>
          <a:noFill/>
        </p:spPr>
        <p:txBody>
          <a:bodyPr wrap="square" anchor="t" lIns="0" rIns="0" tIns="0" bIns="0">
            <a:spAutoFit/>
          </a:bodyPr>
          <a:lstStyle/>
          <a:p>
            <a:pPr algn="l"/>
            <a:r>
              <a:rPr sz="1000" b="1">
                <a:solidFill>
                  <a:srgbClr val="1E2761"/>
                </a:solidFill>
                <a:latin typeface="Georgia"/>
              </a:rPr>
              <a:t>WHAT WE RECOMMEND</a:t>
            </a:r>
          </a:p>
        </p:txBody>
      </p:sp>
      <p:sp>
        <p:nvSpPr>
          <p:cNvPr id="17" name="TextBox 16"/>
          <p:cNvSpPr txBox="1"/>
          <p:nvPr/>
        </p:nvSpPr>
        <p:spPr>
          <a:xfrm>
            <a:off x="6528816" y="2240280"/>
            <a:ext cx="4992624" cy="3337560"/>
          </a:xfrm>
          <a:prstGeom prst="rect">
            <a:avLst/>
          </a:prstGeom>
          <a:noFill/>
        </p:spPr>
        <p:txBody>
          <a:bodyPr wrap="square" anchor="t" lIns="0" rIns="0" tIns="0" bIns="0">
            <a:spAutoFit/>
          </a:bodyPr>
          <a:lstStyle/>
          <a:p>
            <a:pPr algn="l"/>
            <a:r>
              <a:rPr sz="950" b="0">
                <a:solidFill>
                  <a:srgbClr val="2B3147"/>
                </a:solidFill>
                <a:latin typeface="Calibri"/>
              </a:rPr>
              <a:t>Hold the channel’s pace and judge it on the monthly figure rather than reallocating off one month’s ad-set data.</a:t>
            </a:r>
          </a:p>
          <a:p>
            <a:pPr algn="l">
              <a:spcBef>
                <a:spcPts val="600"/>
              </a:spcBef>
            </a:pPr>
            <a:r>
              <a:rPr sz="950" b="0">
                <a:solidFill>
                  <a:srgbClr val="2B3147"/>
                </a:solidFill>
                <a:latin typeface="Calibri"/>
              </a:rPr>
              <a:t>Follow up with the vendor on the country-level delivery detail requested in early July, in the August cycle, and hold certification of that detail until it lands.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META  ·  SPEND &amp; DELIVERY</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Reported on spend and delivery this month. Instagram testing delivered.</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11 / 16</a:t>
            </a:r>
          </a:p>
        </p:txBody>
      </p:sp>
      <p:sp>
        <p:nvSpPr>
          <p:cNvPr id="10" name="Rectangle 9"/>
          <p:cNvSpPr/>
          <p:nvPr/>
        </p:nvSpPr>
        <p:spPr>
          <a:xfrm>
            <a:off x="45720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SPEND</a:t>
            </a:r>
          </a:p>
        </p:txBody>
      </p:sp>
      <p:sp>
        <p:nvSpPr>
          <p:cNvPr id="13" name="TextBox 12"/>
          <p:cNvSpPr txBox="1"/>
          <p:nvPr/>
        </p:nvSpPr>
        <p:spPr>
          <a:xfrm>
            <a:off x="64008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$8,027</a:t>
            </a:r>
          </a:p>
        </p:txBody>
      </p:sp>
      <p:sp>
        <p:nvSpPr>
          <p:cNvPr id="14" name="TextBox 13"/>
          <p:cNvSpPr txBox="1"/>
          <p:nvPr/>
        </p:nvSpPr>
        <p:spPr>
          <a:xfrm>
            <a:off x="64008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Mexico only</a:t>
            </a:r>
          </a:p>
        </p:txBody>
      </p:sp>
      <p:sp>
        <p:nvSpPr>
          <p:cNvPr id="15" name="Rectangle 14"/>
          <p:cNvSpPr/>
          <p:nvPr/>
        </p:nvSpPr>
        <p:spPr>
          <a:xfrm>
            <a:off x="2359152"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59152"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2032"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IMPRESSIONS</a:t>
            </a:r>
          </a:p>
        </p:txBody>
      </p:sp>
      <p:sp>
        <p:nvSpPr>
          <p:cNvPr id="18" name="TextBox 17"/>
          <p:cNvSpPr txBox="1"/>
          <p:nvPr/>
        </p:nvSpPr>
        <p:spPr>
          <a:xfrm>
            <a:off x="2542032"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4.25M</a:t>
            </a:r>
          </a:p>
        </p:txBody>
      </p:sp>
      <p:sp>
        <p:nvSpPr>
          <p:cNvPr id="19" name="TextBox 18"/>
          <p:cNvSpPr txBox="1"/>
          <p:nvPr/>
        </p:nvSpPr>
        <p:spPr>
          <a:xfrm>
            <a:off x="2542032"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CPM ~$1.89</a:t>
            </a:r>
          </a:p>
        </p:txBody>
      </p:sp>
      <p:sp>
        <p:nvSpPr>
          <p:cNvPr id="20" name="Rectangle 19"/>
          <p:cNvSpPr/>
          <p:nvPr/>
        </p:nvSpPr>
        <p:spPr>
          <a:xfrm>
            <a:off x="4261104"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61104"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3984"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LINK CLICKS</a:t>
            </a:r>
          </a:p>
        </p:txBody>
      </p:sp>
      <p:sp>
        <p:nvSpPr>
          <p:cNvPr id="23" name="TextBox 22"/>
          <p:cNvSpPr txBox="1"/>
          <p:nvPr/>
        </p:nvSpPr>
        <p:spPr>
          <a:xfrm>
            <a:off x="4443984"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74,489</a:t>
            </a:r>
          </a:p>
        </p:txBody>
      </p:sp>
      <p:sp>
        <p:nvSpPr>
          <p:cNvPr id="24" name="TextBox 23"/>
          <p:cNvSpPr txBox="1"/>
          <p:nvPr/>
        </p:nvSpPr>
        <p:spPr>
          <a:xfrm>
            <a:off x="4443984"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CTR 1.75% · June 2.06%</a:t>
            </a:r>
          </a:p>
        </p:txBody>
      </p:sp>
      <p:sp>
        <p:nvSpPr>
          <p:cNvPr id="25" name="Rectangle 24"/>
          <p:cNvSpPr/>
          <p:nvPr/>
        </p:nvSpPr>
        <p:spPr>
          <a:xfrm>
            <a:off x="6163056"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3056"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5936"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REACH</a:t>
            </a:r>
          </a:p>
        </p:txBody>
      </p:sp>
      <p:sp>
        <p:nvSpPr>
          <p:cNvPr id="28" name="TextBox 27"/>
          <p:cNvSpPr txBox="1"/>
          <p:nvPr/>
        </p:nvSpPr>
        <p:spPr>
          <a:xfrm>
            <a:off x="6345936"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2,251,346</a:t>
            </a:r>
          </a:p>
        </p:txBody>
      </p:sp>
      <p:sp>
        <p:nvSpPr>
          <p:cNvPr id="29" name="TextBox 28"/>
          <p:cNvSpPr txBox="1"/>
          <p:nvPr/>
        </p:nvSpPr>
        <p:spPr>
          <a:xfrm>
            <a:off x="6345936"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largest campaign</a:t>
            </a:r>
          </a:p>
        </p:txBody>
      </p:sp>
      <p:sp>
        <p:nvSpPr>
          <p:cNvPr id="30" name="Rectangle 29"/>
          <p:cNvSpPr/>
          <p:nvPr/>
        </p:nvSpPr>
        <p:spPr>
          <a:xfrm>
            <a:off x="8065008"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65008"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GEO</a:t>
            </a:r>
          </a:p>
        </p:txBody>
      </p:sp>
      <p:sp>
        <p:nvSpPr>
          <p:cNvPr id="33" name="TextBox 32"/>
          <p:cNvSpPr txBox="1"/>
          <p:nvPr/>
        </p:nvSpPr>
        <p:spPr>
          <a:xfrm>
            <a:off x="8247888"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Mexico</a:t>
            </a:r>
          </a:p>
        </p:txBody>
      </p:sp>
      <p:sp>
        <p:nvSpPr>
          <p:cNvPr id="34" name="TextBox 33"/>
          <p:cNvSpPr txBox="1"/>
          <p:nvPr/>
        </p:nvSpPr>
        <p:spPr>
          <a:xfrm>
            <a:off x="8247888"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all campaigns</a:t>
            </a:r>
          </a:p>
        </p:txBody>
      </p:sp>
      <p:sp>
        <p:nvSpPr>
          <p:cNvPr id="35" name="Rectangle 34"/>
          <p:cNvSpPr/>
          <p:nvPr/>
        </p:nvSpPr>
        <p:spPr>
          <a:xfrm>
            <a:off x="996696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96696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4984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INSTAGRAM</a:t>
            </a:r>
          </a:p>
        </p:txBody>
      </p:sp>
      <p:sp>
        <p:nvSpPr>
          <p:cNvPr id="38" name="TextBox 37"/>
          <p:cNvSpPr txBox="1"/>
          <p:nvPr/>
        </p:nvSpPr>
        <p:spPr>
          <a:xfrm>
            <a:off x="1014984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10.2%</a:t>
            </a:r>
          </a:p>
        </p:txBody>
      </p:sp>
      <p:sp>
        <p:nvSpPr>
          <p:cNvPr id="39" name="TextBox 38"/>
          <p:cNvSpPr txBox="1"/>
          <p:nvPr/>
        </p:nvSpPr>
        <p:spPr>
          <a:xfrm>
            <a:off x="1014984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June: 0.3%</a:t>
            </a:r>
          </a:p>
        </p:txBody>
      </p:sp>
      <p:sp>
        <p:nvSpPr>
          <p:cNvPr id="40" name="Rectangle 39"/>
          <p:cNvSpPr/>
          <p:nvPr/>
        </p:nvSpPr>
        <p:spPr>
          <a:xfrm>
            <a:off x="457200" y="3017520"/>
            <a:ext cx="5577840" cy="31089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017520"/>
            <a:ext cx="64008" cy="310896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76656" y="3182112"/>
            <a:ext cx="5175503"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43" name="TextBox 42"/>
          <p:cNvSpPr txBox="1"/>
          <p:nvPr/>
        </p:nvSpPr>
        <p:spPr>
          <a:xfrm>
            <a:off x="676656" y="3520439"/>
            <a:ext cx="5175503" cy="2423160"/>
          </a:xfrm>
          <a:prstGeom prst="rect">
            <a:avLst/>
          </a:prstGeom>
          <a:noFill/>
        </p:spPr>
        <p:txBody>
          <a:bodyPr wrap="square" anchor="t" lIns="0" rIns="0" tIns="0" bIns="0">
            <a:spAutoFit/>
          </a:bodyPr>
          <a:lstStyle/>
          <a:p>
            <a:pPr algn="l"/>
            <a:r>
              <a:rPr sz="950" b="0">
                <a:solidFill>
                  <a:srgbClr val="2B3147"/>
                </a:solidFill>
                <a:latin typeface="Calibri"/>
              </a:rPr>
              <a:t>Delivery held to Mexico across every campaign.</a:t>
            </a:r>
          </a:p>
          <a:p>
            <a:pPr algn="l">
              <a:spcBef>
                <a:spcPts val="600"/>
              </a:spcBef>
            </a:pPr>
            <a:r>
              <a:rPr sz="950" b="0">
                <a:solidFill>
                  <a:srgbClr val="2B3147"/>
                </a:solidFill>
                <a:latin typeface="Calibri"/>
              </a:rPr>
              <a:t>Placement mix shifted toward Instagram: 10.2% of July delivery, up from 0.3%, answering the specific ask from the June review. Facebook carried 89.2%.</a:t>
            </a:r>
          </a:p>
        </p:txBody>
      </p:sp>
      <p:sp>
        <p:nvSpPr>
          <p:cNvPr id="44" name="Rectangle 43"/>
          <p:cNvSpPr/>
          <p:nvPr/>
        </p:nvSpPr>
        <p:spPr>
          <a:xfrm>
            <a:off x="6309360" y="3017520"/>
            <a:ext cx="5394960" cy="31089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09360" y="3017520"/>
            <a:ext cx="64008" cy="310896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28816" y="3182112"/>
            <a:ext cx="4992624" cy="274320"/>
          </a:xfrm>
          <a:prstGeom prst="rect">
            <a:avLst/>
          </a:prstGeom>
          <a:noFill/>
        </p:spPr>
        <p:txBody>
          <a:bodyPr wrap="square" anchor="t" lIns="0" rIns="0" tIns="0" bIns="0">
            <a:spAutoFit/>
          </a:bodyPr>
          <a:lstStyle/>
          <a:p>
            <a:pPr algn="l"/>
            <a:r>
              <a:rPr sz="1000" b="1">
                <a:solidFill>
                  <a:srgbClr val="1E2761"/>
                </a:solidFill>
                <a:latin typeface="Georgia"/>
              </a:rPr>
              <a:t>MEASUREMENT NOTE</a:t>
            </a:r>
          </a:p>
        </p:txBody>
      </p:sp>
      <p:sp>
        <p:nvSpPr>
          <p:cNvPr id="47" name="TextBox 46"/>
          <p:cNvSpPr txBox="1"/>
          <p:nvPr/>
        </p:nvSpPr>
        <p:spPr>
          <a:xfrm>
            <a:off x="6528816" y="3520439"/>
            <a:ext cx="4992624" cy="2423160"/>
          </a:xfrm>
          <a:prstGeom prst="rect">
            <a:avLst/>
          </a:prstGeom>
          <a:noFill/>
        </p:spPr>
        <p:txBody>
          <a:bodyPr wrap="square" anchor="t" lIns="0" rIns="0" tIns="0" bIns="0">
            <a:spAutoFit/>
          </a:bodyPr>
          <a:lstStyle/>
          <a:p>
            <a:pPr algn="l"/>
            <a:r>
              <a:rPr sz="950" b="0">
                <a:solidFill>
                  <a:srgbClr val="2B3147"/>
                </a:solidFill>
                <a:latin typeface="Calibri"/>
              </a:rPr>
              <a:t>July’s Meta reporting covers spend and delivery: impressions, reach, frequency, link clicks, CTR, CPC, CPM, landing-page views, placements and geo.</a:t>
            </a:r>
          </a:p>
          <a:p>
            <a:pPr algn="l">
              <a:spcBef>
                <a:spcPts val="600"/>
              </a:spcBef>
            </a:pPr>
            <a:r>
              <a:rPr sz="950" b="0">
                <a:solidFill>
                  <a:srgbClr val="2B3147"/>
                </a:solidFill>
                <a:latin typeface="Calibri"/>
              </a:rPr>
              <a:t>The platform reports 117 submitted-application pixel fires; that figure is Meta-reported and unvalidated, is not compared to Bing’s SA360-reported count, and carries no cost-per-application figure.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NATIVE &amp; DOOH  ·  NEW LINES</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First full month for both. Upper-funnel roles, reported on delivery.</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12 / 16</a:t>
            </a:r>
          </a:p>
        </p:txBody>
      </p:sp>
      <p:graphicFrame>
        <p:nvGraphicFramePr>
          <p:cNvPr id="10" name="Table 9"/>
          <p:cNvGraphicFramePr>
            <a:graphicFrameLocks noGrp="1"/>
          </p:cNvGraphicFramePr>
          <p:nvPr/>
        </p:nvGraphicFramePr>
        <p:xfrm>
          <a:off x="457200" y="1828800"/>
          <a:ext cx="6766560" cy="1600200"/>
        </p:xfrm>
        <a:graphic>
          <a:graphicData uri="http://schemas.openxmlformats.org/drawingml/2006/table">
            <a:tbl>
              <a:tblPr>
                <a:tableStyleId>{5C22544A-7EE6-4342-B048-85BDC9FD1C3A}</a:tableStyleId>
              </a:tblPr>
              <a:tblGrid>
                <a:gridCol w="3108960"/>
                <a:gridCol w="1188720"/>
                <a:gridCol w="1371600"/>
                <a:gridCol w="1097280"/>
              </a:tblGrid>
              <a:tr h="533400">
                <a:tc>
                  <a:txBody>
                    <a:bodyPr/>
                    <a:lstStyle/>
                    <a:p>
                      <a:pPr algn="l"/>
                      <a:r>
                        <a:rPr sz="850" b="1">
                          <a:solidFill>
                            <a:srgbClr val="FFFFFF"/>
                          </a:solidFill>
                          <a:latin typeface="Calibri"/>
                        </a:rPr>
                        <a:t>Line</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Impressions</a:t>
                      </a:r>
                    </a:p>
                  </a:txBody>
                  <a:tcPr marL="54864" marR="54864" marT="27432" marB="27432">
                    <a:solidFill>
                      <a:srgbClr val="1E2761"/>
                    </a:solidFill>
                  </a:tcPr>
                </a:tc>
                <a:tc>
                  <a:txBody>
                    <a:bodyPr/>
                    <a:lstStyle/>
                    <a:p>
                      <a:pPr algn="r"/>
                      <a:r>
                        <a:rPr sz="850" b="1">
                          <a:solidFill>
                            <a:srgbClr val="FFFFFF"/>
                          </a:solidFill>
                          <a:latin typeface="Calibri"/>
                        </a:rPr>
                        <a:t>Clicks</a:t>
                      </a:r>
                    </a:p>
                  </a:txBody>
                  <a:tcPr marL="54864" marR="54864" marT="27432" marB="27432">
                    <a:solidFill>
                      <a:srgbClr val="1E2761"/>
                    </a:solidFill>
                  </a:tcPr>
                </a:tc>
              </a:tr>
              <a:tr h="533400">
                <a:tc>
                  <a:txBody>
                    <a:bodyPr/>
                    <a:lstStyle/>
                    <a:p>
                      <a:pPr algn="l"/>
                      <a:r>
                        <a:rPr sz="850" b="1">
                          <a:solidFill>
                            <a:srgbClr val="2B3147"/>
                          </a:solidFill>
                          <a:latin typeface="Calibri"/>
                        </a:rPr>
                        <a:t>Native (Quantcast + Azerion)</a:t>
                      </a:r>
                    </a:p>
                  </a:txBody>
                  <a:tcPr marL="54864" marR="54864" marT="27432" marB="27432">
                    <a:solidFill>
                      <a:srgbClr val="FFFFFF"/>
                    </a:solidFill>
                  </a:tcPr>
                </a:tc>
                <a:tc>
                  <a:txBody>
                    <a:bodyPr/>
                    <a:lstStyle/>
                    <a:p>
                      <a:pPr algn="r"/>
                      <a:r>
                        <a:rPr sz="850" b="0">
                          <a:solidFill>
                            <a:srgbClr val="2B3147"/>
                          </a:solidFill>
                          <a:latin typeface="Calibri"/>
                        </a:rPr>
                        <a:t>$27,630</a:t>
                      </a:r>
                    </a:p>
                  </a:txBody>
                  <a:tcPr marL="54864" marR="54864" marT="27432" marB="27432">
                    <a:solidFill>
                      <a:srgbClr val="FFFFFF"/>
                    </a:solidFill>
                  </a:tcPr>
                </a:tc>
                <a:tc>
                  <a:txBody>
                    <a:bodyPr/>
                    <a:lstStyle/>
                    <a:p>
                      <a:pPr algn="r"/>
                      <a:r>
                        <a:rPr sz="850" b="0">
                          <a:solidFill>
                            <a:srgbClr val="2B3147"/>
                          </a:solidFill>
                          <a:latin typeface="Calibri"/>
                        </a:rPr>
                        <a:t>18.18M</a:t>
                      </a:r>
                    </a:p>
                  </a:txBody>
                  <a:tcPr marL="54864" marR="54864" marT="27432" marB="27432">
                    <a:solidFill>
                      <a:srgbClr val="FFFFFF"/>
                    </a:solidFill>
                  </a:tcPr>
                </a:tc>
                <a:tc>
                  <a:txBody>
                    <a:bodyPr/>
                    <a:lstStyle/>
                    <a:p>
                      <a:pPr algn="r"/>
                      <a:r>
                        <a:rPr sz="850" b="0">
                          <a:solidFill>
                            <a:srgbClr val="2B3147"/>
                          </a:solidFill>
                          <a:latin typeface="Calibri"/>
                        </a:rPr>
                        <a:t>9,953</a:t>
                      </a:r>
                    </a:p>
                  </a:txBody>
                  <a:tcPr marL="54864" marR="54864" marT="27432" marB="27432">
                    <a:solidFill>
                      <a:srgbClr val="FFFFFF"/>
                    </a:solidFill>
                  </a:tcPr>
                </a:tc>
              </a:tr>
              <a:tr h="533400">
                <a:tc>
                  <a:txBody>
                    <a:bodyPr/>
                    <a:lstStyle/>
                    <a:p>
                      <a:pPr algn="l"/>
                      <a:r>
                        <a:rPr sz="850" b="1">
                          <a:solidFill>
                            <a:srgbClr val="2B3147"/>
                          </a:solidFill>
                          <a:latin typeface="Calibri"/>
                        </a:rPr>
                        <a:t>DOOH (Perion)</a:t>
                      </a:r>
                    </a:p>
                  </a:txBody>
                  <a:tcPr marL="54864" marR="54864" marT="27432" marB="27432">
                    <a:solidFill>
                      <a:srgbClr val="F9FAFC"/>
                    </a:solidFill>
                  </a:tcPr>
                </a:tc>
                <a:tc>
                  <a:txBody>
                    <a:bodyPr/>
                    <a:lstStyle/>
                    <a:p>
                      <a:pPr algn="r"/>
                      <a:r>
                        <a:rPr sz="850" b="0">
                          <a:solidFill>
                            <a:srgbClr val="2B3147"/>
                          </a:solidFill>
                          <a:latin typeface="Calibri"/>
                        </a:rPr>
                        <a:t>$26,865</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c>
                  <a:txBody>
                    <a:bodyPr/>
                    <a:lstStyle/>
                    <a:p>
                      <a:pPr algn="r"/>
                      <a:r>
                        <a:rPr sz="850" b="0">
                          <a:solidFill>
                            <a:srgbClr val="2B3147"/>
                          </a:solidFill>
                          <a:latin typeface="Calibri"/>
                        </a:rPr>
                        <a:t>—</a:t>
                      </a:r>
                    </a:p>
                  </a:txBody>
                  <a:tcPr marL="54864" marR="54864" marT="27432" marB="27432">
                    <a:solidFill>
                      <a:srgbClr val="F9FAFC"/>
                    </a:solidFill>
                  </a:tcPr>
                </a:tc>
              </a:tr>
            </a:tbl>
          </a:graphicData>
        </a:graphic>
      </p:graphicFrame>
      <p:sp>
        <p:nvSpPr>
          <p:cNvPr id="11" name="TextBox 10"/>
          <p:cNvSpPr txBox="1"/>
          <p:nvPr/>
        </p:nvSpPr>
        <p:spPr>
          <a:xfrm>
            <a:off x="457200" y="3566160"/>
            <a:ext cx="6766560" cy="548640"/>
          </a:xfrm>
          <a:prstGeom prst="rect">
            <a:avLst/>
          </a:prstGeom>
          <a:noFill/>
        </p:spPr>
        <p:txBody>
          <a:bodyPr wrap="square" anchor="t" lIns="0" rIns="0" tIns="0" bIns="0">
            <a:spAutoFit/>
          </a:bodyPr>
          <a:lstStyle/>
          <a:p>
            <a:pPr algn="l"/>
            <a:r>
              <a:rPr sz="750" b="0">
                <a:solidFill>
                  <a:srgbClr val="5A6072"/>
                </a:solidFill>
                <a:latin typeface="Calibri"/>
              </a:rPr>
              <a:t>Native combines Quantcast’s dedicated native placement and Azerion’s native inventory. Azerion native viewability: 77.34%, clear of the 70% floor. DOOH delivery follows on the next slides.</a:t>
            </a:r>
          </a:p>
        </p:txBody>
      </p:sp>
      <p:sp>
        <p:nvSpPr>
          <p:cNvPr id="12" name="Rectangle 11"/>
          <p:cNvSpPr/>
          <p:nvPr/>
        </p:nvSpPr>
        <p:spPr>
          <a:xfrm>
            <a:off x="7406640" y="1828800"/>
            <a:ext cx="4297680" cy="292608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828800"/>
            <a:ext cx="64008" cy="292608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26096" y="1993392"/>
            <a:ext cx="3895344" cy="274320"/>
          </a:xfrm>
          <a:prstGeom prst="rect">
            <a:avLst/>
          </a:prstGeom>
          <a:noFill/>
        </p:spPr>
        <p:txBody>
          <a:bodyPr wrap="square" anchor="t" lIns="0" rIns="0" tIns="0" bIns="0">
            <a:spAutoFit/>
          </a:bodyPr>
          <a:lstStyle/>
          <a:p>
            <a:pPr algn="l"/>
            <a:r>
              <a:rPr sz="1000" b="1">
                <a:solidFill>
                  <a:srgbClr val="1E2761"/>
                </a:solidFill>
                <a:latin typeface="Georgia"/>
              </a:rPr>
              <a:t>HOW TO READ THE NEW LINES</a:t>
            </a:r>
          </a:p>
        </p:txBody>
      </p:sp>
      <p:sp>
        <p:nvSpPr>
          <p:cNvPr id="15" name="TextBox 14"/>
          <p:cNvSpPr txBox="1"/>
          <p:nvPr/>
        </p:nvSpPr>
        <p:spPr>
          <a:xfrm>
            <a:off x="7626096" y="2331720"/>
            <a:ext cx="3895344" cy="2240280"/>
          </a:xfrm>
          <a:prstGeom prst="rect">
            <a:avLst/>
          </a:prstGeom>
          <a:noFill/>
        </p:spPr>
        <p:txBody>
          <a:bodyPr wrap="square" anchor="t" lIns="0" rIns="0" tIns="0" bIns="0">
            <a:spAutoFit/>
          </a:bodyPr>
          <a:lstStyle/>
          <a:p>
            <a:pPr algn="l"/>
            <a:r>
              <a:rPr sz="950" b="0">
                <a:solidFill>
                  <a:srgbClr val="2B3147"/>
                </a:solidFill>
                <a:latin typeface="Calibri"/>
              </a:rPr>
              <a:t>Both are upper-funnel. Native carries a spend and delivery line with no conversion claim; DOOH delivery is reported on the two slides that follow.</a:t>
            </a:r>
          </a:p>
          <a:p>
            <a:pPr algn="l">
              <a:spcBef>
                <a:spcPts val="600"/>
              </a:spcBef>
            </a:pPr>
            <a:r>
              <a:rPr sz="950" b="0">
                <a:solidFill>
                  <a:srgbClr val="2B3147"/>
                </a:solidFill>
                <a:latin typeface="Calibri"/>
              </a:rPr>
              <a:t>Both gain a month-over-month read with a second month of data.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DIGITAL OUT-OF-HOME  ·  CAMPAIGN OVERVIEW</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One DOOH campaign across Mexico City, Guadalajara and Monterrey.</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13 / 16</a:t>
            </a:r>
          </a:p>
        </p:txBody>
      </p:sp>
      <p:sp>
        <p:nvSpPr>
          <p:cNvPr id="10" name="Rectangle 9"/>
          <p:cNvSpPr/>
          <p:nvPr/>
        </p:nvSpPr>
        <p:spPr>
          <a:xfrm>
            <a:off x="45720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TOTAL IMPRESSIONS</a:t>
            </a:r>
          </a:p>
        </p:txBody>
      </p:sp>
      <p:sp>
        <p:nvSpPr>
          <p:cNvPr id="13" name="TextBox 12"/>
          <p:cNvSpPr txBox="1"/>
          <p:nvPr/>
        </p:nvSpPr>
        <p:spPr>
          <a:xfrm>
            <a:off x="64008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1,406,105</a:t>
            </a:r>
          </a:p>
        </p:txBody>
      </p:sp>
      <p:sp>
        <p:nvSpPr>
          <p:cNvPr id="14" name="TextBox 13"/>
          <p:cNvSpPr txBox="1"/>
          <p:nvPr/>
        </p:nvSpPr>
        <p:spPr>
          <a:xfrm>
            <a:off x="64008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opportunities to see</a:t>
            </a:r>
          </a:p>
        </p:txBody>
      </p:sp>
      <p:sp>
        <p:nvSpPr>
          <p:cNvPr id="15" name="Rectangle 14"/>
          <p:cNvSpPr/>
          <p:nvPr/>
        </p:nvSpPr>
        <p:spPr>
          <a:xfrm>
            <a:off x="2359152"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59152"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2032"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ESTIMATED REACH</a:t>
            </a:r>
          </a:p>
        </p:txBody>
      </p:sp>
      <p:sp>
        <p:nvSpPr>
          <p:cNvPr id="18" name="TextBox 17"/>
          <p:cNvSpPr txBox="1"/>
          <p:nvPr/>
        </p:nvSpPr>
        <p:spPr>
          <a:xfrm>
            <a:off x="2542032"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781,169</a:t>
            </a:r>
          </a:p>
        </p:txBody>
      </p:sp>
      <p:sp>
        <p:nvSpPr>
          <p:cNvPr id="19" name="TextBox 18"/>
          <p:cNvSpPr txBox="1"/>
          <p:nvPr/>
        </p:nvSpPr>
        <p:spPr>
          <a:xfrm>
            <a:off x="2542032"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unique audience, modeled</a:t>
            </a:r>
          </a:p>
        </p:txBody>
      </p:sp>
      <p:sp>
        <p:nvSpPr>
          <p:cNvPr id="20" name="Rectangle 19"/>
          <p:cNvSpPr/>
          <p:nvPr/>
        </p:nvSpPr>
        <p:spPr>
          <a:xfrm>
            <a:off x="4261104"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61104"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3984"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INVESTMENT</a:t>
            </a:r>
          </a:p>
        </p:txBody>
      </p:sp>
      <p:sp>
        <p:nvSpPr>
          <p:cNvPr id="23" name="TextBox 22"/>
          <p:cNvSpPr txBox="1"/>
          <p:nvPr/>
        </p:nvSpPr>
        <p:spPr>
          <a:xfrm>
            <a:off x="4443984"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$26,865</a:t>
            </a:r>
          </a:p>
        </p:txBody>
      </p:sp>
      <p:sp>
        <p:nvSpPr>
          <p:cNvPr id="24" name="TextBox 23"/>
          <p:cNvSpPr txBox="1"/>
          <p:nvPr/>
        </p:nvSpPr>
        <p:spPr>
          <a:xfrm>
            <a:off x="4443984"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Jul 1–31</a:t>
            </a:r>
          </a:p>
        </p:txBody>
      </p:sp>
      <p:sp>
        <p:nvSpPr>
          <p:cNvPr id="25" name="Rectangle 24"/>
          <p:cNvSpPr/>
          <p:nvPr/>
        </p:nvSpPr>
        <p:spPr>
          <a:xfrm>
            <a:off x="6163056"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3056"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5936"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CPM</a:t>
            </a:r>
          </a:p>
        </p:txBody>
      </p:sp>
      <p:sp>
        <p:nvSpPr>
          <p:cNvPr id="28" name="TextBox 27"/>
          <p:cNvSpPr txBox="1"/>
          <p:nvPr/>
        </p:nvSpPr>
        <p:spPr>
          <a:xfrm>
            <a:off x="6345936"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$19</a:t>
            </a:r>
          </a:p>
        </p:txBody>
      </p:sp>
      <p:sp>
        <p:nvSpPr>
          <p:cNvPr id="29" name="TextBox 28"/>
          <p:cNvSpPr txBox="1"/>
          <p:nvPr/>
        </p:nvSpPr>
        <p:spPr>
          <a:xfrm>
            <a:off x="6345936"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USD per thousand</a:t>
            </a:r>
          </a:p>
        </p:txBody>
      </p:sp>
      <p:sp>
        <p:nvSpPr>
          <p:cNvPr id="30" name="Rectangle 29"/>
          <p:cNvSpPr/>
          <p:nvPr/>
        </p:nvSpPr>
        <p:spPr>
          <a:xfrm>
            <a:off x="8065008"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065008"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AD PLAYS</a:t>
            </a:r>
          </a:p>
        </p:txBody>
      </p:sp>
      <p:sp>
        <p:nvSpPr>
          <p:cNvPr id="33" name="TextBox 32"/>
          <p:cNvSpPr txBox="1"/>
          <p:nvPr/>
        </p:nvSpPr>
        <p:spPr>
          <a:xfrm>
            <a:off x="8247888"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126,121</a:t>
            </a:r>
          </a:p>
        </p:txBody>
      </p:sp>
      <p:sp>
        <p:nvSpPr>
          <p:cNvPr id="34" name="TextBox 33"/>
          <p:cNvSpPr txBox="1"/>
          <p:nvPr/>
        </p:nvSpPr>
        <p:spPr>
          <a:xfrm>
            <a:off x="8247888"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all 31 days</a:t>
            </a:r>
          </a:p>
        </p:txBody>
      </p:sp>
      <p:graphicFrame>
        <p:nvGraphicFramePr>
          <p:cNvPr id="35" name="Table 34"/>
          <p:cNvGraphicFramePr>
            <a:graphicFrameLocks noGrp="1"/>
          </p:cNvGraphicFramePr>
          <p:nvPr/>
        </p:nvGraphicFramePr>
        <p:xfrm>
          <a:off x="457200" y="3063240"/>
          <a:ext cx="5577840" cy="2286000"/>
        </p:xfrm>
        <a:graphic>
          <a:graphicData uri="http://schemas.openxmlformats.org/drawingml/2006/table">
            <a:tbl>
              <a:tblPr>
                <a:tableStyleId>{5C22544A-7EE6-4342-B048-85BDC9FD1C3A}</a:tableStyleId>
              </a:tblPr>
              <a:tblGrid>
                <a:gridCol w="1554480"/>
                <a:gridCol w="4023360"/>
              </a:tblGrid>
              <a:tr h="381000">
                <a:tc>
                  <a:txBody>
                    <a:bodyPr/>
                    <a:lstStyle/>
                    <a:p>
                      <a:pPr algn="l"/>
                      <a:r>
                        <a:rPr sz="850" b="1">
                          <a:solidFill>
                            <a:srgbClr val="FFFFFF"/>
                          </a:solidFill>
                          <a:latin typeface="Calibri"/>
                        </a:rPr>
                        <a:t>Parameter</a:t>
                      </a:r>
                    </a:p>
                  </a:txBody>
                  <a:tcPr marL="54864" marR="54864" marT="27432" marB="27432">
                    <a:solidFill>
                      <a:srgbClr val="1E2761"/>
                    </a:solidFill>
                  </a:tcPr>
                </a:tc>
                <a:tc>
                  <a:txBody>
                    <a:bodyPr/>
                    <a:lstStyle/>
                    <a:p>
                      <a:pPr algn="r"/>
                      <a:r>
                        <a:rPr sz="850" b="1">
                          <a:solidFill>
                            <a:srgbClr val="FFFFFF"/>
                          </a:solidFill>
                          <a:latin typeface="Calibri"/>
                        </a:rPr>
                        <a:t>Detail</a:t>
                      </a:r>
                    </a:p>
                  </a:txBody>
                  <a:tcPr marL="54864" marR="54864" marT="27432" marB="27432">
                    <a:solidFill>
                      <a:srgbClr val="1E2761"/>
                    </a:solidFill>
                  </a:tcPr>
                </a:tc>
              </a:tr>
              <a:tr h="381000">
                <a:tc>
                  <a:txBody>
                    <a:bodyPr/>
                    <a:lstStyle/>
                    <a:p>
                      <a:pPr algn="l"/>
                      <a:r>
                        <a:rPr sz="850" b="1">
                          <a:solidFill>
                            <a:srgbClr val="2B3147"/>
                          </a:solidFill>
                          <a:latin typeface="Calibri"/>
                        </a:rPr>
                        <a:t>Markets</a:t>
                      </a:r>
                    </a:p>
                  </a:txBody>
                  <a:tcPr marL="54864" marR="54864" marT="27432" marB="27432">
                    <a:solidFill>
                      <a:srgbClr val="FFFFFF"/>
                    </a:solidFill>
                  </a:tcPr>
                </a:tc>
                <a:tc>
                  <a:txBody>
                    <a:bodyPr/>
                    <a:lstStyle/>
                    <a:p>
                      <a:pPr algn="r"/>
                      <a:r>
                        <a:rPr sz="850" b="0">
                          <a:solidFill>
                            <a:srgbClr val="2B3147"/>
                          </a:solidFill>
                          <a:latin typeface="Calibri"/>
                        </a:rPr>
                        <a:t>Mexico City, Guadalajara, Monterrey</a:t>
                      </a:r>
                    </a:p>
                  </a:txBody>
                  <a:tcPr marL="54864" marR="54864" marT="27432" marB="27432">
                    <a:solidFill>
                      <a:srgbClr val="FFFFFF"/>
                    </a:solidFill>
                  </a:tcPr>
                </a:tc>
              </a:tr>
              <a:tr h="381000">
                <a:tc>
                  <a:txBody>
                    <a:bodyPr/>
                    <a:lstStyle/>
                    <a:p>
                      <a:pPr algn="l"/>
                      <a:r>
                        <a:rPr sz="850" b="1">
                          <a:solidFill>
                            <a:srgbClr val="2B3147"/>
                          </a:solidFill>
                          <a:latin typeface="Calibri"/>
                        </a:rPr>
                        <a:t>Flight</a:t>
                      </a:r>
                    </a:p>
                  </a:txBody>
                  <a:tcPr marL="54864" marR="54864" marT="27432" marB="27432">
                    <a:solidFill>
                      <a:srgbClr val="F9FAFC"/>
                    </a:solidFill>
                  </a:tcPr>
                </a:tc>
                <a:tc>
                  <a:txBody>
                    <a:bodyPr/>
                    <a:lstStyle/>
                    <a:p>
                      <a:pPr algn="r"/>
                      <a:r>
                        <a:rPr sz="850" b="0">
                          <a:solidFill>
                            <a:srgbClr val="2B3147"/>
                          </a:solidFill>
                          <a:latin typeface="Calibri"/>
                        </a:rPr>
                        <a:t>July 1–31, 2026</a:t>
                      </a:r>
                    </a:p>
                  </a:txBody>
                  <a:tcPr marL="54864" marR="54864" marT="27432" marB="27432">
                    <a:solidFill>
                      <a:srgbClr val="F9FAFC"/>
                    </a:solidFill>
                  </a:tcPr>
                </a:tc>
              </a:tr>
              <a:tr h="381000">
                <a:tc>
                  <a:txBody>
                    <a:bodyPr/>
                    <a:lstStyle/>
                    <a:p>
                      <a:pPr algn="l"/>
                      <a:r>
                        <a:rPr sz="850" b="1">
                          <a:solidFill>
                            <a:srgbClr val="2B3147"/>
                          </a:solidFill>
                          <a:latin typeface="Calibri"/>
                        </a:rPr>
                        <a:t>Media</a:t>
                      </a:r>
                    </a:p>
                  </a:txBody>
                  <a:tcPr marL="54864" marR="54864" marT="27432" marB="27432">
                    <a:solidFill>
                      <a:srgbClr val="FFFFFF"/>
                    </a:solidFill>
                  </a:tcPr>
                </a:tc>
                <a:tc>
                  <a:txBody>
                    <a:bodyPr/>
                    <a:lstStyle/>
                    <a:p>
                      <a:pPr algn="r"/>
                      <a:r>
                        <a:rPr sz="850" b="0">
                          <a:solidFill>
                            <a:srgbClr val="2B3147"/>
                          </a:solidFill>
                          <a:latin typeface="Calibri"/>
                        </a:rPr>
                        <a:t>Digital screens and bulletins</a:t>
                      </a:r>
                    </a:p>
                  </a:txBody>
                  <a:tcPr marL="54864" marR="54864" marT="27432" marB="27432">
                    <a:solidFill>
                      <a:srgbClr val="FFFFFF"/>
                    </a:solidFill>
                  </a:tcPr>
                </a:tc>
              </a:tr>
              <a:tr h="381000">
                <a:tc>
                  <a:txBody>
                    <a:bodyPr/>
                    <a:lstStyle/>
                    <a:p>
                      <a:pPr algn="l"/>
                      <a:r>
                        <a:rPr sz="850" b="1">
                          <a:solidFill>
                            <a:srgbClr val="2B3147"/>
                          </a:solidFill>
                          <a:latin typeface="Calibri"/>
                        </a:rPr>
                        <a:t>Creative</a:t>
                      </a:r>
                    </a:p>
                  </a:txBody>
                  <a:tcPr marL="54864" marR="54864" marT="27432" marB="27432">
                    <a:solidFill>
                      <a:srgbClr val="F9FAFC"/>
                    </a:solidFill>
                  </a:tcPr>
                </a:tc>
                <a:tc>
                  <a:txBody>
                    <a:bodyPr/>
                    <a:lstStyle/>
                    <a:p>
                      <a:pPr algn="r"/>
                      <a:r>
                        <a:rPr sz="850" b="0">
                          <a:solidFill>
                            <a:srgbClr val="2B3147"/>
                          </a:solidFill>
                          <a:latin typeface="Calibri"/>
                        </a:rPr>
                        <a:t>Commodities theme, Spanish</a:t>
                      </a:r>
                    </a:p>
                  </a:txBody>
                  <a:tcPr marL="54864" marR="54864" marT="27432" marB="27432">
                    <a:solidFill>
                      <a:srgbClr val="F9FAFC"/>
                    </a:solidFill>
                  </a:tcPr>
                </a:tc>
              </a:tr>
              <a:tr h="381000">
                <a:tc>
                  <a:txBody>
                    <a:bodyPr/>
                    <a:lstStyle/>
                    <a:p>
                      <a:pPr algn="l"/>
                      <a:r>
                        <a:rPr sz="850" b="1">
                          <a:solidFill>
                            <a:srgbClr val="2B3147"/>
                          </a:solidFill>
                          <a:latin typeface="Calibri"/>
                        </a:rPr>
                        <a:t>Formats</a:t>
                      </a:r>
                    </a:p>
                  </a:txBody>
                  <a:tcPr marL="54864" marR="54864" marT="27432" marB="27432">
                    <a:solidFill>
                      <a:srgbClr val="FFFFFF"/>
                    </a:solidFill>
                  </a:tcPr>
                </a:tc>
                <a:tc>
                  <a:txBody>
                    <a:bodyPr/>
                    <a:lstStyle/>
                    <a:p>
                      <a:pPr algn="r"/>
                      <a:r>
                        <a:rPr sz="850" b="0">
                          <a:solidFill>
                            <a:srgbClr val="2B3147"/>
                          </a:solidFill>
                          <a:latin typeface="Calibri"/>
                        </a:rPr>
                        <a:t>10s and 15s video, static image</a:t>
                      </a:r>
                    </a:p>
                  </a:txBody>
                  <a:tcPr marL="54864" marR="54864" marT="27432" marB="27432">
                    <a:solidFill>
                      <a:srgbClr val="FFFFFF"/>
                    </a:solidFill>
                  </a:tcPr>
                </a:tc>
              </a:tr>
            </a:tbl>
          </a:graphicData>
        </a:graphic>
      </p:graphicFrame>
      <p:sp>
        <p:nvSpPr>
          <p:cNvPr id="36" name="Rectangle 35"/>
          <p:cNvSpPr/>
          <p:nvPr/>
        </p:nvSpPr>
        <p:spPr>
          <a:xfrm>
            <a:off x="6309360" y="3063240"/>
            <a:ext cx="5394960" cy="301752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09360" y="3063240"/>
            <a:ext cx="64008" cy="301752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28816" y="3227832"/>
            <a:ext cx="4992624" cy="274320"/>
          </a:xfrm>
          <a:prstGeom prst="rect">
            <a:avLst/>
          </a:prstGeom>
          <a:noFill/>
        </p:spPr>
        <p:txBody>
          <a:bodyPr wrap="square" anchor="t" lIns="0" rIns="0" tIns="0" bIns="0">
            <a:spAutoFit/>
          </a:bodyPr>
          <a:lstStyle/>
          <a:p>
            <a:pPr algn="l"/>
            <a:r>
              <a:rPr sz="1000" b="1">
                <a:solidFill>
                  <a:srgbClr val="1E2761"/>
                </a:solidFill>
                <a:latin typeface="Georgia"/>
              </a:rPr>
              <a:t>CAMPAIGN TAKEAWAY</a:t>
            </a:r>
          </a:p>
        </p:txBody>
      </p:sp>
      <p:sp>
        <p:nvSpPr>
          <p:cNvPr id="39" name="TextBox 38"/>
          <p:cNvSpPr txBox="1"/>
          <p:nvPr/>
        </p:nvSpPr>
        <p:spPr>
          <a:xfrm>
            <a:off x="6528816" y="3566160"/>
            <a:ext cx="4992624" cy="2331720"/>
          </a:xfrm>
          <a:prstGeom prst="rect">
            <a:avLst/>
          </a:prstGeom>
          <a:noFill/>
        </p:spPr>
        <p:txBody>
          <a:bodyPr wrap="square" anchor="t" lIns="0" rIns="0" tIns="0" bIns="0">
            <a:spAutoFit/>
          </a:bodyPr>
          <a:lstStyle/>
          <a:p>
            <a:pPr algn="l"/>
            <a:r>
              <a:rPr sz="950" b="0">
                <a:solidFill>
                  <a:srgbClr val="2B3147"/>
                </a:solidFill>
                <a:latin typeface="Calibri"/>
              </a:rPr>
              <a:t>The campaign ran all 31 days across the same three markets as June, on the commodities creative theme in Spanish.</a:t>
            </a:r>
          </a:p>
          <a:p>
            <a:pPr algn="l">
              <a:spcBef>
                <a:spcPts val="600"/>
              </a:spcBef>
            </a:pPr>
            <a:r>
              <a:rPr sz="950" b="0">
                <a:solidFill>
                  <a:srgbClr val="2B3147"/>
                </a:solidFill>
                <a:latin typeface="Calibri"/>
              </a:rPr>
              <a:t>Mexico City carried 59% of delivery, with Guadalajara and Monterrey splitting the balance.</a:t>
            </a:r>
          </a:p>
          <a:p>
            <a:pPr algn="l">
              <a:spcBef>
                <a:spcPts val="600"/>
              </a:spcBef>
            </a:pPr>
            <a:r>
              <a:rPr sz="950" b="0">
                <a:solidFill>
                  <a:srgbClr val="2B3147"/>
                </a:solidFill>
                <a:latin typeface="Calibri"/>
              </a:rPr>
              <a:t>A second full month of delivery gives the line its first month-over-month read in the August report.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DIGITAL OUT-OF-HOME  ·  DELIVERY BY CITY</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Mexico City carried 59% of July delivery.</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14 / 16</a:t>
            </a:r>
          </a:p>
        </p:txBody>
      </p:sp>
      <p:sp>
        <p:nvSpPr>
          <p:cNvPr id="10" name="Rectangle 9"/>
          <p:cNvSpPr/>
          <p:nvPr/>
        </p:nvSpPr>
        <p:spPr>
          <a:xfrm>
            <a:off x="45720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MEXICO CITY</a:t>
            </a:r>
          </a:p>
        </p:txBody>
      </p:sp>
      <p:sp>
        <p:nvSpPr>
          <p:cNvPr id="13" name="TextBox 12"/>
          <p:cNvSpPr txBox="1"/>
          <p:nvPr/>
        </p:nvSpPr>
        <p:spPr>
          <a:xfrm>
            <a:off x="64008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825,383</a:t>
            </a:r>
          </a:p>
        </p:txBody>
      </p:sp>
      <p:sp>
        <p:nvSpPr>
          <p:cNvPr id="14" name="TextBox 13"/>
          <p:cNvSpPr txBox="1"/>
          <p:nvPr/>
        </p:nvSpPr>
        <p:spPr>
          <a:xfrm>
            <a:off x="64008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459K reach · 59%</a:t>
            </a:r>
          </a:p>
        </p:txBody>
      </p:sp>
      <p:sp>
        <p:nvSpPr>
          <p:cNvPr id="15" name="Rectangle 14"/>
          <p:cNvSpPr/>
          <p:nvPr/>
        </p:nvSpPr>
        <p:spPr>
          <a:xfrm>
            <a:off x="2359152"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59152"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2032"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GUADALAJARA</a:t>
            </a:r>
          </a:p>
        </p:txBody>
      </p:sp>
      <p:sp>
        <p:nvSpPr>
          <p:cNvPr id="18" name="TextBox 17"/>
          <p:cNvSpPr txBox="1"/>
          <p:nvPr/>
        </p:nvSpPr>
        <p:spPr>
          <a:xfrm>
            <a:off x="2542032"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314,817</a:t>
            </a:r>
          </a:p>
        </p:txBody>
      </p:sp>
      <p:sp>
        <p:nvSpPr>
          <p:cNvPr id="19" name="TextBox 18"/>
          <p:cNvSpPr txBox="1"/>
          <p:nvPr/>
        </p:nvSpPr>
        <p:spPr>
          <a:xfrm>
            <a:off x="2542032"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175K reach · 22%</a:t>
            </a:r>
          </a:p>
        </p:txBody>
      </p:sp>
      <p:sp>
        <p:nvSpPr>
          <p:cNvPr id="20" name="Rectangle 19"/>
          <p:cNvSpPr/>
          <p:nvPr/>
        </p:nvSpPr>
        <p:spPr>
          <a:xfrm>
            <a:off x="4261104"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61104"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3984"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MONTERREY</a:t>
            </a:r>
          </a:p>
        </p:txBody>
      </p:sp>
      <p:sp>
        <p:nvSpPr>
          <p:cNvPr id="23" name="TextBox 22"/>
          <p:cNvSpPr txBox="1"/>
          <p:nvPr/>
        </p:nvSpPr>
        <p:spPr>
          <a:xfrm>
            <a:off x="4443984"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265,905</a:t>
            </a:r>
          </a:p>
        </p:txBody>
      </p:sp>
      <p:sp>
        <p:nvSpPr>
          <p:cNvPr id="24" name="TextBox 23"/>
          <p:cNvSpPr txBox="1"/>
          <p:nvPr/>
        </p:nvSpPr>
        <p:spPr>
          <a:xfrm>
            <a:off x="4443984"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148K reach · 19%</a:t>
            </a:r>
          </a:p>
        </p:txBody>
      </p:sp>
      <p:sp>
        <p:nvSpPr>
          <p:cNvPr id="25" name="Rectangle 24"/>
          <p:cNvSpPr/>
          <p:nvPr/>
        </p:nvSpPr>
        <p:spPr>
          <a:xfrm>
            <a:off x="6163056"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3056"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5936"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TOTAL</a:t>
            </a:r>
          </a:p>
        </p:txBody>
      </p:sp>
      <p:sp>
        <p:nvSpPr>
          <p:cNvPr id="28" name="TextBox 27"/>
          <p:cNvSpPr txBox="1"/>
          <p:nvPr/>
        </p:nvSpPr>
        <p:spPr>
          <a:xfrm>
            <a:off x="6345936"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1,406,105</a:t>
            </a:r>
          </a:p>
        </p:txBody>
      </p:sp>
      <p:sp>
        <p:nvSpPr>
          <p:cNvPr id="29" name="TextBox 28"/>
          <p:cNvSpPr txBox="1"/>
          <p:nvPr/>
        </p:nvSpPr>
        <p:spPr>
          <a:xfrm>
            <a:off x="6345936"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781K reach · 100%</a:t>
            </a:r>
          </a:p>
        </p:txBody>
      </p:sp>
      <p:graphicFrame>
        <p:nvGraphicFramePr>
          <p:cNvPr id="30" name="Table 29"/>
          <p:cNvGraphicFramePr>
            <a:graphicFrameLocks noGrp="1"/>
          </p:cNvGraphicFramePr>
          <p:nvPr/>
        </p:nvGraphicFramePr>
        <p:xfrm>
          <a:off x="457200" y="3063240"/>
          <a:ext cx="6766560" cy="2011680"/>
        </p:xfrm>
        <a:graphic>
          <a:graphicData uri="http://schemas.openxmlformats.org/drawingml/2006/table">
            <a:tbl>
              <a:tblPr>
                <a:tableStyleId>{5C22544A-7EE6-4342-B048-85BDC9FD1C3A}</a:tableStyleId>
              </a:tblPr>
              <a:tblGrid>
                <a:gridCol w="1645920"/>
                <a:gridCol w="1188720"/>
                <a:gridCol w="1463040"/>
                <a:gridCol w="1371600"/>
                <a:gridCol w="1097280"/>
              </a:tblGrid>
              <a:tr h="402336">
                <a:tc>
                  <a:txBody>
                    <a:bodyPr/>
                    <a:lstStyle/>
                    <a:p>
                      <a:pPr algn="l"/>
                      <a:r>
                        <a:rPr sz="850" b="1">
                          <a:solidFill>
                            <a:srgbClr val="FFFFFF"/>
                          </a:solidFill>
                          <a:latin typeface="Calibri"/>
                        </a:rPr>
                        <a:t>City</a:t>
                      </a:r>
                    </a:p>
                  </a:txBody>
                  <a:tcPr marL="54864" marR="54864" marT="27432" marB="27432">
                    <a:solidFill>
                      <a:srgbClr val="1E2761"/>
                    </a:solidFill>
                  </a:tcPr>
                </a:tc>
                <a:tc>
                  <a:txBody>
                    <a:bodyPr/>
                    <a:lstStyle/>
                    <a:p>
                      <a:pPr algn="r"/>
                      <a:r>
                        <a:rPr sz="850" b="1">
                          <a:solidFill>
                            <a:srgbClr val="FFFFFF"/>
                          </a:solidFill>
                          <a:latin typeface="Calibri"/>
                        </a:rPr>
                        <a:t>Spend</a:t>
                      </a:r>
                    </a:p>
                  </a:txBody>
                  <a:tcPr marL="54864" marR="54864" marT="27432" marB="27432">
                    <a:solidFill>
                      <a:srgbClr val="1E2761"/>
                    </a:solidFill>
                  </a:tcPr>
                </a:tc>
                <a:tc>
                  <a:txBody>
                    <a:bodyPr/>
                    <a:lstStyle/>
                    <a:p>
                      <a:pPr algn="r"/>
                      <a:r>
                        <a:rPr sz="850" b="1">
                          <a:solidFill>
                            <a:srgbClr val="FFFFFF"/>
                          </a:solidFill>
                          <a:latin typeface="Calibri"/>
                        </a:rPr>
                        <a:t>Impressions</a:t>
                      </a:r>
                    </a:p>
                  </a:txBody>
                  <a:tcPr marL="54864" marR="54864" marT="27432" marB="27432">
                    <a:solidFill>
                      <a:srgbClr val="1E2761"/>
                    </a:solidFill>
                  </a:tcPr>
                </a:tc>
                <a:tc>
                  <a:txBody>
                    <a:bodyPr/>
                    <a:lstStyle/>
                    <a:p>
                      <a:pPr algn="r"/>
                      <a:r>
                        <a:rPr sz="850" b="1">
                          <a:solidFill>
                            <a:srgbClr val="FFFFFF"/>
                          </a:solidFill>
                          <a:latin typeface="Calibri"/>
                        </a:rPr>
                        <a:t>Est. reach</a:t>
                      </a:r>
                    </a:p>
                  </a:txBody>
                  <a:tcPr marL="54864" marR="54864" marT="27432" marB="27432">
                    <a:solidFill>
                      <a:srgbClr val="1E2761"/>
                    </a:solidFill>
                  </a:tcPr>
                </a:tc>
                <a:tc>
                  <a:txBody>
                    <a:bodyPr/>
                    <a:lstStyle/>
                    <a:p>
                      <a:pPr algn="r"/>
                      <a:r>
                        <a:rPr sz="850" b="1">
                          <a:solidFill>
                            <a:srgbClr val="FFFFFF"/>
                          </a:solidFill>
                          <a:latin typeface="Calibri"/>
                        </a:rPr>
                        <a:t>Share</a:t>
                      </a:r>
                    </a:p>
                  </a:txBody>
                  <a:tcPr marL="54864" marR="54864" marT="27432" marB="27432">
                    <a:solidFill>
                      <a:srgbClr val="1E2761"/>
                    </a:solidFill>
                  </a:tcPr>
                </a:tc>
              </a:tr>
              <a:tr h="402336">
                <a:tc>
                  <a:txBody>
                    <a:bodyPr/>
                    <a:lstStyle/>
                    <a:p>
                      <a:pPr algn="l"/>
                      <a:r>
                        <a:rPr sz="850" b="1">
                          <a:solidFill>
                            <a:srgbClr val="2B3147"/>
                          </a:solidFill>
                          <a:latin typeface="Calibri"/>
                        </a:rPr>
                        <a:t>Mexico City</a:t>
                      </a:r>
                    </a:p>
                  </a:txBody>
                  <a:tcPr marL="54864" marR="54864" marT="27432" marB="27432">
                    <a:solidFill>
                      <a:srgbClr val="FFFFFF"/>
                    </a:solidFill>
                  </a:tcPr>
                </a:tc>
                <a:tc>
                  <a:txBody>
                    <a:bodyPr/>
                    <a:lstStyle/>
                    <a:p>
                      <a:pPr algn="r"/>
                      <a:r>
                        <a:rPr sz="850" b="0">
                          <a:solidFill>
                            <a:srgbClr val="2B3147"/>
                          </a:solidFill>
                          <a:latin typeface="Calibri"/>
                        </a:rPr>
                        <a:t>$15,724</a:t>
                      </a:r>
                    </a:p>
                  </a:txBody>
                  <a:tcPr marL="54864" marR="54864" marT="27432" marB="27432">
                    <a:solidFill>
                      <a:srgbClr val="FFFFFF"/>
                    </a:solidFill>
                  </a:tcPr>
                </a:tc>
                <a:tc>
                  <a:txBody>
                    <a:bodyPr/>
                    <a:lstStyle/>
                    <a:p>
                      <a:pPr algn="r"/>
                      <a:r>
                        <a:rPr sz="850" b="0">
                          <a:solidFill>
                            <a:srgbClr val="2B3147"/>
                          </a:solidFill>
                          <a:latin typeface="Calibri"/>
                        </a:rPr>
                        <a:t>825,383</a:t>
                      </a:r>
                    </a:p>
                  </a:txBody>
                  <a:tcPr marL="54864" marR="54864" marT="27432" marB="27432">
                    <a:solidFill>
                      <a:srgbClr val="FFFFFF"/>
                    </a:solidFill>
                  </a:tcPr>
                </a:tc>
                <a:tc>
                  <a:txBody>
                    <a:bodyPr/>
                    <a:lstStyle/>
                    <a:p>
                      <a:pPr algn="r"/>
                      <a:r>
                        <a:rPr sz="850" b="0">
                          <a:solidFill>
                            <a:srgbClr val="2B3147"/>
                          </a:solidFill>
                          <a:latin typeface="Calibri"/>
                        </a:rPr>
                        <a:t>458,546</a:t>
                      </a:r>
                    </a:p>
                  </a:txBody>
                  <a:tcPr marL="54864" marR="54864" marT="27432" marB="27432">
                    <a:solidFill>
                      <a:srgbClr val="FFFFFF"/>
                    </a:solidFill>
                  </a:tcPr>
                </a:tc>
                <a:tc>
                  <a:txBody>
                    <a:bodyPr/>
                    <a:lstStyle/>
                    <a:p>
                      <a:pPr algn="r"/>
                      <a:r>
                        <a:rPr sz="850" b="0">
                          <a:solidFill>
                            <a:srgbClr val="2B3147"/>
                          </a:solidFill>
                          <a:latin typeface="Calibri"/>
                        </a:rPr>
                        <a:t>58.7%</a:t>
                      </a:r>
                    </a:p>
                  </a:txBody>
                  <a:tcPr marL="54864" marR="54864" marT="27432" marB="27432">
                    <a:solidFill>
                      <a:srgbClr val="FFFFFF"/>
                    </a:solidFill>
                  </a:tcPr>
                </a:tc>
              </a:tr>
              <a:tr h="402336">
                <a:tc>
                  <a:txBody>
                    <a:bodyPr/>
                    <a:lstStyle/>
                    <a:p>
                      <a:pPr algn="l"/>
                      <a:r>
                        <a:rPr sz="850" b="1">
                          <a:solidFill>
                            <a:srgbClr val="2B3147"/>
                          </a:solidFill>
                          <a:latin typeface="Calibri"/>
                        </a:rPr>
                        <a:t>Guadalajara</a:t>
                      </a:r>
                    </a:p>
                  </a:txBody>
                  <a:tcPr marL="54864" marR="54864" marT="27432" marB="27432">
                    <a:solidFill>
                      <a:srgbClr val="F9FAFC"/>
                    </a:solidFill>
                  </a:tcPr>
                </a:tc>
                <a:tc>
                  <a:txBody>
                    <a:bodyPr/>
                    <a:lstStyle/>
                    <a:p>
                      <a:pPr algn="r"/>
                      <a:r>
                        <a:rPr sz="850" b="0">
                          <a:solidFill>
                            <a:srgbClr val="2B3147"/>
                          </a:solidFill>
                          <a:latin typeface="Calibri"/>
                        </a:rPr>
                        <a:t>$6,040</a:t>
                      </a:r>
                    </a:p>
                  </a:txBody>
                  <a:tcPr marL="54864" marR="54864" marT="27432" marB="27432">
                    <a:solidFill>
                      <a:srgbClr val="F9FAFC"/>
                    </a:solidFill>
                  </a:tcPr>
                </a:tc>
                <a:tc>
                  <a:txBody>
                    <a:bodyPr/>
                    <a:lstStyle/>
                    <a:p>
                      <a:pPr algn="r"/>
                      <a:r>
                        <a:rPr sz="850" b="0">
                          <a:solidFill>
                            <a:srgbClr val="2B3147"/>
                          </a:solidFill>
                          <a:latin typeface="Calibri"/>
                        </a:rPr>
                        <a:t>314,817</a:t>
                      </a:r>
                    </a:p>
                  </a:txBody>
                  <a:tcPr marL="54864" marR="54864" marT="27432" marB="27432">
                    <a:solidFill>
                      <a:srgbClr val="F9FAFC"/>
                    </a:solidFill>
                  </a:tcPr>
                </a:tc>
                <a:tc>
                  <a:txBody>
                    <a:bodyPr/>
                    <a:lstStyle/>
                    <a:p>
                      <a:pPr algn="r"/>
                      <a:r>
                        <a:rPr sz="850" b="0">
                          <a:solidFill>
                            <a:srgbClr val="2B3147"/>
                          </a:solidFill>
                          <a:latin typeface="Calibri"/>
                        </a:rPr>
                        <a:t>174,898</a:t>
                      </a:r>
                    </a:p>
                  </a:txBody>
                  <a:tcPr marL="54864" marR="54864" marT="27432" marB="27432">
                    <a:solidFill>
                      <a:srgbClr val="F9FAFC"/>
                    </a:solidFill>
                  </a:tcPr>
                </a:tc>
                <a:tc>
                  <a:txBody>
                    <a:bodyPr/>
                    <a:lstStyle/>
                    <a:p>
                      <a:pPr algn="r"/>
                      <a:r>
                        <a:rPr sz="850" b="0">
                          <a:solidFill>
                            <a:srgbClr val="2B3147"/>
                          </a:solidFill>
                          <a:latin typeface="Calibri"/>
                        </a:rPr>
                        <a:t>22.4%</a:t>
                      </a:r>
                    </a:p>
                  </a:txBody>
                  <a:tcPr marL="54864" marR="54864" marT="27432" marB="27432">
                    <a:solidFill>
                      <a:srgbClr val="F9FAFC"/>
                    </a:solidFill>
                  </a:tcPr>
                </a:tc>
              </a:tr>
              <a:tr h="402336">
                <a:tc>
                  <a:txBody>
                    <a:bodyPr/>
                    <a:lstStyle/>
                    <a:p>
                      <a:pPr algn="l"/>
                      <a:r>
                        <a:rPr sz="850" b="1">
                          <a:solidFill>
                            <a:srgbClr val="2B3147"/>
                          </a:solidFill>
                          <a:latin typeface="Calibri"/>
                        </a:rPr>
                        <a:t>Monterrey</a:t>
                      </a:r>
                    </a:p>
                  </a:txBody>
                  <a:tcPr marL="54864" marR="54864" marT="27432" marB="27432">
                    <a:solidFill>
                      <a:srgbClr val="FFFFFF"/>
                    </a:solidFill>
                  </a:tcPr>
                </a:tc>
                <a:tc>
                  <a:txBody>
                    <a:bodyPr/>
                    <a:lstStyle/>
                    <a:p>
                      <a:pPr algn="r"/>
                      <a:r>
                        <a:rPr sz="850" b="0">
                          <a:solidFill>
                            <a:srgbClr val="2B3147"/>
                          </a:solidFill>
                          <a:latin typeface="Calibri"/>
                        </a:rPr>
                        <a:t>$5,101</a:t>
                      </a:r>
                    </a:p>
                  </a:txBody>
                  <a:tcPr marL="54864" marR="54864" marT="27432" marB="27432">
                    <a:solidFill>
                      <a:srgbClr val="FFFFFF"/>
                    </a:solidFill>
                  </a:tcPr>
                </a:tc>
                <a:tc>
                  <a:txBody>
                    <a:bodyPr/>
                    <a:lstStyle/>
                    <a:p>
                      <a:pPr algn="r"/>
                      <a:r>
                        <a:rPr sz="850" b="0">
                          <a:solidFill>
                            <a:srgbClr val="2B3147"/>
                          </a:solidFill>
                          <a:latin typeface="Calibri"/>
                        </a:rPr>
                        <a:t>265,905</a:t>
                      </a:r>
                    </a:p>
                  </a:txBody>
                  <a:tcPr marL="54864" marR="54864" marT="27432" marB="27432">
                    <a:solidFill>
                      <a:srgbClr val="FFFFFF"/>
                    </a:solidFill>
                  </a:tcPr>
                </a:tc>
                <a:tc>
                  <a:txBody>
                    <a:bodyPr/>
                    <a:lstStyle/>
                    <a:p>
                      <a:pPr algn="r"/>
                      <a:r>
                        <a:rPr sz="850" b="0">
                          <a:solidFill>
                            <a:srgbClr val="2B3147"/>
                          </a:solidFill>
                          <a:latin typeface="Calibri"/>
                        </a:rPr>
                        <a:t>147,725</a:t>
                      </a:r>
                    </a:p>
                  </a:txBody>
                  <a:tcPr marL="54864" marR="54864" marT="27432" marB="27432">
                    <a:solidFill>
                      <a:srgbClr val="FFFFFF"/>
                    </a:solidFill>
                  </a:tcPr>
                </a:tc>
                <a:tc>
                  <a:txBody>
                    <a:bodyPr/>
                    <a:lstStyle/>
                    <a:p>
                      <a:pPr algn="r"/>
                      <a:r>
                        <a:rPr sz="850" b="0">
                          <a:solidFill>
                            <a:srgbClr val="2B3147"/>
                          </a:solidFill>
                          <a:latin typeface="Calibri"/>
                        </a:rPr>
                        <a:t>18.9%</a:t>
                      </a:r>
                    </a:p>
                  </a:txBody>
                  <a:tcPr marL="54864" marR="54864" marT="27432" marB="27432">
                    <a:solidFill>
                      <a:srgbClr val="FFFFFF"/>
                    </a:solidFill>
                  </a:tcPr>
                </a:tc>
              </a:tr>
              <a:tr h="402336">
                <a:tc>
                  <a:txBody>
                    <a:bodyPr/>
                    <a:lstStyle/>
                    <a:p>
                      <a:pPr algn="l"/>
                      <a:r>
                        <a:rPr sz="850" b="1">
                          <a:solidFill>
                            <a:srgbClr val="1E2761"/>
                          </a:solidFill>
                          <a:latin typeface="Calibri"/>
                        </a:rPr>
                        <a:t>Total</a:t>
                      </a:r>
                    </a:p>
                  </a:txBody>
                  <a:tcPr marL="54864" marR="54864" marT="27432" marB="27432">
                    <a:solidFill>
                      <a:srgbClr val="CADCFC"/>
                    </a:solidFill>
                  </a:tcPr>
                </a:tc>
                <a:tc>
                  <a:txBody>
                    <a:bodyPr/>
                    <a:lstStyle/>
                    <a:p>
                      <a:pPr algn="r"/>
                      <a:r>
                        <a:rPr sz="850" b="1">
                          <a:solidFill>
                            <a:srgbClr val="1E2761"/>
                          </a:solidFill>
                          <a:latin typeface="Calibri"/>
                        </a:rPr>
                        <a:t>$26,865</a:t>
                      </a:r>
                    </a:p>
                  </a:txBody>
                  <a:tcPr marL="54864" marR="54864" marT="27432" marB="27432">
                    <a:solidFill>
                      <a:srgbClr val="CADCFC"/>
                    </a:solidFill>
                  </a:tcPr>
                </a:tc>
                <a:tc>
                  <a:txBody>
                    <a:bodyPr/>
                    <a:lstStyle/>
                    <a:p>
                      <a:pPr algn="r"/>
                      <a:r>
                        <a:rPr sz="850" b="1">
                          <a:solidFill>
                            <a:srgbClr val="1E2761"/>
                          </a:solidFill>
                          <a:latin typeface="Calibri"/>
                        </a:rPr>
                        <a:t>1,406,105</a:t>
                      </a:r>
                    </a:p>
                  </a:txBody>
                  <a:tcPr marL="54864" marR="54864" marT="27432" marB="27432">
                    <a:solidFill>
                      <a:srgbClr val="CADCFC"/>
                    </a:solidFill>
                  </a:tcPr>
                </a:tc>
                <a:tc>
                  <a:txBody>
                    <a:bodyPr/>
                    <a:lstStyle/>
                    <a:p>
                      <a:pPr algn="r"/>
                      <a:r>
                        <a:rPr sz="850" b="1">
                          <a:solidFill>
                            <a:srgbClr val="1E2761"/>
                          </a:solidFill>
                          <a:latin typeface="Calibri"/>
                        </a:rPr>
                        <a:t>781,169</a:t>
                      </a:r>
                    </a:p>
                  </a:txBody>
                  <a:tcPr marL="54864" marR="54864" marT="27432" marB="27432">
                    <a:solidFill>
                      <a:srgbClr val="CADCFC"/>
                    </a:solidFill>
                  </a:tcPr>
                </a:tc>
                <a:tc>
                  <a:txBody>
                    <a:bodyPr/>
                    <a:lstStyle/>
                    <a:p>
                      <a:pPr algn="r"/>
                      <a:r>
                        <a:rPr sz="850" b="1">
                          <a:solidFill>
                            <a:srgbClr val="1E2761"/>
                          </a:solidFill>
                          <a:latin typeface="Calibri"/>
                        </a:rPr>
                        <a:t>100%</a:t>
                      </a:r>
                    </a:p>
                  </a:txBody>
                  <a:tcPr marL="54864" marR="54864" marT="27432" marB="27432">
                    <a:solidFill>
                      <a:srgbClr val="CADCFC"/>
                    </a:solidFill>
                  </a:tcPr>
                </a:tc>
              </a:tr>
            </a:tbl>
          </a:graphicData>
        </a:graphic>
      </p:graphicFrame>
      <p:sp>
        <p:nvSpPr>
          <p:cNvPr id="31" name="TextBox 30"/>
          <p:cNvSpPr txBox="1"/>
          <p:nvPr/>
        </p:nvSpPr>
        <p:spPr>
          <a:xfrm>
            <a:off x="457200" y="5212080"/>
            <a:ext cx="6766560" cy="457200"/>
          </a:xfrm>
          <a:prstGeom prst="rect">
            <a:avLst/>
          </a:prstGeom>
          <a:noFill/>
        </p:spPr>
        <p:txBody>
          <a:bodyPr wrap="square" anchor="t" lIns="0" rIns="0" tIns="0" bIns="0">
            <a:spAutoFit/>
          </a:bodyPr>
          <a:lstStyle/>
          <a:p>
            <a:pPr algn="l"/>
            <a:r>
              <a:rPr sz="750" b="0">
                <a:solidFill>
                  <a:srgbClr val="5A6072"/>
                </a:solidFill>
                <a:latin typeface="Calibri"/>
              </a:rPr>
              <a:t>Impressions are opportunities to see. Estimated reach applies an average frequency of 1.8 to impressions, the same model as the June report. Spend per the client budget tracker; share is the impression share.</a:t>
            </a:r>
          </a:p>
        </p:txBody>
      </p:sp>
      <p:sp>
        <p:nvSpPr>
          <p:cNvPr id="32" name="Rectangle 31"/>
          <p:cNvSpPr/>
          <p:nvPr/>
        </p:nvSpPr>
        <p:spPr>
          <a:xfrm>
            <a:off x="7406640" y="3063240"/>
            <a:ext cx="4297680" cy="26060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06640" y="3063240"/>
            <a:ext cx="64008" cy="260604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26096" y="3227832"/>
            <a:ext cx="3895344"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35" name="TextBox 34"/>
          <p:cNvSpPr txBox="1"/>
          <p:nvPr/>
        </p:nvSpPr>
        <p:spPr>
          <a:xfrm>
            <a:off x="7626096" y="3566160"/>
            <a:ext cx="3895344" cy="1920240"/>
          </a:xfrm>
          <a:prstGeom prst="rect">
            <a:avLst/>
          </a:prstGeom>
          <a:noFill/>
        </p:spPr>
        <p:txBody>
          <a:bodyPr wrap="square" anchor="t" lIns="0" rIns="0" tIns="0" bIns="0">
            <a:spAutoFit/>
          </a:bodyPr>
          <a:lstStyle/>
          <a:p>
            <a:pPr algn="l"/>
            <a:r>
              <a:rPr sz="950" b="0">
                <a:solidFill>
                  <a:srgbClr val="2B3147"/>
                </a:solidFill>
                <a:latin typeface="Calibri"/>
              </a:rPr>
              <a:t>Delivery concentrated where the audience is largest: Mexico City took 59% of impressions at the same CPM as the other markets.</a:t>
            </a:r>
          </a:p>
          <a:p>
            <a:pPr algn="l">
              <a:spcBef>
                <a:spcPts val="600"/>
              </a:spcBef>
            </a:pPr>
            <a:r>
              <a:rPr sz="950" b="0">
                <a:solidFill>
                  <a:srgbClr val="2B3147"/>
                </a:solidFill>
                <a:latin typeface="Calibri"/>
              </a:rPr>
              <a:t>All three markets delivered the full month with no gaps in the daily record.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SITE TRAFFIC  ·  GA4 (MEXICO)</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Context this month. The measurement fix makes August the first fully measured month.</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15 / 16</a:t>
            </a:r>
          </a:p>
        </p:txBody>
      </p:sp>
      <p:sp>
        <p:nvSpPr>
          <p:cNvPr id="10" name="Rectangle 9"/>
          <p:cNvSpPr/>
          <p:nvPr/>
        </p:nvSpPr>
        <p:spPr>
          <a:xfrm>
            <a:off x="457200"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MEXICO SESSIONS</a:t>
            </a:r>
          </a:p>
        </p:txBody>
      </p:sp>
      <p:sp>
        <p:nvSpPr>
          <p:cNvPr id="13" name="TextBox 12"/>
          <p:cNvSpPr txBox="1"/>
          <p:nvPr/>
        </p:nvSpPr>
        <p:spPr>
          <a:xfrm>
            <a:off x="640080"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7,310</a:t>
            </a:r>
          </a:p>
        </p:txBody>
      </p:sp>
      <p:sp>
        <p:nvSpPr>
          <p:cNvPr id="14" name="TextBox 13"/>
          <p:cNvSpPr txBox="1"/>
          <p:nvPr/>
        </p:nvSpPr>
        <p:spPr>
          <a:xfrm>
            <a:off x="640080"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June: 9,236</a:t>
            </a:r>
          </a:p>
        </p:txBody>
      </p:sp>
      <p:sp>
        <p:nvSpPr>
          <p:cNvPr id="15" name="Rectangle 14"/>
          <p:cNvSpPr/>
          <p:nvPr/>
        </p:nvSpPr>
        <p:spPr>
          <a:xfrm>
            <a:off x="2359152"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59152"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42032"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UNIQUE VISITORS</a:t>
            </a:r>
          </a:p>
        </p:txBody>
      </p:sp>
      <p:sp>
        <p:nvSpPr>
          <p:cNvPr id="18" name="TextBox 17"/>
          <p:cNvSpPr txBox="1"/>
          <p:nvPr/>
        </p:nvSpPr>
        <p:spPr>
          <a:xfrm>
            <a:off x="2542032"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3,981</a:t>
            </a:r>
          </a:p>
        </p:txBody>
      </p:sp>
      <p:sp>
        <p:nvSpPr>
          <p:cNvPr id="19" name="TextBox 18"/>
          <p:cNvSpPr txBox="1"/>
          <p:nvPr/>
        </p:nvSpPr>
        <p:spPr>
          <a:xfrm>
            <a:off x="2542032"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Mexico</a:t>
            </a:r>
          </a:p>
        </p:txBody>
      </p:sp>
      <p:sp>
        <p:nvSpPr>
          <p:cNvPr id="20" name="Rectangle 19"/>
          <p:cNvSpPr/>
          <p:nvPr/>
        </p:nvSpPr>
        <p:spPr>
          <a:xfrm>
            <a:off x="4261104"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61104"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43984"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KEY-EVENT CAPTURE</a:t>
            </a:r>
          </a:p>
        </p:txBody>
      </p:sp>
      <p:sp>
        <p:nvSpPr>
          <p:cNvPr id="23" name="TextBox 22"/>
          <p:cNvSpPr txBox="1"/>
          <p:nvPr/>
        </p:nvSpPr>
        <p:spPr>
          <a:xfrm>
            <a:off x="4443984"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Fixed</a:t>
            </a:r>
          </a:p>
        </p:txBody>
      </p:sp>
      <p:sp>
        <p:nvSpPr>
          <p:cNvPr id="24" name="TextBox 23"/>
          <p:cNvSpPr txBox="1"/>
          <p:nvPr/>
        </p:nvSpPr>
        <p:spPr>
          <a:xfrm>
            <a:off x="4443984"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live since Jul 31</a:t>
            </a:r>
          </a:p>
        </p:txBody>
      </p:sp>
      <p:sp>
        <p:nvSpPr>
          <p:cNvPr id="25" name="Rectangle 24"/>
          <p:cNvSpPr/>
          <p:nvPr/>
        </p:nvSpPr>
        <p:spPr>
          <a:xfrm>
            <a:off x="6163056" y="1691640"/>
            <a:ext cx="1783080" cy="100584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63056" y="1691640"/>
            <a:ext cx="54864" cy="10058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5936" y="1737360"/>
            <a:ext cx="1508760" cy="274320"/>
          </a:xfrm>
          <a:prstGeom prst="rect">
            <a:avLst/>
          </a:prstGeom>
          <a:noFill/>
        </p:spPr>
        <p:txBody>
          <a:bodyPr wrap="square" anchor="t" lIns="0" rIns="0" tIns="0" bIns="0">
            <a:spAutoFit/>
          </a:bodyPr>
          <a:lstStyle/>
          <a:p>
            <a:pPr algn="l"/>
            <a:r>
              <a:rPr sz="800" b="1">
                <a:solidFill>
                  <a:srgbClr val="5A6072"/>
                </a:solidFill>
                <a:latin typeface="Calibri"/>
              </a:rPr>
              <a:t>GA4 CORROBORATION</a:t>
            </a:r>
          </a:p>
        </p:txBody>
      </p:sp>
      <p:sp>
        <p:nvSpPr>
          <p:cNvPr id="28" name="TextBox 27"/>
          <p:cNvSpPr txBox="1"/>
          <p:nvPr/>
        </p:nvSpPr>
        <p:spPr>
          <a:xfrm>
            <a:off x="6345936" y="1984248"/>
            <a:ext cx="1508760" cy="457200"/>
          </a:xfrm>
          <a:prstGeom prst="rect">
            <a:avLst/>
          </a:prstGeom>
          <a:noFill/>
        </p:spPr>
        <p:txBody>
          <a:bodyPr wrap="square" anchor="t" lIns="0" rIns="0" tIns="0" bIns="0">
            <a:spAutoFit/>
          </a:bodyPr>
          <a:lstStyle/>
          <a:p>
            <a:pPr algn="l"/>
            <a:r>
              <a:rPr sz="1500" b="1">
                <a:solidFill>
                  <a:srgbClr val="1E2761"/>
                </a:solidFill>
                <a:latin typeface="Calibri"/>
              </a:rPr>
              <a:t>August</a:t>
            </a:r>
          </a:p>
        </p:txBody>
      </p:sp>
      <p:sp>
        <p:nvSpPr>
          <p:cNvPr id="29" name="TextBox 28"/>
          <p:cNvSpPr txBox="1"/>
          <p:nvPr/>
        </p:nvSpPr>
        <p:spPr>
          <a:xfrm>
            <a:off x="6345936" y="2441448"/>
            <a:ext cx="1508760" cy="219456"/>
          </a:xfrm>
          <a:prstGeom prst="rect">
            <a:avLst/>
          </a:prstGeom>
          <a:noFill/>
        </p:spPr>
        <p:txBody>
          <a:bodyPr wrap="square" anchor="t" lIns="0" rIns="0" tIns="0" bIns="0">
            <a:spAutoFit/>
          </a:bodyPr>
          <a:lstStyle/>
          <a:p>
            <a:pPr algn="l"/>
            <a:r>
              <a:rPr sz="800" b="0">
                <a:solidFill>
                  <a:srgbClr val="5A6072"/>
                </a:solidFill>
                <a:latin typeface="Calibri"/>
              </a:rPr>
              <a:t>first full month</a:t>
            </a:r>
          </a:p>
        </p:txBody>
      </p:sp>
      <p:sp>
        <p:nvSpPr>
          <p:cNvPr id="30" name="Rectangle 29"/>
          <p:cNvSpPr/>
          <p:nvPr/>
        </p:nvSpPr>
        <p:spPr>
          <a:xfrm>
            <a:off x="457200" y="3017520"/>
            <a:ext cx="5577840" cy="31089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3017520"/>
            <a:ext cx="64008" cy="3108960"/>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6656" y="3182112"/>
            <a:ext cx="5175503" cy="274320"/>
          </a:xfrm>
          <a:prstGeom prst="rect">
            <a:avLst/>
          </a:prstGeom>
          <a:noFill/>
        </p:spPr>
        <p:txBody>
          <a:bodyPr wrap="square" anchor="t" lIns="0" rIns="0" tIns="0" bIns="0">
            <a:spAutoFit/>
          </a:bodyPr>
          <a:lstStyle/>
          <a:p>
            <a:pPr algn="l"/>
            <a:r>
              <a:rPr sz="1000" b="1">
                <a:solidFill>
                  <a:srgbClr val="1E2761"/>
                </a:solidFill>
                <a:latin typeface="Georgia"/>
              </a:rPr>
              <a:t>WHAT THE DATA SHOWS</a:t>
            </a:r>
          </a:p>
        </p:txBody>
      </p:sp>
      <p:sp>
        <p:nvSpPr>
          <p:cNvPr id="33" name="TextBox 32"/>
          <p:cNvSpPr txBox="1"/>
          <p:nvPr/>
        </p:nvSpPr>
        <p:spPr>
          <a:xfrm>
            <a:off x="676656" y="3520439"/>
            <a:ext cx="5175503" cy="2423160"/>
          </a:xfrm>
          <a:prstGeom prst="rect">
            <a:avLst/>
          </a:prstGeom>
          <a:noFill/>
        </p:spPr>
        <p:txBody>
          <a:bodyPr wrap="square" anchor="t" lIns="0" rIns="0" tIns="0" bIns="0">
            <a:spAutoFit/>
          </a:bodyPr>
          <a:lstStyle/>
          <a:p>
            <a:pPr algn="l"/>
            <a:r>
              <a:rPr sz="950" b="0">
                <a:solidFill>
                  <a:srgbClr val="2B3147"/>
                </a:solidFill>
                <a:latin typeface="Calibri"/>
              </a:rPr>
              <a:t>A large share of July’s session dip tracks Bing’s own month: ten days of rebuild, then the transition window. Property-wide, sessions without source attribution (largely untagged paid search) fell sharply; attributed sessions grew.</a:t>
            </a:r>
          </a:p>
          <a:p>
            <a:pPr algn="l">
              <a:spcBef>
                <a:spcPts val="600"/>
              </a:spcBef>
            </a:pPr>
            <a:r>
              <a:rPr sz="950" b="0">
                <a:solidFill>
                  <a:srgbClr val="2B3147"/>
                </a:solidFill>
                <a:latin typeface="Calibri"/>
              </a:rPr>
              <a:t>Venezuela’s session volume fell sharply as the prior campaigns retired, the same campaign-mix effect behind Bing’s in-market concentration this month.</a:t>
            </a:r>
          </a:p>
        </p:txBody>
      </p:sp>
      <p:sp>
        <p:nvSpPr>
          <p:cNvPr id="34" name="Rectangle 33"/>
          <p:cNvSpPr/>
          <p:nvPr/>
        </p:nvSpPr>
        <p:spPr>
          <a:xfrm>
            <a:off x="6309360" y="3017520"/>
            <a:ext cx="5394960" cy="3108960"/>
          </a:xfrm>
          <a:prstGeom prst="rect">
            <a:avLst/>
          </a:prstGeom>
          <a:solidFill>
            <a:srgbClr val="FFFFFF"/>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3017520"/>
            <a:ext cx="64008" cy="310896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28816" y="3182112"/>
            <a:ext cx="4992624" cy="274320"/>
          </a:xfrm>
          <a:prstGeom prst="rect">
            <a:avLst/>
          </a:prstGeom>
          <a:noFill/>
        </p:spPr>
        <p:txBody>
          <a:bodyPr wrap="square" anchor="t" lIns="0" rIns="0" tIns="0" bIns="0">
            <a:spAutoFit/>
          </a:bodyPr>
          <a:lstStyle/>
          <a:p>
            <a:pPr algn="l"/>
            <a:r>
              <a:rPr sz="1000" b="1">
                <a:solidFill>
                  <a:srgbClr val="1E2761"/>
                </a:solidFill>
                <a:latin typeface="Georgia"/>
              </a:rPr>
              <a:t>MEASUREMENT TO CLOSE</a:t>
            </a:r>
          </a:p>
        </p:txBody>
      </p:sp>
      <p:sp>
        <p:nvSpPr>
          <p:cNvPr id="37" name="TextBox 36"/>
          <p:cNvSpPr txBox="1"/>
          <p:nvPr/>
        </p:nvSpPr>
        <p:spPr>
          <a:xfrm>
            <a:off x="6528816" y="3520439"/>
            <a:ext cx="4992624" cy="2423160"/>
          </a:xfrm>
          <a:prstGeom prst="rect">
            <a:avLst/>
          </a:prstGeom>
          <a:noFill/>
        </p:spPr>
        <p:txBody>
          <a:bodyPr wrap="square" anchor="t" lIns="0" rIns="0" tIns="0" bIns="0">
            <a:spAutoFit/>
          </a:bodyPr>
          <a:lstStyle/>
          <a:p>
            <a:pPr algn="l"/>
            <a:r>
              <a:rPr sz="950" b="0">
                <a:solidFill>
                  <a:srgbClr val="2B3147"/>
                </a:solidFill>
                <a:latin typeface="Calibri"/>
              </a:rPr>
              <a:t>The submitted-application key event began counting correctly on July 31 and has held at full capture since. July is reported on the SA360 count; August is the first month GA4 can corroborate it independently.</a:t>
            </a:r>
          </a:p>
          <a:p>
            <a:pPr algn="l">
              <a:spcBef>
                <a:spcPts val="600"/>
              </a:spcBef>
            </a:pPr>
            <a:r>
              <a:rPr sz="950" b="0">
                <a:solidFill>
                  <a:srgbClr val="2B3147"/>
                </a:solidFill>
                <a:latin typeface="Calibri"/>
              </a:rPr>
              <a:t>Completion of the Bing-to-GA4 account link has not yet been verified; the paid-search restatement June’s deck flagged lands once it is, expected alongside August’s corroboration.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3093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
            <a:ext cx="12191695" cy="457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8229600" cy="320040"/>
          </a:xfrm>
          <a:prstGeom prst="rect">
            <a:avLst/>
          </a:prstGeom>
          <a:noFill/>
        </p:spPr>
        <p:txBody>
          <a:bodyPr wrap="square" anchor="t" lIns="0" rIns="0" tIns="0" bIns="0">
            <a:spAutoFit/>
          </a:bodyPr>
          <a:lstStyle/>
          <a:p>
            <a:pPr algn="l"/>
            <a:r>
              <a:rPr sz="1100" b="1">
                <a:solidFill>
                  <a:srgbClr val="FFFFFF"/>
                </a:solidFill>
                <a:latin typeface="Georgia"/>
              </a:rPr>
              <a:t>CROSS-CHANNEL PRIORITIES + NEXT STEPS</a:t>
            </a:r>
          </a:p>
        </p:txBody>
      </p:sp>
      <p:pic>
        <p:nvPicPr>
          <p:cNvPr id="5" name="Picture 4" descr="berelvant_logo.png"/>
          <p:cNvPicPr>
            <a:picLocks noChangeAspect="1"/>
          </p:cNvPicPr>
          <p:nvPr/>
        </p:nvPicPr>
        <p:blipFill>
          <a:blip r:embed="rId2"/>
          <a:stretch>
            <a:fillRect/>
          </a:stretch>
        </p:blipFill>
        <p:spPr>
          <a:xfrm>
            <a:off x="10728655" y="146304"/>
            <a:ext cx="960120" cy="274320"/>
          </a:xfrm>
          <a:prstGeom prst="rect">
            <a:avLst/>
          </a:prstGeom>
        </p:spPr>
      </p:pic>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E2761"/>
                </a:solidFill>
                <a:latin typeface="Georgia"/>
              </a:rPr>
              <a:t>August priorities: scale the rebuilt structure, complete measurement, hold inventory quality.</a:t>
            </a:r>
          </a:p>
        </p:txBody>
      </p:sp>
      <p:sp>
        <p:nvSpPr>
          <p:cNvPr id="7" name="Rectangle 6"/>
          <p:cNvSpPr/>
          <p:nvPr/>
        </p:nvSpPr>
        <p:spPr>
          <a:xfrm>
            <a:off x="0" y="6583680"/>
            <a:ext cx="12191695" cy="10972"/>
          </a:xfrm>
          <a:prstGeom prst="rect">
            <a:avLst/>
          </a:prstGeom>
          <a:solidFill>
            <a:srgbClr val="D0D4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56832"/>
            <a:ext cx="7315200" cy="201168"/>
          </a:xfrm>
          <a:prstGeom prst="rect">
            <a:avLst/>
          </a:prstGeom>
          <a:noFill/>
        </p:spPr>
        <p:txBody>
          <a:bodyPr wrap="square" anchor="t" lIns="0" rIns="0" tIns="0" bIns="0">
            <a:spAutoFit/>
          </a:bodyPr>
          <a:lstStyle/>
          <a:p>
            <a:pPr algn="l"/>
            <a:r>
              <a:rPr sz="800" b="0">
                <a:solidFill>
                  <a:srgbClr val="5A6072"/>
                </a:solidFill>
                <a:latin typeface="Calibri"/>
              </a:rPr>
              <a:t>GGMI (LATAM)   |   July 2026 Performance Review   |   Berelvant</a:t>
            </a:r>
          </a:p>
        </p:txBody>
      </p:sp>
      <p:sp>
        <p:nvSpPr>
          <p:cNvPr id="9" name="TextBox 8"/>
          <p:cNvSpPr txBox="1"/>
          <p:nvPr/>
        </p:nvSpPr>
        <p:spPr>
          <a:xfrm>
            <a:off x="10820095" y="6656832"/>
            <a:ext cx="914400" cy="201168"/>
          </a:xfrm>
          <a:prstGeom prst="rect">
            <a:avLst/>
          </a:prstGeom>
          <a:noFill/>
        </p:spPr>
        <p:txBody>
          <a:bodyPr wrap="square" anchor="t" lIns="0" rIns="0" tIns="0" bIns="0">
            <a:spAutoFit/>
          </a:bodyPr>
          <a:lstStyle/>
          <a:p>
            <a:pPr algn="r"/>
            <a:r>
              <a:rPr sz="800" b="0">
                <a:solidFill>
                  <a:srgbClr val="5A6072"/>
                </a:solidFill>
                <a:latin typeface="Calibri"/>
              </a:rPr>
              <a:t>16 / 16</a:t>
            </a:r>
          </a:p>
        </p:txBody>
      </p:sp>
      <p:sp>
        <p:nvSpPr>
          <p:cNvPr id="10" name="Rectangle 9"/>
          <p:cNvSpPr/>
          <p:nvPr/>
        </p:nvSpPr>
        <p:spPr>
          <a:xfrm>
            <a:off x="457200" y="1783080"/>
            <a:ext cx="3703320" cy="210312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83080"/>
            <a:ext cx="3703320" cy="292608"/>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 y="1837943"/>
            <a:ext cx="3410712" cy="219456"/>
          </a:xfrm>
          <a:prstGeom prst="rect">
            <a:avLst/>
          </a:prstGeom>
          <a:noFill/>
        </p:spPr>
        <p:txBody>
          <a:bodyPr wrap="square" anchor="t" lIns="0" rIns="0" tIns="0" bIns="0">
            <a:spAutoFit/>
          </a:bodyPr>
          <a:lstStyle/>
          <a:p>
            <a:pPr algn="l"/>
            <a:r>
              <a:rPr sz="950" b="1">
                <a:solidFill>
                  <a:srgbClr val="FFFFFF"/>
                </a:solidFill>
                <a:latin typeface="Georgia"/>
              </a:rPr>
              <a:t>PRIORITY</a:t>
            </a:r>
          </a:p>
        </p:txBody>
      </p:sp>
      <p:sp>
        <p:nvSpPr>
          <p:cNvPr id="13" name="TextBox 12"/>
          <p:cNvSpPr txBox="1"/>
          <p:nvPr/>
        </p:nvSpPr>
        <p:spPr>
          <a:xfrm>
            <a:off x="603504" y="2185416"/>
            <a:ext cx="3410712" cy="1554479"/>
          </a:xfrm>
          <a:prstGeom prst="rect">
            <a:avLst/>
          </a:prstGeom>
          <a:noFill/>
        </p:spPr>
        <p:txBody>
          <a:bodyPr wrap="square" anchor="t" lIns="0" rIns="0" tIns="0" bIns="0">
            <a:spAutoFit/>
          </a:bodyPr>
          <a:lstStyle/>
          <a:p>
            <a:pPr algn="l"/>
            <a:r>
              <a:rPr sz="900" b="0">
                <a:solidFill>
                  <a:srgbClr val="2B3147"/>
                </a:solidFill>
                <a:latin typeface="Calibri"/>
              </a:rPr>
              <a:t>Scale the rebuilt Bing structure on the July close of $237.12; August is tracking at $243 across three products.</a:t>
            </a:r>
          </a:p>
        </p:txBody>
      </p:sp>
      <p:sp>
        <p:nvSpPr>
          <p:cNvPr id="14" name="Rectangle 13"/>
          <p:cNvSpPr/>
          <p:nvPr/>
        </p:nvSpPr>
        <p:spPr>
          <a:xfrm>
            <a:off x="4343400" y="1783080"/>
            <a:ext cx="3703320" cy="210312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783080"/>
            <a:ext cx="3703320" cy="292608"/>
          </a:xfrm>
          <a:prstGeom prst="rect">
            <a:avLst/>
          </a:prstGeom>
          <a:solidFill>
            <a:srgbClr val="E9B4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9704" y="1837943"/>
            <a:ext cx="3410712" cy="219456"/>
          </a:xfrm>
          <a:prstGeom prst="rect">
            <a:avLst/>
          </a:prstGeom>
          <a:noFill/>
        </p:spPr>
        <p:txBody>
          <a:bodyPr wrap="square" anchor="t" lIns="0" rIns="0" tIns="0" bIns="0">
            <a:spAutoFit/>
          </a:bodyPr>
          <a:lstStyle/>
          <a:p>
            <a:pPr algn="l"/>
            <a:r>
              <a:rPr sz="950" b="1">
                <a:solidFill>
                  <a:srgbClr val="0F1535"/>
                </a:solidFill>
                <a:latin typeface="Georgia"/>
              </a:rPr>
              <a:t>HIGH</a:t>
            </a:r>
          </a:p>
        </p:txBody>
      </p:sp>
      <p:sp>
        <p:nvSpPr>
          <p:cNvPr id="17" name="TextBox 16"/>
          <p:cNvSpPr txBox="1"/>
          <p:nvPr/>
        </p:nvSpPr>
        <p:spPr>
          <a:xfrm>
            <a:off x="4489704" y="2185416"/>
            <a:ext cx="3410712" cy="1554479"/>
          </a:xfrm>
          <a:prstGeom prst="rect">
            <a:avLst/>
          </a:prstGeom>
          <a:noFill/>
        </p:spPr>
        <p:txBody>
          <a:bodyPr wrap="square" anchor="t" lIns="0" rIns="0" tIns="0" bIns="0">
            <a:spAutoFit/>
          </a:bodyPr>
          <a:lstStyle/>
          <a:p>
            <a:pPr algn="l"/>
            <a:r>
              <a:rPr sz="900" b="0">
                <a:solidFill>
                  <a:srgbClr val="2B3147"/>
                </a:solidFill>
                <a:latin typeface="Calibri"/>
              </a:rPr>
              <a:t>Apply the 66-site Quantcast disallow list, led by tvazteca.com, and hold delivery to the 70% viewability standard.</a:t>
            </a:r>
          </a:p>
        </p:txBody>
      </p:sp>
      <p:sp>
        <p:nvSpPr>
          <p:cNvPr id="18" name="Rectangle 17"/>
          <p:cNvSpPr/>
          <p:nvPr/>
        </p:nvSpPr>
        <p:spPr>
          <a:xfrm>
            <a:off x="8229600" y="1783080"/>
            <a:ext cx="3520440" cy="210312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783080"/>
            <a:ext cx="3520440" cy="292608"/>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75904" y="1837943"/>
            <a:ext cx="3227832" cy="219456"/>
          </a:xfrm>
          <a:prstGeom prst="rect">
            <a:avLst/>
          </a:prstGeom>
          <a:noFill/>
        </p:spPr>
        <p:txBody>
          <a:bodyPr wrap="square" anchor="t" lIns="0" rIns="0" tIns="0" bIns="0">
            <a:spAutoFit/>
          </a:bodyPr>
          <a:lstStyle/>
          <a:p>
            <a:pPr algn="l"/>
            <a:r>
              <a:rPr sz="950" b="1">
                <a:solidFill>
                  <a:srgbClr val="FFFFFF"/>
                </a:solidFill>
                <a:latin typeface="Georgia"/>
              </a:rPr>
              <a:t>MEASUREMENT TO CLOSE</a:t>
            </a:r>
          </a:p>
        </p:txBody>
      </p:sp>
      <p:sp>
        <p:nvSpPr>
          <p:cNvPr id="21" name="TextBox 20"/>
          <p:cNvSpPr txBox="1"/>
          <p:nvPr/>
        </p:nvSpPr>
        <p:spPr>
          <a:xfrm>
            <a:off x="8375904" y="2185416"/>
            <a:ext cx="3227832" cy="1554479"/>
          </a:xfrm>
          <a:prstGeom prst="rect">
            <a:avLst/>
          </a:prstGeom>
          <a:noFill/>
        </p:spPr>
        <p:txBody>
          <a:bodyPr wrap="square" anchor="t" lIns="0" rIns="0" tIns="0" bIns="0">
            <a:spAutoFit/>
          </a:bodyPr>
          <a:lstStyle/>
          <a:p>
            <a:pPr algn="l"/>
            <a:r>
              <a:rPr sz="900" b="0">
                <a:solidFill>
                  <a:srgbClr val="2B3147"/>
                </a:solidFill>
                <a:latin typeface="Calibri"/>
              </a:rPr>
              <a:t>August is the first month GA4 can corroborate the submitted-application count.</a:t>
            </a:r>
          </a:p>
          <a:p>
            <a:pPr algn="l">
              <a:spcBef>
                <a:spcPts val="600"/>
              </a:spcBef>
            </a:pPr>
            <a:r>
              <a:rPr sz="900" b="0">
                <a:solidFill>
                  <a:srgbClr val="2B3147"/>
                </a:solidFill>
                <a:latin typeface="Calibri"/>
              </a:rPr>
              <a:t>Close out Azerion’s country-level delivery confirmation with the vendor.</a:t>
            </a:r>
          </a:p>
        </p:txBody>
      </p:sp>
      <p:sp>
        <p:nvSpPr>
          <p:cNvPr id="22" name="Rectangle 21"/>
          <p:cNvSpPr/>
          <p:nvPr/>
        </p:nvSpPr>
        <p:spPr>
          <a:xfrm>
            <a:off x="457200" y="4069080"/>
            <a:ext cx="3703320" cy="1828800"/>
          </a:xfrm>
          <a:prstGeom prst="rect">
            <a:avLst/>
          </a:prstGeom>
          <a:solidFill>
            <a:srgbClr val="F9FAFC"/>
          </a:solidFill>
          <a:ln w="9525">
            <a:solidFill>
              <a:srgbClr val="D0D4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069080"/>
            <a:ext cx="3703320" cy="292608"/>
          </a:xfrm>
          <a:prstGeom prst="rect">
            <a:avLst/>
          </a:prstGeom>
          <a:solidFill>
            <a:srgbClr val="2E7D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 y="4123944"/>
            <a:ext cx="3410712" cy="219456"/>
          </a:xfrm>
          <a:prstGeom prst="rect">
            <a:avLst/>
          </a:prstGeom>
          <a:noFill/>
        </p:spPr>
        <p:txBody>
          <a:bodyPr wrap="square" anchor="t" lIns="0" rIns="0" tIns="0" bIns="0">
            <a:spAutoFit/>
          </a:bodyPr>
          <a:lstStyle/>
          <a:p>
            <a:pPr algn="l"/>
            <a:r>
              <a:rPr sz="950" b="1">
                <a:solidFill>
                  <a:srgbClr val="FFFFFF"/>
                </a:solidFill>
                <a:latin typeface="Georgia"/>
              </a:rPr>
              <a:t>OPPORTUNITY</a:t>
            </a:r>
          </a:p>
        </p:txBody>
      </p:sp>
      <p:sp>
        <p:nvSpPr>
          <p:cNvPr id="25" name="TextBox 24"/>
          <p:cNvSpPr txBox="1"/>
          <p:nvPr/>
        </p:nvSpPr>
        <p:spPr>
          <a:xfrm>
            <a:off x="603504" y="4471416"/>
            <a:ext cx="3410712" cy="1280160"/>
          </a:xfrm>
          <a:prstGeom prst="rect">
            <a:avLst/>
          </a:prstGeom>
          <a:noFill/>
        </p:spPr>
        <p:txBody>
          <a:bodyPr wrap="square" anchor="t" lIns="0" rIns="0" tIns="0" bIns="0">
            <a:spAutoFit/>
          </a:bodyPr>
          <a:lstStyle/>
          <a:p>
            <a:pPr algn="l"/>
            <a:r>
              <a:rPr sz="900" b="0">
                <a:solidFill>
                  <a:srgbClr val="2B3147"/>
                </a:solidFill>
                <a:latin typeface="Calibri"/>
              </a:rPr>
              <a:t>Hold Azerion’s pace; judge the channel monthly.</a:t>
            </a:r>
          </a:p>
          <a:p>
            <a:pPr algn="l">
              <a:spcBef>
                <a:spcPts val="600"/>
              </a:spcBef>
            </a:pPr>
            <a:r>
              <a:rPr sz="900" b="0">
                <a:solidFill>
                  <a:srgbClr val="2B3147"/>
                </a:solidFill>
                <a:latin typeface="Calibri"/>
              </a:rPr>
              <a:t>Native and DOOH report in full with a second month of data.</a:t>
            </a:r>
          </a:p>
        </p:txBody>
      </p:sp>
      <p:sp>
        <p:nvSpPr>
          <p:cNvPr id="26" name="Rectangle 25"/>
          <p:cNvSpPr/>
          <p:nvPr/>
        </p:nvSpPr>
        <p:spPr>
          <a:xfrm>
            <a:off x="4343400" y="4069080"/>
            <a:ext cx="7406640" cy="1828800"/>
          </a:xfrm>
          <a:prstGeom prst="rect">
            <a:avLst/>
          </a:prstGeom>
          <a:solidFill>
            <a:srgbClr val="0F15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17720" y="4069080"/>
            <a:ext cx="6858000" cy="1828800"/>
          </a:xfrm>
          <a:prstGeom prst="rect">
            <a:avLst/>
          </a:prstGeom>
          <a:noFill/>
        </p:spPr>
        <p:txBody>
          <a:bodyPr wrap="square" anchor="ctr" lIns="0" rIns="0" tIns="0" bIns="0">
            <a:spAutoFit/>
          </a:bodyPr>
          <a:lstStyle/>
          <a:p>
            <a:pPr algn="l"/>
            <a:r>
              <a:rPr sz="1200" b="1">
                <a:solidFill>
                  <a:srgbClr val="FFFFFF"/>
                </a:solidFill>
                <a:latin typeface="Georgia"/>
              </a:rPr>
              <a:t>The rebuilt structure converted at $237.12 in July. August scales it, holds programmatic quality, and brings GA4 corroboration online.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