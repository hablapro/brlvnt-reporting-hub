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78"/>
  </p:normalViewPr>
  <p:slideViewPr>
    <p:cSldViewPr snapToGrid="0" snapToObjects="1">
      <p:cViewPr varScale="1">
        <p:scale>
          <a:sx n="196" d="100"/>
          <a:sy n="196" d="100"/>
        </p:scale>
        <p:origin x="170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582.17999999999995</c:v>
                </c:pt>
                <c:pt idx="27">
                  <c:v>559.63</c:v>
                </c:pt>
                <c:pt idx="28">
                  <c:v>723.75</c:v>
                </c:pt>
                <c:pt idx="29">
                  <c:v>607.16</c:v>
                </c:pt>
                <c:pt idx="30">
                  <c:v>442.33</c:v>
                </c:pt>
              </c:numCache>
            </c:numRef>
          </c:val>
          <c:smooth val="0"/>
          <c:extLst>
            <c:ext xmlns:c16="http://schemas.microsoft.com/office/drawing/2014/chart" uri="{C3380CC4-5D6E-409C-BE32-E72D297353CC}">
              <c16:uniqueId val="{00000000-C349-EE40-A11B-4AE79F2D0DAF}"/>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orientation val="minMax"/>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crossBetween val="between"/>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lIns="0" tIns="0" rIns="0" bIns="0" anchor="t">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lIns="0" tIns="0" rIns="0" bIns="0" anchor="t">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lIns="0" tIns="0" rIns="0" bIns="0" anchor="t">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lIns="0" tIns="0" rIns="0" bIns="0" anchor="t">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lIns="0" tIns="0" rIns="0" bIns="0" anchor="t">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Submitted applications came in at 653, with working media at $149,896.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2 / 16</a:t>
            </a:r>
          </a:p>
        </p:txBody>
      </p:sp>
      <p:sp>
        <p:nvSpPr>
          <p:cNvPr id="10" name="TextBox 9"/>
          <p:cNvSpPr txBox="1"/>
          <p:nvPr/>
        </p:nvSpPr>
        <p:spPr>
          <a:xfrm>
            <a:off x="457200" y="1600200"/>
            <a:ext cx="11247120" cy="1371600"/>
          </a:xfrm>
          <a:prstGeom prst="rect">
            <a:avLst/>
          </a:prstGeom>
          <a:noFill/>
        </p:spPr>
        <p:txBody>
          <a:bodyPr wrap="square" lIns="0" tIns="0" rIns="0" bIns="0" anchor="t">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The growth sits in the new Native and DOOH lines; the four continuing channels spent $95,401 against June’s total of $120,393, and paid submitted applications with a measured source (Bing plus Azerion) came in at 61.</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extLst>
                    <a:ext uri="{9D8B030D-6E8A-4147-A177-3AD203B41FA5}">
                      <a16:colId xmlns:a16="http://schemas.microsoft.com/office/drawing/2014/main" val="20000"/>
                    </a:ext>
                  </a:extLst>
                </a:gridCol>
                <a:gridCol w="987552">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gridCol w="987552">
                  <a:extLst>
                    <a:ext uri="{9D8B030D-6E8A-4147-A177-3AD203B41FA5}">
                      <a16:colId xmlns:a16="http://schemas.microsoft.com/office/drawing/2014/main" val="20005"/>
                    </a:ext>
                  </a:extLst>
                </a:gridCol>
                <a:gridCol w="1042415">
                  <a:extLst>
                    <a:ext uri="{9D8B030D-6E8A-4147-A177-3AD203B41FA5}">
                      <a16:colId xmlns:a16="http://schemas.microsoft.com/office/drawing/2014/main" val="20006"/>
                    </a:ext>
                  </a:extLst>
                </a:gridCol>
                <a:gridCol w="1042415">
                  <a:extLst>
                    <a:ext uri="{9D8B030D-6E8A-4147-A177-3AD203B41FA5}">
                      <a16:colId xmlns:a16="http://schemas.microsoft.com/office/drawing/2014/main" val="20007"/>
                    </a:ext>
                  </a:extLst>
                </a:gridCol>
                <a:gridCol w="950976">
                  <a:extLst>
                    <a:ext uri="{9D8B030D-6E8A-4147-A177-3AD203B41FA5}">
                      <a16:colId xmlns:a16="http://schemas.microsoft.com/office/drawing/2014/main" val="20008"/>
                    </a:ext>
                  </a:extLst>
                </a:gridCol>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extLst>
                  <a:ext uri="{0D108BD9-81ED-4DB2-BD59-A6C34878D82A}">
                    <a16:rowId xmlns:a16="http://schemas.microsoft.com/office/drawing/2014/main" val="10000"/>
                  </a:ext>
                </a:extLst>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extLst>
                  <a:ext uri="{0D108BD9-81ED-4DB2-BD59-A6C34878D82A}">
                    <a16:rowId xmlns:a16="http://schemas.microsoft.com/office/drawing/2014/main" val="10001"/>
                  </a:ext>
                </a:extLst>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extLst>
                  <a:ext uri="{0D108BD9-81ED-4DB2-BD59-A6C34878D82A}">
                    <a16:rowId xmlns:a16="http://schemas.microsoft.com/office/drawing/2014/main" val="10002"/>
                  </a:ext>
                </a:extLst>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extLst>
                  <a:ext uri="{0D108BD9-81ED-4DB2-BD59-A6C34878D82A}">
                    <a16:rowId xmlns:a16="http://schemas.microsoft.com/office/drawing/2014/main" val="10003"/>
                  </a:ext>
                </a:extLst>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extLst>
                  <a:ext uri="{0D108BD9-81ED-4DB2-BD59-A6C34878D82A}">
                    <a16:rowId xmlns:a16="http://schemas.microsoft.com/office/drawing/2014/main" val="10004"/>
                  </a:ext>
                </a:extLst>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extLst>
                  <a:ext uri="{0D108BD9-81ED-4DB2-BD59-A6C34878D82A}">
                    <a16:rowId xmlns:a16="http://schemas.microsoft.com/office/drawing/2014/main" val="10005"/>
                  </a:ext>
                </a:extLst>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extLst>
                  <a:ext uri="{0D108BD9-81ED-4DB2-BD59-A6C34878D82A}">
                    <a16:rowId xmlns:a16="http://schemas.microsoft.com/office/drawing/2014/main" val="10006"/>
                  </a:ext>
                </a:extLst>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extLst>
                  <a:ext uri="{0D108BD9-81ED-4DB2-BD59-A6C34878D82A}">
                    <a16:rowId xmlns:a16="http://schemas.microsoft.com/office/drawing/2014/main" val="10007"/>
                  </a:ext>
                </a:extLst>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extLst>
                  <a:ext uri="{0D108BD9-81ED-4DB2-BD59-A6C34878D82A}">
                    <a16:rowId xmlns:a16="http://schemas.microsoft.com/office/drawing/2014/main" val="10008"/>
                  </a:ext>
                </a:extLst>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extLst>
                  <a:ext uri="{0D108BD9-81ED-4DB2-BD59-A6C34878D82A}">
                    <a16:rowId xmlns:a16="http://schemas.microsoft.com/office/drawing/2014/main" val="10009"/>
                  </a:ext>
                </a:extLst>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extLst>
                  <a:ext uri="{0D108BD9-81ED-4DB2-BD59-A6C34878D82A}">
                    <a16:rowId xmlns:a16="http://schemas.microsoft.com/office/drawing/2014/main" val="10010"/>
                  </a:ext>
                </a:extLst>
              </a:tr>
            </a:tbl>
          </a:graphicData>
        </a:graphic>
      </p:graphicFrame>
      <p:sp>
        <p:nvSpPr>
          <p:cNvPr id="12" name="TextBox 11"/>
          <p:cNvSpPr txBox="1"/>
          <p:nvPr/>
        </p:nvSpPr>
        <p:spPr>
          <a:xfrm>
            <a:off x="457200" y="6144768"/>
            <a:ext cx="11247120" cy="274320"/>
          </a:xfrm>
          <a:prstGeom prst="rect">
            <a:avLst/>
          </a:prstGeom>
          <a:noFill/>
        </p:spPr>
        <p:txBody>
          <a:bodyPr wrap="square" lIns="0" tIns="0" rIns="0" bIns="0" anchor="t">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307777"/>
          </a:xfrm>
          <a:prstGeom prst="rect">
            <a:avLst/>
          </a:prstGeom>
          <a:noFill/>
        </p:spPr>
        <p:txBody>
          <a:bodyPr wrap="square" lIns="0" tIns="0" rIns="0" bIns="0" anchor="t">
            <a:spAutoFit/>
          </a:bodyPr>
          <a:lstStyle/>
          <a:p>
            <a:pPr algn="l"/>
            <a:r>
              <a:rPr sz="2000" b="1" dirty="0">
                <a:solidFill>
                  <a:srgbClr val="1E2761"/>
                </a:solidFill>
                <a:latin typeface="Georgia"/>
              </a:rPr>
              <a:t>Bing and Azerion produced 61 submitted applications at $789.08.</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3 / 16</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extLst>
                  <a:ext uri="{0D108BD9-81ED-4DB2-BD59-A6C34878D82A}">
                    <a16:rowId xmlns:a16="http://schemas.microsoft.com/office/drawing/2014/main" val="10000"/>
                  </a:ext>
                </a:extLst>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extLst>
                  <a:ext uri="{0D108BD9-81ED-4DB2-BD59-A6C34878D82A}">
                    <a16:rowId xmlns:a16="http://schemas.microsoft.com/office/drawing/2014/main" val="10001"/>
                  </a:ext>
                </a:extLst>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extLst>
                  <a:ext uri="{0D108BD9-81ED-4DB2-BD59-A6C34878D82A}">
                    <a16:rowId xmlns:a16="http://schemas.microsoft.com/office/drawing/2014/main" val="10002"/>
                  </a:ext>
                </a:extLst>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extLst>
                  <a:ext uri="{0D108BD9-81ED-4DB2-BD59-A6C34878D82A}">
                    <a16:rowId xmlns:a16="http://schemas.microsoft.com/office/drawing/2014/main" val="10003"/>
                  </a:ext>
                </a:extLst>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extLst>
                  <a:ext uri="{0D108BD9-81ED-4DB2-BD59-A6C34878D82A}">
                    <a16:rowId xmlns:a16="http://schemas.microsoft.com/office/drawing/2014/main" val="10004"/>
                  </a:ext>
                </a:extLst>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extLst>
                  <a:ext uri="{0D108BD9-81ED-4DB2-BD59-A6C34878D82A}">
                    <a16:rowId xmlns:a16="http://schemas.microsoft.com/office/drawing/2014/main" val="10005"/>
                  </a:ext>
                </a:extLst>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extLst>
                  <a:ext uri="{0D108BD9-81ED-4DB2-BD59-A6C34878D82A}">
                    <a16:rowId xmlns:a16="http://schemas.microsoft.com/office/drawing/2014/main" val="10006"/>
                  </a:ext>
                </a:extLst>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extLst>
                  <a:ext uri="{0D108BD9-81ED-4DB2-BD59-A6C34878D82A}">
                    <a16:rowId xmlns:a16="http://schemas.microsoft.com/office/drawing/2014/main" val="10007"/>
                  </a:ext>
                </a:extLst>
              </a:tr>
            </a:tbl>
          </a:graphicData>
        </a:graphic>
      </p:graphicFrame>
      <p:sp>
        <p:nvSpPr>
          <p:cNvPr id="11" name="TextBox 10"/>
          <p:cNvSpPr txBox="1"/>
          <p:nvPr/>
        </p:nvSpPr>
        <p:spPr>
          <a:xfrm>
            <a:off x="457200" y="4572000"/>
            <a:ext cx="6766560" cy="685800"/>
          </a:xfrm>
          <a:prstGeom prst="rect">
            <a:avLst/>
          </a:prstGeom>
          <a:noFill/>
        </p:spPr>
        <p:txBody>
          <a:bodyPr wrap="square" lIns="0" tIns="0" rIns="0" bIns="0" anchor="t">
            <a:spAutoFit/>
          </a:bodyPr>
          <a:lstStyle/>
          <a:p>
            <a:pPr algn="l"/>
            <a:r>
              <a:rPr sz="750" b="0">
                <a:solidFill>
                  <a:srgbClr val="5A6072"/>
                </a:solidFill>
                <a:latin typeface="Calibri"/>
              </a:rPr>
              <a:t>* Azerion applications are vendor-reported; Bing applications are SA360-reported, the account’s conversion source of record. Conversions come from different systems per channel and are never summed; the combined Bing + Azerion view is the one sanctioned pairing.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6096" y="1901952"/>
            <a:ext cx="3895344" cy="274320"/>
          </a:xfrm>
          <a:prstGeom prst="rect">
            <a:avLst/>
          </a:prstGeom>
          <a:noFill/>
        </p:spPr>
        <p:txBody>
          <a:bodyPr wrap="square" lIns="0" tIns="0" rIns="0" bIns="0" anchor="t">
            <a:spAutoFit/>
          </a:bodyPr>
          <a:lstStyle/>
          <a:p>
            <a:pPr algn="l"/>
            <a:r>
              <a:rPr sz="1000" b="1">
                <a:solidFill>
                  <a:srgbClr val="1E2761"/>
                </a:solidFill>
                <a:latin typeface="Georgia"/>
              </a:rPr>
              <a:t>THE SCORECARD</a:t>
            </a:r>
          </a:p>
        </p:txBody>
      </p:sp>
      <p:sp>
        <p:nvSpPr>
          <p:cNvPr id="15" name="TextBox 14"/>
          <p:cNvSpPr txBox="1"/>
          <p:nvPr/>
        </p:nvSpPr>
        <p:spPr>
          <a:xfrm>
            <a:off x="7626096" y="2240280"/>
            <a:ext cx="3895344" cy="1463040"/>
          </a:xfrm>
          <a:prstGeom prst="rect">
            <a:avLst/>
          </a:prstGeom>
          <a:noFill/>
        </p:spPr>
        <p:txBody>
          <a:bodyPr wrap="square" lIns="0" tIns="0" rIns="0" bIns="0" anchor="t">
            <a:spAutoFit/>
          </a:bodyPr>
          <a:lstStyle/>
          <a:p>
            <a:pPr algn="l"/>
            <a:r>
              <a:rPr sz="950" b="0">
                <a:solidFill>
                  <a:srgbClr val="2B3147"/>
                </a:solidFill>
                <a:latin typeface="Calibri"/>
              </a:rPr>
              <a:t>Bing and Azerion, the two channels with a submitted-application figure behind them, produced 61 applications combined at $789.08 (June: 92 at $660.00).</a:t>
            </a:r>
          </a:p>
          <a:p>
            <a:pPr algn="l">
              <a:spcBef>
                <a:spcPts val="600"/>
              </a:spcBef>
            </a:pPr>
            <a:r>
              <a:rPr sz="950" b="0">
                <a:solidFill>
                  <a:srgbClr val="2B3147"/>
                </a:solidFill>
                <a:latin typeface="Calibri"/>
              </a:rPr>
              <a:t>The rise traces to Bing, which spent the first third of July rebuilding its campaign structure and the next third transitioning to it, not to Azerion, which held steady.</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26096" y="4233672"/>
            <a:ext cx="3895344" cy="274320"/>
          </a:xfrm>
          <a:prstGeom prst="rect">
            <a:avLst/>
          </a:prstGeom>
          <a:noFill/>
        </p:spPr>
        <p:txBody>
          <a:bodyPr wrap="square" lIns="0" tIns="0" rIns="0" bIns="0" anchor="t">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lIns="0" tIns="0" rIns="0" bIns="0" anchor="t">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4 / 16</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 y="1883664"/>
            <a:ext cx="3410712" cy="219456"/>
          </a:xfrm>
          <a:prstGeom prst="rect">
            <a:avLst/>
          </a:prstGeom>
          <a:noFill/>
        </p:spPr>
        <p:txBody>
          <a:bodyPr wrap="square" lIns="0" tIns="0" rIns="0" bIns="0" anchor="t">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lIns="0" tIns="0" rIns="0" bIns="0" anchor="t">
            <a:spAutoFit/>
          </a:bodyPr>
          <a:lstStyle/>
          <a:p>
            <a:pPr algn="l"/>
            <a:r>
              <a:rPr sz="900" b="0">
                <a:solidFill>
                  <a:srgbClr val="2B3147"/>
                </a:solidFill>
                <a:latin typeface="Calibri"/>
              </a:rPr>
              <a:t>Scale the rebuilt Bing structure. It closed July at $237.12 per submitted application, less than half June’s $513.17.</a:t>
            </a:r>
          </a:p>
          <a:p>
            <a:pPr algn="l">
              <a:spcBef>
                <a:spcPts val="600"/>
              </a:spcBef>
            </a:pPr>
            <a:r>
              <a:rPr sz="900" b="0">
                <a:solidFill>
                  <a:srgbClr val="2B3147"/>
                </a:solidFill>
                <a:latin typeface="Calibri"/>
              </a:rPr>
              <a:t>August’s first days track at $243, with three products converting.</a:t>
            </a:r>
          </a:p>
          <a:p>
            <a:pPr algn="l">
              <a:spcBef>
                <a:spcPts val="600"/>
              </a:spcBef>
            </a:pPr>
            <a:r>
              <a:rPr sz="900" b="0">
                <a:solidFill>
                  <a:srgbClr val="2B3147"/>
                </a:solidFill>
                <a:latin typeface="Calibri"/>
              </a:rPr>
              <a:t>June’s Mexico commitment held: delivery concentrated in-market across the month.</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89704" y="1883664"/>
            <a:ext cx="3410712" cy="219456"/>
          </a:xfrm>
          <a:prstGeom prst="rect">
            <a:avLst/>
          </a:prstGeom>
          <a:noFill/>
        </p:spPr>
        <p:txBody>
          <a:bodyPr wrap="square" lIns="0" tIns="0" rIns="0" bIns="0" anchor="t">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lIns="0" tIns="0" rIns="0" bIns="0" anchor="t">
            <a:spAutoFit/>
          </a:bodyPr>
          <a:lstStyle/>
          <a:p>
            <a:pPr algn="l"/>
            <a:r>
              <a:rPr sz="900" b="0">
                <a:solidFill>
                  <a:srgbClr val="2B3147"/>
                </a:solidFill>
                <a:latin typeface="Calibri"/>
              </a:rPr>
              <a:t>Hold programmatic quality on Quantcast. Viewability improved 3.15 points to 54.45% and still sits under the 70% standard.</a:t>
            </a:r>
          </a:p>
          <a:p>
            <a:pPr algn="l">
              <a:spcBef>
                <a:spcPts val="600"/>
              </a:spcBef>
            </a:pPr>
            <a:r>
              <a:rPr sz="900" b="0">
                <a:solidFill>
                  <a:srgbClr val="2B3147"/>
                </a:solidFill>
                <a:latin typeface="Calibri"/>
              </a:rPr>
              <a:t>The refreshed 66-site disallow list is the direct lever, led by tvazteca.com.</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75904" y="1883664"/>
            <a:ext cx="3227832" cy="219456"/>
          </a:xfrm>
          <a:prstGeom prst="rect">
            <a:avLst/>
          </a:prstGeom>
          <a:noFill/>
        </p:spPr>
        <p:txBody>
          <a:bodyPr wrap="square" lIns="0" tIns="0" rIns="0" bIns="0" anchor="t">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lIns="0" tIns="0" rIns="0" bIns="0" anchor="t">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Both upper-funnel. Native reports spend and delivery with no conversion claim; DOOH reports delivery on its own slides.</a:t>
            </a:r>
          </a:p>
          <a:p>
            <a:pPr algn="l">
              <a:spcBef>
                <a:spcPts val="600"/>
              </a:spcBef>
            </a:pPr>
            <a:r>
              <a:rPr sz="900" b="0">
                <a:solidFill>
                  <a:srgbClr val="2B3147"/>
                </a:solidFill>
                <a:latin typeface="Calibri"/>
              </a:rPr>
              <a:t>Both gain a month-over-month read with a second month of data.</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 y="5257800"/>
            <a:ext cx="10728655" cy="731520"/>
          </a:xfrm>
          <a:prstGeom prst="rect">
            <a:avLst/>
          </a:prstGeom>
          <a:noFill/>
        </p:spPr>
        <p:txBody>
          <a:bodyPr wrap="square" lIns="0" tIns="0" rIns="0" bIns="0" anchor="ctr">
            <a:spAutoFit/>
          </a:bodyPr>
          <a:lstStyle/>
          <a:p>
            <a:pPr algn="l"/>
            <a:r>
              <a:rPr sz="1200" b="1">
                <a:solidFill>
                  <a:srgbClr val="FFFFFF"/>
                </a:solidFill>
                <a:latin typeface="Georgia"/>
              </a:rPr>
              <a:t>The rebuilt structure delivered $237.12 per submitted application. August scales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20 submitted applications at $531.25; the rebuilt structure closed the month at $237.12.</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42032"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43984"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45936"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47888"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14984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1" name="TextBox 40"/>
          <p:cNvSpPr txBox="1"/>
          <p:nvPr/>
        </p:nvSpPr>
        <p:spPr>
          <a:xfrm>
            <a:off x="731520" y="3291840"/>
            <a:ext cx="2194560" cy="274320"/>
          </a:xfrm>
          <a:prstGeom prst="rect">
            <a:avLst/>
          </a:prstGeom>
          <a:noFill/>
        </p:spPr>
        <p:txBody>
          <a:bodyPr wrap="square" lIns="0" tIns="0" rIns="0" bIns="0" anchor="t">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lIns="0" tIns="0" rIns="0" bIns="0" anchor="t">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lIns="0" tIns="0" rIns="0" bIns="0" anchor="t">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extLst>
                  <a:ext uri="{0D108BD9-81ED-4DB2-BD59-A6C34878D82A}">
                    <a16:rowId xmlns:a16="http://schemas.microsoft.com/office/drawing/2014/main" val="10000"/>
                  </a:ext>
                </a:extLst>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extLst>
                  <a:ext uri="{0D108BD9-81ED-4DB2-BD59-A6C34878D82A}">
                    <a16:rowId xmlns:a16="http://schemas.microsoft.com/office/drawing/2014/main" val="10001"/>
                  </a:ext>
                </a:extLst>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extLst>
                  <a:ext uri="{0D108BD9-81ED-4DB2-BD59-A6C34878D82A}">
                    <a16:rowId xmlns:a16="http://schemas.microsoft.com/office/drawing/2014/main" val="10002"/>
                  </a:ext>
                </a:extLst>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extLst>
                  <a:ext uri="{0D108BD9-81ED-4DB2-BD59-A6C34878D82A}">
                    <a16:rowId xmlns:a16="http://schemas.microsoft.com/office/drawing/2014/main" val="10003"/>
                  </a:ext>
                </a:extLst>
              </a:tr>
            </a:tbl>
          </a:graphicData>
        </a:graphic>
      </p:graphicFrame>
      <p:sp>
        <p:nvSpPr>
          <p:cNvPr id="45" name="TextBox 44"/>
          <p:cNvSpPr txBox="1"/>
          <p:nvPr/>
        </p:nvSpPr>
        <p:spPr>
          <a:xfrm>
            <a:off x="7863840" y="5303520"/>
            <a:ext cx="3840480" cy="1005840"/>
          </a:xfrm>
          <a:prstGeom prst="rect">
            <a:avLst/>
          </a:prstGeom>
          <a:noFill/>
        </p:spPr>
        <p:txBody>
          <a:bodyPr wrap="square" lIns="0" tIns="0" rIns="0" bIns="0" anchor="t">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Scale the rebuilt structure.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6 / 16</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76656" y="1901952"/>
            <a:ext cx="5175503" cy="274320"/>
          </a:xfrm>
          <a:prstGeom prst="rect">
            <a:avLst/>
          </a:prstGeom>
          <a:noFill/>
        </p:spPr>
        <p:txBody>
          <a:bodyPr wrap="square" lIns="0" tIns="0" rIns="0" bIns="0" anchor="t">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lIns="0" tIns="0" rIns="0" bIns="0" anchor="t">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28816" y="1901952"/>
            <a:ext cx="4992624" cy="274320"/>
          </a:xfrm>
          <a:prstGeom prst="rect">
            <a:avLst/>
          </a:prstGeom>
          <a:noFill/>
        </p:spPr>
        <p:txBody>
          <a:bodyPr wrap="square" lIns="0" tIns="0" rIns="0" bIns="0" anchor="t">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lIns="0" tIns="0" rIns="0" bIns="0" anchor="t">
            <a:spAutoFit/>
          </a:bodyPr>
          <a:lstStyle/>
          <a:p>
            <a:pPr algn="l"/>
            <a:r>
              <a:rPr sz="950" b="0">
                <a:solidFill>
                  <a:srgbClr val="2B3147"/>
                </a:solidFill>
                <a:latin typeface="Calibri"/>
              </a:rPr>
              <a:t>Scale the rebuilt structure behind the TradingView theme, holding the July close of $237.12 as volume grows. August’s first days track at $243, with three products converting.</a:t>
            </a:r>
          </a:p>
          <a:p>
            <a:pPr algn="l">
              <a:spcBef>
                <a:spcPts val="600"/>
              </a:spcBef>
            </a:pPr>
            <a:r>
              <a:rPr sz="950" b="0">
                <a:solidFill>
                  <a:srgbClr val="2B3147"/>
                </a:solidFill>
                <a:latin typeface="Calibri"/>
              </a:rPr>
              <a:t>Read the account on the rebuilt structure’s results rather than the full-month average; the second half of July is the account’s current state.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A reach month at a $0.78 CPM. Viewability is the bill to manage.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7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42032"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43984"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45936"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47888"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June: 51.3%  ·  floor 70%</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14984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directional only</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76656" y="3182112"/>
            <a:ext cx="5175503" cy="274320"/>
          </a:xfrm>
          <a:prstGeom prst="rect">
            <a:avLst/>
          </a:prstGeom>
          <a:noFill/>
        </p:spPr>
        <p:txBody>
          <a:bodyPr wrap="square" lIns="0" tIns="0" rIns="0" bIns="0" anchor="t">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lIns="0" tIns="0" rIns="0" bIns="0" anchor="t">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Viewability improved 3.15 points to 54.45% and still sits under the 70% floor the account works against.</a:t>
            </a:r>
          </a:p>
          <a:p>
            <a:pPr algn="l">
              <a:spcBef>
                <a:spcPts val="600"/>
              </a:spcBef>
            </a:pPr>
            <a:r>
              <a:rPr sz="950" b="0">
                <a:solidFill>
                  <a:srgbClr val="2B3147"/>
                </a:solidFill>
                <a:latin typeface="Calibri"/>
              </a:rPr>
              <a:t>Result volume (15) is too low to support a cost-per-result figure; the channel reads as an awareness and reach story this month.</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28816" y="3182112"/>
            <a:ext cx="4992624" cy="274320"/>
          </a:xfrm>
          <a:prstGeom prst="rect">
            <a:avLst/>
          </a:prstGeom>
          <a:noFill/>
        </p:spPr>
        <p:txBody>
          <a:bodyPr wrap="square" lIns="0" tIns="0" rIns="0" bIns="0" anchor="t">
            <a:spAutoFit/>
          </a:bodyPr>
          <a:lstStyle/>
          <a:p>
            <a:pPr algn="l"/>
            <a:r>
              <a:rPr sz="1000" b="1">
                <a:solidFill>
                  <a:srgbClr val="1E2761"/>
                </a:solidFill>
                <a:latin typeface="Georgia"/>
              </a:rPr>
              <a:t>THE SITE LIST IS THE LEVER</a:t>
            </a:r>
          </a:p>
        </p:txBody>
      </p:sp>
      <p:sp>
        <p:nvSpPr>
          <p:cNvPr id="47" name="TextBox 46"/>
          <p:cNvSpPr txBox="1"/>
          <p:nvPr/>
        </p:nvSpPr>
        <p:spPr>
          <a:xfrm>
            <a:off x="6528816" y="3520439"/>
            <a:ext cx="4992624" cy="2423160"/>
          </a:xfrm>
          <a:prstGeom prst="rect">
            <a:avLst/>
          </a:prstGeom>
          <a:noFill/>
        </p:spPr>
        <p:txBody>
          <a:bodyPr wrap="square" lIns="0" tIns="0" rIns="0" bIns="0" anchor="t">
            <a:spAutoFit/>
          </a:bodyPr>
          <a:lstStyle/>
          <a:p>
            <a:pPr algn="l"/>
            <a:r>
              <a:rPr sz="950" b="0">
                <a:solidFill>
                  <a:srgbClr val="2B3147"/>
                </a:solidFill>
                <a:latin typeface="Calibri"/>
              </a:rPr>
              <a:t>June’s 49-site blocklist is refreshed to 66 domains this month.</a:t>
            </a:r>
          </a:p>
          <a:p>
            <a:pPr algn="l">
              <a:spcBef>
                <a:spcPts val="600"/>
              </a:spcBef>
            </a:pPr>
            <a:r>
              <a:rPr sz="950" b="0">
                <a:solidFill>
                  <a:srgbClr val="2B3147"/>
                </a:solidFill>
                <a:latin typeface="Calibri"/>
              </a:rPr>
              <a:t>tvazteca.com is the headline: spend on that single domain grew to $3,451.61 in July while its viewability held near 9.6%, the second consecutive month of the pattern. If one exclusion is actioned this month, that is the one.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Apply the disallow list. Hold the 70% standard.</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8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76656" y="1901952"/>
            <a:ext cx="5175503" cy="274320"/>
          </a:xfrm>
          <a:prstGeom prst="rect">
            <a:avLst/>
          </a:prstGeom>
          <a:noFill/>
        </p:spPr>
        <p:txBody>
          <a:bodyPr wrap="square" lIns="0" tIns="0" rIns="0" bIns="0" anchor="t">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lIns="0" tIns="0" rIns="0" bIns="0" anchor="t">
            <a:spAutoFit/>
          </a:bodyPr>
          <a:lstStyle/>
          <a:p>
            <a:pPr algn="l"/>
            <a:r>
              <a:rPr sz="950" b="0">
                <a:solidFill>
                  <a:srgbClr val="2B3147"/>
                </a:solidFill>
                <a:latin typeface="Calibri"/>
              </a:rPr>
              <a:t>The disallow list is the direct lever on viewability: 66 domains flagged for exclusion, led by low-viewability news and utility inventory.</a:t>
            </a:r>
          </a:p>
          <a:p>
            <a:pPr algn="l">
              <a:spcBef>
                <a:spcPts val="600"/>
              </a:spcBef>
            </a:pPr>
            <a:r>
              <a:rPr sz="950" b="0">
                <a:solidFill>
                  <a:srgbClr val="2B3147"/>
                </a:solidFill>
                <a:latin typeface="Calibri"/>
              </a:rPr>
              <a:t>The campaign-level viewability floor recommended in June has not yet been implemented; without it, excluded inventory is replaced by unscreened inventory as reach scales.</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28816" y="1901952"/>
            <a:ext cx="4992624" cy="274320"/>
          </a:xfrm>
          <a:prstGeom prst="rect">
            <a:avLst/>
          </a:prstGeom>
          <a:noFill/>
        </p:spPr>
        <p:txBody>
          <a:bodyPr wrap="square" lIns="0" tIns="0" rIns="0" bIns="0" anchor="t">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lIns="0" tIns="0" rIns="0" bIns="0" anchor="t">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Implement the campaign-level viewability floor carried forward from June. It is the structural fix that holds quality as reach scales.</a:t>
            </a:r>
          </a:p>
          <a:p>
            <a:pPr algn="l">
              <a:spcBef>
                <a:spcPts val="600"/>
              </a:spcBef>
            </a:pPr>
            <a:r>
              <a:rPr sz="950" b="0">
                <a:solidFill>
                  <a:srgbClr val="2B3147"/>
                </a:solidFill>
                <a:latin typeface="Calibri"/>
              </a:rPr>
              <a:t>Keep the channel judged on reach and cost of reach until result volume supports more.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41 vendor-reported applications at $914.85, from 42 at $834 in June.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9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42032"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43984"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45936"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vendor-reported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47888"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vendor-reported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14984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76656" y="3182112"/>
            <a:ext cx="5175503" cy="274320"/>
          </a:xfrm>
          <a:prstGeom prst="rect">
            <a:avLst/>
          </a:prstGeom>
          <a:noFill/>
        </p:spPr>
        <p:txBody>
          <a:bodyPr wrap="square" lIns="0" tIns="0" rIns="0" bIns="0" anchor="t">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lIns="0" tIns="0" rIns="0" bIns="0" anchor="t">
            <a:spAutoFit/>
          </a:bodyPr>
          <a:lstStyle/>
          <a:p>
            <a:pPr algn="l"/>
            <a:r>
              <a:rPr sz="950" b="0">
                <a:solidFill>
                  <a:srgbClr val="2B3147"/>
                </a:solidFill>
                <a:latin typeface="Calibri"/>
              </a:rPr>
              <a:t>Applications are reported by the vendor’s own tracking rather than by SA360, the source of record behind Bing’s count; the distinction travels with the number.</a:t>
            </a:r>
          </a:p>
          <a:p>
            <a:pPr algn="l">
              <a:spcBef>
                <a:spcPts val="600"/>
              </a:spcBef>
            </a:pPr>
            <a:r>
              <a:rPr sz="950" b="0">
                <a:solidFill>
                  <a:srgbClr val="2B3147"/>
                </a:solidFill>
                <a:latin typeface="Calibri"/>
              </a:rPr>
              <a:t>June’s viewability recommendation fully landed: display rose from 68.5% to 82.47%, native came in at 77.34%, both clear of the 70% floor.</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28816" y="3182112"/>
            <a:ext cx="4992624" cy="274320"/>
          </a:xfrm>
          <a:prstGeom prst="rect">
            <a:avLst/>
          </a:prstGeom>
          <a:noFill/>
        </p:spPr>
        <p:txBody>
          <a:bodyPr wrap="square" lIns="0" tIns="0" rIns="0" bIns="0" anchor="t">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lIns="0" tIns="0" rIns="0" bIns="0" anchor="t">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Hold the pace. Confirm the delivery detail.</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10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76656" y="1901952"/>
            <a:ext cx="5175503" cy="274320"/>
          </a:xfrm>
          <a:prstGeom prst="rect">
            <a:avLst/>
          </a:prstGeom>
          <a:noFill/>
        </p:spPr>
        <p:txBody>
          <a:bodyPr wrap="square" lIns="0" tIns="0" rIns="0" bIns="0" anchor="t">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lIns="0" tIns="0" rIns="0" bIns="0" anchor="t">
            <a:spAutoFit/>
          </a:bodyPr>
          <a:lstStyle/>
          <a:p>
            <a:pPr algn="l"/>
            <a:r>
              <a:rPr sz="950" b="0">
                <a:solidFill>
                  <a:srgbClr val="2B3147"/>
                </a:solidFill>
                <a:latin typeface="Calibri"/>
              </a:rPr>
              <a:t>The channel figure is the stable read: $914.85 per vendor-reported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28816" y="1901952"/>
            <a:ext cx="4992624" cy="274320"/>
          </a:xfrm>
          <a:prstGeom prst="rect">
            <a:avLst/>
          </a:prstGeom>
          <a:noFill/>
        </p:spPr>
        <p:txBody>
          <a:bodyPr wrap="square" lIns="0" tIns="0" rIns="0" bIns="0" anchor="t">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lIns="0" tIns="0" rIns="0" bIns="0" anchor="t">
            <a:spAutoFit/>
          </a:bodyPr>
          <a:lstStyle/>
          <a:p>
            <a:pPr algn="l"/>
            <a:r>
              <a:rPr sz="950" b="0">
                <a:solidFill>
                  <a:srgbClr val="2B3147"/>
                </a:solidFill>
                <a:latin typeface="Calibri"/>
              </a:rPr>
              <a:t>Hold the channel’s pace and judge it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 and hold certification of that detail until it lands.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Meta reported on spend and delivery: $8,027 and 74,489 link clicks. Conversion measurement remains the open item.</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11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42032"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43984"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45936"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47888"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14984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76656" y="3182112"/>
            <a:ext cx="5175503" cy="274320"/>
          </a:xfrm>
          <a:prstGeom prst="rect">
            <a:avLst/>
          </a:prstGeom>
          <a:noFill/>
        </p:spPr>
        <p:txBody>
          <a:bodyPr wrap="square" lIns="0" tIns="0" rIns="0" bIns="0" anchor="t">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lIns="0" tIns="0" rIns="0" bIns="0" anchor="t">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28816" y="3182112"/>
            <a:ext cx="4992624" cy="274320"/>
          </a:xfrm>
          <a:prstGeom prst="rect">
            <a:avLst/>
          </a:prstGeom>
          <a:noFill/>
        </p:spPr>
        <p:txBody>
          <a:bodyPr wrap="square" lIns="0" tIns="0" rIns="0" bIns="0" anchor="t">
            <a:spAutoFit/>
          </a:bodyPr>
          <a:lstStyle/>
          <a:p>
            <a:pPr algn="l"/>
            <a:r>
              <a:rPr sz="1000" b="1">
                <a:solidFill>
                  <a:srgbClr val="1E2761"/>
                </a:solidFill>
                <a:latin typeface="Georgia"/>
              </a:rPr>
              <a:t>MEASUREMENT NOTE</a:t>
            </a:r>
          </a:p>
        </p:txBody>
      </p:sp>
      <p:sp>
        <p:nvSpPr>
          <p:cNvPr id="47" name="TextBox 46"/>
          <p:cNvSpPr txBox="1"/>
          <p:nvPr/>
        </p:nvSpPr>
        <p:spPr>
          <a:xfrm>
            <a:off x="6528816" y="3520439"/>
            <a:ext cx="4992624" cy="2423160"/>
          </a:xfrm>
          <a:prstGeom prst="rect">
            <a:avLst/>
          </a:prstGeom>
          <a:noFill/>
        </p:spPr>
        <p:txBody>
          <a:bodyPr wrap="square" lIns="0" tIns="0" rIns="0" bIns="0" anchor="t">
            <a:spAutoFit/>
          </a:bodyPr>
          <a:lstStyle/>
          <a:p>
            <a:pPr algn="l"/>
            <a:r>
              <a:rPr sz="950" b="0">
                <a:solidFill>
                  <a:srgbClr val="2B3147"/>
                </a:solidFill>
                <a:latin typeface="Calibri"/>
              </a:rPr>
              <a:t>July’s Meta reporting covers spend and delivery: impressions, reach, frequency, link clicks, CTR, CPC, CPM, landing-page views, placements and geo.</a:t>
            </a:r>
          </a:p>
          <a:p>
            <a:pPr algn="l">
              <a:spcBef>
                <a:spcPts val="600"/>
              </a:spcBef>
            </a:pPr>
            <a:r>
              <a:rPr sz="950" b="0">
                <a:solidFill>
                  <a:srgbClr val="2B3147"/>
                </a:solidFill>
                <a:latin typeface="Calibri"/>
              </a:rPr>
              <a:t>The platform reports 117 submitted-application pixel fires; that figure is Meta-reported and unvalidated, is not compared to Bing’s SA360-reported count, and carries no cost-per-application figure.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12 / 16</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extLst>
                  <a:ext uri="{0D108BD9-81ED-4DB2-BD59-A6C34878D82A}">
                    <a16:rowId xmlns:a16="http://schemas.microsoft.com/office/drawing/2014/main" val="10000"/>
                  </a:ext>
                </a:extLst>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extLst>
                  <a:ext uri="{0D108BD9-81ED-4DB2-BD59-A6C34878D82A}">
                    <a16:rowId xmlns:a16="http://schemas.microsoft.com/office/drawing/2014/main" val="10001"/>
                  </a:ext>
                </a:extLst>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extLst>
                  <a:ext uri="{0D108BD9-81ED-4DB2-BD59-A6C34878D82A}">
                    <a16:rowId xmlns:a16="http://schemas.microsoft.com/office/drawing/2014/main" val="10002"/>
                  </a:ext>
                </a:extLst>
              </a:tr>
            </a:tbl>
          </a:graphicData>
        </a:graphic>
      </p:graphicFrame>
      <p:sp>
        <p:nvSpPr>
          <p:cNvPr id="11" name="TextBox 10"/>
          <p:cNvSpPr txBox="1"/>
          <p:nvPr/>
        </p:nvSpPr>
        <p:spPr>
          <a:xfrm>
            <a:off x="457200" y="3566160"/>
            <a:ext cx="6766560" cy="548640"/>
          </a:xfrm>
          <a:prstGeom prst="rect">
            <a:avLst/>
          </a:prstGeom>
          <a:noFill/>
        </p:spPr>
        <p:txBody>
          <a:bodyPr wrap="square" lIns="0" tIns="0" rIns="0" bIns="0" anchor="t">
            <a:spAutoFit/>
          </a:bodyPr>
          <a:lstStyle/>
          <a:p>
            <a:pPr algn="l"/>
            <a:r>
              <a:rPr sz="750" b="0">
                <a:solidFill>
                  <a:srgbClr val="5A6072"/>
                </a:solidFill>
                <a:latin typeface="Calibri"/>
              </a:rPr>
              <a:t>Native combines Quantcast’s dedicated native placement and Azerion’s native inventory. Azerion native viewability: 77.34%, clear of the 70% floor. DOOH delivery follows on the next slides.</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6096" y="1993392"/>
            <a:ext cx="3895344" cy="274320"/>
          </a:xfrm>
          <a:prstGeom prst="rect">
            <a:avLst/>
          </a:prstGeom>
          <a:noFill/>
        </p:spPr>
        <p:txBody>
          <a:bodyPr wrap="square" lIns="0" tIns="0" rIns="0" bIns="0" anchor="t">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lIns="0" tIns="0" rIns="0" bIns="0" anchor="t">
            <a:spAutoFit/>
          </a:bodyPr>
          <a:lstStyle/>
          <a:p>
            <a:pPr algn="l"/>
            <a:r>
              <a:rPr sz="950" b="0">
                <a:solidFill>
                  <a:srgbClr val="2B3147"/>
                </a:solidFill>
                <a:latin typeface="Calibri"/>
              </a:rPr>
              <a:t>Both are upper-funnel. Native carries a spend and delivery line with no conversion claim; DOOH delivery is reported on the two slides that follow.</a:t>
            </a:r>
          </a:p>
          <a:p>
            <a:pPr algn="l">
              <a:spcBef>
                <a:spcPts val="600"/>
              </a:spcBef>
            </a:pPr>
            <a:r>
              <a:rPr sz="950" b="0">
                <a:solidFill>
                  <a:srgbClr val="2B3147"/>
                </a:solidFill>
                <a:latin typeface="Calibri"/>
              </a:rPr>
              <a:t>Both gain a month-over-month read with a second month of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DIGITAL OUT-OF-HOME  ·  CAMPAIGN OVERVIEW</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One DOOH campaign across Mexico City, Guadalajara and Monterrey.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13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TOTAL IMPRESSIONS</a:t>
            </a:r>
          </a:p>
        </p:txBody>
      </p:sp>
      <p:sp>
        <p:nvSpPr>
          <p:cNvPr id="13" name="TextBox 12"/>
          <p:cNvSpPr txBox="1"/>
          <p:nvPr/>
        </p:nvSpPr>
        <p:spPr>
          <a:xfrm>
            <a:off x="64008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1,406,105</a:t>
            </a:r>
          </a:p>
        </p:txBody>
      </p:sp>
      <p:sp>
        <p:nvSpPr>
          <p:cNvPr id="14" name="TextBox 13"/>
          <p:cNvSpPr txBox="1"/>
          <p:nvPr/>
        </p:nvSpPr>
        <p:spPr>
          <a:xfrm>
            <a:off x="64008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opportunities to see</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42032"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ESTIMATED REACH</a:t>
            </a:r>
          </a:p>
        </p:txBody>
      </p:sp>
      <p:sp>
        <p:nvSpPr>
          <p:cNvPr id="18" name="TextBox 17"/>
          <p:cNvSpPr txBox="1"/>
          <p:nvPr/>
        </p:nvSpPr>
        <p:spPr>
          <a:xfrm>
            <a:off x="2542032"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781,169</a:t>
            </a:r>
          </a:p>
        </p:txBody>
      </p:sp>
      <p:sp>
        <p:nvSpPr>
          <p:cNvPr id="19" name="TextBox 18"/>
          <p:cNvSpPr txBox="1"/>
          <p:nvPr/>
        </p:nvSpPr>
        <p:spPr>
          <a:xfrm>
            <a:off x="2542032"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unique audience, modeled</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43984"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INVESTMENT</a:t>
            </a:r>
          </a:p>
        </p:txBody>
      </p:sp>
      <p:sp>
        <p:nvSpPr>
          <p:cNvPr id="23" name="TextBox 22"/>
          <p:cNvSpPr txBox="1"/>
          <p:nvPr/>
        </p:nvSpPr>
        <p:spPr>
          <a:xfrm>
            <a:off x="4443984"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$26,865</a:t>
            </a:r>
          </a:p>
        </p:txBody>
      </p:sp>
      <p:sp>
        <p:nvSpPr>
          <p:cNvPr id="24" name="TextBox 23"/>
          <p:cNvSpPr txBox="1"/>
          <p:nvPr/>
        </p:nvSpPr>
        <p:spPr>
          <a:xfrm>
            <a:off x="4443984"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Jul 1–31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45936"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CPM</a:t>
            </a:r>
          </a:p>
        </p:txBody>
      </p:sp>
      <p:sp>
        <p:nvSpPr>
          <p:cNvPr id="28" name="TextBox 27"/>
          <p:cNvSpPr txBox="1"/>
          <p:nvPr/>
        </p:nvSpPr>
        <p:spPr>
          <a:xfrm>
            <a:off x="6345936"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$19</a:t>
            </a:r>
          </a:p>
        </p:txBody>
      </p:sp>
      <p:sp>
        <p:nvSpPr>
          <p:cNvPr id="29" name="TextBox 28"/>
          <p:cNvSpPr txBox="1"/>
          <p:nvPr/>
        </p:nvSpPr>
        <p:spPr>
          <a:xfrm>
            <a:off x="6345936"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USD per thousand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47888"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AD PLAYS</a:t>
            </a:r>
          </a:p>
        </p:txBody>
      </p:sp>
      <p:sp>
        <p:nvSpPr>
          <p:cNvPr id="33" name="TextBox 32"/>
          <p:cNvSpPr txBox="1"/>
          <p:nvPr/>
        </p:nvSpPr>
        <p:spPr>
          <a:xfrm>
            <a:off x="8247888"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126,121</a:t>
            </a:r>
          </a:p>
        </p:txBody>
      </p:sp>
      <p:sp>
        <p:nvSpPr>
          <p:cNvPr id="34" name="TextBox 33"/>
          <p:cNvSpPr txBox="1"/>
          <p:nvPr/>
        </p:nvSpPr>
        <p:spPr>
          <a:xfrm>
            <a:off x="8247888"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all 31 days</a:t>
            </a:r>
          </a:p>
        </p:txBody>
      </p:sp>
      <p:graphicFrame>
        <p:nvGraphicFramePr>
          <p:cNvPr id="35" name="Table 34"/>
          <p:cNvGraphicFramePr>
            <a:graphicFrameLocks noGrp="1"/>
          </p:cNvGraphicFramePr>
          <p:nvPr/>
        </p:nvGraphicFramePr>
        <p:xfrm>
          <a:off x="457200" y="3063240"/>
          <a:ext cx="5577840" cy="2286000"/>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81000">
                <a:tc>
                  <a:txBody>
                    <a:bodyPr/>
                    <a:lstStyle/>
                    <a:p>
                      <a:pPr algn="l"/>
                      <a:r>
                        <a:rPr sz="850" b="1">
                          <a:solidFill>
                            <a:srgbClr val="FFFFFF"/>
                          </a:solidFill>
                          <a:latin typeface="Calibri"/>
                        </a:rPr>
                        <a:t>Parameter</a:t>
                      </a:r>
                    </a:p>
                  </a:txBody>
                  <a:tcPr marL="54864" marR="54864" marT="27432" marB="27432">
                    <a:solidFill>
                      <a:srgbClr val="1E2761"/>
                    </a:solidFill>
                  </a:tcPr>
                </a:tc>
                <a:tc>
                  <a:txBody>
                    <a:bodyPr/>
                    <a:lstStyle/>
                    <a:p>
                      <a:pPr algn="r"/>
                      <a:r>
                        <a:rPr sz="850" b="1">
                          <a:solidFill>
                            <a:srgbClr val="FFFFFF"/>
                          </a:solidFill>
                          <a:latin typeface="Calibri"/>
                        </a:rPr>
                        <a:t>Detail</a:t>
                      </a:r>
                    </a:p>
                  </a:txBody>
                  <a:tcPr marL="54864" marR="54864" marT="27432" marB="27432">
                    <a:solidFill>
                      <a:srgbClr val="1E2761"/>
                    </a:solidFill>
                  </a:tcPr>
                </a:tc>
                <a:extLst>
                  <a:ext uri="{0D108BD9-81ED-4DB2-BD59-A6C34878D82A}">
                    <a16:rowId xmlns:a16="http://schemas.microsoft.com/office/drawing/2014/main" val="10000"/>
                  </a:ext>
                </a:extLst>
              </a:tr>
              <a:tr h="381000">
                <a:tc>
                  <a:txBody>
                    <a:bodyPr/>
                    <a:lstStyle/>
                    <a:p>
                      <a:pPr algn="l"/>
                      <a:r>
                        <a:rPr sz="850" b="1">
                          <a:solidFill>
                            <a:srgbClr val="2B3147"/>
                          </a:solidFill>
                          <a:latin typeface="Calibri"/>
                        </a:rPr>
                        <a:t>Markets</a:t>
                      </a:r>
                    </a:p>
                  </a:txBody>
                  <a:tcPr marL="54864" marR="54864" marT="27432" marB="27432">
                    <a:solidFill>
                      <a:srgbClr val="FFFFFF"/>
                    </a:solidFill>
                  </a:tcPr>
                </a:tc>
                <a:tc>
                  <a:txBody>
                    <a:bodyPr/>
                    <a:lstStyle/>
                    <a:p>
                      <a:pPr algn="r"/>
                      <a:r>
                        <a:rPr sz="850" b="0">
                          <a:solidFill>
                            <a:srgbClr val="2B3147"/>
                          </a:solidFill>
                          <a:latin typeface="Calibri"/>
                        </a:rPr>
                        <a:t>Mexico City, Guadalajara, Monterrey</a:t>
                      </a:r>
                    </a:p>
                  </a:txBody>
                  <a:tcPr marL="54864" marR="54864" marT="27432" marB="27432">
                    <a:solidFill>
                      <a:srgbClr val="FFFFFF"/>
                    </a:solidFill>
                  </a:tcPr>
                </a:tc>
                <a:extLst>
                  <a:ext uri="{0D108BD9-81ED-4DB2-BD59-A6C34878D82A}">
                    <a16:rowId xmlns:a16="http://schemas.microsoft.com/office/drawing/2014/main" val="10001"/>
                  </a:ext>
                </a:extLst>
              </a:tr>
              <a:tr h="381000">
                <a:tc>
                  <a:txBody>
                    <a:bodyPr/>
                    <a:lstStyle/>
                    <a:p>
                      <a:pPr algn="l"/>
                      <a:r>
                        <a:rPr sz="850" b="1">
                          <a:solidFill>
                            <a:srgbClr val="2B3147"/>
                          </a:solidFill>
                          <a:latin typeface="Calibri"/>
                        </a:rPr>
                        <a:t>Flight</a:t>
                      </a:r>
                    </a:p>
                  </a:txBody>
                  <a:tcPr marL="54864" marR="54864" marT="27432" marB="27432">
                    <a:solidFill>
                      <a:srgbClr val="F9FAFC"/>
                    </a:solidFill>
                  </a:tcPr>
                </a:tc>
                <a:tc>
                  <a:txBody>
                    <a:bodyPr/>
                    <a:lstStyle/>
                    <a:p>
                      <a:pPr algn="r"/>
                      <a:r>
                        <a:rPr sz="850" b="0">
                          <a:solidFill>
                            <a:srgbClr val="2B3147"/>
                          </a:solidFill>
                          <a:latin typeface="Calibri"/>
                        </a:rPr>
                        <a:t>July 1–31, 2026</a:t>
                      </a:r>
                    </a:p>
                  </a:txBody>
                  <a:tcPr marL="54864" marR="54864" marT="27432" marB="27432">
                    <a:solidFill>
                      <a:srgbClr val="F9FAFC"/>
                    </a:solidFill>
                  </a:tcPr>
                </a:tc>
                <a:extLst>
                  <a:ext uri="{0D108BD9-81ED-4DB2-BD59-A6C34878D82A}">
                    <a16:rowId xmlns:a16="http://schemas.microsoft.com/office/drawing/2014/main" val="10002"/>
                  </a:ext>
                </a:extLst>
              </a:tr>
              <a:tr h="381000">
                <a:tc>
                  <a:txBody>
                    <a:bodyPr/>
                    <a:lstStyle/>
                    <a:p>
                      <a:pPr algn="l"/>
                      <a:r>
                        <a:rPr sz="850" b="1">
                          <a:solidFill>
                            <a:srgbClr val="2B3147"/>
                          </a:solidFill>
                          <a:latin typeface="Calibri"/>
                        </a:rPr>
                        <a:t>Media</a:t>
                      </a:r>
                    </a:p>
                  </a:txBody>
                  <a:tcPr marL="54864" marR="54864" marT="27432" marB="27432">
                    <a:solidFill>
                      <a:srgbClr val="FFFFFF"/>
                    </a:solidFill>
                  </a:tcPr>
                </a:tc>
                <a:tc>
                  <a:txBody>
                    <a:bodyPr/>
                    <a:lstStyle/>
                    <a:p>
                      <a:pPr algn="r"/>
                      <a:r>
                        <a:rPr sz="850" b="0">
                          <a:solidFill>
                            <a:srgbClr val="2B3147"/>
                          </a:solidFill>
                          <a:latin typeface="Calibri"/>
                        </a:rPr>
                        <a:t>Digital screens and bulletins</a:t>
                      </a:r>
                    </a:p>
                  </a:txBody>
                  <a:tcPr marL="54864" marR="54864" marT="27432" marB="27432">
                    <a:solidFill>
                      <a:srgbClr val="FFFFFF"/>
                    </a:solidFill>
                  </a:tcPr>
                </a:tc>
                <a:extLst>
                  <a:ext uri="{0D108BD9-81ED-4DB2-BD59-A6C34878D82A}">
                    <a16:rowId xmlns:a16="http://schemas.microsoft.com/office/drawing/2014/main" val="10003"/>
                  </a:ext>
                </a:extLst>
              </a:tr>
              <a:tr h="381000">
                <a:tc>
                  <a:txBody>
                    <a:bodyPr/>
                    <a:lstStyle/>
                    <a:p>
                      <a:pPr algn="l"/>
                      <a:r>
                        <a:rPr sz="850" b="1">
                          <a:solidFill>
                            <a:srgbClr val="2B3147"/>
                          </a:solidFill>
                          <a:latin typeface="Calibri"/>
                        </a:rPr>
                        <a:t>Creative</a:t>
                      </a:r>
                    </a:p>
                  </a:txBody>
                  <a:tcPr marL="54864" marR="54864" marT="27432" marB="27432">
                    <a:solidFill>
                      <a:srgbClr val="F9FAFC"/>
                    </a:solidFill>
                  </a:tcPr>
                </a:tc>
                <a:tc>
                  <a:txBody>
                    <a:bodyPr/>
                    <a:lstStyle/>
                    <a:p>
                      <a:pPr algn="r"/>
                      <a:r>
                        <a:rPr sz="850" b="0">
                          <a:solidFill>
                            <a:srgbClr val="2B3147"/>
                          </a:solidFill>
                          <a:latin typeface="Calibri"/>
                        </a:rPr>
                        <a:t>Commodities theme, Spanish</a:t>
                      </a:r>
                    </a:p>
                  </a:txBody>
                  <a:tcPr marL="54864" marR="54864" marT="27432" marB="27432">
                    <a:solidFill>
                      <a:srgbClr val="F9FAFC"/>
                    </a:solidFill>
                  </a:tcPr>
                </a:tc>
                <a:extLst>
                  <a:ext uri="{0D108BD9-81ED-4DB2-BD59-A6C34878D82A}">
                    <a16:rowId xmlns:a16="http://schemas.microsoft.com/office/drawing/2014/main" val="10004"/>
                  </a:ext>
                </a:extLst>
              </a:tr>
              <a:tr h="381000">
                <a:tc>
                  <a:txBody>
                    <a:bodyPr/>
                    <a:lstStyle/>
                    <a:p>
                      <a:pPr algn="l"/>
                      <a:r>
                        <a:rPr sz="850" b="1">
                          <a:solidFill>
                            <a:srgbClr val="2B3147"/>
                          </a:solidFill>
                          <a:latin typeface="Calibri"/>
                        </a:rPr>
                        <a:t>Formats</a:t>
                      </a:r>
                    </a:p>
                  </a:txBody>
                  <a:tcPr marL="54864" marR="54864" marT="27432" marB="27432">
                    <a:solidFill>
                      <a:srgbClr val="FFFFFF"/>
                    </a:solidFill>
                  </a:tcPr>
                </a:tc>
                <a:tc>
                  <a:txBody>
                    <a:bodyPr/>
                    <a:lstStyle/>
                    <a:p>
                      <a:pPr algn="r"/>
                      <a:r>
                        <a:rPr sz="850" b="0">
                          <a:solidFill>
                            <a:srgbClr val="2B3147"/>
                          </a:solidFill>
                          <a:latin typeface="Calibri"/>
                        </a:rPr>
                        <a:t>10s and 15s video, static image</a:t>
                      </a:r>
                    </a:p>
                  </a:txBody>
                  <a:tcPr marL="54864" marR="54864" marT="27432" marB="27432">
                    <a:solidFill>
                      <a:srgbClr val="FFFFFF"/>
                    </a:solidFill>
                  </a:tcPr>
                </a:tc>
                <a:extLst>
                  <a:ext uri="{0D108BD9-81ED-4DB2-BD59-A6C34878D82A}">
                    <a16:rowId xmlns:a16="http://schemas.microsoft.com/office/drawing/2014/main" val="10005"/>
                  </a:ext>
                </a:extLst>
              </a:tr>
            </a:tbl>
          </a:graphicData>
        </a:graphic>
      </p:graphicFrame>
      <p:sp>
        <p:nvSpPr>
          <p:cNvPr id="36" name="Rectangle 35"/>
          <p:cNvSpPr/>
          <p:nvPr/>
        </p:nvSpPr>
        <p:spPr>
          <a:xfrm>
            <a:off x="6309360" y="3063240"/>
            <a:ext cx="5394960" cy="301752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6309360" y="3063240"/>
            <a:ext cx="64008" cy="3017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528816" y="3227832"/>
            <a:ext cx="4992624" cy="274320"/>
          </a:xfrm>
          <a:prstGeom prst="rect">
            <a:avLst/>
          </a:prstGeom>
          <a:noFill/>
        </p:spPr>
        <p:txBody>
          <a:bodyPr wrap="square" lIns="0" tIns="0" rIns="0" bIns="0" anchor="t">
            <a:spAutoFit/>
          </a:bodyPr>
          <a:lstStyle/>
          <a:p>
            <a:pPr algn="l"/>
            <a:r>
              <a:rPr sz="1000" b="1">
                <a:solidFill>
                  <a:srgbClr val="1E2761"/>
                </a:solidFill>
                <a:latin typeface="Georgia"/>
              </a:rPr>
              <a:t>CAMPAIGN TAKEAWAY</a:t>
            </a:r>
          </a:p>
        </p:txBody>
      </p:sp>
      <p:sp>
        <p:nvSpPr>
          <p:cNvPr id="39" name="TextBox 38"/>
          <p:cNvSpPr txBox="1"/>
          <p:nvPr/>
        </p:nvSpPr>
        <p:spPr>
          <a:xfrm>
            <a:off x="6528816" y="3566160"/>
            <a:ext cx="4992624" cy="2331720"/>
          </a:xfrm>
          <a:prstGeom prst="rect">
            <a:avLst/>
          </a:prstGeom>
          <a:noFill/>
        </p:spPr>
        <p:txBody>
          <a:bodyPr wrap="square" lIns="0" tIns="0" rIns="0" bIns="0" anchor="t">
            <a:spAutoFit/>
          </a:bodyPr>
          <a:lstStyle/>
          <a:p>
            <a:pPr algn="l"/>
            <a:r>
              <a:rPr sz="950" b="0">
                <a:solidFill>
                  <a:srgbClr val="2B3147"/>
                </a:solidFill>
                <a:latin typeface="Calibri"/>
              </a:rPr>
              <a:t>The campaign ran all 31 days across the same three markets as June, on the commodities creative theme in Spanish.</a:t>
            </a:r>
          </a:p>
          <a:p>
            <a:pPr algn="l">
              <a:spcBef>
                <a:spcPts val="600"/>
              </a:spcBef>
            </a:pPr>
            <a:r>
              <a:rPr sz="950" b="0">
                <a:solidFill>
                  <a:srgbClr val="2B3147"/>
                </a:solidFill>
                <a:latin typeface="Calibri"/>
              </a:rPr>
              <a:t>Mexico City carried 59% of delivery, with Guadalajara and Monterrey splitting the balance.</a:t>
            </a:r>
          </a:p>
          <a:p>
            <a:pPr algn="l">
              <a:spcBef>
                <a:spcPts val="600"/>
              </a:spcBef>
            </a:pPr>
            <a:r>
              <a:rPr sz="950" b="0">
                <a:solidFill>
                  <a:srgbClr val="2B3147"/>
                </a:solidFill>
                <a:latin typeface="Calibri"/>
              </a:rPr>
              <a:t>A second full month of delivery gives the line its first month-over-month read in the August report.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DIGITAL OUT-OF-HOME  ·  DELIVERY BY CITY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Mexico City carried 59% of July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14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MEXICO CITY</a:t>
            </a:r>
          </a:p>
        </p:txBody>
      </p:sp>
      <p:sp>
        <p:nvSpPr>
          <p:cNvPr id="13" name="TextBox 12"/>
          <p:cNvSpPr txBox="1"/>
          <p:nvPr/>
        </p:nvSpPr>
        <p:spPr>
          <a:xfrm>
            <a:off x="64008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825,383</a:t>
            </a:r>
          </a:p>
        </p:txBody>
      </p:sp>
      <p:sp>
        <p:nvSpPr>
          <p:cNvPr id="14" name="TextBox 13"/>
          <p:cNvSpPr txBox="1"/>
          <p:nvPr/>
        </p:nvSpPr>
        <p:spPr>
          <a:xfrm>
            <a:off x="64008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459K reach · 59%</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42032"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GUADALAJARA</a:t>
            </a:r>
          </a:p>
        </p:txBody>
      </p:sp>
      <p:sp>
        <p:nvSpPr>
          <p:cNvPr id="18" name="TextBox 17"/>
          <p:cNvSpPr txBox="1"/>
          <p:nvPr/>
        </p:nvSpPr>
        <p:spPr>
          <a:xfrm>
            <a:off x="2542032"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314,817</a:t>
            </a:r>
          </a:p>
        </p:txBody>
      </p:sp>
      <p:sp>
        <p:nvSpPr>
          <p:cNvPr id="19" name="TextBox 18"/>
          <p:cNvSpPr txBox="1"/>
          <p:nvPr/>
        </p:nvSpPr>
        <p:spPr>
          <a:xfrm>
            <a:off x="2542032"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175K reach · 22%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43984"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MONTERREY</a:t>
            </a:r>
          </a:p>
        </p:txBody>
      </p:sp>
      <p:sp>
        <p:nvSpPr>
          <p:cNvPr id="23" name="TextBox 22"/>
          <p:cNvSpPr txBox="1"/>
          <p:nvPr/>
        </p:nvSpPr>
        <p:spPr>
          <a:xfrm>
            <a:off x="4443984"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265,905</a:t>
            </a:r>
          </a:p>
        </p:txBody>
      </p:sp>
      <p:sp>
        <p:nvSpPr>
          <p:cNvPr id="24" name="TextBox 23"/>
          <p:cNvSpPr txBox="1"/>
          <p:nvPr/>
        </p:nvSpPr>
        <p:spPr>
          <a:xfrm>
            <a:off x="4443984"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148K reach · 19%</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45936"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TOTAL</a:t>
            </a:r>
          </a:p>
        </p:txBody>
      </p:sp>
      <p:sp>
        <p:nvSpPr>
          <p:cNvPr id="28" name="TextBox 27"/>
          <p:cNvSpPr txBox="1"/>
          <p:nvPr/>
        </p:nvSpPr>
        <p:spPr>
          <a:xfrm>
            <a:off x="6345936"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1,406,105</a:t>
            </a:r>
          </a:p>
        </p:txBody>
      </p:sp>
      <p:sp>
        <p:nvSpPr>
          <p:cNvPr id="29" name="TextBox 28"/>
          <p:cNvSpPr txBox="1"/>
          <p:nvPr/>
        </p:nvSpPr>
        <p:spPr>
          <a:xfrm>
            <a:off x="6345936"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781K reach · 100%</a:t>
            </a:r>
          </a:p>
        </p:txBody>
      </p:sp>
      <p:graphicFrame>
        <p:nvGraphicFramePr>
          <p:cNvPr id="30" name="Table 29"/>
          <p:cNvGraphicFramePr>
            <a:graphicFrameLocks noGrp="1"/>
          </p:cNvGraphicFramePr>
          <p:nvPr/>
        </p:nvGraphicFramePr>
        <p:xfrm>
          <a:off x="457200" y="2926080"/>
          <a:ext cx="5669280" cy="192024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384048">
                <a:tc>
                  <a:txBody>
                    <a:bodyPr/>
                    <a:lstStyle/>
                    <a:p>
                      <a:pPr algn="l"/>
                      <a:r>
                        <a:rPr sz="850" b="1">
                          <a:solidFill>
                            <a:srgbClr val="FFFFFF"/>
                          </a:solidFill>
                          <a:latin typeface="Calibri"/>
                        </a:rPr>
                        <a:t>City</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Est. reach</a:t>
                      </a:r>
                    </a:p>
                  </a:txBody>
                  <a:tcPr marL="54864" marR="54864" marT="27432" marB="27432">
                    <a:solidFill>
                      <a:srgbClr val="1E2761"/>
                    </a:solidFill>
                  </a:tcPr>
                </a:tc>
                <a:tc>
                  <a:txBody>
                    <a:bodyPr/>
                    <a:lstStyle/>
                    <a:p>
                      <a:pPr algn="r"/>
                      <a:r>
                        <a:rPr sz="850" b="1">
                          <a:solidFill>
                            <a:srgbClr val="FFFFFF"/>
                          </a:solidFill>
                          <a:latin typeface="Calibri"/>
                        </a:rPr>
                        <a:t>Share</a:t>
                      </a:r>
                    </a:p>
                  </a:txBody>
                  <a:tcPr marL="54864" marR="54864" marT="27432" marB="27432">
                    <a:solidFill>
                      <a:srgbClr val="1E2761"/>
                    </a:solidFill>
                  </a:tcPr>
                </a:tc>
                <a:extLst>
                  <a:ext uri="{0D108BD9-81ED-4DB2-BD59-A6C34878D82A}">
                    <a16:rowId xmlns:a16="http://schemas.microsoft.com/office/drawing/2014/main" val="10000"/>
                  </a:ext>
                </a:extLst>
              </a:tr>
              <a:tr h="384048">
                <a:tc>
                  <a:txBody>
                    <a:bodyPr/>
                    <a:lstStyle/>
                    <a:p>
                      <a:pPr algn="l"/>
                      <a:r>
                        <a:rPr sz="850" b="1">
                          <a:solidFill>
                            <a:srgbClr val="2B3147"/>
                          </a:solidFill>
                          <a:latin typeface="Calibri"/>
                        </a:rPr>
                        <a:t>Mexico City</a:t>
                      </a:r>
                    </a:p>
                  </a:txBody>
                  <a:tcPr marL="54864" marR="54864" marT="27432" marB="27432">
                    <a:solidFill>
                      <a:srgbClr val="FFFFFF"/>
                    </a:solidFill>
                  </a:tcPr>
                </a:tc>
                <a:tc>
                  <a:txBody>
                    <a:bodyPr/>
                    <a:lstStyle/>
                    <a:p>
                      <a:pPr algn="r"/>
                      <a:r>
                        <a:rPr sz="850" b="0">
                          <a:solidFill>
                            <a:srgbClr val="2B3147"/>
                          </a:solidFill>
                          <a:latin typeface="Calibri"/>
                        </a:rPr>
                        <a:t>$15,724</a:t>
                      </a:r>
                    </a:p>
                  </a:txBody>
                  <a:tcPr marL="54864" marR="54864" marT="27432" marB="27432">
                    <a:solidFill>
                      <a:srgbClr val="FFFFFF"/>
                    </a:solidFill>
                  </a:tcPr>
                </a:tc>
                <a:tc>
                  <a:txBody>
                    <a:bodyPr/>
                    <a:lstStyle/>
                    <a:p>
                      <a:pPr algn="r"/>
                      <a:r>
                        <a:rPr sz="850" b="0">
                          <a:solidFill>
                            <a:srgbClr val="2B3147"/>
                          </a:solidFill>
                          <a:latin typeface="Calibri"/>
                        </a:rPr>
                        <a:t>825,383</a:t>
                      </a:r>
                    </a:p>
                  </a:txBody>
                  <a:tcPr marL="54864" marR="54864" marT="27432" marB="27432">
                    <a:solidFill>
                      <a:srgbClr val="FFFFFF"/>
                    </a:solidFill>
                  </a:tcPr>
                </a:tc>
                <a:tc>
                  <a:txBody>
                    <a:bodyPr/>
                    <a:lstStyle/>
                    <a:p>
                      <a:pPr algn="r"/>
                      <a:r>
                        <a:rPr sz="850" b="0">
                          <a:solidFill>
                            <a:srgbClr val="2B3147"/>
                          </a:solidFill>
                          <a:latin typeface="Calibri"/>
                        </a:rPr>
                        <a:t>458,546</a:t>
                      </a:r>
                    </a:p>
                  </a:txBody>
                  <a:tcPr marL="54864" marR="54864" marT="27432" marB="27432">
                    <a:solidFill>
                      <a:srgbClr val="FFFFFF"/>
                    </a:solidFill>
                  </a:tcPr>
                </a:tc>
                <a:tc>
                  <a:txBody>
                    <a:bodyPr/>
                    <a:lstStyle/>
                    <a:p>
                      <a:pPr algn="r"/>
                      <a:r>
                        <a:rPr sz="850" b="0">
                          <a:solidFill>
                            <a:srgbClr val="2B3147"/>
                          </a:solidFill>
                          <a:latin typeface="Calibri"/>
                        </a:rPr>
                        <a:t>58.7%</a:t>
                      </a:r>
                    </a:p>
                  </a:txBody>
                  <a:tcPr marL="54864" marR="54864" marT="27432" marB="27432">
                    <a:solidFill>
                      <a:srgbClr val="FFFFFF"/>
                    </a:solidFill>
                  </a:tcPr>
                </a:tc>
                <a:extLst>
                  <a:ext uri="{0D108BD9-81ED-4DB2-BD59-A6C34878D82A}">
                    <a16:rowId xmlns:a16="http://schemas.microsoft.com/office/drawing/2014/main" val="10001"/>
                  </a:ext>
                </a:extLst>
              </a:tr>
              <a:tr h="384048">
                <a:tc>
                  <a:txBody>
                    <a:bodyPr/>
                    <a:lstStyle/>
                    <a:p>
                      <a:pPr algn="l"/>
                      <a:r>
                        <a:rPr sz="850" b="1">
                          <a:solidFill>
                            <a:srgbClr val="2B3147"/>
                          </a:solidFill>
                          <a:latin typeface="Calibri"/>
                        </a:rPr>
                        <a:t>Guadalajara</a:t>
                      </a:r>
                    </a:p>
                  </a:txBody>
                  <a:tcPr marL="54864" marR="54864" marT="27432" marB="27432">
                    <a:solidFill>
                      <a:srgbClr val="F9FAFC"/>
                    </a:solidFill>
                  </a:tcPr>
                </a:tc>
                <a:tc>
                  <a:txBody>
                    <a:bodyPr/>
                    <a:lstStyle/>
                    <a:p>
                      <a:pPr algn="r"/>
                      <a:r>
                        <a:rPr sz="850" b="0">
                          <a:solidFill>
                            <a:srgbClr val="2B3147"/>
                          </a:solidFill>
                          <a:latin typeface="Calibri"/>
                        </a:rPr>
                        <a:t>$6,040</a:t>
                      </a:r>
                    </a:p>
                  </a:txBody>
                  <a:tcPr marL="54864" marR="54864" marT="27432" marB="27432">
                    <a:solidFill>
                      <a:srgbClr val="F9FAFC"/>
                    </a:solidFill>
                  </a:tcPr>
                </a:tc>
                <a:tc>
                  <a:txBody>
                    <a:bodyPr/>
                    <a:lstStyle/>
                    <a:p>
                      <a:pPr algn="r"/>
                      <a:r>
                        <a:rPr sz="850" b="0">
                          <a:solidFill>
                            <a:srgbClr val="2B3147"/>
                          </a:solidFill>
                          <a:latin typeface="Calibri"/>
                        </a:rPr>
                        <a:t>314,817</a:t>
                      </a:r>
                    </a:p>
                  </a:txBody>
                  <a:tcPr marL="54864" marR="54864" marT="27432" marB="27432">
                    <a:solidFill>
                      <a:srgbClr val="F9FAFC"/>
                    </a:solidFill>
                  </a:tcPr>
                </a:tc>
                <a:tc>
                  <a:txBody>
                    <a:bodyPr/>
                    <a:lstStyle/>
                    <a:p>
                      <a:pPr algn="r"/>
                      <a:r>
                        <a:rPr sz="850" b="0">
                          <a:solidFill>
                            <a:srgbClr val="2B3147"/>
                          </a:solidFill>
                          <a:latin typeface="Calibri"/>
                        </a:rPr>
                        <a:t>174,898</a:t>
                      </a:r>
                    </a:p>
                  </a:txBody>
                  <a:tcPr marL="54864" marR="54864" marT="27432" marB="27432">
                    <a:solidFill>
                      <a:srgbClr val="F9FAFC"/>
                    </a:solidFill>
                  </a:tcPr>
                </a:tc>
                <a:tc>
                  <a:txBody>
                    <a:bodyPr/>
                    <a:lstStyle/>
                    <a:p>
                      <a:pPr algn="r"/>
                      <a:r>
                        <a:rPr sz="850" b="0">
                          <a:solidFill>
                            <a:srgbClr val="2B3147"/>
                          </a:solidFill>
                          <a:latin typeface="Calibri"/>
                        </a:rPr>
                        <a:t>22.4%</a:t>
                      </a:r>
                    </a:p>
                  </a:txBody>
                  <a:tcPr marL="54864" marR="54864" marT="27432" marB="27432">
                    <a:solidFill>
                      <a:srgbClr val="F9FAFC"/>
                    </a:solidFill>
                  </a:tcPr>
                </a:tc>
                <a:extLst>
                  <a:ext uri="{0D108BD9-81ED-4DB2-BD59-A6C34878D82A}">
                    <a16:rowId xmlns:a16="http://schemas.microsoft.com/office/drawing/2014/main" val="10002"/>
                  </a:ext>
                </a:extLst>
              </a:tr>
              <a:tr h="384048">
                <a:tc>
                  <a:txBody>
                    <a:bodyPr/>
                    <a:lstStyle/>
                    <a:p>
                      <a:pPr algn="l"/>
                      <a:r>
                        <a:rPr sz="850" b="1">
                          <a:solidFill>
                            <a:srgbClr val="2B3147"/>
                          </a:solidFill>
                          <a:latin typeface="Calibri"/>
                        </a:rPr>
                        <a:t>Monterrey</a:t>
                      </a:r>
                    </a:p>
                  </a:txBody>
                  <a:tcPr marL="54864" marR="54864" marT="27432" marB="27432">
                    <a:solidFill>
                      <a:srgbClr val="FFFFFF"/>
                    </a:solidFill>
                  </a:tcPr>
                </a:tc>
                <a:tc>
                  <a:txBody>
                    <a:bodyPr/>
                    <a:lstStyle/>
                    <a:p>
                      <a:pPr algn="r"/>
                      <a:r>
                        <a:rPr sz="850" b="0">
                          <a:solidFill>
                            <a:srgbClr val="2B3147"/>
                          </a:solidFill>
                          <a:latin typeface="Calibri"/>
                        </a:rPr>
                        <a:t>$5,101</a:t>
                      </a:r>
                    </a:p>
                  </a:txBody>
                  <a:tcPr marL="54864" marR="54864" marT="27432" marB="27432">
                    <a:solidFill>
                      <a:srgbClr val="FFFFFF"/>
                    </a:solidFill>
                  </a:tcPr>
                </a:tc>
                <a:tc>
                  <a:txBody>
                    <a:bodyPr/>
                    <a:lstStyle/>
                    <a:p>
                      <a:pPr algn="r"/>
                      <a:r>
                        <a:rPr sz="850" b="0">
                          <a:solidFill>
                            <a:srgbClr val="2B3147"/>
                          </a:solidFill>
                          <a:latin typeface="Calibri"/>
                        </a:rPr>
                        <a:t>265,905</a:t>
                      </a:r>
                    </a:p>
                  </a:txBody>
                  <a:tcPr marL="54864" marR="54864" marT="27432" marB="27432">
                    <a:solidFill>
                      <a:srgbClr val="FFFFFF"/>
                    </a:solidFill>
                  </a:tcPr>
                </a:tc>
                <a:tc>
                  <a:txBody>
                    <a:bodyPr/>
                    <a:lstStyle/>
                    <a:p>
                      <a:pPr algn="r"/>
                      <a:r>
                        <a:rPr sz="850" b="0">
                          <a:solidFill>
                            <a:srgbClr val="2B3147"/>
                          </a:solidFill>
                          <a:latin typeface="Calibri"/>
                        </a:rPr>
                        <a:t>147,725</a:t>
                      </a:r>
                    </a:p>
                  </a:txBody>
                  <a:tcPr marL="54864" marR="54864" marT="27432" marB="27432">
                    <a:solidFill>
                      <a:srgbClr val="FFFFFF"/>
                    </a:solidFill>
                  </a:tcPr>
                </a:tc>
                <a:tc>
                  <a:txBody>
                    <a:bodyPr/>
                    <a:lstStyle/>
                    <a:p>
                      <a:pPr algn="r"/>
                      <a:r>
                        <a:rPr sz="850" b="0">
                          <a:solidFill>
                            <a:srgbClr val="2B3147"/>
                          </a:solidFill>
                          <a:latin typeface="Calibri"/>
                        </a:rPr>
                        <a:t>18.9%</a:t>
                      </a:r>
                    </a:p>
                  </a:txBody>
                  <a:tcPr marL="54864" marR="54864" marT="27432" marB="27432">
                    <a:solidFill>
                      <a:srgbClr val="FFFFFF"/>
                    </a:solidFill>
                  </a:tcPr>
                </a:tc>
                <a:extLst>
                  <a:ext uri="{0D108BD9-81ED-4DB2-BD59-A6C34878D82A}">
                    <a16:rowId xmlns:a16="http://schemas.microsoft.com/office/drawing/2014/main" val="10003"/>
                  </a:ext>
                </a:extLst>
              </a:tr>
              <a:tr h="384048">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$26,865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c>
                  <a:txBody>
                    <a:bodyPr/>
                    <a:lstStyle/>
                    <a:p>
                      <a:pPr algn="r"/>
                      <a:r>
                        <a:rPr sz="850" b="1">
                          <a:solidFill>
                            <a:srgbClr val="1E2761"/>
                          </a:solidFill>
                          <a:latin typeface="Calibri"/>
                        </a:rPr>
                        <a:t>781,169</a:t>
                      </a:r>
                    </a:p>
                  </a:txBody>
                  <a:tcPr marL="54864" marR="54864" marT="27432" marB="27432">
                    <a:solidFill>
                      <a:srgbClr val="CADCFC"/>
                    </a:solidFill>
                  </a:tcPr>
                </a:tc>
                <a:tc>
                  <a:txBody>
                    <a:bodyPr/>
                    <a:lstStyle/>
                    <a:p>
                      <a:pPr algn="r"/>
                      <a:r>
                        <a:rPr sz="850" b="1">
                          <a:solidFill>
                            <a:srgbClr val="1E2761"/>
                          </a:solidFill>
                          <a:latin typeface="Calibri"/>
                        </a:rPr>
                        <a:t>100%</a:t>
                      </a:r>
                    </a:p>
                  </a:txBody>
                  <a:tcPr marL="54864" marR="54864" marT="27432" marB="27432">
                    <a:solidFill>
                      <a:srgbClr val="CADCFC"/>
                    </a:solidFill>
                  </a:tcPr>
                </a:tc>
                <a:extLst>
                  <a:ext uri="{0D108BD9-81ED-4DB2-BD59-A6C34878D82A}">
                    <a16:rowId xmlns:a16="http://schemas.microsoft.com/office/drawing/2014/main" val="10004"/>
                  </a:ext>
                </a:extLst>
              </a:tr>
            </a:tbl>
          </a:graphicData>
        </a:graphic>
      </p:graphicFrame>
      <p:graphicFrame>
        <p:nvGraphicFramePr>
          <p:cNvPr id="31" name="Table 30"/>
          <p:cNvGraphicFramePr>
            <a:graphicFrameLocks noGrp="1"/>
          </p:cNvGraphicFramePr>
          <p:nvPr/>
        </p:nvGraphicFramePr>
        <p:xfrm>
          <a:off x="6400800" y="2926080"/>
          <a:ext cx="5303520" cy="224028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20040">
                <a:tc>
                  <a:txBody>
                    <a:bodyPr/>
                    <a:lstStyle/>
                    <a:p>
                      <a:pPr algn="l"/>
                      <a:r>
                        <a:rPr sz="850" b="1">
                          <a:solidFill>
                            <a:srgbClr val="FFFFFF"/>
                          </a:solidFill>
                          <a:latin typeface="Calibri"/>
                        </a:rPr>
                        <a:t>Category</a:t>
                      </a:r>
                    </a:p>
                  </a:txBody>
                  <a:tcPr marL="54864" marR="54864" marT="27432" marB="27432">
                    <a:solidFill>
                      <a:srgbClr val="1E2761"/>
                    </a:solidFill>
                  </a:tcPr>
                </a:tc>
                <a:tc>
                  <a:txBody>
                    <a:bodyPr/>
                    <a:lstStyle/>
                    <a:p>
                      <a:pPr algn="r"/>
                      <a:r>
                        <a:rPr sz="850" b="1">
                          <a:solidFill>
                            <a:srgbClr val="FFFFFF"/>
                          </a:solidFill>
                          <a:latin typeface="Calibri"/>
                        </a:rPr>
                        <a:t>Mexico City</a:t>
                      </a:r>
                    </a:p>
                  </a:txBody>
                  <a:tcPr marL="54864" marR="54864" marT="27432" marB="27432">
                    <a:solidFill>
                      <a:srgbClr val="1E2761"/>
                    </a:solidFill>
                  </a:tcPr>
                </a:tc>
                <a:tc>
                  <a:txBody>
                    <a:bodyPr/>
                    <a:lstStyle/>
                    <a:p>
                      <a:pPr algn="r"/>
                      <a:r>
                        <a:rPr sz="850" b="1">
                          <a:solidFill>
                            <a:srgbClr val="FFFFFF"/>
                          </a:solidFill>
                          <a:latin typeface="Calibri"/>
                        </a:rPr>
                        <a:t>Guadalajara</a:t>
                      </a:r>
                    </a:p>
                  </a:txBody>
                  <a:tcPr marL="54864" marR="54864" marT="27432" marB="27432">
                    <a:solidFill>
                      <a:srgbClr val="1E2761"/>
                    </a:solidFill>
                  </a:tcPr>
                </a:tc>
                <a:tc>
                  <a:txBody>
                    <a:bodyPr/>
                    <a:lstStyle/>
                    <a:p>
                      <a:pPr algn="r"/>
                      <a:r>
                        <a:rPr sz="850" b="1">
                          <a:solidFill>
                            <a:srgbClr val="FFFFFF"/>
                          </a:solidFill>
                          <a:latin typeface="Calibri"/>
                        </a:rPr>
                        <a:t>Monterrey</a:t>
                      </a:r>
                    </a:p>
                  </a:txBody>
                  <a:tcPr marL="54864" marR="54864" marT="27432" marB="27432">
                    <a:solidFill>
                      <a:srgbClr val="1E2761"/>
                    </a:solidFill>
                  </a:tcPr>
                </a:tc>
                <a:tc>
                  <a:txBody>
                    <a:bodyPr/>
                    <a:lstStyle/>
                    <a:p>
                      <a:pPr algn="r"/>
                      <a:r>
                        <a:rPr sz="850" b="1">
                          <a:solidFill>
                            <a:srgbClr val="FFFFFF"/>
                          </a:solidFill>
                          <a:latin typeface="Calibri"/>
                        </a:rPr>
                        <a:t>Total</a:t>
                      </a:r>
                    </a:p>
                  </a:txBody>
                  <a:tcPr marL="54864" marR="54864" marT="27432" marB="27432">
                    <a:solidFill>
                      <a:srgbClr val="1E2761"/>
                    </a:solidFill>
                  </a:tcPr>
                </a:tc>
                <a:extLst>
                  <a:ext uri="{0D108BD9-81ED-4DB2-BD59-A6C34878D82A}">
                    <a16:rowId xmlns:a16="http://schemas.microsoft.com/office/drawing/2014/main" val="10000"/>
                  </a:ext>
                </a:extLst>
              </a:tr>
              <a:tr h="320040">
                <a:tc>
                  <a:txBody>
                    <a:bodyPr/>
                    <a:lstStyle/>
                    <a:p>
                      <a:pPr algn="l"/>
                      <a:r>
                        <a:rPr sz="850" b="1">
                          <a:solidFill>
                            <a:srgbClr val="2B3147"/>
                          </a:solidFill>
                          <a:latin typeface="Calibri"/>
                        </a:rPr>
                        <a:t>Airport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extLst>
                  <a:ext uri="{0D108BD9-81ED-4DB2-BD59-A6C34878D82A}">
                    <a16:rowId xmlns:a16="http://schemas.microsoft.com/office/drawing/2014/main" val="10001"/>
                  </a:ext>
                </a:extLst>
              </a:tr>
              <a:tr h="320040">
                <a:tc>
                  <a:txBody>
                    <a:bodyPr/>
                    <a:lstStyle/>
                    <a:p>
                      <a:pPr algn="l"/>
                      <a:r>
                        <a:rPr sz="850" b="1">
                          <a:solidFill>
                            <a:srgbClr val="2B3147"/>
                          </a:solidFill>
                          <a:latin typeface="Calibri"/>
                        </a:rPr>
                        <a:t>Main Avenue / Roadside</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extLst>
                  <a:ext uri="{0D108BD9-81ED-4DB2-BD59-A6C34878D82A}">
                    <a16:rowId xmlns:a16="http://schemas.microsoft.com/office/drawing/2014/main" val="10002"/>
                  </a:ext>
                </a:extLst>
              </a:tr>
              <a:tr h="320040">
                <a:tc>
                  <a:txBody>
                    <a:bodyPr/>
                    <a:lstStyle/>
                    <a:p>
                      <a:pPr algn="l"/>
                      <a:r>
                        <a:rPr sz="850" b="1">
                          <a:solidFill>
                            <a:srgbClr val="2B3147"/>
                          </a:solidFill>
                          <a:latin typeface="Calibri"/>
                        </a:rPr>
                        <a:t>Shopping Mall / Retail</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extLst>
                  <a:ext uri="{0D108BD9-81ED-4DB2-BD59-A6C34878D82A}">
                    <a16:rowId xmlns:a16="http://schemas.microsoft.com/office/drawing/2014/main" val="10003"/>
                  </a:ext>
                </a:extLst>
              </a:tr>
              <a:tr h="320040">
                <a:tc>
                  <a:txBody>
                    <a:bodyPr/>
                    <a:lstStyle/>
                    <a:p>
                      <a:pPr algn="l"/>
                      <a:r>
                        <a:rPr sz="850" b="1">
                          <a:solidFill>
                            <a:srgbClr val="2B3147"/>
                          </a:solidFill>
                          <a:latin typeface="Calibri"/>
                        </a:rPr>
                        <a:t>Leisure &amp; Hospitality</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extLst>
                  <a:ext uri="{0D108BD9-81ED-4DB2-BD59-A6C34878D82A}">
                    <a16:rowId xmlns:a16="http://schemas.microsoft.com/office/drawing/2014/main" val="10004"/>
                  </a:ext>
                </a:extLst>
              </a:tr>
              <a:tr h="320040">
                <a:tc>
                  <a:txBody>
                    <a:bodyPr/>
                    <a:lstStyle/>
                    <a:p>
                      <a:pPr algn="l"/>
                      <a:r>
                        <a:rPr sz="850" b="1">
                          <a:solidFill>
                            <a:srgbClr val="2B3147"/>
                          </a:solidFill>
                          <a:latin typeface="Calibri"/>
                        </a:rPr>
                        <a:t>Other</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extLst>
                  <a:ext uri="{0D108BD9-81ED-4DB2-BD59-A6C34878D82A}">
                    <a16:rowId xmlns:a16="http://schemas.microsoft.com/office/drawing/2014/main" val="10005"/>
                  </a:ext>
                </a:extLst>
              </a:tr>
              <a:tr h="320040">
                <a:tc>
                  <a:txBody>
                    <a:bodyPr/>
                    <a:lstStyle/>
                    <a:p>
                      <a:pPr algn="l"/>
                      <a:r>
                        <a:rPr sz="850" b="1">
                          <a:solidFill>
                            <a:srgbClr val="1E2761"/>
                          </a:solidFill>
                          <a:latin typeface="Calibri"/>
                        </a:rPr>
                        <a:t>City impressions</a:t>
                      </a:r>
                    </a:p>
                  </a:txBody>
                  <a:tcPr marL="54864" marR="54864" marT="27432" marB="27432">
                    <a:solidFill>
                      <a:srgbClr val="CADCFC"/>
                    </a:solidFill>
                  </a:tcPr>
                </a:tc>
                <a:tc>
                  <a:txBody>
                    <a:bodyPr/>
                    <a:lstStyle/>
                    <a:p>
                      <a:pPr algn="r"/>
                      <a:r>
                        <a:rPr sz="850" b="1">
                          <a:solidFill>
                            <a:srgbClr val="1E2761"/>
                          </a:solidFill>
                          <a:latin typeface="Calibri"/>
                        </a:rPr>
                        <a:t>825,383</a:t>
                      </a:r>
                    </a:p>
                  </a:txBody>
                  <a:tcPr marL="54864" marR="54864" marT="27432" marB="27432">
                    <a:solidFill>
                      <a:srgbClr val="CADCFC"/>
                    </a:solidFill>
                  </a:tcPr>
                </a:tc>
                <a:tc>
                  <a:txBody>
                    <a:bodyPr/>
                    <a:lstStyle/>
                    <a:p>
                      <a:pPr algn="r"/>
                      <a:r>
                        <a:rPr sz="850" b="1">
                          <a:solidFill>
                            <a:srgbClr val="1E2761"/>
                          </a:solidFill>
                          <a:latin typeface="Calibri"/>
                        </a:rPr>
                        <a:t>314,817</a:t>
                      </a:r>
                    </a:p>
                  </a:txBody>
                  <a:tcPr marL="54864" marR="54864" marT="27432" marB="27432">
                    <a:solidFill>
                      <a:srgbClr val="CADCFC"/>
                    </a:solidFill>
                  </a:tcPr>
                </a:tc>
                <a:tc>
                  <a:txBody>
                    <a:bodyPr/>
                    <a:lstStyle/>
                    <a:p>
                      <a:pPr algn="r"/>
                      <a:r>
                        <a:rPr sz="850" b="1">
                          <a:solidFill>
                            <a:srgbClr val="1E2761"/>
                          </a:solidFill>
                          <a:latin typeface="Calibri"/>
                        </a:rPr>
                        <a:t>265,905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extLst>
                  <a:ext uri="{0D108BD9-81ED-4DB2-BD59-A6C34878D82A}">
                    <a16:rowId xmlns:a16="http://schemas.microsoft.com/office/drawing/2014/main" val="10006"/>
                  </a:ext>
                </a:extLst>
              </a:tr>
            </a:tbl>
          </a:graphicData>
        </a:graphic>
      </p:graphicFrame>
      <p:sp>
        <p:nvSpPr>
          <p:cNvPr id="32" name="TextBox 31"/>
          <p:cNvSpPr txBox="1"/>
          <p:nvPr/>
        </p:nvSpPr>
        <p:spPr>
          <a:xfrm>
            <a:off x="457200" y="5440680"/>
            <a:ext cx="11247120" cy="457200"/>
          </a:xfrm>
          <a:prstGeom prst="rect">
            <a:avLst/>
          </a:prstGeom>
          <a:noFill/>
        </p:spPr>
        <p:txBody>
          <a:bodyPr wrap="square" lIns="0" tIns="0" rIns="0" bIns="0" anchor="t">
            <a:spAutoFit/>
          </a:bodyPr>
          <a:lstStyle/>
          <a:p>
            <a:pPr algn="l"/>
            <a:r>
              <a:rPr sz="750" b="0">
                <a:solidFill>
                  <a:srgbClr val="5A6072"/>
                </a:solidFill>
                <a:latin typeface="Calibri"/>
              </a:rPr>
              <a:t>Impressions are opportunities to see. Estimated reach applies an average frequency of 1.8 to impressions, the same model as the June report. Spend per the client budget tracker; share is the impression share. Venue mix follows with the vendor placement detail.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Mexico sessions came in at 7,310, tracking Bing’s rebuild month. Key-event capture is in place as of July 31.</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15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42032"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43984"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live since Jul 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45936" y="1737360"/>
            <a:ext cx="1508760" cy="274320"/>
          </a:xfrm>
          <a:prstGeom prst="rect">
            <a:avLst/>
          </a:prstGeom>
          <a:noFill/>
        </p:spPr>
        <p:txBody>
          <a:bodyPr wrap="square" lIns="0" tIns="0" rIns="0" bIns="0" anchor="t">
            <a:spAutoFit/>
          </a:bodyPr>
          <a:lstStyle/>
          <a:p>
            <a:pPr algn="l"/>
            <a:r>
              <a:rPr sz="800" b="1">
                <a:solidFill>
                  <a:srgbClr val="5A6072"/>
                </a:solidFill>
                <a:latin typeface="Calibri"/>
              </a:rPr>
              <a:t>GA4 CORROBORATION</a:t>
            </a:r>
          </a:p>
        </p:txBody>
      </p:sp>
      <p:sp>
        <p:nvSpPr>
          <p:cNvPr id="28" name="TextBox 27"/>
          <p:cNvSpPr txBox="1"/>
          <p:nvPr/>
        </p:nvSpPr>
        <p:spPr>
          <a:xfrm>
            <a:off x="6345936" y="1984248"/>
            <a:ext cx="1508760" cy="457200"/>
          </a:xfrm>
          <a:prstGeom prst="rect">
            <a:avLst/>
          </a:prstGeom>
          <a:noFill/>
        </p:spPr>
        <p:txBody>
          <a:bodyPr wrap="square" lIns="0" tIns="0" rIns="0" bIns="0" anchor="t">
            <a:spAutoFit/>
          </a:bodyPr>
          <a:lstStyle/>
          <a:p>
            <a:pPr algn="l"/>
            <a:r>
              <a:rPr sz="1500" b="1">
                <a:solidFill>
                  <a:srgbClr val="1E2761"/>
                </a:solidFill>
                <a:latin typeface="Calibri"/>
              </a:rPr>
              <a:t>August</a:t>
            </a:r>
          </a:p>
        </p:txBody>
      </p:sp>
      <p:sp>
        <p:nvSpPr>
          <p:cNvPr id="29" name="TextBox 28"/>
          <p:cNvSpPr txBox="1"/>
          <p:nvPr/>
        </p:nvSpPr>
        <p:spPr>
          <a:xfrm>
            <a:off x="6345936" y="2441448"/>
            <a:ext cx="1508760" cy="219456"/>
          </a:xfrm>
          <a:prstGeom prst="rect">
            <a:avLst/>
          </a:prstGeom>
          <a:noFill/>
        </p:spPr>
        <p:txBody>
          <a:bodyPr wrap="square" lIns="0" tIns="0" rIns="0" bIns="0" anchor="t">
            <a:spAutoFit/>
          </a:bodyPr>
          <a:lstStyle/>
          <a:p>
            <a:pPr algn="l"/>
            <a:r>
              <a:rPr sz="800" b="0">
                <a:solidFill>
                  <a:srgbClr val="5A6072"/>
                </a:solidFill>
                <a:latin typeface="Calibri"/>
              </a:rPr>
              <a:t>first full month</a:t>
            </a:r>
          </a:p>
        </p:txBody>
      </p:sp>
      <p:sp>
        <p:nvSpPr>
          <p:cNvPr id="30" name="Rectangle 2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76656" y="3182112"/>
            <a:ext cx="5175503" cy="274320"/>
          </a:xfrm>
          <a:prstGeom prst="rect">
            <a:avLst/>
          </a:prstGeom>
          <a:noFill/>
        </p:spPr>
        <p:txBody>
          <a:bodyPr wrap="square" lIns="0" tIns="0" rIns="0" bIns="0" anchor="t">
            <a:spAutoFit/>
          </a:bodyPr>
          <a:lstStyle/>
          <a:p>
            <a:pPr algn="l"/>
            <a:r>
              <a:rPr sz="1000" b="1">
                <a:solidFill>
                  <a:srgbClr val="1E2761"/>
                </a:solidFill>
                <a:latin typeface="Georgia"/>
              </a:rPr>
              <a:t>WHAT THE DATA SHOWS</a:t>
            </a:r>
          </a:p>
        </p:txBody>
      </p:sp>
      <p:sp>
        <p:nvSpPr>
          <p:cNvPr id="33" name="TextBox 32"/>
          <p:cNvSpPr txBox="1"/>
          <p:nvPr/>
        </p:nvSpPr>
        <p:spPr>
          <a:xfrm>
            <a:off x="676656" y="3520439"/>
            <a:ext cx="5175503" cy="2423160"/>
          </a:xfrm>
          <a:prstGeom prst="rect">
            <a:avLst/>
          </a:prstGeom>
          <a:noFill/>
        </p:spPr>
        <p:txBody>
          <a:bodyPr wrap="square" lIns="0" tIns="0" rIns="0" bIns="0" anchor="t">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declined; attributed sessions grew.</a:t>
            </a:r>
          </a:p>
          <a:p>
            <a:pPr algn="l">
              <a:spcBef>
                <a:spcPts val="600"/>
              </a:spcBef>
            </a:pPr>
            <a:r>
              <a:rPr sz="950" b="0">
                <a:solidFill>
                  <a:srgbClr val="2B3147"/>
                </a:solidFill>
                <a:latin typeface="Calibri"/>
              </a:rPr>
              <a:t>Venezuela’s session volume declined as the prior campaigns retired, the same campaign-mix effect behind Bing’s in-market concentration this month.</a:t>
            </a:r>
          </a:p>
        </p:txBody>
      </p:sp>
      <p:sp>
        <p:nvSpPr>
          <p:cNvPr id="34" name="Rectangle 3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28816" y="3182112"/>
            <a:ext cx="4992624" cy="274320"/>
          </a:xfrm>
          <a:prstGeom prst="rect">
            <a:avLst/>
          </a:prstGeom>
          <a:noFill/>
        </p:spPr>
        <p:txBody>
          <a:bodyPr wrap="square" lIns="0" tIns="0" rIns="0" bIns="0" anchor="t">
            <a:spAutoFit/>
          </a:bodyPr>
          <a:lstStyle/>
          <a:p>
            <a:pPr algn="l"/>
            <a:r>
              <a:rPr sz="1000" b="1">
                <a:solidFill>
                  <a:srgbClr val="1E2761"/>
                </a:solidFill>
                <a:latin typeface="Georgia"/>
              </a:rPr>
              <a:t>MEASUREMENT TO CLOSE</a:t>
            </a:r>
          </a:p>
        </p:txBody>
      </p:sp>
      <p:sp>
        <p:nvSpPr>
          <p:cNvPr id="37" name="TextBox 36"/>
          <p:cNvSpPr txBox="1"/>
          <p:nvPr/>
        </p:nvSpPr>
        <p:spPr>
          <a:xfrm>
            <a:off x="6528816" y="3520439"/>
            <a:ext cx="4992624" cy="2423160"/>
          </a:xfrm>
          <a:prstGeom prst="rect">
            <a:avLst/>
          </a:prstGeom>
          <a:noFill/>
        </p:spPr>
        <p:txBody>
          <a:bodyPr wrap="square" lIns="0" tIns="0" rIns="0" bIns="0" anchor="t">
            <a:spAutoFit/>
          </a:bodyPr>
          <a:lstStyle/>
          <a:p>
            <a:pPr algn="l"/>
            <a:r>
              <a:rPr sz="950" b="0">
                <a:solidFill>
                  <a:srgbClr val="2B3147"/>
                </a:solidFill>
                <a:latin typeface="Calibri"/>
              </a:rPr>
              <a:t>The submitted-application key event began counting correctly on July 31 and has held at full capture since. July is reported on the SA360 count; August is the first month GA4 can corroborate it independently.</a:t>
            </a:r>
          </a:p>
          <a:p>
            <a:pPr algn="l">
              <a:spcBef>
                <a:spcPts val="600"/>
              </a:spcBef>
            </a:pPr>
            <a:r>
              <a:rPr sz="950" b="0">
                <a:solidFill>
                  <a:srgbClr val="2B3147"/>
                </a:solidFill>
                <a:latin typeface="Calibri"/>
              </a:rPr>
              <a:t>Completion of the Bing-to-GA4 account link has not yet been verified; the paid-search restatement June’s deck flagged lands once it is, expected alongside August’s corroboration.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8229600" cy="320040"/>
          </a:xfrm>
          <a:prstGeom prst="rect">
            <a:avLst/>
          </a:prstGeom>
          <a:noFill/>
        </p:spPr>
        <p:txBody>
          <a:bodyPr wrap="square" lIns="0" tIns="0" rIns="0" bIns="0" anchor="t">
            <a:spAutoFit/>
          </a:bodyPr>
          <a:lstStyle/>
          <a:p>
            <a:pPr algn="l"/>
            <a:r>
              <a:rPr sz="1100" b="1">
                <a:solidFill>
                  <a:srgbClr val="FFFFFF"/>
                </a:solidFill>
                <a:latin typeface="Georgia"/>
              </a:rPr>
              <a:t>CROSS-CHANNEL PRIORITIES + NEXT STEPS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lIns="0" tIns="0" rIns="0" bIns="0" anchor="t">
            <a:spAutoFit/>
          </a:bodyPr>
          <a:lstStyle/>
          <a:p>
            <a:pPr algn="l"/>
            <a:r>
              <a:rPr sz="2000" b="1">
                <a:solidFill>
                  <a:srgbClr val="1E2761"/>
                </a:solidFill>
                <a:latin typeface="Georgia"/>
              </a:rPr>
              <a:t>Scale the rebuilt structure. Finish the measurement. Hold inventory quality.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656832"/>
            <a:ext cx="7315200" cy="201168"/>
          </a:xfrm>
          <a:prstGeom prst="rect">
            <a:avLst/>
          </a:prstGeom>
          <a:noFill/>
        </p:spPr>
        <p:txBody>
          <a:bodyPr wrap="square" lIns="0" tIns="0" rIns="0" bIns="0" anchor="t">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lIns="0" tIns="0" rIns="0" bIns="0" anchor="t">
            <a:spAutoFit/>
          </a:bodyPr>
          <a:lstStyle/>
          <a:p>
            <a:pPr algn="r"/>
            <a:r>
              <a:rPr sz="800" b="0">
                <a:solidFill>
                  <a:srgbClr val="5A6072"/>
                </a:solidFill>
                <a:latin typeface="Calibri"/>
              </a:rPr>
              <a:t>16 / 16</a:t>
            </a:r>
          </a:p>
        </p:txBody>
      </p:sp>
      <p:sp>
        <p:nvSpPr>
          <p:cNvPr id="10" name="Rectangle 9"/>
          <p:cNvSpPr/>
          <p:nvPr/>
        </p:nvSpPr>
        <p:spPr>
          <a:xfrm>
            <a:off x="4572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78308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 y="1837943"/>
            <a:ext cx="3410712" cy="219456"/>
          </a:xfrm>
          <a:prstGeom prst="rect">
            <a:avLst/>
          </a:prstGeom>
          <a:noFill/>
        </p:spPr>
        <p:txBody>
          <a:bodyPr wrap="square" lIns="0" tIns="0" rIns="0" bIns="0" anchor="t">
            <a:spAutoFit/>
          </a:bodyPr>
          <a:lstStyle/>
          <a:p>
            <a:pPr algn="l"/>
            <a:r>
              <a:rPr sz="950" b="1">
                <a:solidFill>
                  <a:srgbClr val="FFFFFF"/>
                </a:solidFill>
                <a:latin typeface="Georgia"/>
              </a:rPr>
              <a:t>PRIORITY</a:t>
            </a:r>
          </a:p>
        </p:txBody>
      </p:sp>
      <p:sp>
        <p:nvSpPr>
          <p:cNvPr id="13" name="TextBox 12"/>
          <p:cNvSpPr txBox="1"/>
          <p:nvPr/>
        </p:nvSpPr>
        <p:spPr>
          <a:xfrm>
            <a:off x="603504" y="2185416"/>
            <a:ext cx="3410712" cy="1554479"/>
          </a:xfrm>
          <a:prstGeom prst="rect">
            <a:avLst/>
          </a:prstGeom>
          <a:noFill/>
        </p:spPr>
        <p:txBody>
          <a:bodyPr wrap="square" lIns="0" tIns="0" rIns="0" bIns="0" anchor="t">
            <a:spAutoFit/>
          </a:bodyPr>
          <a:lstStyle/>
          <a:p>
            <a:pPr algn="l"/>
            <a:r>
              <a:rPr sz="900" b="0">
                <a:solidFill>
                  <a:srgbClr val="2B3147"/>
                </a:solidFill>
                <a:latin typeface="Calibri"/>
              </a:rPr>
              <a:t>Scale the rebuilt Bing structure on the July close of $237.12; August is tracking at $243 across three products.</a:t>
            </a:r>
          </a:p>
        </p:txBody>
      </p:sp>
      <p:sp>
        <p:nvSpPr>
          <p:cNvPr id="14" name="Rectangle 13"/>
          <p:cNvSpPr/>
          <p:nvPr/>
        </p:nvSpPr>
        <p:spPr>
          <a:xfrm>
            <a:off x="43434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43400" y="178308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89704" y="1837943"/>
            <a:ext cx="3410712" cy="219456"/>
          </a:xfrm>
          <a:prstGeom prst="rect">
            <a:avLst/>
          </a:prstGeom>
          <a:noFill/>
        </p:spPr>
        <p:txBody>
          <a:bodyPr wrap="square" lIns="0" tIns="0" rIns="0" bIns="0" anchor="t">
            <a:spAutoFit/>
          </a:bodyPr>
          <a:lstStyle/>
          <a:p>
            <a:pPr algn="l"/>
            <a:r>
              <a:rPr sz="950" b="1">
                <a:solidFill>
                  <a:srgbClr val="0F1535"/>
                </a:solidFill>
                <a:latin typeface="Georgia"/>
              </a:rPr>
              <a:t>HIGH</a:t>
            </a:r>
          </a:p>
        </p:txBody>
      </p:sp>
      <p:sp>
        <p:nvSpPr>
          <p:cNvPr id="17" name="TextBox 16"/>
          <p:cNvSpPr txBox="1"/>
          <p:nvPr/>
        </p:nvSpPr>
        <p:spPr>
          <a:xfrm>
            <a:off x="4489704" y="2185416"/>
            <a:ext cx="3410712" cy="1554479"/>
          </a:xfrm>
          <a:prstGeom prst="rect">
            <a:avLst/>
          </a:prstGeom>
          <a:noFill/>
        </p:spPr>
        <p:txBody>
          <a:bodyPr wrap="square" lIns="0" tIns="0" rIns="0" bIns="0" anchor="t">
            <a:spAutoFit/>
          </a:bodyPr>
          <a:lstStyle/>
          <a:p>
            <a:pPr algn="l"/>
            <a:r>
              <a:rPr sz="900" b="0">
                <a:solidFill>
                  <a:srgbClr val="2B3147"/>
                </a:solidFill>
                <a:latin typeface="Calibri"/>
              </a:rPr>
              <a:t>Apply the 66-site Quantcast disallow list, led by tvazteca.com, and hold delivery to the 70% viewability standard.</a:t>
            </a:r>
          </a:p>
        </p:txBody>
      </p:sp>
      <p:sp>
        <p:nvSpPr>
          <p:cNvPr id="18" name="Rectangle 17"/>
          <p:cNvSpPr/>
          <p:nvPr/>
        </p:nvSpPr>
        <p:spPr>
          <a:xfrm>
            <a:off x="8229600" y="1783080"/>
            <a:ext cx="352044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0" y="1783080"/>
            <a:ext cx="3520440"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75904" y="1837943"/>
            <a:ext cx="3227832" cy="219456"/>
          </a:xfrm>
          <a:prstGeom prst="rect">
            <a:avLst/>
          </a:prstGeom>
          <a:noFill/>
        </p:spPr>
        <p:txBody>
          <a:bodyPr wrap="square" lIns="0" tIns="0" rIns="0" bIns="0" anchor="t">
            <a:spAutoFit/>
          </a:bodyPr>
          <a:lstStyle/>
          <a:p>
            <a:pPr algn="l"/>
            <a:r>
              <a:rPr sz="950" b="1">
                <a:solidFill>
                  <a:srgbClr val="FFFFFF"/>
                </a:solidFill>
                <a:latin typeface="Georgia"/>
              </a:rPr>
              <a:t>MEASUREMENT TO CLOSE</a:t>
            </a:r>
          </a:p>
        </p:txBody>
      </p:sp>
      <p:sp>
        <p:nvSpPr>
          <p:cNvPr id="21" name="TextBox 20"/>
          <p:cNvSpPr txBox="1"/>
          <p:nvPr/>
        </p:nvSpPr>
        <p:spPr>
          <a:xfrm>
            <a:off x="8375904" y="2185416"/>
            <a:ext cx="3227832" cy="1554479"/>
          </a:xfrm>
          <a:prstGeom prst="rect">
            <a:avLst/>
          </a:prstGeom>
          <a:noFill/>
        </p:spPr>
        <p:txBody>
          <a:bodyPr wrap="square" lIns="0" tIns="0" rIns="0" bIns="0" anchor="t">
            <a:spAutoFit/>
          </a:bodyPr>
          <a:lstStyle/>
          <a:p>
            <a:pPr algn="l"/>
            <a:r>
              <a:rPr sz="900" b="0">
                <a:solidFill>
                  <a:srgbClr val="2B3147"/>
                </a:solidFill>
                <a:latin typeface="Calibri"/>
              </a:rPr>
              <a:t>August is the first month GA4 can corroborate the submitted-application count.</a:t>
            </a:r>
          </a:p>
          <a:p>
            <a:pPr algn="l">
              <a:spcBef>
                <a:spcPts val="600"/>
              </a:spcBef>
            </a:pPr>
            <a:r>
              <a:rPr sz="900" b="0">
                <a:solidFill>
                  <a:srgbClr val="2B3147"/>
                </a:solidFill>
                <a:latin typeface="Calibri"/>
              </a:rPr>
              <a:t>Close out Azerion’s country-level delivery confirmation with the vendor.</a:t>
            </a:r>
          </a:p>
        </p:txBody>
      </p:sp>
      <p:sp>
        <p:nvSpPr>
          <p:cNvPr id="22" name="Rectangle 21"/>
          <p:cNvSpPr/>
          <p:nvPr/>
        </p:nvSpPr>
        <p:spPr>
          <a:xfrm>
            <a:off x="457200" y="4069080"/>
            <a:ext cx="3703320" cy="182880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4069080"/>
            <a:ext cx="370332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03504" y="4123944"/>
            <a:ext cx="3410712" cy="219456"/>
          </a:xfrm>
          <a:prstGeom prst="rect">
            <a:avLst/>
          </a:prstGeom>
          <a:noFill/>
        </p:spPr>
        <p:txBody>
          <a:bodyPr wrap="square" lIns="0" tIns="0" rIns="0" bIns="0" anchor="t">
            <a:spAutoFit/>
          </a:bodyPr>
          <a:lstStyle/>
          <a:p>
            <a:pPr algn="l"/>
            <a:r>
              <a:rPr sz="950" b="1">
                <a:solidFill>
                  <a:srgbClr val="FFFFFF"/>
                </a:solidFill>
                <a:latin typeface="Georgia"/>
              </a:rPr>
              <a:t>OPPORTUNITY</a:t>
            </a:r>
          </a:p>
        </p:txBody>
      </p:sp>
      <p:sp>
        <p:nvSpPr>
          <p:cNvPr id="25" name="TextBox 24"/>
          <p:cNvSpPr txBox="1"/>
          <p:nvPr/>
        </p:nvSpPr>
        <p:spPr>
          <a:xfrm>
            <a:off x="603504" y="4471416"/>
            <a:ext cx="3410712" cy="1280160"/>
          </a:xfrm>
          <a:prstGeom prst="rect">
            <a:avLst/>
          </a:prstGeom>
          <a:noFill/>
        </p:spPr>
        <p:txBody>
          <a:bodyPr wrap="square" lIns="0" tIns="0" rIns="0" bIns="0" anchor="t">
            <a:spAutoFit/>
          </a:bodyPr>
          <a:lstStyle/>
          <a:p>
            <a:pPr algn="l"/>
            <a:r>
              <a:rPr sz="900" b="0">
                <a:solidFill>
                  <a:srgbClr val="2B3147"/>
                </a:solidFill>
                <a:latin typeface="Calibri"/>
              </a:rPr>
              <a:t>Hold Azerion’s pace; judge the channel monthly.</a:t>
            </a:r>
          </a:p>
          <a:p>
            <a:pPr algn="l">
              <a:spcBef>
                <a:spcPts val="600"/>
              </a:spcBef>
            </a:pPr>
            <a:r>
              <a:rPr sz="900" b="0">
                <a:solidFill>
                  <a:srgbClr val="2B3147"/>
                </a:solidFill>
                <a:latin typeface="Calibri"/>
              </a:rPr>
              <a:t>Native and DOOH report in full with a second month of data.</a:t>
            </a:r>
          </a:p>
        </p:txBody>
      </p:sp>
      <p:sp>
        <p:nvSpPr>
          <p:cNvPr id="26" name="Rectangle 25"/>
          <p:cNvSpPr/>
          <p:nvPr/>
        </p:nvSpPr>
        <p:spPr>
          <a:xfrm>
            <a:off x="4343400" y="4069080"/>
            <a:ext cx="7406640" cy="18288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617720" y="4069080"/>
            <a:ext cx="6858000" cy="1828800"/>
          </a:xfrm>
          <a:prstGeom prst="rect">
            <a:avLst/>
          </a:prstGeom>
          <a:noFill/>
        </p:spPr>
        <p:txBody>
          <a:bodyPr wrap="square" lIns="0" tIns="0" rIns="0" bIns="0" anchor="ctr">
            <a:spAutoFit/>
          </a:bodyPr>
          <a:lstStyle/>
          <a:p>
            <a:pPr algn="l"/>
            <a:r>
              <a:rPr sz="1200" b="1">
                <a:solidFill>
                  <a:srgbClr val="FFFFFF"/>
                </a:solidFill>
                <a:latin typeface="Georgia"/>
              </a:rPr>
              <a:t>The rebuilt structure converted at $237.12 in July. August scales it, holds programmatic quality, and brings GA4 corroboration online.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TotalTime>
  <Words>3021</Words>
  <Application>Microsoft Macintosh PowerPoint</Application>
  <PresentationFormat>Widescreen</PresentationFormat>
  <Paragraphs>517</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Renzo Proano</cp:lastModifiedBy>
  <cp:revision>2</cp:revision>
  <dcterms:created xsi:type="dcterms:W3CDTF">2013-01-27T09:14:16Z</dcterms:created>
  <dcterms:modified xsi:type="dcterms:W3CDTF">2026-08-17T17:22:00Z</dcterms:modified>
  <cp:category/>
</cp:coreProperties>
</file>