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Daily spend ($)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ize val="6"/>
            <c:spPr>
              <a:solidFill>
                <a:srgbClr val="1E2761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436.55</c:v>
                </c:pt>
                <c:pt idx="11">
                  <c:v>364.63</c:v>
                </c:pt>
                <c:pt idx="12">
                  <c:v>441.88</c:v>
                </c:pt>
                <c:pt idx="13">
                  <c:v>562.23</c:v>
                </c:pt>
                <c:pt idx="14">
                  <c:v>559.9</c:v>
                </c:pt>
                <c:pt idx="15">
                  <c:v>699.13</c:v>
                </c:pt>
                <c:pt idx="16">
                  <c:v>614.23</c:v>
                </c:pt>
                <c:pt idx="17">
                  <c:v>670.31</c:v>
                </c:pt>
                <c:pt idx="18">
                  <c:v>406.84</c:v>
                </c:pt>
                <c:pt idx="19">
                  <c:v>518.09</c:v>
                </c:pt>
                <c:pt idx="20">
                  <c:v>448.17</c:v>
                </c:pt>
                <c:pt idx="21">
                  <c:v>577.22</c:v>
                </c:pt>
                <c:pt idx="22">
                  <c:v>639.51</c:v>
                </c:pt>
                <c:pt idx="23">
                  <c:v>322.88</c:v>
                </c:pt>
                <c:pt idx="24">
                  <c:v>230.02</c:v>
                </c:pt>
                <c:pt idx="25">
                  <c:v>218.3</c:v>
                </c:pt>
                <c:pt idx="26">
                  <c:v>582.18</c:v>
                </c:pt>
                <c:pt idx="27">
                  <c:v>559.63</c:v>
                </c:pt>
                <c:pt idx="28">
                  <c:v>723.75</c:v>
                </c:pt>
                <c:pt idx="29">
                  <c:v>607.16</c:v>
                </c:pt>
                <c:pt idx="30">
                  <c:v>442.33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4DC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0D4DC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800">
          <a:solidFill>
            <a:srgbClr val="2B314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0"/>
            <a:ext cx="91440" cy="2286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ore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286000" cy="649224"/>
          </a:xfrm>
          <a:prstGeom prst="rect">
            <a:avLst/>
          </a:prstGeom>
        </p:spPr>
      </p:pic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5943600"/>
            <a:ext cx="12801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96167"/>
                </a:solidFill>
                <a:latin typeface="Georgia"/>
              </a:rPr>
              <a:t>MONTHLY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Georgia"/>
              </a:rPr>
              <a:t>GGMI (LATAM) — Paid 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ADCFC"/>
                </a:solidFill>
                <a:latin typeface="Georgia"/>
              </a:rPr>
              <a:t>July 2026 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AA4BA"/>
                </a:solidFill>
                <a:latin typeface="Calibri"/>
              </a:rPr>
              <a:t>Bing Ads  ·  Quantcast  ·  Azerion  ·  Native  ·  Meta  ·  DOOH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9AA4BA"/>
                </a:solidFill>
                <a:latin typeface="Calibri"/>
              </a:rPr>
              <a:t>Reporting period: July 1–31, 2026   |   Currency: USD   |   Prepared by Berelvant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SUMMARY  ·  BLENDED VIEW (ORGANIC + PAID)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Submitted applications held near June on a 24% larger media month.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2 /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0020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B3147"/>
                </a:solidFill>
                <a:latin typeface="Calibri"/>
              </a:rPr>
              <a:t>•  July submitted applications came in at 653, down 5% MoM; the submit rate on application starts rose to 27%, the highest since January.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2B3147"/>
                </a:solidFill>
                <a:latin typeface="Calibri"/>
              </a:rPr>
              <a:t>•  New approved came in at 180 with the approval rate at 28%. New funded came in at 21 and the fund rate at 12%; the application-to-funding step remains the funnel constraint. New traded closed at 19.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2B3147"/>
                </a:solidFill>
                <a:latin typeface="Calibri"/>
              </a:rPr>
              <a:t>•  Working media reached $149,896 in July, up 24% MoM and the biggest month of 2026. Measured paid submitted applications (Bing plus Azerion) came in at 61.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063240"/>
          <a:ext cx="1036015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6584"/>
                <a:gridCol w="987552"/>
                <a:gridCol w="987552"/>
                <a:gridCol w="987552"/>
                <a:gridCol w="987552"/>
                <a:gridCol w="987552"/>
                <a:gridCol w="1042415"/>
                <a:gridCol w="1042415"/>
                <a:gridCol w="950976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GGMI — blended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Jul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MoM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Working Media Spend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$1,717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$20,578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$42,424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$46,294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$78,790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$120,393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$149,896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Submitted Applications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1,029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1,036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751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732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653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-5%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Approved Clients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288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337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261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202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195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209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Approval Rate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-3pp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New Funded Clients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-34%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Fund Rate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-3pp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Cost per Funded Client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$349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$673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$1,218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$2,189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$3,762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$7,138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+90%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New Traded Clients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-34%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Cost per Traded Client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$31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$396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$744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$1,323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$2,189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$4,151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$7,889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+90%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Trading Volume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$5.1B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$2.5B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$2.3B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$2.1B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$1.1B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$1.1B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6072"/>
                </a:solidFill>
                <a:latin typeface="Calibri"/>
              </a:rPr>
              <a:t>Funnel metrics are blended organic + paid, from the client dashboard. Working media per the budget tracker. MoM = July vs June. January cost figures reflect a near-zero media base ($1,717). July trading volume follows with the next dashboard refresh.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EXECUTIVE SUMMARY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$149,896 deployed in July, up 24%, the biggest GGMI media month of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3 / 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766560" cy="2788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5960"/>
                <a:gridCol w="1051560"/>
                <a:gridCol w="960120"/>
                <a:gridCol w="960120"/>
                <a:gridCol w="777240"/>
                <a:gridCol w="1051560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Impr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Cost/app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Bing (Search)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$10,625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90,394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4,090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$531.25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Quantcast (Display)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$39,240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50.48M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19,188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Azerion (Display)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$37,509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7.58M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12,915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41*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$914.85*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Native (QC + Azerion)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$27,630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18.18M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9,953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Meta (Social)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$8,027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4.25M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74,489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DOOH (Perion)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$26,865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$149,896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80.58M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120,635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57200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6072"/>
                </a:solidFill>
                <a:latin typeface="Calibri"/>
              </a:rPr>
              <a:t>* Azerion applications are vendor-reported; Bing applications are SA360-reported, the account’s conversion source of record. Conversions come from different systems per channel and are never summed; the combined Bing + Azerion view is the one sanctioned pairing. Meta clicks are link clicks. Spend per the client budget tracker.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737360"/>
            <a:ext cx="42976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737360"/>
            <a:ext cx="64008" cy="214884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1901952"/>
            <a:ext cx="3895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THE SCORECARD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6096" y="2240280"/>
            <a:ext cx="389534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Bing and Azerion, the two channels with a submitted-application figure behind them, produced 61 applications combined at $789.08 (June: 92 at $660.00).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The rise traces to Bing, dark for a third of the month and non-converting for another third, not to Azerion, which held steady.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69080"/>
            <a:ext cx="42976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69080"/>
            <a:ext cx="64008" cy="2148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4233672"/>
            <a:ext cx="3895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THE REBUILT 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6096" y="4572000"/>
            <a:ext cx="389534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Bing’s rebuilt Mexico-only structure closed July at $237.12 per submitted application, less than half June’s $513.17.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August’s first days confirm the run rate at $243, now converting across three products instead of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CONT’ EXECUTIVE SUMMARY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Three findings shape the August plan.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4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3703320" cy="310896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3703320" cy="292608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883664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PRIORITY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2231136"/>
            <a:ext cx="341071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Harden the Mexico targeting configuration as the rebuilt campaigns scale.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June’s correction held through July: delivery concentrated in-market on every one of the six new campaigns.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Next: presence-only targeting and an expanded location-exclusion list, so the concentration holds on its own rather than depending on the current campaign mix.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828800"/>
            <a:ext cx="3703320" cy="310896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828800"/>
            <a:ext cx="3703320" cy="292608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1883664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F1535"/>
                </a:solidFill>
                <a:latin typeface="Georgia"/>
              </a:rPr>
              <a:t>HIGH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231136"/>
            <a:ext cx="341071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Standardize every Bing campaign on the converting landing destination.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84% of legacy-campaign clicks landed on pages outside the application flow; none of the 207 application starts behind them became a submission.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The rebuilt campaigns landing on the Spanish-language site carried 13.4% of starts through to submission.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828800"/>
            <a:ext cx="3520440" cy="310896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828800"/>
            <a:ext cx="3520440" cy="292608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883664"/>
            <a:ext cx="32278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NEW THIS 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2231136"/>
            <a:ext cx="322783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Native ($27,630: Quantcast’s native placement plus Azerion’s native inventory) and DOOH ($26,865, Perion).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Both upper-funnel. Native reports spend and delivery with no conversion claim; DOOH reports spend only this cycle.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Both report in full once a second month allows comparison.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57800"/>
            <a:ext cx="11277295" cy="73152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257800"/>
            <a:ext cx="1072865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Georgia"/>
              </a:rPr>
              <a:t>The rebuilt structure delivered $237.12 per submitted application. Next: harden the configuration so that holds at scale.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BING ADS  ·  PERFORMANCE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Three windows in one month. The rebuilt structure is the account’s current state.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5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$10,625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per the shared budget 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90,394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CTR 4.52%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4,090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avg CPC $2.60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SUBMITTED APPS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SA360 source of record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CPA (FULL MONTH)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$531.25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June: $513.17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6696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CPA (REBUILT)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$237.12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Jul 22–31</a:t>
            </a:r>
          </a:p>
        </p:txBody>
      </p:sp>
      <p:graphicFrame>
        <p:nvGraphicFramePr>
          <p:cNvPr id="40" name="Chart 39"/>
          <p:cNvGraphicFramePr>
            <a:graphicFrameLocks noGrp="1"/>
          </p:cNvGraphicFramePr>
          <p:nvPr/>
        </p:nvGraphicFramePr>
        <p:xfrm>
          <a:off x="457200" y="3246120"/>
          <a:ext cx="722376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731520" y="3291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072"/>
                </a:solidFill>
                <a:latin typeface="Calibri"/>
              </a:rPr>
              <a:t>Jul 1–10 · dark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32918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Calibri"/>
              </a:rPr>
              <a:t>Jul 11–22 · legacy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0" y="3291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96167"/>
                </a:solidFill>
                <a:latin typeface="Calibri"/>
              </a:rPr>
              <a:t>Jul 22–31 · rebuilt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7863840" y="3246120"/>
          <a:ext cx="384048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822960"/>
                <a:gridCol w="548640"/>
                <a:gridCol w="9144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Jul 1–10  dark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Jul 11–22  legacy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$5,883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Jul 22–31  rebuilt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$4,742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$237.12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7863840" y="5303520"/>
            <a:ext cx="3840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6072"/>
                </a:solidFill>
                <a:latin typeface="Calibri"/>
              </a:rPr>
              <a:t>Two campaigns produced every July conversion: the TradingView theme (18 of 20) and one further new campaign (2). The full-month CPA blends nine dark days and eleven zero-conversion days into the ten that delivered.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BING ADS  ·  READ &amp; RECOMMENDATIONS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The rebuild superseded June’s campaign picks. Three actions carry it into August.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64008" cy="44805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90195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240280"/>
            <a:ext cx="5175503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June’s deck named Platform Intercept the efficiency leader at $285 and recommended rebalancing toward it. Both named June campaigns produced zero July applications in the legacy window and retired into the July 22 rebuild; the TradingView campaign is now the leader with 18 of 20 applications and 13.4% start-to-submission.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84% of legacy-campaign clicks landed on pages outside the application flow, and every one of the 207 application starts stopped at the second step. The rebuilt campaigns land on the Spanish-language site and convert. Landing destination and keyword intent changed together, so this is a strong signal rather than a proven single cause. The step data itself is unambiguous: the loss sits between a started and a submitted application.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June’s Mexico commitment held: delivery concentrated in-market across the month, including on all six new campaigns.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64008" cy="448056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190195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240280"/>
            <a:ext cx="4992624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Harden the Mexico configuration as volume scales: presence-only targeting and an expanded location-exclusion list on every enabled campaign.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Standardize every campaign on the converting landing destination, and review the handoff from the older landing pages into the application flow.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Turn on bidding feedback: every conversion goal is still excluded from bidding and every campaign runs manual bids, so July’s $237.12 was earned with no automated signal. Enabling the goals lets the platform improve on it without manual tuning.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QUANTCAST  ·  PERFORMANCE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Reach delivered at scale, all in Mexico. Viewability is the bill to manage.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7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$39,240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main campaign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50.48M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main campaign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19,188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Advanced IVT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GEO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100.00% MX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spend + impressions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VIEWABILITY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54.45%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June: 51.3%  ·  floor 70%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6696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RESULTS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directional only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175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17520"/>
            <a:ext cx="64008" cy="31089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18211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" y="3520439"/>
            <a:ext cx="517550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Every impression and dollar delivered in Mexico; the geo cut confirms 100.00% in-market.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Viewability improved 3.15 points to 54.45% and still sits under the 70% floor the account works against.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Result volume (15) is too low to support a cost-per-result figure; the channel reads as an awareness and reach story this month.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017520"/>
            <a:ext cx="53949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3017520"/>
            <a:ext cx="64008" cy="310896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28816" y="318211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THE SITE LIST IS THE LEVER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28816" y="3520439"/>
            <a:ext cx="499262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June’s 49-site blocklist is refreshed to 66 domains this month.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tvazteca.com is the headline: spend on that single domain grew to $3,451.61 in July while its viewability held near 9.6%, the second consecutive month of the pattern. If one exclusion is actioned this month, that is the 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QUANTCAST  ·  READ &amp; RECOMMENDATIONS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Apply the refreshed list, then hold quality with a floor.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8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64008" cy="40233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90195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240280"/>
            <a:ext cx="5175503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The disallow list is the direct lever on viewability: 66 domains flagged for exclusion, led by low-viewability news and utility inventory.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The campaign-level viewability floor recommended in June has not yet been implemented; without it, excluded inventory is replaced by unscreened inventory as reach scales.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64008" cy="402336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190195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240280"/>
            <a:ext cx="4992624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Apply the refreshed 66-site disallow list, leading with tvazteca.com.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Implement the campaign-level viewability floor carried forward from June. It is the structural fix that holds quality as reach scales.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Keep the channel judged on reach and cost of reach until result volume supports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AZERION  ·  PERFORMANCE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41 vendor-reported applications; viewability now clear of the floor on both formats.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$37,509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display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7.58M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display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12,915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display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vendor-reported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COST / APP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$914.85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vendor-reported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6696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VIEWABILITY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82.47%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native 77.34%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175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17520"/>
            <a:ext cx="64008" cy="31089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18211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" y="3520439"/>
            <a:ext cx="517550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Applications are reported by the vendor’s own tracking rather than by SA360, the source of record behind Bing’s count; the distinction travels with the number.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June’s viewability recommendation fully landed: display rose from 68.5% to 82.47%, native came in at 77.34%, both clear of the 70% floor.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Country-level delivery detail was requested from the vendor in early July; the follow-up runs with the August cycle. A data-completeness item.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017520"/>
            <a:ext cx="53949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3017520"/>
            <a:ext cx="64008" cy="310896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28816" y="318211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AD-SET ECONOMICS ROTATED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28816" y="3520439"/>
            <a:ext cx="499262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June flagged Conversion_Commodities for reallocation (zero applications) and named Global Market the leader at $412. July reversed both: Commodities converted 6 at $500; Global Market fell to 2 at $1,660. The month’s leader was Conversion_Instruments, 9 at roughly $339.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At this volume, ad-set winners rotate faster than a reallocation decision can act on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AZERION  ·  READ &amp; RECOMMENDATIONS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Judge the channel at the monthly level. Close out the vendor confirmation.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64008" cy="40233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90195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240280"/>
            <a:ext cx="5175503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The channel figure is the stable read: $914.85 per vendor-reported application, against $834 in June.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Ad-set level winners rotated against June’s picks, which closes out June’s reallocation call; the flagged ad set converted well on its own.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64008" cy="402336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190195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240280"/>
            <a:ext cx="4992624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Hold the channel’s pace and judge it on the monthly figure rather than reallocating off one month’s ad-set data.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Follow up with the vendor on the country-level delivery detail requested in early July, in the August cycle, and hold certification of that detail until it lands.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META  ·  SPEND &amp; DELIVERY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Reported on spend and delivery this month. Instagram testing delivered.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$8,027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Mexico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4.25M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CPM ~$1.89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LINK 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74,489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CTR 1.75% · June 2.06%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REACH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2,251,346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largest campaign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GEO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Mexico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all campaigns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6696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INSTAGRAM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10.2%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June: 0.3%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175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17520"/>
            <a:ext cx="64008" cy="31089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18211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" y="3520439"/>
            <a:ext cx="517550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Delivery held to Mexico across every campaign.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Placement mix shifted toward Instagram: 10.2% of July delivery, up from 0.3%, answering the specific ask from the June review. Facebook carried 89.2%.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The other June ask, narrowing targeting away from the 55-and-over audience, was not implemented; targeting still runs 18–65 with audience expansion on.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017520"/>
            <a:ext cx="53949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3017520"/>
            <a:ext cx="64008" cy="310896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28816" y="318211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MEASUREMENT NOTE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28816" y="3520439"/>
            <a:ext cx="499262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July’s Meta reporting covers spend and delivery: impressions, reach, frequency, link clicks, CTR, CPC, CPM, landing-page views, placements and geo.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The platform reports 117 submitted-application pixel fires; that figure is Meta-reported and unvalidated, is not compared to Bing’s SA360-reported count, and carries no cost-per-application figure.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NATIVE &amp; DOOH  ·  NEW LINES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First full month for both. Upper-funnel roles, reported on delivery.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12 / 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828800"/>
          <a:ext cx="6766560" cy="1600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1188720"/>
                <a:gridCol w="1371600"/>
                <a:gridCol w="1097280"/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Impressions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Native (Quantcast + Azerion)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$27,630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18.18M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9,953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DOOH (Perion)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$26,865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566160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6072"/>
                </a:solidFill>
                <a:latin typeface="Calibri"/>
              </a:rPr>
              <a:t>Native combines Quantcast’s dedicated native placement and Azerion’s native inventory. Azerion native viewability: 77.34%, clear of the 70% floor. DOOH reports spend only this cycle.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828800"/>
            <a:ext cx="4297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828800"/>
            <a:ext cx="64008" cy="292608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1993392"/>
            <a:ext cx="3895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HOW TO READ THE NEW 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6096" y="2331720"/>
            <a:ext cx="3895344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Both are upper-funnel. Native carries a spend and delivery line with no conversion claim; DOOH carries spend only, with delivery detail out of scope this cycle.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Both report in full once a second month of data gives them something to compare against.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SITE TRAFFIC  ·  GA4 (MEXICO)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Context this month. The measurement fix makes August the first fully measured month.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13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MEXICO SESSIONS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7,310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June: 9,236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UNIQUE VISITORS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3,981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Mexico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KEY-EVENT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Fixed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live since Jul 31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GA4 CORROBORATION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first full month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0175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017520"/>
            <a:ext cx="64008" cy="31089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" y="318211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3520439"/>
            <a:ext cx="517550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A large share of July’s session dip tracks Bing’s own month: dark for ten days, then a non-converting legacy structure for eleven. Property-wide, one unattributed bucket collapsed sharply; sessions outside it grew.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Venezuela’s session volume fell sharply with the same legacy-campaign pause behind Bing’s in-market concentration, a campaign-mix effect this month.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017520"/>
            <a:ext cx="53949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9360" y="3017520"/>
            <a:ext cx="64008" cy="310896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28816" y="318211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MEASUREMENT TO CLOSE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8816" y="3520439"/>
            <a:ext cx="499262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The submitted-application key event began counting correctly on July 31 and has held at full capture since. July is reported on the SA360 count; August is the first month GA4 can corroborate it independently.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Completion of the Bing-to-GA4 account link has not yet been verified; the paid-search restatement June’s deck flagged lands once it is, expected alongside August’s corroboration.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CROSS-CHANNEL PRIORITIES + NEXT STEPS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August priorities: targeting configuration, measurement completion, inventory quality.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14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3703320" cy="210312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83080"/>
            <a:ext cx="3703320" cy="292608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837943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PRIORITY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2185416"/>
            <a:ext cx="3410712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Harden the Mexico configuration: presence-only targeting and an expanded exclusion list on every enabled campaign.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Standardize every Bing campaign on the converting landing destination.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783080"/>
            <a:ext cx="3703320" cy="210312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783080"/>
            <a:ext cx="3703320" cy="292608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1837943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F1535"/>
                </a:solidFill>
                <a:latin typeface="Georgia"/>
              </a:rPr>
              <a:t>HIGH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185416"/>
            <a:ext cx="3410712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Turn on bidding feedback for the Bing conversion goals; July’s $237.12 was earned with no automated signal.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Apply the 66-site Quantcast disallow list, led by tvazteca.com, and implement the viewability floor.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783080"/>
            <a:ext cx="3520440" cy="210312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783080"/>
            <a:ext cx="3520440" cy="292608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837943"/>
            <a:ext cx="32278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MEASUREMENT TO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2185416"/>
            <a:ext cx="3227832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Complete the Bing-to-GA4 link; the flagged restatement lands with August’s key-event corroboration.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Close out Azerion’s country-level delivery confirmation with the vendor.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69080"/>
            <a:ext cx="3703320" cy="182880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69080"/>
            <a:ext cx="3703320" cy="292608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4123944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OPPORTUNITY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4471416"/>
            <a:ext cx="34107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Hold Azerion’s pace; judge the channel monthly.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Read Bing on the rebuilt structure’s $237.12, with August tracking at $243 across three products.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4069080"/>
            <a:ext cx="7406640" cy="182880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069080"/>
            <a:ext cx="68580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Georgia"/>
              </a:rPr>
              <a:t>The rebuilt structure converted at $237.12 in July. In August: harden the targeting configuration, standardize the landing destination, enable the bidding signal.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