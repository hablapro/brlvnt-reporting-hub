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582.18</c:v>
                </c:pt>
                <c:pt idx="27">
                  <c:v>559.63</c:v>
                </c:pt>
                <c:pt idx="28">
                  <c:v>723.75</c:v>
                </c:pt>
                <c:pt idx="29">
                  <c:v>607.16</c:v>
                </c:pt>
                <c:pt idx="30">
                  <c:v>442.33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came in at 653, with working media at $149,896.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16</a:t>
            </a:r>
          </a:p>
        </p:txBody>
      </p:sp>
      <p:sp>
        <p:nvSpPr>
          <p:cNvPr id="10" name="TextBox 9"/>
          <p:cNvSpPr txBox="1"/>
          <p:nvPr/>
        </p:nvSpPr>
        <p:spPr>
          <a:xfrm>
            <a:off x="457200" y="1600200"/>
            <a:ext cx="11247120" cy="1371600"/>
          </a:xfrm>
          <a:prstGeom prst="rect">
            <a:avLst/>
          </a:prstGeom>
          <a:noFill/>
        </p:spPr>
        <p:txBody>
          <a:bodyPr wrap="square" anchor="t" lIns="0" rIns="0" tIns="0" bIns="0">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The growth sits in the new Native and DOOH lines; the four continuing channels spent $95,401 against June’s total of $120,393.</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gridCol w="987552"/>
                <a:gridCol w="987552"/>
                <a:gridCol w="987552"/>
                <a:gridCol w="987552"/>
                <a:gridCol w="987552"/>
                <a:gridCol w="1042415"/>
                <a:gridCol w="1042415"/>
                <a:gridCol w="950976"/>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2" name="TextBox 11"/>
          <p:cNvSpPr txBox="1"/>
          <p:nvPr/>
        </p:nvSpPr>
        <p:spPr>
          <a:xfrm>
            <a:off x="457200" y="6144768"/>
            <a:ext cx="11247120" cy="27432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$149,896 deployed in July across seven lines.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16</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Channel results reflect each platform or partner’s reporting methodology and should be interpreted independently. Cross-channel totals and blended acquisition costs are not used because attribution systems are not directly comparable.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 BY CHANNEL</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Bing: 20 submitted applications at $531.25, on SA360 reporting.</a:t>
            </a:r>
          </a:p>
          <a:p>
            <a:pPr algn="l">
              <a:spcBef>
                <a:spcPts val="600"/>
              </a:spcBef>
            </a:pPr>
            <a:r>
              <a:rPr sz="950" b="0">
                <a:solidFill>
                  <a:srgbClr val="2B3147"/>
                </a:solidFill>
                <a:latin typeface="Calibri"/>
              </a:rPr>
              <a:t>Azerion: 41 partner-attributed applications at $914.85, steady on June.</a:t>
            </a:r>
          </a:p>
          <a:p>
            <a:pPr algn="l">
              <a:spcBef>
                <a:spcPts val="600"/>
              </a:spcBef>
            </a:pPr>
            <a:r>
              <a:rPr sz="950" b="0">
                <a:solidFill>
                  <a:srgbClr val="2B3147"/>
                </a:solidFill>
                <a:latin typeface="Calibri"/>
              </a:rPr>
              <a:t>Quantcast: 15 partner-attributed results, from 11 in June.</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16</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It closed July at $237.12 per submitted application, less than half June’s $513.17.</a:t>
            </a:r>
          </a:p>
          <a:p>
            <a:pPr algn="l">
              <a:spcBef>
                <a:spcPts val="600"/>
              </a:spcBef>
            </a:pPr>
            <a:r>
              <a:rPr sz="900" b="0">
                <a:solidFill>
                  <a:srgbClr val="2B3147"/>
                </a:solidFill>
                <a:latin typeface="Calibri"/>
              </a:rPr>
              <a:t>August’s first days track at $243, with three products converting.</a:t>
            </a:r>
          </a:p>
          <a:p>
            <a:pPr algn="l">
              <a:spcBef>
                <a:spcPts val="600"/>
              </a:spcBef>
            </a:pPr>
            <a:r>
              <a:rPr sz="900" b="0">
                <a:solidFill>
                  <a:srgbClr val="2B3147"/>
                </a:solidFill>
                <a:latin typeface="Calibri"/>
              </a:rPr>
              <a:t>June’s Mexico commitment held: delivery concentrated in-market across the month.</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83664"/>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Refresh the Quantcast site list. 66 domains are flagged for exclusion, led by tvazteca.com at $3,451.61 of July spend, the second consecutive month.</a:t>
            </a:r>
          </a:p>
          <a:p>
            <a:pPr algn="l">
              <a:spcBef>
                <a:spcPts val="600"/>
              </a:spcBef>
            </a:pPr>
            <a:r>
              <a:rPr sz="900" b="0">
                <a:solidFill>
                  <a:srgbClr val="2B3147"/>
                </a:solidFill>
                <a:latin typeface="Calibri"/>
              </a:rPr>
              <a:t>The list keeps delivery concentrated on inventory that reaches the audience; it is the standing monthly quality control on this line.</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83664"/>
            <a:ext cx="3227832" cy="219456"/>
          </a:xfrm>
          <a:prstGeom prst="rect">
            <a:avLst/>
          </a:prstGeom>
          <a:noFill/>
        </p:spPr>
        <p:txBody>
          <a:bodyPr wrap="square" anchor="t" lIns="0" rIns="0" tIns="0" bIns="0">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anchor="t" lIns="0" rIns="0" tIns="0" bIns="0">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Native is read on engagement and traffic quality; DOOH reports delivery on its own slides.</a:t>
            </a:r>
          </a:p>
          <a:p>
            <a:pPr algn="l">
              <a:spcBef>
                <a:spcPts val="600"/>
              </a:spcBef>
            </a:pPr>
            <a:r>
              <a:rPr sz="900" b="0">
                <a:solidFill>
                  <a:srgbClr val="2B3147"/>
                </a:solidFill>
                <a:latin typeface="Calibri"/>
              </a:rPr>
              <a:t>Both gain a month-over-month read with a second month of data.</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57800"/>
            <a:ext cx="10728655" cy="731520"/>
          </a:xfrm>
          <a:prstGeom prst="rect">
            <a:avLst/>
          </a:prstGeom>
          <a:noFill/>
        </p:spPr>
        <p:txBody>
          <a:bodyPr wrap="square" anchor="ctr" lIns="0" rIns="0" tIns="0" bIns="0">
            <a:spAutoFit/>
          </a:bodyPr>
          <a:lstStyle/>
          <a:p>
            <a:pPr algn="l"/>
            <a:r>
              <a:rPr sz="1200" b="1">
                <a:solidFill>
                  <a:srgbClr val="FFFFFF"/>
                </a:solidFill>
                <a:latin typeface="Georgia"/>
              </a:rPr>
              <a:t>The rebuilt structure delivered $237.12 per submitted application. August scales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20 submitted applications at $531.25; the rebuilt structure closed the month at $237.12.</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r:id="rId3"/>
          </a:graphicData>
        </a:graphic>
      </p:graphicFrame>
      <p:sp>
        <p:nvSpPr>
          <p:cNvPr id="41" name="TextBox 40"/>
          <p:cNvSpPr txBox="1"/>
          <p:nvPr/>
        </p:nvSpPr>
        <p:spPr>
          <a:xfrm>
            <a:off x="731520" y="3291840"/>
            <a:ext cx="2194560" cy="274320"/>
          </a:xfrm>
          <a:prstGeom prst="rect">
            <a:avLst/>
          </a:prstGeom>
          <a:noFill/>
        </p:spPr>
        <p:txBody>
          <a:bodyPr wrap="square" anchor="t" lIns="0" rIns="0" tIns="0" bIns="0">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anchor="t" lIns="0" rIns="0" tIns="0" bIns="0">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anchor="t" lIns="0" rIns="0" tIns="0" bIns="0">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gridCol w="822960"/>
                <a:gridCol w="548640"/>
                <a:gridCol w="914400"/>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tr>
            </a:tbl>
          </a:graphicData>
        </a:graphic>
      </p:graphicFrame>
      <p:sp>
        <p:nvSpPr>
          <p:cNvPr id="45" name="TextBox 44"/>
          <p:cNvSpPr txBox="1"/>
          <p:nvPr/>
        </p:nvSpPr>
        <p:spPr>
          <a:xfrm>
            <a:off x="7863840" y="5303520"/>
            <a:ext cx="3840480" cy="1005840"/>
          </a:xfrm>
          <a:prstGeom prst="rect">
            <a:avLst/>
          </a:prstGeom>
          <a:noFill/>
        </p:spPr>
        <p:txBody>
          <a:bodyPr wrap="square" anchor="t" lIns="0" rIns="0" tIns="0" bIns="0">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Scale the rebuilt structure.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16</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anchor="t" lIns="0" rIns="0" tIns="0" bIns="0">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anchor="t" lIns="0" rIns="0" tIns="0" bIns="0">
            <a:spAutoFit/>
          </a:bodyPr>
          <a:lstStyle/>
          <a:p>
            <a:pPr algn="l"/>
            <a:r>
              <a:rPr sz="950" b="0">
                <a:solidFill>
                  <a:srgbClr val="2B3147"/>
                </a:solidFill>
                <a:latin typeface="Calibri"/>
              </a:rPr>
              <a:t>Increase Bing within CPA and delivery guardrails, scaling the rebuilt structure behind the TradingView theme from the July close of $237.12. August’s first days track at $243.</a:t>
            </a:r>
          </a:p>
          <a:p>
            <a:pPr algn="l">
              <a:spcBef>
                <a:spcPts val="600"/>
              </a:spcBef>
            </a:pPr>
            <a:r>
              <a:rPr sz="950" b="0">
                <a:solidFill>
                  <a:srgbClr val="2B3147"/>
                </a:solidFill>
                <a:latin typeface="Calibri"/>
              </a:rPr>
              <a:t>Read the account on the rebuilt structure’s results rather than the full-month average; the second half of July is the account’s current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partner-attributed</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Partner-attributed results came in at 15, from 11 in June, including the first click-through results of the year.</a:t>
            </a:r>
          </a:p>
          <a:p>
            <a:pPr algn="l">
              <a:spcBef>
                <a:spcPts val="600"/>
              </a:spcBef>
            </a:pPr>
            <a:r>
              <a:rPr sz="950" b="0">
                <a:solidFill>
                  <a:srgbClr val="2B3147"/>
                </a:solidFill>
                <a:latin typeface="Calibri"/>
              </a:rPr>
              <a:t>Viewability came in at 54.45%, from 51.3% in June.</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THE SITE LIST</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June’s 49-site list is refreshed to 66 domains this month.</a:t>
            </a:r>
          </a:p>
          <a:p>
            <a:pPr algn="l">
              <a:spcBef>
                <a:spcPts val="600"/>
              </a:spcBef>
            </a:pPr>
            <a:r>
              <a:rPr sz="950" b="0">
                <a:solidFill>
                  <a:srgbClr val="2B3147"/>
                </a:solidFill>
                <a:latin typeface="Calibri"/>
              </a:rPr>
              <a:t>tvazteca.com leads it: $3,451.61 of July spend on that single domain, the second consecutive month. If one exclusion is actioned this month, that is the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Apply the refreshed site list.</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site list is the standing quality control on this line: 66 domains flagged for exclusion, led by news and utility inventory that does not reach the audience.</a:t>
            </a:r>
          </a:p>
          <a:p>
            <a:pPr algn="l">
              <a:spcBef>
                <a:spcPts val="600"/>
              </a:spcBef>
            </a:pPr>
            <a:r>
              <a:rPr sz="950" b="0">
                <a:solidFill>
                  <a:srgbClr val="2B3147"/>
                </a:solidFill>
                <a:latin typeface="Calibri"/>
              </a:rPr>
              <a:t>Refreshing it monthly keeps delivery concentrated as reach scales; inventory rotates, so a stale list loses its effect.</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Maintain a bounded role with explicit inventory and qualified-traffic expectations.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41 partner-attributed applications at $914.85, from 42 at $834 in June.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partner-attributed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partner-attributed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Applications are partner-attributed, per Azerion’s reporting framework.</a:t>
            </a:r>
          </a:p>
          <a:p>
            <a:pPr algn="l">
              <a:spcBef>
                <a:spcPts val="600"/>
              </a:spcBef>
            </a:pPr>
            <a:r>
              <a:rPr sz="950" b="0">
                <a:solidFill>
                  <a:srgbClr val="2B3147"/>
                </a:solidFill>
                <a:latin typeface="Calibri"/>
              </a:rPr>
              <a:t>Display viewability came in at 82.47% and native at 77.34%.</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Continue at the current level. Optimize toward a lower partner-reported CPA.</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Azerion produced 41 partner-attributed applications and remains an active acquisition channel: $914.85 per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Continue at the current level; August focuses on improving efficiency toward a lower partner-reported CPA and maintaining Mexico delivery.</a:t>
            </a:r>
          </a:p>
          <a:p>
            <a:pPr algn="l">
              <a:spcBef>
                <a:spcPts val="600"/>
              </a:spcBef>
            </a:pPr>
            <a:r>
              <a:rPr sz="950" b="0">
                <a:solidFill>
                  <a:srgbClr val="2B3147"/>
                </a:solidFill>
                <a:latin typeface="Calibri"/>
              </a:rPr>
              <a:t>Judge the channel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Meta paid reported on July spend and delivery: $8,027 and 74,489 link clicks.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REPORTING METHOD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Meta paid has no current reliable paid reporting; the account is paused and resolution is owned by StoneX. July is reported on platform delivery.</a:t>
            </a:r>
          </a:p>
          <a:p>
            <a:pPr algn="l">
              <a:spcBef>
                <a:spcPts val="600"/>
              </a:spcBef>
            </a:pPr>
            <a:r>
              <a:rPr sz="950" b="0">
                <a:solidFill>
                  <a:srgbClr val="2B3147"/>
                </a:solidFill>
                <a:latin typeface="Calibri"/>
              </a:rPr>
              <a:t>Meta organic continues, reported on native organic analytics: reach, engagement and audience activity.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16</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gridCol w="1188720"/>
                <a:gridCol w="1371600"/>
                <a:gridCol w="1097280"/>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1" name="TextBox 10"/>
          <p:cNvSpPr txBox="1"/>
          <p:nvPr/>
        </p:nvSpPr>
        <p:spPr>
          <a:xfrm>
            <a:off x="457200" y="3566160"/>
            <a:ext cx="6766560" cy="548640"/>
          </a:xfrm>
          <a:prstGeom prst="rect">
            <a:avLst/>
          </a:prstGeom>
          <a:noFill/>
        </p:spPr>
        <p:txBody>
          <a:bodyPr wrap="square" anchor="t" lIns="0" rIns="0" tIns="0" bIns="0">
            <a:spAutoFit/>
          </a:bodyPr>
          <a:lstStyle/>
          <a:p>
            <a:pPr algn="l"/>
            <a:r>
              <a:rPr sz="750" b="0">
                <a:solidFill>
                  <a:srgbClr val="5A6072"/>
                </a:solidFill>
                <a:latin typeface="Calibri"/>
              </a:rPr>
              <a:t>Native combines Quantcast’s dedicated native placement and Azerion’s native inventory. DOOH delivery follows on the next slides.</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93392"/>
            <a:ext cx="3895344" cy="274320"/>
          </a:xfrm>
          <a:prstGeom prst="rect">
            <a:avLst/>
          </a:prstGeom>
          <a:noFill/>
        </p:spPr>
        <p:txBody>
          <a:bodyPr wrap="square" anchor="t" lIns="0" rIns="0" tIns="0" bIns="0">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anchor="t" lIns="0" rIns="0" tIns="0" bIns="0">
            <a:spAutoFit/>
          </a:bodyPr>
          <a:lstStyle/>
          <a:p>
            <a:pPr algn="l"/>
            <a:r>
              <a:rPr sz="950" b="0">
                <a:solidFill>
                  <a:srgbClr val="2B3147"/>
                </a:solidFill>
                <a:latin typeface="Calibri"/>
              </a:rPr>
              <a:t>Native is read on engagement, traffic quality and partner-attributed actions; DOOH delivery is reported on the two slides that follow.</a:t>
            </a:r>
          </a:p>
          <a:p>
            <a:pPr algn="l">
              <a:spcBef>
                <a:spcPts val="600"/>
              </a:spcBef>
            </a:pPr>
            <a:r>
              <a:rPr sz="950" b="0">
                <a:solidFill>
                  <a:srgbClr val="2B3147"/>
                </a:solidFill>
                <a:latin typeface="Calibri"/>
              </a:rPr>
              <a:t>Native completes its planned test in August; its FY2027 role is decided from partner-level results.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CAMPAIGN OVERVIEW</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One DOOH campaign across Mexico City, Guadalajara and Monterrey.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 IMPRESSIONS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opportunities to see</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ESTIMATED REACH</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781,169</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unique audience, modeled</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INVESTMENT</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$26,865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CPM</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USD per thousand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AD PLAYS</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126,121</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31 days</a:t>
            </a:r>
          </a:p>
        </p:txBody>
      </p:sp>
      <p:graphicFrame>
        <p:nvGraphicFramePr>
          <p:cNvPr id="35" name="Table 34"/>
          <p:cNvGraphicFramePr>
            <a:graphicFrameLocks noGrp="1"/>
          </p:cNvGraphicFramePr>
          <p:nvPr/>
        </p:nvGraphicFramePr>
        <p:xfrm>
          <a:off x="457200" y="3063240"/>
          <a:ext cx="5577840" cy="2286000"/>
        </p:xfrm>
        <a:graphic>
          <a:graphicData uri="http://schemas.openxmlformats.org/drawingml/2006/table">
            <a:tbl>
              <a:tblPr>
                <a:tableStyleId>{5C22544A-7EE6-4342-B048-85BDC9FD1C3A}</a:tableStyleId>
              </a:tblPr>
              <a:tblGrid>
                <a:gridCol w="1554480"/>
                <a:gridCol w="4023360"/>
              </a:tblGrid>
              <a:tr h="381000">
                <a:tc>
                  <a:txBody>
                    <a:bodyPr/>
                    <a:lstStyle/>
                    <a:p>
                      <a:pPr algn="l"/>
                      <a:r>
                        <a:rPr sz="850" b="1">
                          <a:solidFill>
                            <a:srgbClr val="FFFFFF"/>
                          </a:solidFill>
                          <a:latin typeface="Calibri"/>
                        </a:rPr>
                        <a:t>Parameter</a:t>
                      </a:r>
                    </a:p>
                  </a:txBody>
                  <a:tcPr marL="54864" marR="54864" marT="27432" marB="27432">
                    <a:solidFill>
                      <a:srgbClr val="1E2761"/>
                    </a:solidFill>
                  </a:tcPr>
                </a:tc>
                <a:tc>
                  <a:txBody>
                    <a:bodyPr/>
                    <a:lstStyle/>
                    <a:p>
                      <a:pPr algn="r"/>
                      <a:r>
                        <a:rPr sz="850" b="1">
                          <a:solidFill>
                            <a:srgbClr val="FFFFFF"/>
                          </a:solidFill>
                          <a:latin typeface="Calibri"/>
                        </a:rPr>
                        <a:t>Detail</a:t>
                      </a:r>
                    </a:p>
                  </a:txBody>
                  <a:tcPr marL="54864" marR="54864" marT="27432" marB="27432">
                    <a:solidFill>
                      <a:srgbClr val="1E2761"/>
                    </a:solidFill>
                  </a:tcPr>
                </a:tc>
              </a:tr>
              <a:tr h="381000">
                <a:tc>
                  <a:txBody>
                    <a:bodyPr/>
                    <a:lstStyle/>
                    <a:p>
                      <a:pPr algn="l"/>
                      <a:r>
                        <a:rPr sz="850" b="1">
                          <a:solidFill>
                            <a:srgbClr val="2B3147"/>
                          </a:solidFill>
                          <a:latin typeface="Calibri"/>
                        </a:rPr>
                        <a:t>Markets</a:t>
                      </a:r>
                    </a:p>
                  </a:txBody>
                  <a:tcPr marL="54864" marR="54864" marT="27432" marB="27432">
                    <a:solidFill>
                      <a:srgbClr val="FFFFFF"/>
                    </a:solidFill>
                  </a:tcPr>
                </a:tc>
                <a:tc>
                  <a:txBody>
                    <a:bodyPr/>
                    <a:lstStyle/>
                    <a:p>
                      <a:pPr algn="r"/>
                      <a:r>
                        <a:rPr sz="850" b="0">
                          <a:solidFill>
                            <a:srgbClr val="2B3147"/>
                          </a:solidFill>
                          <a:latin typeface="Calibri"/>
                        </a:rPr>
                        <a:t>Mexico City, Guadalajara, Monterrey</a:t>
                      </a:r>
                    </a:p>
                  </a:txBody>
                  <a:tcPr marL="54864" marR="54864" marT="27432" marB="27432">
                    <a:solidFill>
                      <a:srgbClr val="FFFFFF"/>
                    </a:solidFill>
                  </a:tcPr>
                </a:tc>
              </a:tr>
              <a:tr h="381000">
                <a:tc>
                  <a:txBody>
                    <a:bodyPr/>
                    <a:lstStyle/>
                    <a:p>
                      <a:pPr algn="l"/>
                      <a:r>
                        <a:rPr sz="850" b="1">
                          <a:solidFill>
                            <a:srgbClr val="2B3147"/>
                          </a:solidFill>
                          <a:latin typeface="Calibri"/>
                        </a:rPr>
                        <a:t>Flight</a:t>
                      </a:r>
                    </a:p>
                  </a:txBody>
                  <a:tcPr marL="54864" marR="54864" marT="27432" marB="27432">
                    <a:solidFill>
                      <a:srgbClr val="F9FAFC"/>
                    </a:solidFill>
                  </a:tcPr>
                </a:tc>
                <a:tc>
                  <a:txBody>
                    <a:bodyPr/>
                    <a:lstStyle/>
                    <a:p>
                      <a:pPr algn="r"/>
                      <a:r>
                        <a:rPr sz="850" b="0">
                          <a:solidFill>
                            <a:srgbClr val="2B3147"/>
                          </a:solidFill>
                          <a:latin typeface="Calibri"/>
                        </a:rPr>
                        <a:t>July 1–31, 2026</a:t>
                      </a:r>
                    </a:p>
                  </a:txBody>
                  <a:tcPr marL="54864" marR="54864" marT="27432" marB="27432">
                    <a:solidFill>
                      <a:srgbClr val="F9FAFC"/>
                    </a:solidFill>
                  </a:tcPr>
                </a:tc>
              </a:tr>
              <a:tr h="381000">
                <a:tc>
                  <a:txBody>
                    <a:bodyPr/>
                    <a:lstStyle/>
                    <a:p>
                      <a:pPr algn="l"/>
                      <a:r>
                        <a:rPr sz="850" b="1">
                          <a:solidFill>
                            <a:srgbClr val="2B3147"/>
                          </a:solidFill>
                          <a:latin typeface="Calibri"/>
                        </a:rPr>
                        <a:t>Media</a:t>
                      </a:r>
                    </a:p>
                  </a:txBody>
                  <a:tcPr marL="54864" marR="54864" marT="27432" marB="27432">
                    <a:solidFill>
                      <a:srgbClr val="FFFFFF"/>
                    </a:solidFill>
                  </a:tcPr>
                </a:tc>
                <a:tc>
                  <a:txBody>
                    <a:bodyPr/>
                    <a:lstStyle/>
                    <a:p>
                      <a:pPr algn="r"/>
                      <a:r>
                        <a:rPr sz="850" b="0">
                          <a:solidFill>
                            <a:srgbClr val="2B3147"/>
                          </a:solidFill>
                          <a:latin typeface="Calibri"/>
                        </a:rPr>
                        <a:t>Digital screens and bulletins</a:t>
                      </a:r>
                    </a:p>
                  </a:txBody>
                  <a:tcPr marL="54864" marR="54864" marT="27432" marB="27432">
                    <a:solidFill>
                      <a:srgbClr val="FFFFFF"/>
                    </a:solidFill>
                  </a:tcPr>
                </a:tc>
              </a:tr>
              <a:tr h="381000">
                <a:tc>
                  <a:txBody>
                    <a:bodyPr/>
                    <a:lstStyle/>
                    <a:p>
                      <a:pPr algn="l"/>
                      <a:r>
                        <a:rPr sz="850" b="1">
                          <a:solidFill>
                            <a:srgbClr val="2B3147"/>
                          </a:solidFill>
                          <a:latin typeface="Calibri"/>
                        </a:rPr>
                        <a:t>Creative</a:t>
                      </a:r>
                    </a:p>
                  </a:txBody>
                  <a:tcPr marL="54864" marR="54864" marT="27432" marB="27432">
                    <a:solidFill>
                      <a:srgbClr val="F9FAFC"/>
                    </a:solidFill>
                  </a:tcPr>
                </a:tc>
                <a:tc>
                  <a:txBody>
                    <a:bodyPr/>
                    <a:lstStyle/>
                    <a:p>
                      <a:pPr algn="r"/>
                      <a:r>
                        <a:rPr sz="850" b="0">
                          <a:solidFill>
                            <a:srgbClr val="2B3147"/>
                          </a:solidFill>
                          <a:latin typeface="Calibri"/>
                        </a:rPr>
                        <a:t>Commodities theme, Spanish</a:t>
                      </a:r>
                    </a:p>
                  </a:txBody>
                  <a:tcPr marL="54864" marR="54864" marT="27432" marB="27432">
                    <a:solidFill>
                      <a:srgbClr val="F9FAFC"/>
                    </a:solidFill>
                  </a:tcPr>
                </a:tc>
              </a:tr>
              <a:tr h="381000">
                <a:tc>
                  <a:txBody>
                    <a:bodyPr/>
                    <a:lstStyle/>
                    <a:p>
                      <a:pPr algn="l"/>
                      <a:r>
                        <a:rPr sz="850" b="1">
                          <a:solidFill>
                            <a:srgbClr val="2B3147"/>
                          </a:solidFill>
                          <a:latin typeface="Calibri"/>
                        </a:rPr>
                        <a:t>Formats</a:t>
                      </a:r>
                    </a:p>
                  </a:txBody>
                  <a:tcPr marL="54864" marR="54864" marT="27432" marB="27432">
                    <a:solidFill>
                      <a:srgbClr val="FFFFFF"/>
                    </a:solidFill>
                  </a:tcPr>
                </a:tc>
                <a:tc>
                  <a:txBody>
                    <a:bodyPr/>
                    <a:lstStyle/>
                    <a:p>
                      <a:pPr algn="r"/>
                      <a:r>
                        <a:rPr sz="850" b="0">
                          <a:solidFill>
                            <a:srgbClr val="2B3147"/>
                          </a:solidFill>
                          <a:latin typeface="Calibri"/>
                        </a:rPr>
                        <a:t>10s and 15s video, static image</a:t>
                      </a:r>
                    </a:p>
                  </a:txBody>
                  <a:tcPr marL="54864" marR="54864" marT="27432" marB="27432">
                    <a:solidFill>
                      <a:srgbClr val="FFFFFF"/>
                    </a:solidFill>
                  </a:tcPr>
                </a:tc>
              </a:tr>
            </a:tbl>
          </a:graphicData>
        </a:graphic>
      </p:graphicFrame>
      <p:sp>
        <p:nvSpPr>
          <p:cNvPr id="36" name="Rectangle 35"/>
          <p:cNvSpPr/>
          <p:nvPr/>
        </p:nvSpPr>
        <p:spPr>
          <a:xfrm>
            <a:off x="6309360" y="3063240"/>
            <a:ext cx="5394960" cy="301752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09360" y="3063240"/>
            <a:ext cx="64008" cy="3017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28816" y="3227832"/>
            <a:ext cx="4992624" cy="274320"/>
          </a:xfrm>
          <a:prstGeom prst="rect">
            <a:avLst/>
          </a:prstGeom>
          <a:noFill/>
        </p:spPr>
        <p:txBody>
          <a:bodyPr wrap="square" anchor="t" lIns="0" rIns="0" tIns="0" bIns="0">
            <a:spAutoFit/>
          </a:bodyPr>
          <a:lstStyle/>
          <a:p>
            <a:pPr algn="l"/>
            <a:r>
              <a:rPr sz="1000" b="1">
                <a:solidFill>
                  <a:srgbClr val="1E2761"/>
                </a:solidFill>
                <a:latin typeface="Georgia"/>
              </a:rPr>
              <a:t>CAMPAIGN TAKEAWAY</a:t>
            </a:r>
          </a:p>
        </p:txBody>
      </p:sp>
      <p:sp>
        <p:nvSpPr>
          <p:cNvPr id="39" name="TextBox 38"/>
          <p:cNvSpPr txBox="1"/>
          <p:nvPr/>
        </p:nvSpPr>
        <p:spPr>
          <a:xfrm>
            <a:off x="6528816" y="3566160"/>
            <a:ext cx="4992624" cy="2331720"/>
          </a:xfrm>
          <a:prstGeom prst="rect">
            <a:avLst/>
          </a:prstGeom>
          <a:noFill/>
        </p:spPr>
        <p:txBody>
          <a:bodyPr wrap="square" anchor="t" lIns="0" rIns="0" tIns="0" bIns="0">
            <a:spAutoFit/>
          </a:bodyPr>
          <a:lstStyle/>
          <a:p>
            <a:pPr algn="l"/>
            <a:r>
              <a:rPr sz="950" b="0">
                <a:solidFill>
                  <a:srgbClr val="2B3147"/>
                </a:solidFill>
                <a:latin typeface="Calibri"/>
              </a:rPr>
              <a:t>The campaign ran all 31 days across the same three markets as June, on the commodities creative theme in Spanish.</a:t>
            </a:r>
          </a:p>
          <a:p>
            <a:pPr algn="l">
              <a:spcBef>
                <a:spcPts val="600"/>
              </a:spcBef>
            </a:pPr>
            <a:r>
              <a:rPr sz="950" b="0">
                <a:solidFill>
                  <a:srgbClr val="2B3147"/>
                </a:solidFill>
                <a:latin typeface="Calibri"/>
              </a:rPr>
              <a:t>Mexico City carried 59% of delivery, with Guadalajara and Monterrey splitting the balance.</a:t>
            </a:r>
          </a:p>
          <a:p>
            <a:pPr algn="l">
              <a:spcBef>
                <a:spcPts val="600"/>
              </a:spcBef>
            </a:pPr>
            <a:r>
              <a:rPr sz="950" b="0">
                <a:solidFill>
                  <a:srgbClr val="2B3147"/>
                </a:solidFill>
                <a:latin typeface="Calibri"/>
              </a:rPr>
              <a:t>The line completes its remaining $6K in August and concludes, closing out the contracted activity.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DELIVERY BY CITY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City carried 59% of July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CITY</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825,383</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459K reach · 59%</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GUADALAJARA</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314,817</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175K reach · 22%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MONTERREY</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265,905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148K reach · 19%</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781K reach · 100%</a:t>
            </a:r>
          </a:p>
        </p:txBody>
      </p:sp>
      <p:graphicFrame>
        <p:nvGraphicFramePr>
          <p:cNvPr id="30" name="Table 29"/>
          <p:cNvGraphicFramePr>
            <a:graphicFrameLocks noGrp="1"/>
          </p:cNvGraphicFramePr>
          <p:nvPr/>
        </p:nvGraphicFramePr>
        <p:xfrm>
          <a:off x="457200" y="2926080"/>
          <a:ext cx="5669280" cy="1920240"/>
        </p:xfrm>
        <a:graphic>
          <a:graphicData uri="http://schemas.openxmlformats.org/drawingml/2006/table">
            <a:tbl>
              <a:tblPr>
                <a:tableStyleId>{5C22544A-7EE6-4342-B048-85BDC9FD1C3A}</a:tableStyleId>
              </a:tblPr>
              <a:tblGrid>
                <a:gridCol w="1371600"/>
                <a:gridCol w="960120"/>
                <a:gridCol w="1234440"/>
                <a:gridCol w="1143000"/>
                <a:gridCol w="960120"/>
              </a:tblGrid>
              <a:tr h="384048">
                <a:tc>
                  <a:txBody>
                    <a:bodyPr/>
                    <a:lstStyle/>
                    <a:p>
                      <a:pPr algn="l"/>
                      <a:r>
                        <a:rPr sz="850" b="1">
                          <a:solidFill>
                            <a:srgbClr val="FFFFFF"/>
                          </a:solidFill>
                          <a:latin typeface="Calibri"/>
                        </a:rPr>
                        <a:t>City</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Est. reach</a:t>
                      </a:r>
                    </a:p>
                  </a:txBody>
                  <a:tcPr marL="54864" marR="54864" marT="27432" marB="27432">
                    <a:solidFill>
                      <a:srgbClr val="1E2761"/>
                    </a:solidFill>
                  </a:tcPr>
                </a:tc>
                <a:tc>
                  <a:txBody>
                    <a:bodyPr/>
                    <a:lstStyle/>
                    <a:p>
                      <a:pPr algn="r"/>
                      <a:r>
                        <a:rPr sz="850" b="1">
                          <a:solidFill>
                            <a:srgbClr val="FFFFFF"/>
                          </a:solidFill>
                          <a:latin typeface="Calibri"/>
                        </a:rPr>
                        <a:t>Share</a:t>
                      </a:r>
                    </a:p>
                  </a:txBody>
                  <a:tcPr marL="54864" marR="54864" marT="27432" marB="27432">
                    <a:solidFill>
                      <a:srgbClr val="1E2761"/>
                    </a:solidFill>
                  </a:tcPr>
                </a:tc>
              </a:tr>
              <a:tr h="384048">
                <a:tc>
                  <a:txBody>
                    <a:bodyPr/>
                    <a:lstStyle/>
                    <a:p>
                      <a:pPr algn="l"/>
                      <a:r>
                        <a:rPr sz="850" b="1">
                          <a:solidFill>
                            <a:srgbClr val="2B3147"/>
                          </a:solidFill>
                          <a:latin typeface="Calibri"/>
                        </a:rPr>
                        <a:t>Mexico City</a:t>
                      </a:r>
                    </a:p>
                  </a:txBody>
                  <a:tcPr marL="54864" marR="54864" marT="27432" marB="27432">
                    <a:solidFill>
                      <a:srgbClr val="FFFFFF"/>
                    </a:solidFill>
                  </a:tcPr>
                </a:tc>
                <a:tc>
                  <a:txBody>
                    <a:bodyPr/>
                    <a:lstStyle/>
                    <a:p>
                      <a:pPr algn="r"/>
                      <a:r>
                        <a:rPr sz="850" b="0">
                          <a:solidFill>
                            <a:srgbClr val="2B3147"/>
                          </a:solidFill>
                          <a:latin typeface="Calibri"/>
                        </a:rPr>
                        <a:t>$15,724</a:t>
                      </a:r>
                    </a:p>
                  </a:txBody>
                  <a:tcPr marL="54864" marR="54864" marT="27432" marB="27432">
                    <a:solidFill>
                      <a:srgbClr val="FFFFFF"/>
                    </a:solidFill>
                  </a:tcPr>
                </a:tc>
                <a:tc>
                  <a:txBody>
                    <a:bodyPr/>
                    <a:lstStyle/>
                    <a:p>
                      <a:pPr algn="r"/>
                      <a:r>
                        <a:rPr sz="850" b="0">
                          <a:solidFill>
                            <a:srgbClr val="2B3147"/>
                          </a:solidFill>
                          <a:latin typeface="Calibri"/>
                        </a:rPr>
                        <a:t>825,383</a:t>
                      </a:r>
                    </a:p>
                  </a:txBody>
                  <a:tcPr marL="54864" marR="54864" marT="27432" marB="27432">
                    <a:solidFill>
                      <a:srgbClr val="FFFFFF"/>
                    </a:solidFill>
                  </a:tcPr>
                </a:tc>
                <a:tc>
                  <a:txBody>
                    <a:bodyPr/>
                    <a:lstStyle/>
                    <a:p>
                      <a:pPr algn="r"/>
                      <a:r>
                        <a:rPr sz="850" b="0">
                          <a:solidFill>
                            <a:srgbClr val="2B3147"/>
                          </a:solidFill>
                          <a:latin typeface="Calibri"/>
                        </a:rPr>
                        <a:t>458,546</a:t>
                      </a:r>
                    </a:p>
                  </a:txBody>
                  <a:tcPr marL="54864" marR="54864" marT="27432" marB="27432">
                    <a:solidFill>
                      <a:srgbClr val="FFFFFF"/>
                    </a:solidFill>
                  </a:tcPr>
                </a:tc>
                <a:tc>
                  <a:txBody>
                    <a:bodyPr/>
                    <a:lstStyle/>
                    <a:p>
                      <a:pPr algn="r"/>
                      <a:r>
                        <a:rPr sz="850" b="0">
                          <a:solidFill>
                            <a:srgbClr val="2B3147"/>
                          </a:solidFill>
                          <a:latin typeface="Calibri"/>
                        </a:rPr>
                        <a:t>58.7%</a:t>
                      </a:r>
                    </a:p>
                  </a:txBody>
                  <a:tcPr marL="54864" marR="54864" marT="27432" marB="27432">
                    <a:solidFill>
                      <a:srgbClr val="FFFFFF"/>
                    </a:solidFill>
                  </a:tcPr>
                </a:tc>
              </a:tr>
              <a:tr h="384048">
                <a:tc>
                  <a:txBody>
                    <a:bodyPr/>
                    <a:lstStyle/>
                    <a:p>
                      <a:pPr algn="l"/>
                      <a:r>
                        <a:rPr sz="850" b="1">
                          <a:solidFill>
                            <a:srgbClr val="2B3147"/>
                          </a:solidFill>
                          <a:latin typeface="Calibri"/>
                        </a:rPr>
                        <a:t>Guadalajara</a:t>
                      </a:r>
                    </a:p>
                  </a:txBody>
                  <a:tcPr marL="54864" marR="54864" marT="27432" marB="27432">
                    <a:solidFill>
                      <a:srgbClr val="F9FAFC"/>
                    </a:solidFill>
                  </a:tcPr>
                </a:tc>
                <a:tc>
                  <a:txBody>
                    <a:bodyPr/>
                    <a:lstStyle/>
                    <a:p>
                      <a:pPr algn="r"/>
                      <a:r>
                        <a:rPr sz="850" b="0">
                          <a:solidFill>
                            <a:srgbClr val="2B3147"/>
                          </a:solidFill>
                          <a:latin typeface="Calibri"/>
                        </a:rPr>
                        <a:t>$6,040</a:t>
                      </a:r>
                    </a:p>
                  </a:txBody>
                  <a:tcPr marL="54864" marR="54864" marT="27432" marB="27432">
                    <a:solidFill>
                      <a:srgbClr val="F9FAFC"/>
                    </a:solidFill>
                  </a:tcPr>
                </a:tc>
                <a:tc>
                  <a:txBody>
                    <a:bodyPr/>
                    <a:lstStyle/>
                    <a:p>
                      <a:pPr algn="r"/>
                      <a:r>
                        <a:rPr sz="850" b="0">
                          <a:solidFill>
                            <a:srgbClr val="2B3147"/>
                          </a:solidFill>
                          <a:latin typeface="Calibri"/>
                        </a:rPr>
                        <a:t>314,817</a:t>
                      </a:r>
                    </a:p>
                  </a:txBody>
                  <a:tcPr marL="54864" marR="54864" marT="27432" marB="27432">
                    <a:solidFill>
                      <a:srgbClr val="F9FAFC"/>
                    </a:solidFill>
                  </a:tcPr>
                </a:tc>
                <a:tc>
                  <a:txBody>
                    <a:bodyPr/>
                    <a:lstStyle/>
                    <a:p>
                      <a:pPr algn="r"/>
                      <a:r>
                        <a:rPr sz="850" b="0">
                          <a:solidFill>
                            <a:srgbClr val="2B3147"/>
                          </a:solidFill>
                          <a:latin typeface="Calibri"/>
                        </a:rPr>
                        <a:t>174,898</a:t>
                      </a:r>
                    </a:p>
                  </a:txBody>
                  <a:tcPr marL="54864" marR="54864" marT="27432" marB="27432">
                    <a:solidFill>
                      <a:srgbClr val="F9FAFC"/>
                    </a:solidFill>
                  </a:tcPr>
                </a:tc>
                <a:tc>
                  <a:txBody>
                    <a:bodyPr/>
                    <a:lstStyle/>
                    <a:p>
                      <a:pPr algn="r"/>
                      <a:r>
                        <a:rPr sz="850" b="0">
                          <a:solidFill>
                            <a:srgbClr val="2B3147"/>
                          </a:solidFill>
                          <a:latin typeface="Calibri"/>
                        </a:rPr>
                        <a:t>22.4%</a:t>
                      </a:r>
                    </a:p>
                  </a:txBody>
                  <a:tcPr marL="54864" marR="54864" marT="27432" marB="27432">
                    <a:solidFill>
                      <a:srgbClr val="F9FAFC"/>
                    </a:solidFill>
                  </a:tcPr>
                </a:tc>
              </a:tr>
              <a:tr h="384048">
                <a:tc>
                  <a:txBody>
                    <a:bodyPr/>
                    <a:lstStyle/>
                    <a:p>
                      <a:pPr algn="l"/>
                      <a:r>
                        <a:rPr sz="850" b="1">
                          <a:solidFill>
                            <a:srgbClr val="2B3147"/>
                          </a:solidFill>
                          <a:latin typeface="Calibri"/>
                        </a:rPr>
                        <a:t>Monterrey</a:t>
                      </a:r>
                    </a:p>
                  </a:txBody>
                  <a:tcPr marL="54864" marR="54864" marT="27432" marB="27432">
                    <a:solidFill>
                      <a:srgbClr val="FFFFFF"/>
                    </a:solidFill>
                  </a:tcPr>
                </a:tc>
                <a:tc>
                  <a:txBody>
                    <a:bodyPr/>
                    <a:lstStyle/>
                    <a:p>
                      <a:pPr algn="r"/>
                      <a:r>
                        <a:rPr sz="850" b="0">
                          <a:solidFill>
                            <a:srgbClr val="2B3147"/>
                          </a:solidFill>
                          <a:latin typeface="Calibri"/>
                        </a:rPr>
                        <a:t>$5,101</a:t>
                      </a:r>
                    </a:p>
                  </a:txBody>
                  <a:tcPr marL="54864" marR="54864" marT="27432" marB="27432">
                    <a:solidFill>
                      <a:srgbClr val="FFFFFF"/>
                    </a:solidFill>
                  </a:tcPr>
                </a:tc>
                <a:tc>
                  <a:txBody>
                    <a:bodyPr/>
                    <a:lstStyle/>
                    <a:p>
                      <a:pPr algn="r"/>
                      <a:r>
                        <a:rPr sz="850" b="0">
                          <a:solidFill>
                            <a:srgbClr val="2B3147"/>
                          </a:solidFill>
                          <a:latin typeface="Calibri"/>
                        </a:rPr>
                        <a:t>265,905</a:t>
                      </a:r>
                    </a:p>
                  </a:txBody>
                  <a:tcPr marL="54864" marR="54864" marT="27432" marB="27432">
                    <a:solidFill>
                      <a:srgbClr val="FFFFFF"/>
                    </a:solidFill>
                  </a:tcPr>
                </a:tc>
                <a:tc>
                  <a:txBody>
                    <a:bodyPr/>
                    <a:lstStyle/>
                    <a:p>
                      <a:pPr algn="r"/>
                      <a:r>
                        <a:rPr sz="850" b="0">
                          <a:solidFill>
                            <a:srgbClr val="2B3147"/>
                          </a:solidFill>
                          <a:latin typeface="Calibri"/>
                        </a:rPr>
                        <a:t>147,725</a:t>
                      </a:r>
                    </a:p>
                  </a:txBody>
                  <a:tcPr marL="54864" marR="54864" marT="27432" marB="27432">
                    <a:solidFill>
                      <a:srgbClr val="FFFFFF"/>
                    </a:solidFill>
                  </a:tcPr>
                </a:tc>
                <a:tc>
                  <a:txBody>
                    <a:bodyPr/>
                    <a:lstStyle/>
                    <a:p>
                      <a:pPr algn="r"/>
                      <a:r>
                        <a:rPr sz="850" b="0">
                          <a:solidFill>
                            <a:srgbClr val="2B3147"/>
                          </a:solidFill>
                          <a:latin typeface="Calibri"/>
                        </a:rPr>
                        <a:t>18.9%</a:t>
                      </a:r>
                    </a:p>
                  </a:txBody>
                  <a:tcPr marL="54864" marR="54864" marT="27432" marB="27432">
                    <a:solidFill>
                      <a:srgbClr val="FFFFFF"/>
                    </a:solidFill>
                  </a:tcPr>
                </a:tc>
              </a:tr>
              <a:tr h="384048">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$26,865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c>
                  <a:txBody>
                    <a:bodyPr/>
                    <a:lstStyle/>
                    <a:p>
                      <a:pPr algn="r"/>
                      <a:r>
                        <a:rPr sz="850" b="1">
                          <a:solidFill>
                            <a:srgbClr val="1E2761"/>
                          </a:solidFill>
                          <a:latin typeface="Calibri"/>
                        </a:rPr>
                        <a:t>781,169</a:t>
                      </a:r>
                    </a:p>
                  </a:txBody>
                  <a:tcPr marL="54864" marR="54864" marT="27432" marB="27432">
                    <a:solidFill>
                      <a:srgbClr val="CADCFC"/>
                    </a:solidFill>
                  </a:tcPr>
                </a:tc>
                <a:tc>
                  <a:txBody>
                    <a:bodyPr/>
                    <a:lstStyle/>
                    <a:p>
                      <a:pPr algn="r"/>
                      <a:r>
                        <a:rPr sz="850" b="1">
                          <a:solidFill>
                            <a:srgbClr val="1E2761"/>
                          </a:solidFill>
                          <a:latin typeface="Calibri"/>
                        </a:rPr>
                        <a:t>100%</a:t>
                      </a:r>
                    </a:p>
                  </a:txBody>
                  <a:tcPr marL="54864" marR="54864" marT="27432" marB="27432">
                    <a:solidFill>
                      <a:srgbClr val="CADCFC"/>
                    </a:solidFill>
                  </a:tcPr>
                </a:tc>
              </a:tr>
            </a:tbl>
          </a:graphicData>
        </a:graphic>
      </p:graphicFrame>
      <p:graphicFrame>
        <p:nvGraphicFramePr>
          <p:cNvPr id="31" name="Table 30"/>
          <p:cNvGraphicFramePr>
            <a:graphicFrameLocks noGrp="1"/>
          </p:cNvGraphicFramePr>
          <p:nvPr/>
        </p:nvGraphicFramePr>
        <p:xfrm>
          <a:off x="6400800" y="2926080"/>
          <a:ext cx="5303520" cy="2240280"/>
        </p:xfrm>
        <a:graphic>
          <a:graphicData uri="http://schemas.openxmlformats.org/drawingml/2006/table">
            <a:tbl>
              <a:tblPr>
                <a:tableStyleId>{5C22544A-7EE6-4342-B048-85BDC9FD1C3A}</a:tableStyleId>
              </a:tblPr>
              <a:tblGrid>
                <a:gridCol w="1828800"/>
                <a:gridCol w="868680"/>
                <a:gridCol w="868680"/>
                <a:gridCol w="868680"/>
                <a:gridCol w="868680"/>
              </a:tblGrid>
              <a:tr h="320040">
                <a:tc>
                  <a:txBody>
                    <a:bodyPr/>
                    <a:lstStyle/>
                    <a:p>
                      <a:pPr algn="l"/>
                      <a:r>
                        <a:rPr sz="850" b="1">
                          <a:solidFill>
                            <a:srgbClr val="FFFFFF"/>
                          </a:solidFill>
                          <a:latin typeface="Calibri"/>
                        </a:rPr>
                        <a:t>Category</a:t>
                      </a:r>
                    </a:p>
                  </a:txBody>
                  <a:tcPr marL="54864" marR="54864" marT="27432" marB="27432">
                    <a:solidFill>
                      <a:srgbClr val="1E2761"/>
                    </a:solidFill>
                  </a:tcPr>
                </a:tc>
                <a:tc>
                  <a:txBody>
                    <a:bodyPr/>
                    <a:lstStyle/>
                    <a:p>
                      <a:pPr algn="r"/>
                      <a:r>
                        <a:rPr sz="850" b="1">
                          <a:solidFill>
                            <a:srgbClr val="FFFFFF"/>
                          </a:solidFill>
                          <a:latin typeface="Calibri"/>
                        </a:rPr>
                        <a:t>Mexico City</a:t>
                      </a:r>
                    </a:p>
                  </a:txBody>
                  <a:tcPr marL="54864" marR="54864" marT="27432" marB="27432">
                    <a:solidFill>
                      <a:srgbClr val="1E2761"/>
                    </a:solidFill>
                  </a:tcPr>
                </a:tc>
                <a:tc>
                  <a:txBody>
                    <a:bodyPr/>
                    <a:lstStyle/>
                    <a:p>
                      <a:pPr algn="r"/>
                      <a:r>
                        <a:rPr sz="850" b="1">
                          <a:solidFill>
                            <a:srgbClr val="FFFFFF"/>
                          </a:solidFill>
                          <a:latin typeface="Calibri"/>
                        </a:rPr>
                        <a:t>Guadalajara</a:t>
                      </a:r>
                    </a:p>
                  </a:txBody>
                  <a:tcPr marL="54864" marR="54864" marT="27432" marB="27432">
                    <a:solidFill>
                      <a:srgbClr val="1E2761"/>
                    </a:solidFill>
                  </a:tcPr>
                </a:tc>
                <a:tc>
                  <a:txBody>
                    <a:bodyPr/>
                    <a:lstStyle/>
                    <a:p>
                      <a:pPr algn="r"/>
                      <a:r>
                        <a:rPr sz="850" b="1">
                          <a:solidFill>
                            <a:srgbClr val="FFFFFF"/>
                          </a:solidFill>
                          <a:latin typeface="Calibri"/>
                        </a:rPr>
                        <a:t>Monterrey</a:t>
                      </a:r>
                    </a:p>
                  </a:txBody>
                  <a:tcPr marL="54864" marR="54864" marT="27432" marB="27432">
                    <a:solidFill>
                      <a:srgbClr val="1E2761"/>
                    </a:solidFill>
                  </a:tcPr>
                </a:tc>
                <a:tc>
                  <a:txBody>
                    <a:bodyPr/>
                    <a:lstStyle/>
                    <a:p>
                      <a:pPr algn="r"/>
                      <a:r>
                        <a:rPr sz="850" b="1">
                          <a:solidFill>
                            <a:srgbClr val="FFFFFF"/>
                          </a:solidFill>
                          <a:latin typeface="Calibri"/>
                        </a:rPr>
                        <a:t>Total</a:t>
                      </a:r>
                    </a:p>
                  </a:txBody>
                  <a:tcPr marL="54864" marR="54864" marT="27432" marB="27432">
                    <a:solidFill>
                      <a:srgbClr val="1E2761"/>
                    </a:solidFill>
                  </a:tcPr>
                </a:tc>
              </a:tr>
              <a:tr h="320040">
                <a:tc>
                  <a:txBody>
                    <a:bodyPr/>
                    <a:lstStyle/>
                    <a:p>
                      <a:pPr algn="l"/>
                      <a:r>
                        <a:rPr sz="850" b="1">
                          <a:solidFill>
                            <a:srgbClr val="2B3147"/>
                          </a:solidFill>
                          <a:latin typeface="Calibri"/>
                        </a:rPr>
                        <a:t>Airport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Main Avenue / Roadside</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Shopping Mall / Retail</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Leisure &amp; Hospitality</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Other</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1E2761"/>
                          </a:solidFill>
                          <a:latin typeface="Calibri"/>
                        </a:rPr>
                        <a:t>City impressions</a:t>
                      </a:r>
                    </a:p>
                  </a:txBody>
                  <a:tcPr marL="54864" marR="54864" marT="27432" marB="27432">
                    <a:solidFill>
                      <a:srgbClr val="CADCFC"/>
                    </a:solidFill>
                  </a:tcPr>
                </a:tc>
                <a:tc>
                  <a:txBody>
                    <a:bodyPr/>
                    <a:lstStyle/>
                    <a:p>
                      <a:pPr algn="r"/>
                      <a:r>
                        <a:rPr sz="850" b="1">
                          <a:solidFill>
                            <a:srgbClr val="1E2761"/>
                          </a:solidFill>
                          <a:latin typeface="Calibri"/>
                        </a:rPr>
                        <a:t>825,383</a:t>
                      </a:r>
                    </a:p>
                  </a:txBody>
                  <a:tcPr marL="54864" marR="54864" marT="27432" marB="27432">
                    <a:solidFill>
                      <a:srgbClr val="CADCFC"/>
                    </a:solidFill>
                  </a:tcPr>
                </a:tc>
                <a:tc>
                  <a:txBody>
                    <a:bodyPr/>
                    <a:lstStyle/>
                    <a:p>
                      <a:pPr algn="r"/>
                      <a:r>
                        <a:rPr sz="850" b="1">
                          <a:solidFill>
                            <a:srgbClr val="1E2761"/>
                          </a:solidFill>
                          <a:latin typeface="Calibri"/>
                        </a:rPr>
                        <a:t>314,817</a:t>
                      </a:r>
                    </a:p>
                  </a:txBody>
                  <a:tcPr marL="54864" marR="54864" marT="27432" marB="27432">
                    <a:solidFill>
                      <a:srgbClr val="CADCFC"/>
                    </a:solidFill>
                  </a:tcPr>
                </a:tc>
                <a:tc>
                  <a:txBody>
                    <a:bodyPr/>
                    <a:lstStyle/>
                    <a:p>
                      <a:pPr algn="r"/>
                      <a:r>
                        <a:rPr sz="850" b="1">
                          <a:solidFill>
                            <a:srgbClr val="1E2761"/>
                          </a:solidFill>
                          <a:latin typeface="Calibri"/>
                        </a:rPr>
                        <a:t>265,905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r>
            </a:tbl>
          </a:graphicData>
        </a:graphic>
      </p:graphicFrame>
      <p:sp>
        <p:nvSpPr>
          <p:cNvPr id="32" name="TextBox 31"/>
          <p:cNvSpPr txBox="1"/>
          <p:nvPr/>
        </p:nvSpPr>
        <p:spPr>
          <a:xfrm>
            <a:off x="457200" y="5440680"/>
            <a:ext cx="11247120" cy="457200"/>
          </a:xfrm>
          <a:prstGeom prst="rect">
            <a:avLst/>
          </a:prstGeom>
          <a:noFill/>
        </p:spPr>
        <p:txBody>
          <a:bodyPr wrap="square" anchor="t" lIns="0" rIns="0" tIns="0" bIns="0">
            <a:spAutoFit/>
          </a:bodyPr>
          <a:lstStyle/>
          <a:p>
            <a:pPr algn="l"/>
            <a:r>
              <a:rPr sz="750" b="0">
                <a:solidFill>
                  <a:srgbClr val="5A6072"/>
                </a:solidFill>
                <a:latin typeface="Calibri"/>
              </a:rPr>
              <a:t>Impressions are opportunities to see. Estimated reach applies an average frequency of 1.8 to impressions, the same model as the June report. Spend per the client budget tracker; share is the impression share. Venue mix follows with the vendor placement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sessions came in at 7,310, tracking Bing’s rebuild month. Key-event capture is in place as of July 31.</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live since Jul 31</a:t>
            </a:r>
          </a:p>
        </p:txBody>
      </p:sp>
      <p:sp>
        <p:nvSpPr>
          <p:cNvPr id="25" name="Rectangle 24"/>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28" name="TextBox 27"/>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declined; attributed sessions grew.</a:t>
            </a:r>
          </a:p>
          <a:p>
            <a:pPr algn="l">
              <a:spcBef>
                <a:spcPts val="600"/>
              </a:spcBef>
            </a:pPr>
            <a:r>
              <a:rPr sz="950" b="0">
                <a:solidFill>
                  <a:srgbClr val="2B3147"/>
                </a:solidFill>
                <a:latin typeface="Calibri"/>
              </a:rPr>
              <a:t>Venezuela’s session volume declined as the prior campaigns retired, the same campaign-mix effect behind Bing’s in-market concentration this month.</a:t>
            </a:r>
          </a:p>
        </p:txBody>
      </p:sp>
      <p:sp>
        <p:nvSpPr>
          <p:cNvPr id="29" name="Rectangle 28"/>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REPORTING METHOD</a:t>
            </a:r>
          </a:p>
        </p:txBody>
      </p:sp>
      <p:sp>
        <p:nvSpPr>
          <p:cNvPr id="32" name="TextBox 31"/>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GA4 is read as sitewide directional context: traffic and behavior trends, not channel attribution. Channel results come from each partner’s own reporting.</a:t>
            </a:r>
          </a:p>
          <a:p>
            <a:pPr algn="l">
              <a:spcBef>
                <a:spcPts val="600"/>
              </a:spcBef>
            </a:pPr>
            <a:r>
              <a:rPr sz="950" b="0">
                <a:solidFill>
                  <a:srgbClr val="2B3147"/>
                </a:solidFill>
                <a:latin typeface="Calibri"/>
              </a:rPr>
              <a:t>The submitted-application key event records correctly as of July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PORTFOLIO DECISIONS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Each channel is read on its own partner reporting. The decisions follow from it.</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16 / 16</a:t>
            </a:r>
          </a:p>
        </p:txBody>
      </p:sp>
      <p:graphicFrame>
        <p:nvGraphicFramePr>
          <p:cNvPr id="10" name="Table 9"/>
          <p:cNvGraphicFramePr>
            <a:graphicFrameLocks noGrp="1"/>
          </p:cNvGraphicFramePr>
          <p:nvPr/>
        </p:nvGraphicFramePr>
        <p:xfrm>
          <a:off x="457200" y="1828800"/>
          <a:ext cx="11274552" cy="3840480"/>
        </p:xfrm>
        <a:graphic>
          <a:graphicData uri="http://schemas.openxmlformats.org/drawingml/2006/table">
            <a:tbl>
              <a:tblPr>
                <a:tableStyleId>{5C22544A-7EE6-4342-B048-85BDC9FD1C3A}</a:tableStyleId>
              </a:tblPr>
              <a:tblGrid>
                <a:gridCol w="2103120"/>
                <a:gridCol w="9171432"/>
              </a:tblGrid>
              <a:tr h="480060">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l"/>
                      <a:r>
                        <a:rPr sz="850" b="1">
                          <a:solidFill>
                            <a:srgbClr val="FFFFFF"/>
                          </a:solidFill>
                          <a:latin typeface="Calibri"/>
                        </a:rPr>
                        <a:t>August decision</a:t>
                      </a:r>
                    </a:p>
                  </a:txBody>
                  <a:tcPr marL="54864" marR="54864" marT="27432" marB="27432">
                    <a:solidFill>
                      <a:srgbClr val="1E2761"/>
                    </a:solidFill>
                  </a:tcPr>
                </a:tc>
              </a:tr>
              <a:tr h="480060">
                <a:tc>
                  <a:txBody>
                    <a:bodyPr/>
                    <a:lstStyle/>
                    <a:p>
                      <a:pPr algn="l"/>
                      <a:r>
                        <a:rPr sz="850" b="1">
                          <a:solidFill>
                            <a:srgbClr val="2B3147"/>
                          </a:solidFill>
                          <a:latin typeface="Calibri"/>
                        </a:rPr>
                        <a:t>Bing</a:t>
                      </a:r>
                    </a:p>
                  </a:txBody>
                  <a:tcPr marL="54864" marR="54864" marT="27432" marB="27432">
                    <a:solidFill>
                      <a:srgbClr val="FFFFFF"/>
                    </a:solidFill>
                  </a:tcPr>
                </a:tc>
                <a:tc>
                  <a:txBody>
                    <a:bodyPr/>
                    <a:lstStyle/>
                    <a:p>
                      <a:pPr algn="l"/>
                      <a:r>
                        <a:rPr sz="850" b="0">
                          <a:solidFill>
                            <a:srgbClr val="2B3147"/>
                          </a:solidFill>
                          <a:latin typeface="Calibri"/>
                        </a:rPr>
                        <a:t>Increase within CPA and delivery guardrails.</a:t>
                      </a:r>
                    </a:p>
                  </a:txBody>
                  <a:tcPr marL="54864" marR="54864" marT="27432" marB="27432">
                    <a:solidFill>
                      <a:srgbClr val="FFFFFF"/>
                    </a:solidFill>
                  </a:tcPr>
                </a:tc>
              </a:tr>
              <a:tr h="480060">
                <a:tc>
                  <a:txBody>
                    <a:bodyPr/>
                    <a:lstStyle/>
                    <a:p>
                      <a:pPr algn="l"/>
                      <a:r>
                        <a:rPr sz="850" b="1">
                          <a:solidFill>
                            <a:srgbClr val="2B3147"/>
                          </a:solidFill>
                          <a:latin typeface="Calibri"/>
                        </a:rPr>
                        <a:t>Azerion</a:t>
                      </a:r>
                    </a:p>
                  </a:txBody>
                  <a:tcPr marL="54864" marR="54864" marT="27432" marB="27432">
                    <a:solidFill>
                      <a:srgbClr val="F9FAFC"/>
                    </a:solidFill>
                  </a:tcPr>
                </a:tc>
                <a:tc>
                  <a:txBody>
                    <a:bodyPr/>
                    <a:lstStyle/>
                    <a:p>
                      <a:pPr algn="l"/>
                      <a:r>
                        <a:rPr sz="850" b="0">
                          <a:solidFill>
                            <a:srgbClr val="2B3147"/>
                          </a:solidFill>
                          <a:latin typeface="Calibri"/>
                        </a:rPr>
                        <a:t>Continue at the current level; optimize toward a lower partner-reported CPA.</a:t>
                      </a:r>
                    </a:p>
                  </a:txBody>
                  <a:tcPr marL="54864" marR="54864" marT="27432" marB="27432">
                    <a:solidFill>
                      <a:srgbClr val="F9FAFC"/>
                    </a:solidFill>
                  </a:tcPr>
                </a:tc>
              </a:tr>
              <a:tr h="480060">
                <a:tc>
                  <a:txBody>
                    <a:bodyPr/>
                    <a:lstStyle/>
                    <a:p>
                      <a:pPr algn="l"/>
                      <a:r>
                        <a:rPr sz="850" b="1">
                          <a:solidFill>
                            <a:srgbClr val="2B3147"/>
                          </a:solidFill>
                          <a:latin typeface="Calibri"/>
                        </a:rPr>
                        <a:t>Quantcast</a:t>
                      </a:r>
                    </a:p>
                  </a:txBody>
                  <a:tcPr marL="54864" marR="54864" marT="27432" marB="27432">
                    <a:solidFill>
                      <a:srgbClr val="FFFFFF"/>
                    </a:solidFill>
                  </a:tcPr>
                </a:tc>
                <a:tc>
                  <a:txBody>
                    <a:bodyPr/>
                    <a:lstStyle/>
                    <a:p>
                      <a:pPr algn="l"/>
                      <a:r>
                        <a:rPr sz="850" b="0">
                          <a:solidFill>
                            <a:srgbClr val="2B3147"/>
                          </a:solidFill>
                          <a:latin typeface="Calibri"/>
                        </a:rPr>
                        <a:t>Maintain a bounded role with explicit inventory and qualified-traffic expectations; apply the refreshed site list.</a:t>
                      </a:r>
                    </a:p>
                  </a:txBody>
                  <a:tcPr marL="54864" marR="54864" marT="27432" marB="27432">
                    <a:solidFill>
                      <a:srgbClr val="FFFFFF"/>
                    </a:solidFill>
                  </a:tcPr>
                </a:tc>
              </a:tr>
              <a:tr h="480060">
                <a:tc>
                  <a:txBody>
                    <a:bodyPr/>
                    <a:lstStyle/>
                    <a:p>
                      <a:pPr algn="l"/>
                      <a:r>
                        <a:rPr sz="850" b="1">
                          <a:solidFill>
                            <a:srgbClr val="2B3147"/>
                          </a:solidFill>
                          <a:latin typeface="Calibri"/>
                        </a:rPr>
                        <a:t>Native</a:t>
                      </a:r>
                    </a:p>
                  </a:txBody>
                  <a:tcPr marL="54864" marR="54864" marT="27432" marB="27432">
                    <a:solidFill>
                      <a:srgbClr val="F9FAFC"/>
                    </a:solidFill>
                  </a:tcPr>
                </a:tc>
                <a:tc>
                  <a:txBody>
                    <a:bodyPr/>
                    <a:lstStyle/>
                    <a:p>
                      <a:pPr algn="l"/>
                      <a:r>
                        <a:rPr sz="850" b="0">
                          <a:solidFill>
                            <a:srgbClr val="2B3147"/>
                          </a:solidFill>
                          <a:latin typeface="Calibri"/>
                        </a:rPr>
                        <a:t>Complete the planned test; decide its FY2027 role from partner-level results.</a:t>
                      </a:r>
                    </a:p>
                  </a:txBody>
                  <a:tcPr marL="54864" marR="54864" marT="27432" marB="27432">
                    <a:solidFill>
                      <a:srgbClr val="F9FAFC"/>
                    </a:solidFill>
                  </a:tcPr>
                </a:tc>
              </a:tr>
              <a:tr h="480060">
                <a:tc>
                  <a:txBody>
                    <a:bodyPr/>
                    <a:lstStyle/>
                    <a:p>
                      <a:pPr algn="l"/>
                      <a:r>
                        <a:rPr sz="850" b="1">
                          <a:solidFill>
                            <a:srgbClr val="2B3147"/>
                          </a:solidFill>
                          <a:latin typeface="Calibri"/>
                        </a:rPr>
                        <a:t>Meta paid</a:t>
                      </a:r>
                    </a:p>
                  </a:txBody>
                  <a:tcPr marL="54864" marR="54864" marT="27432" marB="27432">
                    <a:solidFill>
                      <a:srgbClr val="FFFFFF"/>
                    </a:solidFill>
                  </a:tcPr>
                </a:tc>
                <a:tc>
                  <a:txBody>
                    <a:bodyPr/>
                    <a:lstStyle/>
                    <a:p>
                      <a:pPr algn="l"/>
                      <a:r>
                        <a:rPr sz="850" b="0">
                          <a:solidFill>
                            <a:srgbClr val="2B3147"/>
                          </a:solidFill>
                          <a:latin typeface="Calibri"/>
                        </a:rPr>
                        <a:t>Paused; resolution owned by StoneX.</a:t>
                      </a:r>
                    </a:p>
                  </a:txBody>
                  <a:tcPr marL="54864" marR="54864" marT="27432" marB="27432">
                    <a:solidFill>
                      <a:srgbClr val="FFFFFF"/>
                    </a:solidFill>
                  </a:tcPr>
                </a:tc>
              </a:tr>
              <a:tr h="480060">
                <a:tc>
                  <a:txBody>
                    <a:bodyPr/>
                    <a:lstStyle/>
                    <a:p>
                      <a:pPr algn="l"/>
                      <a:r>
                        <a:rPr sz="850" b="1">
                          <a:solidFill>
                            <a:srgbClr val="2B3147"/>
                          </a:solidFill>
                          <a:latin typeface="Calibri"/>
                        </a:rPr>
                        <a:t>Meta organic</a:t>
                      </a:r>
                    </a:p>
                  </a:txBody>
                  <a:tcPr marL="54864" marR="54864" marT="27432" marB="27432">
                    <a:solidFill>
                      <a:srgbClr val="F9FAFC"/>
                    </a:solidFill>
                  </a:tcPr>
                </a:tc>
                <a:tc>
                  <a:txBody>
                    <a:bodyPr/>
                    <a:lstStyle/>
                    <a:p>
                      <a:pPr algn="l"/>
                      <a:r>
                        <a:rPr sz="850" b="0">
                          <a:solidFill>
                            <a:srgbClr val="2B3147"/>
                          </a:solidFill>
                          <a:latin typeface="Calibri"/>
                        </a:rPr>
                        <a:t>Continue.</a:t>
                      </a:r>
                    </a:p>
                  </a:txBody>
                  <a:tcPr marL="54864" marR="54864" marT="27432" marB="27432">
                    <a:solidFill>
                      <a:srgbClr val="F9FAFC"/>
                    </a:solidFill>
                  </a:tcPr>
                </a:tc>
              </a:tr>
              <a:tr h="480060">
                <a:tc>
                  <a:txBody>
                    <a:bodyPr/>
                    <a:lstStyle/>
                    <a:p>
                      <a:pPr algn="l"/>
                      <a:r>
                        <a:rPr sz="850" b="1">
                          <a:solidFill>
                            <a:srgbClr val="2B3147"/>
                          </a:solidFill>
                          <a:latin typeface="Calibri"/>
                        </a:rPr>
                        <a:t>DOOH</a:t>
                      </a:r>
                    </a:p>
                  </a:txBody>
                  <a:tcPr marL="54864" marR="54864" marT="27432" marB="27432">
                    <a:solidFill>
                      <a:srgbClr val="FFFFFF"/>
                    </a:solidFill>
                  </a:tcPr>
                </a:tc>
                <a:tc>
                  <a:txBody>
                    <a:bodyPr/>
                    <a:lstStyle/>
                    <a:p>
                      <a:pPr algn="l"/>
                      <a:r>
                        <a:rPr sz="850" b="0">
                          <a:solidFill>
                            <a:srgbClr val="2B3147"/>
                          </a:solidFill>
                          <a:latin typeface="Calibri"/>
                        </a:rPr>
                        <a:t>Complete the remaining $6K and conclude.</a:t>
                      </a:r>
                    </a:p>
                  </a:txBody>
                  <a:tcPr marL="54864" marR="54864" marT="27432" marB="27432">
                    <a:solidFill>
                      <a:srgbClr val="FFFFFF"/>
                    </a:solidFill>
                  </a:tcPr>
                </a:tc>
              </a:tr>
            </a:tbl>
          </a:graphicData>
        </a:graphic>
      </p:graphicFrame>
      <p:sp>
        <p:nvSpPr>
          <p:cNvPr id="11" name="TextBox 10"/>
          <p:cNvSpPr txBox="1"/>
          <p:nvPr/>
        </p:nvSpPr>
        <p:spPr>
          <a:xfrm>
            <a:off x="457200" y="5806440"/>
            <a:ext cx="11247120" cy="365760"/>
          </a:xfrm>
          <a:prstGeom prst="rect">
            <a:avLst/>
          </a:prstGeom>
          <a:noFill/>
        </p:spPr>
        <p:txBody>
          <a:bodyPr wrap="square" anchor="t" lIns="0" rIns="0" tIns="0" bIns="0">
            <a:spAutoFit/>
          </a:bodyPr>
          <a:lstStyle/>
          <a:p>
            <a:pPr algn="l"/>
            <a:r>
              <a:rPr sz="750" b="0">
                <a:solidFill>
                  <a:srgbClr val="5A6072"/>
                </a:solidFill>
                <a:latin typeface="Calibri"/>
              </a:rPr>
              <a:t>Decisions are made per channel from each partner’s own reporting, per the methodology note on the executive summary.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