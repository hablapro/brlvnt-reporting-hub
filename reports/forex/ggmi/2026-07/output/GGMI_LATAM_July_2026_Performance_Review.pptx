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Daily spend ($)</c:v>
                </c:pt>
              </c:strCache>
            </c:strRef>
          </c:tx>
          <c:spPr>
            <a:ln w="28575">
              <a:solidFill>
                <a:srgbClr val="1E2761"/>
              </a:solidFill>
            </a:ln>
          </c:spPr>
          <c:marker>
            <c:symbol val="circle"/>
            <c:size val="6"/>
            <c:spPr>
              <a:solidFill>
                <a:srgbClr val="1E2761"/>
              </a:solidFill>
              <a:ln>
                <a:solidFill>
                  <a:srgbClr val="FFFFFF"/>
                </a:solidFill>
              </a:ln>
            </c:spPr>
          </c:marker>
          <c:cat>
            <c:strRef>
              <c:f>Sheet1!$A$2:$A$32</c:f>
              <c:strCache>
                <c:ptCount val="31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</c:strCache>
            </c:strRef>
          </c:cat>
          <c:val>
            <c:numRef>
              <c:f>Sheet1!$B$2:$B$32</c:f>
              <c:numCache>
                <c:formatCode>General</c:formatCode>
                <c:ptCount val="31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436.55</c:v>
                </c:pt>
                <c:pt idx="11">
                  <c:v>364.63</c:v>
                </c:pt>
                <c:pt idx="12">
                  <c:v>441.88</c:v>
                </c:pt>
                <c:pt idx="13">
                  <c:v>562.23</c:v>
                </c:pt>
                <c:pt idx="14">
                  <c:v>559.9</c:v>
                </c:pt>
                <c:pt idx="15">
                  <c:v>699.13</c:v>
                </c:pt>
                <c:pt idx="16">
                  <c:v>614.23</c:v>
                </c:pt>
                <c:pt idx="17">
                  <c:v>670.31</c:v>
                </c:pt>
                <c:pt idx="18">
                  <c:v>406.84</c:v>
                </c:pt>
                <c:pt idx="19">
                  <c:v>518.09</c:v>
                </c:pt>
                <c:pt idx="20">
                  <c:v>448.17</c:v>
                </c:pt>
                <c:pt idx="21">
                  <c:v>577.22</c:v>
                </c:pt>
                <c:pt idx="22">
                  <c:v>639.51</c:v>
                </c:pt>
                <c:pt idx="23">
                  <c:v>322.88</c:v>
                </c:pt>
                <c:pt idx="24">
                  <c:v>230.02</c:v>
                </c:pt>
                <c:pt idx="25">
                  <c:v>218.3</c:v>
                </c:pt>
                <c:pt idx="26">
                  <c:v>582.18</c:v>
                </c:pt>
                <c:pt idx="27">
                  <c:v>559.63</c:v>
                </c:pt>
                <c:pt idx="28">
                  <c:v>723.75</c:v>
                </c:pt>
                <c:pt idx="29">
                  <c:v>607.16</c:v>
                </c:pt>
                <c:pt idx="30">
                  <c:v>442.33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D0D4DC"/>
            </a:solidFill>
          </a:ln>
        </c:sp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>
          <c:spPr>
            <a:ln w="6350">
              <a:solidFill>
                <a:srgbClr val="D0D4DC"/>
              </a:solidFill>
            </a:ln>
          </c:spPr>
        </c:majorGridlines>
        <c:numFmt formatCode="#,##0" sourceLinked="0"/>
        <c:majorTickMark val="out"/>
        <c:minorTickMark val="none"/>
        <c:tickLblPos val="nextTo"/>
        <c:spPr>
          <a:ln>
            <a:noFill/>
          </a:ln>
        </c:spPr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800">
          <a:solidFill>
            <a:srgbClr val="2B3147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5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011680"/>
            <a:ext cx="91440" cy="2286000"/>
          </a:xfrm>
          <a:prstGeom prst="rect">
            <a:avLst/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orex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457200"/>
            <a:ext cx="2286000" cy="649224"/>
          </a:xfrm>
          <a:prstGeom prst="rect">
            <a:avLst/>
          </a:prstGeom>
        </p:spPr>
      </p:pic>
      <p:pic>
        <p:nvPicPr>
          <p:cNvPr id="5" name="Picture 4" descr="berelvant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2895" y="5943600"/>
            <a:ext cx="1280160" cy="3657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20116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96167"/>
                </a:solidFill>
                <a:latin typeface="Georgia"/>
              </a:rPr>
              <a:t>MONTHLY PERFORMANCE REVIEW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46888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Georgia"/>
              </a:rPr>
              <a:t>GGMI (LATAM) — Paid Media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474720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0">
                <a:solidFill>
                  <a:srgbClr val="CADCFC"/>
                </a:solidFill>
                <a:latin typeface="Georgia"/>
              </a:rPr>
              <a:t>July 2026 Performance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20624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9AA4BA"/>
                </a:solidFill>
                <a:latin typeface="Calibri"/>
              </a:rPr>
              <a:t>Bing Ads  ·  Quantcast  ·  Azerion  ·  Native  ·  Meta  ·  DOOH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612648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9AA4BA"/>
                </a:solidFill>
                <a:latin typeface="Calibri"/>
              </a:rPr>
              <a:t>Reporting period: July 1–31, 2026   |   Currency: USD   |   Prepared by Berelvant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30936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30936"/>
            <a:ext cx="12191695" cy="45720"/>
          </a:xfrm>
          <a:prstGeom prst="rect">
            <a:avLst/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Georgia"/>
              </a:rPr>
              <a:t>SUMMARY  ·  BLENDED VIEW (ORGANIC + PAID)</a:t>
            </a:r>
          </a:p>
        </p:txBody>
      </p:sp>
      <p:pic>
        <p:nvPicPr>
          <p:cNvPr id="5" name="Picture 4" descr="berelvan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28655" y="146304"/>
            <a:ext cx="960120" cy="274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868680"/>
            <a:ext cx="112471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>
                <a:solidFill>
                  <a:srgbClr val="1E2761"/>
                </a:solidFill>
                <a:latin typeface="Georgia"/>
              </a:rPr>
              <a:t>The client funnel, June actual beside July.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83680"/>
            <a:ext cx="12191695" cy="10972"/>
          </a:xfrm>
          <a:prstGeom prst="rect">
            <a:avLst/>
          </a:prstGeom>
          <a:solidFill>
            <a:srgbClr val="D0D4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656832"/>
            <a:ext cx="7315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A6072"/>
                </a:solidFill>
                <a:latin typeface="Calibri"/>
              </a:rPr>
              <a:t>GGMI (LATAM)   |   July 2026 Performance Review   |   Berelvant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20095" y="6656832"/>
            <a:ext cx="914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>
                <a:solidFill>
                  <a:srgbClr val="5A6072"/>
                </a:solidFill>
                <a:latin typeface="Calibri"/>
              </a:rPr>
              <a:t>2 / 14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1828800"/>
          <a:ext cx="6766560" cy="23774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566160"/>
                <a:gridCol w="1600200"/>
                <a:gridCol w="1600200"/>
              </a:tblGrid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Stage (organic + paid)</a:t>
                      </a:r>
                    </a:p>
                  </a:txBody>
                  <a:tcPr marL="54864" marR="54864" marT="27432" marB="27432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June</a:t>
                      </a:r>
                    </a:p>
                  </a:txBody>
                  <a:tcPr marL="54864" marR="54864" marT="27432" marB="27432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July</a:t>
                      </a:r>
                    </a:p>
                  </a:txBody>
                  <a:tcPr marL="54864" marR="54864" marT="27432" marB="27432">
                    <a:solidFill>
                      <a:srgbClr val="1E2761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2B3147"/>
                          </a:solidFill>
                          <a:latin typeface="Calibri"/>
                        </a:rPr>
                        <a:t>Submitted applications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B3147"/>
                          </a:solidFill>
                          <a:latin typeface="Calibri"/>
                        </a:rPr>
                        <a:t>684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B3147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2B3147"/>
                          </a:solidFill>
                          <a:latin typeface="Calibri"/>
                        </a:rPr>
                        <a:t>Approved</a:t>
                      </a:r>
                    </a:p>
                  </a:txBody>
                  <a:tcPr marL="54864" marR="54864" marT="27432" marB="27432">
                    <a:solidFill>
                      <a:srgbClr val="F9FAF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B3147"/>
                          </a:solidFill>
                          <a:latin typeface="Calibri"/>
                        </a:rPr>
                        <a:t>209</a:t>
                      </a:r>
                    </a:p>
                  </a:txBody>
                  <a:tcPr marL="54864" marR="54864" marT="27432" marB="27432">
                    <a:solidFill>
                      <a:srgbClr val="F9FAF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B3147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54864" marR="54864" marT="27432" marB="27432">
                    <a:solidFill>
                      <a:srgbClr val="F9FA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2B3147"/>
                          </a:solidFill>
                          <a:latin typeface="Calibri"/>
                        </a:rPr>
                        <a:t>Funded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B3147"/>
                          </a:solidFill>
                          <a:latin typeface="Calibri"/>
                        </a:rPr>
                        <a:t>32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B3147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2B3147"/>
                          </a:solidFill>
                          <a:latin typeface="Calibri"/>
                        </a:rPr>
                        <a:t>Traded</a:t>
                      </a:r>
                    </a:p>
                  </a:txBody>
                  <a:tcPr marL="54864" marR="54864" marT="27432" marB="27432">
                    <a:solidFill>
                      <a:srgbClr val="F9FAF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B3147"/>
                          </a:solidFill>
                          <a:latin typeface="Calibri"/>
                        </a:rPr>
                        <a:t>29</a:t>
                      </a:r>
                    </a:p>
                  </a:txBody>
                  <a:tcPr marL="54864" marR="54864" marT="27432" marB="27432">
                    <a:solidFill>
                      <a:srgbClr val="F9FAF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B3147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54864" marR="54864" marT="27432" marB="27432">
                    <a:solidFill>
                      <a:srgbClr val="F9FAFC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457200" y="4343400"/>
            <a:ext cx="67665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>
                <a:solidFill>
                  <a:srgbClr val="5A6072"/>
                </a:solidFill>
                <a:latin typeface="Calibri"/>
              </a:rPr>
              <a:t>Funnel metrics are blended organic + paid, from the client dashboard. July rows land with the client dashboard refresh, before this deck is presented. Approval, funding and trading are the application-review and account-activation journey, reported as provided.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406640" y="1828800"/>
            <a:ext cx="4297680" cy="2926080"/>
          </a:xfrm>
          <a:prstGeom prst="rect">
            <a:avLst/>
          </a:prstGeom>
          <a:solidFill>
            <a:srgbClr val="FFFFFF"/>
          </a:solidFill>
          <a:ln w="9525">
            <a:solidFill>
              <a:srgbClr val="D0D4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406640" y="1828800"/>
            <a:ext cx="64008" cy="2926080"/>
          </a:xfrm>
          <a:prstGeom prst="rect">
            <a:avLst/>
          </a:prstGeom>
          <a:solidFill>
            <a:srgbClr val="0F15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26096" y="1993392"/>
            <a:ext cx="389534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1E2761"/>
                </a:solidFill>
                <a:latin typeface="Georgia"/>
              </a:rPr>
              <a:t>HOW TO READ THIS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26096" y="2331720"/>
            <a:ext cx="3895344" cy="2240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2B3147"/>
                </a:solidFill>
                <a:latin typeface="Calibri"/>
              </a:rPr>
              <a:t>The stages below submitted applications are the account review and activation journey, shown for the full blended base.</a:t>
            </a:r>
          </a:p>
          <a:p>
            <a:pPr algn="l">
              <a:spcBef>
                <a:spcPts val="600"/>
              </a:spcBef>
            </a:pPr>
            <a:r>
              <a:rPr sz="950" b="0">
                <a:solidFill>
                  <a:srgbClr val="2B3147"/>
                </a:solidFill>
                <a:latin typeface="Calibri"/>
              </a:rPr>
              <a:t>Paid-media performance per channel starts on the next slide; its submitted-application figures are channel-sourced and are not this blended count.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30936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30936"/>
            <a:ext cx="12191695" cy="45720"/>
          </a:xfrm>
          <a:prstGeom prst="rect">
            <a:avLst/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Georgia"/>
              </a:rPr>
              <a:t>EXECUTIVE SUMMARY</a:t>
            </a:r>
          </a:p>
        </p:txBody>
      </p:sp>
      <p:pic>
        <p:nvPicPr>
          <p:cNvPr id="5" name="Picture 4" descr="berelvan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28655" y="146304"/>
            <a:ext cx="960120" cy="274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868680"/>
            <a:ext cx="112471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>
                <a:solidFill>
                  <a:srgbClr val="1E2761"/>
                </a:solidFill>
                <a:latin typeface="Georgia"/>
              </a:rPr>
              <a:t>$149,896 deployed in July, up 24%, the biggest GGMI media month of 2026.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83680"/>
            <a:ext cx="12191695" cy="10972"/>
          </a:xfrm>
          <a:prstGeom prst="rect">
            <a:avLst/>
          </a:prstGeom>
          <a:solidFill>
            <a:srgbClr val="D0D4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656832"/>
            <a:ext cx="7315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A6072"/>
                </a:solidFill>
                <a:latin typeface="Calibri"/>
              </a:rPr>
              <a:t>GGMI (LATAM)   |   July 2026 Performance Review   |   Berelvant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20095" y="6656832"/>
            <a:ext cx="914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>
                <a:solidFill>
                  <a:srgbClr val="5A6072"/>
                </a:solidFill>
                <a:latin typeface="Calibri"/>
              </a:rPr>
              <a:t>3 / 14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1737360"/>
          <a:ext cx="6766560" cy="27889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965960"/>
                <a:gridCol w="1051560"/>
                <a:gridCol w="960120"/>
                <a:gridCol w="960120"/>
                <a:gridCol w="777240"/>
                <a:gridCol w="1051560"/>
              </a:tblGrid>
              <a:tr h="348615"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Channel</a:t>
                      </a:r>
                    </a:p>
                  </a:txBody>
                  <a:tcPr marL="54864" marR="54864" marT="27432" marB="27432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Spend</a:t>
                      </a:r>
                    </a:p>
                  </a:txBody>
                  <a:tcPr marL="54864" marR="54864" marT="27432" marB="27432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Impr</a:t>
                      </a:r>
                    </a:p>
                  </a:txBody>
                  <a:tcPr marL="54864" marR="54864" marT="27432" marB="27432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Clicks</a:t>
                      </a:r>
                    </a:p>
                  </a:txBody>
                  <a:tcPr marL="54864" marR="54864" marT="27432" marB="27432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Apps</a:t>
                      </a:r>
                    </a:p>
                  </a:txBody>
                  <a:tcPr marL="54864" marR="54864" marT="27432" marB="27432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Cost/app</a:t>
                      </a:r>
                    </a:p>
                  </a:txBody>
                  <a:tcPr marL="54864" marR="54864" marT="27432" marB="27432">
                    <a:solidFill>
                      <a:srgbClr val="1E2761"/>
                    </a:solidFill>
                  </a:tcPr>
                </a:tc>
              </a:tr>
              <a:tr h="348615"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2B3147"/>
                          </a:solidFill>
                          <a:latin typeface="Calibri"/>
                        </a:rPr>
                        <a:t>Bing (Search)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B3147"/>
                          </a:solidFill>
                          <a:latin typeface="Calibri"/>
                        </a:rPr>
                        <a:t>$10,625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B3147"/>
                          </a:solidFill>
                          <a:latin typeface="Calibri"/>
                        </a:rPr>
                        <a:t>90,394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B3147"/>
                          </a:solidFill>
                          <a:latin typeface="Calibri"/>
                        </a:rPr>
                        <a:t>4,090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B3147"/>
                          </a:solidFill>
                          <a:latin typeface="Calibri"/>
                        </a:rPr>
                        <a:t>20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B3147"/>
                          </a:solidFill>
                          <a:latin typeface="Calibri"/>
                        </a:rPr>
                        <a:t>$531.25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348615"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2B3147"/>
                          </a:solidFill>
                          <a:latin typeface="Calibri"/>
                        </a:rPr>
                        <a:t>Quantcast (Display)</a:t>
                      </a:r>
                    </a:p>
                  </a:txBody>
                  <a:tcPr marL="54864" marR="54864" marT="27432" marB="27432">
                    <a:solidFill>
                      <a:srgbClr val="F9FAF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B3147"/>
                          </a:solidFill>
                          <a:latin typeface="Calibri"/>
                        </a:rPr>
                        <a:t>$39,240</a:t>
                      </a:r>
                    </a:p>
                  </a:txBody>
                  <a:tcPr marL="54864" marR="54864" marT="27432" marB="27432">
                    <a:solidFill>
                      <a:srgbClr val="F9FAF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B3147"/>
                          </a:solidFill>
                          <a:latin typeface="Calibri"/>
                        </a:rPr>
                        <a:t>50.48M</a:t>
                      </a:r>
                    </a:p>
                  </a:txBody>
                  <a:tcPr marL="54864" marR="54864" marT="27432" marB="27432">
                    <a:solidFill>
                      <a:srgbClr val="F9FAF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B3147"/>
                          </a:solidFill>
                          <a:latin typeface="Calibri"/>
                        </a:rPr>
                        <a:t>19,188</a:t>
                      </a:r>
                    </a:p>
                  </a:txBody>
                  <a:tcPr marL="54864" marR="54864" marT="27432" marB="27432">
                    <a:solidFill>
                      <a:srgbClr val="F9FAF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B3147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54864" marR="54864" marT="27432" marB="27432">
                    <a:solidFill>
                      <a:srgbClr val="F9FAF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B3147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54864" marR="54864" marT="27432" marB="27432">
                    <a:solidFill>
                      <a:srgbClr val="F9FAFC"/>
                    </a:solidFill>
                  </a:tcPr>
                </a:tc>
              </a:tr>
              <a:tr h="348615"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2B3147"/>
                          </a:solidFill>
                          <a:latin typeface="Calibri"/>
                        </a:rPr>
                        <a:t>Azerion (Display)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B3147"/>
                          </a:solidFill>
                          <a:latin typeface="Calibri"/>
                        </a:rPr>
                        <a:t>$37,509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B3147"/>
                          </a:solidFill>
                          <a:latin typeface="Calibri"/>
                        </a:rPr>
                        <a:t>7.58M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B3147"/>
                          </a:solidFill>
                          <a:latin typeface="Calibri"/>
                        </a:rPr>
                        <a:t>12,915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B3147"/>
                          </a:solidFill>
                          <a:latin typeface="Calibri"/>
                        </a:rPr>
                        <a:t>41*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B3147"/>
                          </a:solidFill>
                          <a:latin typeface="Calibri"/>
                        </a:rPr>
                        <a:t>$914.85*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348615"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2B3147"/>
                          </a:solidFill>
                          <a:latin typeface="Calibri"/>
                        </a:rPr>
                        <a:t>Native (QC + Azerion)</a:t>
                      </a:r>
                    </a:p>
                  </a:txBody>
                  <a:tcPr marL="54864" marR="54864" marT="27432" marB="27432">
                    <a:solidFill>
                      <a:srgbClr val="F9FAF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B3147"/>
                          </a:solidFill>
                          <a:latin typeface="Calibri"/>
                        </a:rPr>
                        <a:t>$27,630</a:t>
                      </a:r>
                    </a:p>
                  </a:txBody>
                  <a:tcPr marL="54864" marR="54864" marT="27432" marB="27432">
                    <a:solidFill>
                      <a:srgbClr val="F9FAF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B3147"/>
                          </a:solidFill>
                          <a:latin typeface="Calibri"/>
                        </a:rPr>
                        <a:t>18.18M</a:t>
                      </a:r>
                    </a:p>
                  </a:txBody>
                  <a:tcPr marL="54864" marR="54864" marT="27432" marB="27432">
                    <a:solidFill>
                      <a:srgbClr val="F9FAF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B3147"/>
                          </a:solidFill>
                          <a:latin typeface="Calibri"/>
                        </a:rPr>
                        <a:t>9,953</a:t>
                      </a:r>
                    </a:p>
                  </a:txBody>
                  <a:tcPr marL="54864" marR="54864" marT="27432" marB="27432">
                    <a:solidFill>
                      <a:srgbClr val="F9FAF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B3147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54864" marR="54864" marT="27432" marB="27432">
                    <a:solidFill>
                      <a:srgbClr val="F9FAF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B3147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54864" marR="54864" marT="27432" marB="27432">
                    <a:solidFill>
                      <a:srgbClr val="F9FAFC"/>
                    </a:solidFill>
                  </a:tcPr>
                </a:tc>
              </a:tr>
              <a:tr h="348615"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2B3147"/>
                          </a:solidFill>
                          <a:latin typeface="Calibri"/>
                        </a:rPr>
                        <a:t>Meta (Social)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B3147"/>
                          </a:solidFill>
                          <a:latin typeface="Calibri"/>
                        </a:rPr>
                        <a:t>$8,027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B3147"/>
                          </a:solidFill>
                          <a:latin typeface="Calibri"/>
                        </a:rPr>
                        <a:t>4.25M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B3147"/>
                          </a:solidFill>
                          <a:latin typeface="Calibri"/>
                        </a:rPr>
                        <a:t>74,489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B3147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B3147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348615"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2B3147"/>
                          </a:solidFill>
                          <a:latin typeface="Calibri"/>
                        </a:rPr>
                        <a:t>DOOH (Perion)</a:t>
                      </a:r>
                    </a:p>
                  </a:txBody>
                  <a:tcPr marL="54864" marR="54864" marT="27432" marB="27432">
                    <a:solidFill>
                      <a:srgbClr val="F9FAF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B3147"/>
                          </a:solidFill>
                          <a:latin typeface="Calibri"/>
                        </a:rPr>
                        <a:t>$26,865</a:t>
                      </a:r>
                    </a:p>
                  </a:txBody>
                  <a:tcPr marL="54864" marR="54864" marT="27432" marB="27432">
                    <a:solidFill>
                      <a:srgbClr val="F9FAF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B3147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54864" marR="54864" marT="27432" marB="27432">
                    <a:solidFill>
                      <a:srgbClr val="F9FAF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B3147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54864" marR="54864" marT="27432" marB="27432">
                    <a:solidFill>
                      <a:srgbClr val="F9FAF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B3147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54864" marR="54864" marT="27432" marB="27432">
                    <a:solidFill>
                      <a:srgbClr val="F9FAF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B3147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54864" marR="54864" marT="27432" marB="27432">
                    <a:solidFill>
                      <a:srgbClr val="F9FAFC"/>
                    </a:solidFill>
                  </a:tcPr>
                </a:tc>
              </a:tr>
              <a:tr h="348615"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1E2761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 marL="54864" marR="54864" marT="27432" marB="27432">
                    <a:solidFill>
                      <a:srgbClr val="CADCF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1E2761"/>
                          </a:solidFill>
                          <a:latin typeface="Calibri"/>
                        </a:rPr>
                        <a:t>$149,896</a:t>
                      </a:r>
                    </a:p>
                  </a:txBody>
                  <a:tcPr marL="54864" marR="54864" marT="27432" marB="27432">
                    <a:solidFill>
                      <a:srgbClr val="CADCF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1E2761"/>
                          </a:solidFill>
                          <a:latin typeface="Calibri"/>
                        </a:rPr>
                        <a:t>80.58M</a:t>
                      </a:r>
                    </a:p>
                  </a:txBody>
                  <a:tcPr marL="54864" marR="54864" marT="27432" marB="27432">
                    <a:solidFill>
                      <a:srgbClr val="CADCF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1E2761"/>
                          </a:solidFill>
                          <a:latin typeface="Calibri"/>
                        </a:rPr>
                        <a:t>120,635</a:t>
                      </a:r>
                    </a:p>
                  </a:txBody>
                  <a:tcPr marL="54864" marR="54864" marT="27432" marB="27432">
                    <a:solidFill>
                      <a:srgbClr val="CADCF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1E2761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54864" marR="54864" marT="27432" marB="27432">
                    <a:solidFill>
                      <a:srgbClr val="CADCF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1E2761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54864" marR="54864" marT="27432" marB="27432">
                    <a:solidFill>
                      <a:srgbClr val="CADCFC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457200" y="4572000"/>
            <a:ext cx="67665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>
                <a:solidFill>
                  <a:srgbClr val="5A6072"/>
                </a:solidFill>
                <a:latin typeface="Calibri"/>
              </a:rPr>
              <a:t>* Azerion applications are vendor-reported; Bing applications are SA360-reported, the account’s conversion source of record. Conversions come from different systems per channel and are never summed; the combined Bing + Azerion view is the one sanctioned pairing. Meta clicks are link clicks. Spend per the client budget tracker.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406640" y="1737360"/>
            <a:ext cx="4297680" cy="2148840"/>
          </a:xfrm>
          <a:prstGeom prst="rect">
            <a:avLst/>
          </a:prstGeom>
          <a:solidFill>
            <a:srgbClr val="FFFFFF"/>
          </a:solidFill>
          <a:ln w="9525">
            <a:solidFill>
              <a:srgbClr val="D0D4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406640" y="1737360"/>
            <a:ext cx="64008" cy="2148840"/>
          </a:xfrm>
          <a:prstGeom prst="rect">
            <a:avLst/>
          </a:prstGeom>
          <a:solidFill>
            <a:srgbClr val="2E7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26096" y="1901952"/>
            <a:ext cx="389534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1E2761"/>
                </a:solidFill>
                <a:latin typeface="Georgia"/>
              </a:rPr>
              <a:t>THE SCORECARD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26096" y="2240280"/>
            <a:ext cx="3895344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2B3147"/>
                </a:solidFill>
                <a:latin typeface="Calibri"/>
              </a:rPr>
              <a:t>Bing and Azerion, the two channels with a submitted-application figure behind them, produced 61 applications combined at $789.08 (June: 92 at $660.00).</a:t>
            </a:r>
          </a:p>
          <a:p>
            <a:pPr algn="l">
              <a:spcBef>
                <a:spcPts val="600"/>
              </a:spcBef>
            </a:pPr>
            <a:r>
              <a:rPr sz="950" b="0">
                <a:solidFill>
                  <a:srgbClr val="2B3147"/>
                </a:solidFill>
                <a:latin typeface="Calibri"/>
              </a:rPr>
              <a:t>The rise traces to Bing, dark for a third of the month and non-converting for another third, not to Azerion, which held steady.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406640" y="4069080"/>
            <a:ext cx="4297680" cy="2148840"/>
          </a:xfrm>
          <a:prstGeom prst="rect">
            <a:avLst/>
          </a:prstGeom>
          <a:solidFill>
            <a:srgbClr val="FFFFFF"/>
          </a:solidFill>
          <a:ln w="9525">
            <a:solidFill>
              <a:srgbClr val="D0D4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406640" y="4069080"/>
            <a:ext cx="64008" cy="2148840"/>
          </a:xfrm>
          <a:prstGeom prst="rect">
            <a:avLst/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26096" y="4233672"/>
            <a:ext cx="389534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1E2761"/>
                </a:solidFill>
                <a:latin typeface="Georgia"/>
              </a:rPr>
              <a:t>THE STORY OF THE MONTH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26096" y="4572000"/>
            <a:ext cx="3895344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2B3147"/>
                </a:solidFill>
                <a:latin typeface="Calibri"/>
              </a:rPr>
              <a:t>Bing’s rebuilt Mexico-only structure closed July at $237.12 per submitted application, less than half June’s $513.17.</a:t>
            </a:r>
          </a:p>
          <a:p>
            <a:pPr algn="l">
              <a:spcBef>
                <a:spcPts val="600"/>
              </a:spcBef>
            </a:pPr>
            <a:r>
              <a:rPr sz="950" b="0">
                <a:solidFill>
                  <a:srgbClr val="2B3147"/>
                </a:solidFill>
                <a:latin typeface="Calibri"/>
              </a:rPr>
              <a:t>August’s first days confirm the run rate at $243, now converting across three products instead of one.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30936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30936"/>
            <a:ext cx="12191695" cy="45720"/>
          </a:xfrm>
          <a:prstGeom prst="rect">
            <a:avLst/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Georgia"/>
              </a:rPr>
              <a:t>CONT’ EXECUTIVE SUMMARY</a:t>
            </a:r>
          </a:p>
        </p:txBody>
      </p:sp>
      <p:pic>
        <p:nvPicPr>
          <p:cNvPr id="5" name="Picture 4" descr="berelvan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28655" y="146304"/>
            <a:ext cx="960120" cy="274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868680"/>
            <a:ext cx="112471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>
                <a:solidFill>
                  <a:srgbClr val="1E2761"/>
                </a:solidFill>
                <a:latin typeface="Georgia"/>
              </a:rPr>
              <a:t>Three findings shape the August plan.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83680"/>
            <a:ext cx="12191695" cy="10972"/>
          </a:xfrm>
          <a:prstGeom prst="rect">
            <a:avLst/>
          </a:prstGeom>
          <a:solidFill>
            <a:srgbClr val="D0D4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656832"/>
            <a:ext cx="7315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A6072"/>
                </a:solidFill>
                <a:latin typeface="Calibri"/>
              </a:rPr>
              <a:t>GGMI (LATAM)   |   July 2026 Performance Review   |   Berelvant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20095" y="6656832"/>
            <a:ext cx="914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>
                <a:solidFill>
                  <a:srgbClr val="5A6072"/>
                </a:solidFill>
                <a:latin typeface="Calibri"/>
              </a:rPr>
              <a:t>4 / 14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828800"/>
            <a:ext cx="3703320" cy="3108960"/>
          </a:xfrm>
          <a:prstGeom prst="rect">
            <a:avLst/>
          </a:prstGeom>
          <a:solidFill>
            <a:srgbClr val="F9FAFC"/>
          </a:solidFill>
          <a:ln w="9525">
            <a:solidFill>
              <a:srgbClr val="D0D4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1828800"/>
            <a:ext cx="3703320" cy="292608"/>
          </a:xfrm>
          <a:prstGeom prst="rect">
            <a:avLst/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03504" y="1883664"/>
            <a:ext cx="341071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FFFFFF"/>
                </a:solidFill>
                <a:latin typeface="Georgia"/>
              </a:rPr>
              <a:t>PRIORITY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3504" y="2231136"/>
            <a:ext cx="3410712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B3147"/>
                </a:solidFill>
                <a:latin typeface="Calibri"/>
              </a:rPr>
              <a:t>Harden the Mexico targeting configuration as the rebuilt campaigns scale.</a:t>
            </a:r>
          </a:p>
          <a:p>
            <a:pPr algn="l">
              <a:spcBef>
                <a:spcPts val="600"/>
              </a:spcBef>
            </a:pPr>
            <a:r>
              <a:rPr sz="900" b="0">
                <a:solidFill>
                  <a:srgbClr val="2B3147"/>
                </a:solidFill>
                <a:latin typeface="Calibri"/>
              </a:rPr>
              <a:t>June’s correction held through July: delivery concentrated in-market on every one of the six new campaigns.</a:t>
            </a:r>
          </a:p>
          <a:p>
            <a:pPr algn="l">
              <a:spcBef>
                <a:spcPts val="600"/>
              </a:spcBef>
            </a:pPr>
            <a:r>
              <a:rPr sz="900" b="0">
                <a:solidFill>
                  <a:srgbClr val="2B3147"/>
                </a:solidFill>
                <a:latin typeface="Calibri"/>
              </a:rPr>
              <a:t>Next: presence-only targeting and an expanded location-exclusion list, so the concentration holds on its own rather than depending on the current campaign mix.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43400" y="1828800"/>
            <a:ext cx="3703320" cy="3108960"/>
          </a:xfrm>
          <a:prstGeom prst="rect">
            <a:avLst/>
          </a:prstGeom>
          <a:solidFill>
            <a:srgbClr val="F9FAFC"/>
          </a:solidFill>
          <a:ln w="9525">
            <a:solidFill>
              <a:srgbClr val="D0D4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43400" y="1828800"/>
            <a:ext cx="3703320" cy="292608"/>
          </a:xfrm>
          <a:prstGeom prst="rect">
            <a:avLst/>
          </a:prstGeom>
          <a:solidFill>
            <a:srgbClr val="E9B4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89704" y="1883664"/>
            <a:ext cx="341071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0F1535"/>
                </a:solidFill>
                <a:latin typeface="Georgia"/>
              </a:rPr>
              <a:t>HIGH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89704" y="2231136"/>
            <a:ext cx="3410712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B3147"/>
                </a:solidFill>
                <a:latin typeface="Calibri"/>
              </a:rPr>
              <a:t>Standardize every Bing campaign on the converting landing destination.</a:t>
            </a:r>
          </a:p>
          <a:p>
            <a:pPr algn="l">
              <a:spcBef>
                <a:spcPts val="600"/>
              </a:spcBef>
            </a:pPr>
            <a:r>
              <a:rPr sz="900" b="0">
                <a:solidFill>
                  <a:srgbClr val="2B3147"/>
                </a:solidFill>
                <a:latin typeface="Calibri"/>
              </a:rPr>
              <a:t>84% of legacy-campaign clicks landed on pages outside the application flow; none of the 207 application starts behind them became a submission.</a:t>
            </a:r>
          </a:p>
          <a:p>
            <a:pPr algn="l">
              <a:spcBef>
                <a:spcPts val="600"/>
              </a:spcBef>
            </a:pPr>
            <a:r>
              <a:rPr sz="900" b="0">
                <a:solidFill>
                  <a:srgbClr val="2B3147"/>
                </a:solidFill>
                <a:latin typeface="Calibri"/>
              </a:rPr>
              <a:t>The rebuilt campaigns landing on the Spanish-language site carried 13.4% of starts through to submission.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0" y="1828800"/>
            <a:ext cx="3520440" cy="3108960"/>
          </a:xfrm>
          <a:prstGeom prst="rect">
            <a:avLst/>
          </a:prstGeom>
          <a:solidFill>
            <a:srgbClr val="F9FAFC"/>
          </a:solidFill>
          <a:ln w="9525">
            <a:solidFill>
              <a:srgbClr val="D0D4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229600" y="1828800"/>
            <a:ext cx="3520440" cy="292608"/>
          </a:xfrm>
          <a:prstGeom prst="rect">
            <a:avLst/>
          </a:prstGeom>
          <a:solidFill>
            <a:srgbClr val="2E7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75904" y="1883664"/>
            <a:ext cx="322783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FFFFFF"/>
                </a:solidFill>
                <a:latin typeface="Georgia"/>
              </a:rPr>
              <a:t>NEW THIS 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75904" y="2231136"/>
            <a:ext cx="3227832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B3147"/>
                </a:solidFill>
                <a:latin typeface="Calibri"/>
              </a:rPr>
              <a:t>Native ($27,630: Quantcast’s native placement plus Azerion’s native inventory) and DOOH ($26,865, Perion).</a:t>
            </a:r>
          </a:p>
          <a:p>
            <a:pPr algn="l">
              <a:spcBef>
                <a:spcPts val="600"/>
              </a:spcBef>
            </a:pPr>
            <a:r>
              <a:rPr sz="900" b="0">
                <a:solidFill>
                  <a:srgbClr val="2B3147"/>
                </a:solidFill>
                <a:latin typeface="Calibri"/>
              </a:rPr>
              <a:t>Both upper-funnel. Native reports spend and delivery with no conversion claim; DOOH reports spend only this cycle.</a:t>
            </a:r>
          </a:p>
          <a:p>
            <a:pPr algn="l">
              <a:spcBef>
                <a:spcPts val="600"/>
              </a:spcBef>
            </a:pPr>
            <a:r>
              <a:rPr sz="900" b="0">
                <a:solidFill>
                  <a:srgbClr val="2B3147"/>
                </a:solidFill>
                <a:latin typeface="Calibri"/>
              </a:rPr>
              <a:t>Both report in full once a second month allows comparison.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5257800"/>
            <a:ext cx="11277295" cy="731520"/>
          </a:xfrm>
          <a:prstGeom prst="rect">
            <a:avLst/>
          </a:prstGeom>
          <a:solidFill>
            <a:srgbClr val="0F15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1520" y="5257800"/>
            <a:ext cx="10728655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Georgia"/>
              </a:rPr>
              <a:t>The rebuild is the story: $237.12 per submitted application on the new structure, with the configuration hardening next.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30936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30936"/>
            <a:ext cx="12191695" cy="45720"/>
          </a:xfrm>
          <a:prstGeom prst="rect">
            <a:avLst/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Georgia"/>
              </a:rPr>
              <a:t>BING ADS  ·  PERFORMANCE</a:t>
            </a:r>
          </a:p>
        </p:txBody>
      </p:sp>
      <p:pic>
        <p:nvPicPr>
          <p:cNvPr id="5" name="Picture 4" descr="berelvan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28655" y="146304"/>
            <a:ext cx="960120" cy="274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868680"/>
            <a:ext cx="112471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>
                <a:solidFill>
                  <a:srgbClr val="1E2761"/>
                </a:solidFill>
                <a:latin typeface="Georgia"/>
              </a:rPr>
              <a:t>Three windows in one month. The rebuilt structure is the account’s current state.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83680"/>
            <a:ext cx="12191695" cy="10972"/>
          </a:xfrm>
          <a:prstGeom prst="rect">
            <a:avLst/>
          </a:prstGeom>
          <a:solidFill>
            <a:srgbClr val="D0D4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656832"/>
            <a:ext cx="7315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A6072"/>
                </a:solidFill>
                <a:latin typeface="Calibri"/>
              </a:rPr>
              <a:t>GGMI (LATAM)   |   July 2026 Performance Review   |   Berelvant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20095" y="6656832"/>
            <a:ext cx="914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>
                <a:solidFill>
                  <a:srgbClr val="5A6072"/>
                </a:solidFill>
                <a:latin typeface="Calibri"/>
              </a:rPr>
              <a:t>5 / 14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691640"/>
            <a:ext cx="178308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D0D4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1691640"/>
            <a:ext cx="54864" cy="1005840"/>
          </a:xfrm>
          <a:prstGeom prst="rect">
            <a:avLst/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1737360"/>
            <a:ext cx="1508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5A6072"/>
                </a:solidFill>
                <a:latin typeface="Calibri"/>
              </a:rPr>
              <a:t>SPEND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1984248"/>
            <a:ext cx="1508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E2761"/>
                </a:solidFill>
                <a:latin typeface="Calibri"/>
              </a:rPr>
              <a:t>$10,625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2441448"/>
            <a:ext cx="15087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A6072"/>
                </a:solidFill>
                <a:latin typeface="Calibri"/>
              </a:rPr>
              <a:t>per the shared budget view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359152" y="1691640"/>
            <a:ext cx="178308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D0D4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359152" y="1691640"/>
            <a:ext cx="54864" cy="1005840"/>
          </a:xfrm>
          <a:prstGeom prst="rect">
            <a:avLst/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542032" y="1737360"/>
            <a:ext cx="1508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5A6072"/>
                </a:solidFill>
                <a:latin typeface="Calibri"/>
              </a:rPr>
              <a:t>IMPRESSIONS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542032" y="1984248"/>
            <a:ext cx="1508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E2761"/>
                </a:solidFill>
                <a:latin typeface="Calibri"/>
              </a:rPr>
              <a:t>90,394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42032" y="2441448"/>
            <a:ext cx="15087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A6072"/>
                </a:solidFill>
                <a:latin typeface="Calibri"/>
              </a:rPr>
              <a:t>CTR 4.52%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261104" y="1691640"/>
            <a:ext cx="178308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D0D4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261104" y="1691640"/>
            <a:ext cx="54864" cy="1005840"/>
          </a:xfrm>
          <a:prstGeom prst="rect">
            <a:avLst/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443984" y="1737360"/>
            <a:ext cx="1508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5A6072"/>
                </a:solidFill>
                <a:latin typeface="Calibri"/>
              </a:rPr>
              <a:t>CLICKS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43984" y="1984248"/>
            <a:ext cx="1508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E2761"/>
                </a:solidFill>
                <a:latin typeface="Calibri"/>
              </a:rPr>
              <a:t>4,090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43984" y="2441448"/>
            <a:ext cx="15087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A6072"/>
                </a:solidFill>
                <a:latin typeface="Calibri"/>
              </a:rPr>
              <a:t>avg CPC $2.60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63056" y="1691640"/>
            <a:ext cx="178308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D0D4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63056" y="1691640"/>
            <a:ext cx="54864" cy="1005840"/>
          </a:xfrm>
          <a:prstGeom prst="rect">
            <a:avLst/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45936" y="1737360"/>
            <a:ext cx="1508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5A6072"/>
                </a:solidFill>
                <a:latin typeface="Calibri"/>
              </a:rPr>
              <a:t>SUBMITTED APPS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45936" y="1984248"/>
            <a:ext cx="1508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E2761"/>
                </a:solidFill>
                <a:latin typeface="Calibri"/>
              </a:rPr>
              <a:t>20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45936" y="2441448"/>
            <a:ext cx="15087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A6072"/>
                </a:solidFill>
                <a:latin typeface="Calibri"/>
              </a:rPr>
              <a:t>SA360 source of record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065008" y="1691640"/>
            <a:ext cx="178308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D0D4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065008" y="1691640"/>
            <a:ext cx="54864" cy="1005840"/>
          </a:xfrm>
          <a:prstGeom prst="rect">
            <a:avLst/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47888" y="1737360"/>
            <a:ext cx="1508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5A6072"/>
                </a:solidFill>
                <a:latin typeface="Calibri"/>
              </a:rPr>
              <a:t>CPA (FULL MONTH)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47888" y="1984248"/>
            <a:ext cx="1508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E2761"/>
                </a:solidFill>
                <a:latin typeface="Calibri"/>
              </a:rPr>
              <a:t>$531.25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47888" y="2441448"/>
            <a:ext cx="15087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A6072"/>
                </a:solidFill>
                <a:latin typeface="Calibri"/>
              </a:rPr>
              <a:t>June: $513.17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966960" y="1691640"/>
            <a:ext cx="178308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D0D4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966960" y="1691640"/>
            <a:ext cx="54864" cy="1005840"/>
          </a:xfrm>
          <a:prstGeom prst="rect">
            <a:avLst/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149840" y="1737360"/>
            <a:ext cx="1508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5A6072"/>
                </a:solidFill>
                <a:latin typeface="Calibri"/>
              </a:rPr>
              <a:t>CPA (REBUILT)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149840" y="1984248"/>
            <a:ext cx="1508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E2761"/>
                </a:solidFill>
                <a:latin typeface="Calibri"/>
              </a:rPr>
              <a:t>$237.12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49840" y="2441448"/>
            <a:ext cx="15087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A6072"/>
                </a:solidFill>
                <a:latin typeface="Calibri"/>
              </a:rPr>
              <a:t>Jul 22–31</a:t>
            </a:r>
          </a:p>
        </p:txBody>
      </p:sp>
      <p:graphicFrame>
        <p:nvGraphicFramePr>
          <p:cNvPr id="40" name="Chart 39"/>
          <p:cNvGraphicFramePr>
            <a:graphicFrameLocks noGrp="1"/>
          </p:cNvGraphicFramePr>
          <p:nvPr/>
        </p:nvGraphicFramePr>
        <p:xfrm>
          <a:off x="457200" y="3246120"/>
          <a:ext cx="7223760" cy="27432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41" name="TextBox 40"/>
          <p:cNvSpPr txBox="1"/>
          <p:nvPr/>
        </p:nvSpPr>
        <p:spPr>
          <a:xfrm>
            <a:off x="731520" y="3291840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5A6072"/>
                </a:solidFill>
                <a:latin typeface="Calibri"/>
              </a:rPr>
              <a:t>Jul 1–10 · dark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108960" y="3291840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E2761"/>
                </a:solidFill>
                <a:latin typeface="Calibri"/>
              </a:rPr>
              <a:t>Jul 11–22 · legacy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669280" y="3291840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96167"/>
                </a:solidFill>
                <a:latin typeface="Calibri"/>
              </a:rPr>
              <a:t>Jul 22–31 · rebuilt</a:t>
            </a:r>
          </a:p>
        </p:txBody>
      </p:sp>
      <p:graphicFrame>
        <p:nvGraphicFramePr>
          <p:cNvPr id="44" name="Table 43"/>
          <p:cNvGraphicFramePr>
            <a:graphicFrameLocks noGrp="1"/>
          </p:cNvGraphicFramePr>
          <p:nvPr/>
        </p:nvGraphicFramePr>
        <p:xfrm>
          <a:off x="7863840" y="3246120"/>
          <a:ext cx="3840480" cy="201168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554480"/>
                <a:gridCol w="822960"/>
                <a:gridCol w="548640"/>
                <a:gridCol w="914400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Window</a:t>
                      </a:r>
                    </a:p>
                  </a:txBody>
                  <a:tcPr marL="54864" marR="54864" marT="27432" marB="27432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Spend</a:t>
                      </a:r>
                    </a:p>
                  </a:txBody>
                  <a:tcPr marL="54864" marR="54864" marT="27432" marB="27432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Apps</a:t>
                      </a:r>
                    </a:p>
                  </a:txBody>
                  <a:tcPr marL="54864" marR="54864" marT="27432" marB="27432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CPA</a:t>
                      </a:r>
                    </a:p>
                  </a:txBody>
                  <a:tcPr marL="54864" marR="54864" marT="27432" marB="27432">
                    <a:solidFill>
                      <a:srgbClr val="1E2761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2B3147"/>
                          </a:solidFill>
                          <a:latin typeface="Calibri"/>
                        </a:rPr>
                        <a:t>Jul 1–10  dark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B3147"/>
                          </a:solidFill>
                          <a:latin typeface="Calibri"/>
                        </a:rPr>
                        <a:t>$0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B314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B3147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2B3147"/>
                          </a:solidFill>
                          <a:latin typeface="Calibri"/>
                        </a:rPr>
                        <a:t>Jul 11–22  legacy</a:t>
                      </a:r>
                    </a:p>
                  </a:txBody>
                  <a:tcPr marL="54864" marR="54864" marT="27432" marB="27432">
                    <a:solidFill>
                      <a:srgbClr val="F9FAF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B3147"/>
                          </a:solidFill>
                          <a:latin typeface="Calibri"/>
                        </a:rPr>
                        <a:t>$5,883</a:t>
                      </a:r>
                    </a:p>
                  </a:txBody>
                  <a:tcPr marL="54864" marR="54864" marT="27432" marB="27432">
                    <a:solidFill>
                      <a:srgbClr val="F9FAF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B314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54864" marR="54864" marT="27432" marB="27432">
                    <a:solidFill>
                      <a:srgbClr val="F9FAF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B3147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54864" marR="54864" marT="27432" marB="27432">
                    <a:solidFill>
                      <a:srgbClr val="F9FAF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2B3147"/>
                          </a:solidFill>
                          <a:latin typeface="Calibri"/>
                        </a:rPr>
                        <a:t>Jul 22–31  rebuilt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B3147"/>
                          </a:solidFill>
                          <a:latin typeface="Calibri"/>
                        </a:rPr>
                        <a:t>$4,742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B3147"/>
                          </a:solidFill>
                          <a:latin typeface="Calibri"/>
                        </a:rPr>
                        <a:t>20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B3147"/>
                          </a:solidFill>
                          <a:latin typeface="Calibri"/>
                        </a:rPr>
                        <a:t>$237.12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5" name="TextBox 44"/>
          <p:cNvSpPr txBox="1"/>
          <p:nvPr/>
        </p:nvSpPr>
        <p:spPr>
          <a:xfrm>
            <a:off x="7863840" y="5303520"/>
            <a:ext cx="38404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>
                <a:solidFill>
                  <a:srgbClr val="5A6072"/>
                </a:solidFill>
                <a:latin typeface="Calibri"/>
              </a:rPr>
              <a:t>Two campaigns produced every July conversion: the TradingView theme (18 of 20) and one further new campaign (2). The full-month CPA blends nine dark days and eleven zero-conversion days into the ten that delivered.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30936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30936"/>
            <a:ext cx="12191695" cy="45720"/>
          </a:xfrm>
          <a:prstGeom prst="rect">
            <a:avLst/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Georgia"/>
              </a:rPr>
              <a:t>BING ADS  ·  READ &amp; RECOMMENDATIONS</a:t>
            </a:r>
          </a:p>
        </p:txBody>
      </p:sp>
      <p:pic>
        <p:nvPicPr>
          <p:cNvPr id="5" name="Picture 4" descr="berelvan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28655" y="146304"/>
            <a:ext cx="960120" cy="274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868680"/>
            <a:ext cx="112471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>
                <a:solidFill>
                  <a:srgbClr val="1E2761"/>
                </a:solidFill>
                <a:latin typeface="Georgia"/>
              </a:rPr>
              <a:t>The rebuild superseded June’s campaign picks. Lock in what it fixed.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83680"/>
            <a:ext cx="12191695" cy="10972"/>
          </a:xfrm>
          <a:prstGeom prst="rect">
            <a:avLst/>
          </a:prstGeom>
          <a:solidFill>
            <a:srgbClr val="D0D4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656832"/>
            <a:ext cx="7315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A6072"/>
                </a:solidFill>
                <a:latin typeface="Calibri"/>
              </a:rPr>
              <a:t>GGMI (LATAM)   |   July 2026 Performance Review   |   Berelvant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20095" y="6656832"/>
            <a:ext cx="914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>
                <a:solidFill>
                  <a:srgbClr val="5A6072"/>
                </a:solidFill>
                <a:latin typeface="Calibri"/>
              </a:rPr>
              <a:t>6 / 14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737360"/>
            <a:ext cx="5577840" cy="4480560"/>
          </a:xfrm>
          <a:prstGeom prst="rect">
            <a:avLst/>
          </a:prstGeom>
          <a:solidFill>
            <a:srgbClr val="FFFFFF"/>
          </a:solidFill>
          <a:ln w="9525">
            <a:solidFill>
              <a:srgbClr val="D0D4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1737360"/>
            <a:ext cx="64008" cy="4480560"/>
          </a:xfrm>
          <a:prstGeom prst="rect">
            <a:avLst/>
          </a:prstGeom>
          <a:solidFill>
            <a:srgbClr val="2E7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6656" y="1901952"/>
            <a:ext cx="517550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1E2761"/>
                </a:solidFill>
                <a:latin typeface="Georgia"/>
              </a:rPr>
              <a:t>WHAT THE DATA SHOWS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6656" y="2240280"/>
            <a:ext cx="5175503" cy="3794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2B3147"/>
                </a:solidFill>
                <a:latin typeface="Calibri"/>
              </a:rPr>
              <a:t>June’s deck named Platform Intercept the efficiency leader at $285 and recommended rebalancing toward it. Both named June campaigns produced zero July applications in the legacy window and retired into the July 22 rebuild; the TradingView campaign is now the leader with 18 of 20 applications and 13.4% start-to-submission.</a:t>
            </a:r>
          </a:p>
          <a:p>
            <a:pPr algn="l">
              <a:spcBef>
                <a:spcPts val="600"/>
              </a:spcBef>
            </a:pPr>
            <a:r>
              <a:rPr sz="950" b="0">
                <a:solidFill>
                  <a:srgbClr val="2B3147"/>
                </a:solidFill>
                <a:latin typeface="Calibri"/>
              </a:rPr>
              <a:t>84% of legacy-campaign clicks landed on pages outside the application flow, and every one of the 207 application starts stopped at the second step. The rebuilt campaigns land on the Spanish-language site and convert. Landing destination and keyword intent changed together, so this is a strong signal rather than a proven single cause. The step data itself is unambiguous: the loss sits between a started and a submitted application.</a:t>
            </a:r>
          </a:p>
          <a:p>
            <a:pPr algn="l">
              <a:spcBef>
                <a:spcPts val="600"/>
              </a:spcBef>
            </a:pPr>
            <a:r>
              <a:rPr sz="950" b="0">
                <a:solidFill>
                  <a:srgbClr val="2B3147"/>
                </a:solidFill>
                <a:latin typeface="Calibri"/>
              </a:rPr>
              <a:t>June’s Mexico commitment held: delivery concentrated in-market across the month, including on all six new campaigns.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09360" y="1737360"/>
            <a:ext cx="5394960" cy="4480560"/>
          </a:xfrm>
          <a:prstGeom prst="rect">
            <a:avLst/>
          </a:prstGeom>
          <a:solidFill>
            <a:srgbClr val="FFFFFF"/>
          </a:solidFill>
          <a:ln w="9525">
            <a:solidFill>
              <a:srgbClr val="D0D4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309360" y="1737360"/>
            <a:ext cx="64008" cy="4480560"/>
          </a:xfrm>
          <a:prstGeom prst="rect">
            <a:avLst/>
          </a:prstGeom>
          <a:solidFill>
            <a:srgbClr val="E9B4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28816" y="1901952"/>
            <a:ext cx="499262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1E2761"/>
                </a:solidFill>
                <a:latin typeface="Georgia"/>
              </a:rPr>
              <a:t>WHAT WE RECOMMEND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28816" y="2240280"/>
            <a:ext cx="4992624" cy="3794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2B3147"/>
                </a:solidFill>
                <a:latin typeface="Calibri"/>
              </a:rPr>
              <a:t>Harden the Mexico configuration as volume scales: presence-only targeting and an expanded location-exclusion list on every enabled campaign.</a:t>
            </a:r>
          </a:p>
          <a:p>
            <a:pPr algn="l">
              <a:spcBef>
                <a:spcPts val="600"/>
              </a:spcBef>
            </a:pPr>
            <a:r>
              <a:rPr sz="950" b="0">
                <a:solidFill>
                  <a:srgbClr val="2B3147"/>
                </a:solidFill>
                <a:latin typeface="Calibri"/>
              </a:rPr>
              <a:t>Standardize every campaign on the converting landing destination, and review the handoff from the older landing pages into the application flow.</a:t>
            </a:r>
          </a:p>
          <a:p>
            <a:pPr algn="l">
              <a:spcBef>
                <a:spcPts val="600"/>
              </a:spcBef>
            </a:pPr>
            <a:r>
              <a:rPr sz="950" b="0">
                <a:solidFill>
                  <a:srgbClr val="2B3147"/>
                </a:solidFill>
                <a:latin typeface="Calibri"/>
              </a:rPr>
              <a:t>Turn on bidding feedback: every conversion goal is still excluded from bidding and every campaign runs manual bids, so July’s $237.12 was earned with no automated signal. Enabling the goals lets the platform improve on it without manual tuning.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30936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30936"/>
            <a:ext cx="12191695" cy="45720"/>
          </a:xfrm>
          <a:prstGeom prst="rect">
            <a:avLst/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Georgia"/>
              </a:rPr>
              <a:t>QUANTCAST  ·  PERFORMANCE</a:t>
            </a:r>
          </a:p>
        </p:txBody>
      </p:sp>
      <p:pic>
        <p:nvPicPr>
          <p:cNvPr id="5" name="Picture 4" descr="berelvan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28655" y="146304"/>
            <a:ext cx="960120" cy="274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868680"/>
            <a:ext cx="112471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>
                <a:solidFill>
                  <a:srgbClr val="1E2761"/>
                </a:solidFill>
                <a:latin typeface="Georgia"/>
              </a:rPr>
              <a:t>Reach delivered at scale, all in Mexico. Viewability is the bill to manage.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83680"/>
            <a:ext cx="12191695" cy="10972"/>
          </a:xfrm>
          <a:prstGeom prst="rect">
            <a:avLst/>
          </a:prstGeom>
          <a:solidFill>
            <a:srgbClr val="D0D4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656832"/>
            <a:ext cx="7315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A6072"/>
                </a:solidFill>
                <a:latin typeface="Calibri"/>
              </a:rPr>
              <a:t>GGMI (LATAM)   |   July 2026 Performance Review   |   Berelvant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20095" y="6656832"/>
            <a:ext cx="914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>
                <a:solidFill>
                  <a:srgbClr val="5A6072"/>
                </a:solidFill>
                <a:latin typeface="Calibri"/>
              </a:rPr>
              <a:t>7 / 14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691640"/>
            <a:ext cx="178308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D0D4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1691640"/>
            <a:ext cx="54864" cy="1005840"/>
          </a:xfrm>
          <a:prstGeom prst="rect">
            <a:avLst/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1737360"/>
            <a:ext cx="1508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5A6072"/>
                </a:solidFill>
                <a:latin typeface="Calibri"/>
              </a:rPr>
              <a:t>SPEND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1984248"/>
            <a:ext cx="1508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E2761"/>
                </a:solidFill>
                <a:latin typeface="Calibri"/>
              </a:rPr>
              <a:t>$39,240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2441448"/>
            <a:ext cx="15087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A6072"/>
                </a:solidFill>
                <a:latin typeface="Calibri"/>
              </a:rPr>
              <a:t>main campaign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359152" y="1691640"/>
            <a:ext cx="178308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D0D4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359152" y="1691640"/>
            <a:ext cx="54864" cy="1005840"/>
          </a:xfrm>
          <a:prstGeom prst="rect">
            <a:avLst/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542032" y="1737360"/>
            <a:ext cx="1508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5A6072"/>
                </a:solidFill>
                <a:latin typeface="Calibri"/>
              </a:rPr>
              <a:t>IMPRESSIONS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542032" y="1984248"/>
            <a:ext cx="1508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E2761"/>
                </a:solidFill>
                <a:latin typeface="Calibri"/>
              </a:rPr>
              <a:t>50.48M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42032" y="2441448"/>
            <a:ext cx="15087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A6072"/>
                </a:solidFill>
                <a:latin typeface="Calibri"/>
              </a:rPr>
              <a:t>main campaign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261104" y="1691640"/>
            <a:ext cx="178308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D0D4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261104" y="1691640"/>
            <a:ext cx="54864" cy="1005840"/>
          </a:xfrm>
          <a:prstGeom prst="rect">
            <a:avLst/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443984" y="1737360"/>
            <a:ext cx="1508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5A6072"/>
                </a:solidFill>
                <a:latin typeface="Calibri"/>
              </a:rPr>
              <a:t>CLICKS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43984" y="1984248"/>
            <a:ext cx="1508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E2761"/>
                </a:solidFill>
                <a:latin typeface="Calibri"/>
              </a:rPr>
              <a:t>19,188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43984" y="2441448"/>
            <a:ext cx="15087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A6072"/>
                </a:solidFill>
                <a:latin typeface="Calibri"/>
              </a:rPr>
              <a:t>Advanced IVT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63056" y="1691640"/>
            <a:ext cx="178308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D0D4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63056" y="1691640"/>
            <a:ext cx="54864" cy="1005840"/>
          </a:xfrm>
          <a:prstGeom prst="rect">
            <a:avLst/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45936" y="1737360"/>
            <a:ext cx="1508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5A6072"/>
                </a:solidFill>
                <a:latin typeface="Calibri"/>
              </a:rPr>
              <a:t>GEO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45936" y="1984248"/>
            <a:ext cx="1508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E2761"/>
                </a:solidFill>
                <a:latin typeface="Calibri"/>
              </a:rPr>
              <a:t>100.00% MX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45936" y="2441448"/>
            <a:ext cx="15087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A6072"/>
                </a:solidFill>
                <a:latin typeface="Calibri"/>
              </a:rPr>
              <a:t>spend + impressions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065008" y="1691640"/>
            <a:ext cx="178308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D0D4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065008" y="1691640"/>
            <a:ext cx="54864" cy="1005840"/>
          </a:xfrm>
          <a:prstGeom prst="rect">
            <a:avLst/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47888" y="1737360"/>
            <a:ext cx="1508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5A6072"/>
                </a:solidFill>
                <a:latin typeface="Calibri"/>
              </a:rPr>
              <a:t>VIEWABILITY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47888" y="1984248"/>
            <a:ext cx="1508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E2761"/>
                </a:solidFill>
                <a:latin typeface="Calibri"/>
              </a:rPr>
              <a:t>54.45%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47888" y="2441448"/>
            <a:ext cx="15087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A6072"/>
                </a:solidFill>
                <a:latin typeface="Calibri"/>
              </a:rPr>
              <a:t>June: 51.3%  ·  floor 70%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966960" y="1691640"/>
            <a:ext cx="178308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D0D4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966960" y="1691640"/>
            <a:ext cx="54864" cy="1005840"/>
          </a:xfrm>
          <a:prstGeom prst="rect">
            <a:avLst/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149840" y="1737360"/>
            <a:ext cx="1508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5A6072"/>
                </a:solidFill>
                <a:latin typeface="Calibri"/>
              </a:rPr>
              <a:t>RESULTS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149840" y="1984248"/>
            <a:ext cx="1508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E2761"/>
                </a:solidFill>
                <a:latin typeface="Calibri"/>
              </a:rPr>
              <a:t>15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49840" y="2441448"/>
            <a:ext cx="15087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A6072"/>
                </a:solidFill>
                <a:latin typeface="Calibri"/>
              </a:rPr>
              <a:t>directional only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57200" y="3017520"/>
            <a:ext cx="5577840" cy="3108960"/>
          </a:xfrm>
          <a:prstGeom prst="rect">
            <a:avLst/>
          </a:prstGeom>
          <a:solidFill>
            <a:srgbClr val="FFFFFF"/>
          </a:solidFill>
          <a:ln w="9525">
            <a:solidFill>
              <a:srgbClr val="D0D4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457200" y="3017520"/>
            <a:ext cx="64008" cy="3108960"/>
          </a:xfrm>
          <a:prstGeom prst="rect">
            <a:avLst/>
          </a:prstGeom>
          <a:solidFill>
            <a:srgbClr val="2E7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76656" y="3182112"/>
            <a:ext cx="517550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1E2761"/>
                </a:solidFill>
                <a:latin typeface="Georgia"/>
              </a:rPr>
              <a:t>WHAT THE DATA SHOWS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76656" y="3520439"/>
            <a:ext cx="5175503" cy="2423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2B3147"/>
                </a:solidFill>
                <a:latin typeface="Calibri"/>
              </a:rPr>
              <a:t>Every impression and dollar delivered in Mexico; the geo cut confirms 100.00% in-market.</a:t>
            </a:r>
          </a:p>
          <a:p>
            <a:pPr algn="l">
              <a:spcBef>
                <a:spcPts val="600"/>
              </a:spcBef>
            </a:pPr>
            <a:r>
              <a:rPr sz="950" b="0">
                <a:solidFill>
                  <a:srgbClr val="2B3147"/>
                </a:solidFill>
                <a:latin typeface="Calibri"/>
              </a:rPr>
              <a:t>Viewability improved 3.15 points to 54.45% and still sits under the 70% floor the account works against.</a:t>
            </a:r>
          </a:p>
          <a:p>
            <a:pPr algn="l">
              <a:spcBef>
                <a:spcPts val="600"/>
              </a:spcBef>
            </a:pPr>
            <a:r>
              <a:rPr sz="950" b="0">
                <a:solidFill>
                  <a:srgbClr val="2B3147"/>
                </a:solidFill>
                <a:latin typeface="Calibri"/>
              </a:rPr>
              <a:t>Result volume (15) is too low to support a cost-per-result figure; the channel reads as an awareness and reach story this month.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309360" y="3017520"/>
            <a:ext cx="5394960" cy="3108960"/>
          </a:xfrm>
          <a:prstGeom prst="rect">
            <a:avLst/>
          </a:prstGeom>
          <a:solidFill>
            <a:srgbClr val="FFFFFF"/>
          </a:solidFill>
          <a:ln w="9525">
            <a:solidFill>
              <a:srgbClr val="D0D4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6309360" y="3017520"/>
            <a:ext cx="64008" cy="3108960"/>
          </a:xfrm>
          <a:prstGeom prst="rect">
            <a:avLst/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528816" y="3182112"/>
            <a:ext cx="499262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1E2761"/>
                </a:solidFill>
                <a:latin typeface="Georgia"/>
              </a:rPr>
              <a:t>THE SITE LIST IS THE LEVER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528816" y="3520439"/>
            <a:ext cx="4992624" cy="2423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2B3147"/>
                </a:solidFill>
                <a:latin typeface="Calibri"/>
              </a:rPr>
              <a:t>June’s 49-site blocklist is refreshed to 66 domains this month.</a:t>
            </a:r>
          </a:p>
          <a:p>
            <a:pPr algn="l">
              <a:spcBef>
                <a:spcPts val="600"/>
              </a:spcBef>
            </a:pPr>
            <a:r>
              <a:rPr sz="950" b="0">
                <a:solidFill>
                  <a:srgbClr val="2B3147"/>
                </a:solidFill>
                <a:latin typeface="Calibri"/>
              </a:rPr>
              <a:t>tvazteca.com is the headline: spend on that single domain grew to $3,451.61 in July while its viewability held near 9.6%, the second consecutive month of the pattern. If one exclusion is actioned this month, that is the one.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30936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30936"/>
            <a:ext cx="12191695" cy="45720"/>
          </a:xfrm>
          <a:prstGeom prst="rect">
            <a:avLst/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Georgia"/>
              </a:rPr>
              <a:t>QUANTCAST  ·  READ &amp; RECOMMENDATIONS</a:t>
            </a:r>
          </a:p>
        </p:txBody>
      </p:sp>
      <p:pic>
        <p:nvPicPr>
          <p:cNvPr id="5" name="Picture 4" descr="berelvan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28655" y="146304"/>
            <a:ext cx="960120" cy="274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868680"/>
            <a:ext cx="112471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>
                <a:solidFill>
                  <a:srgbClr val="1E2761"/>
                </a:solidFill>
                <a:latin typeface="Georgia"/>
              </a:rPr>
              <a:t>Apply the refreshed list, then hold quality with a floor.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83680"/>
            <a:ext cx="12191695" cy="10972"/>
          </a:xfrm>
          <a:prstGeom prst="rect">
            <a:avLst/>
          </a:prstGeom>
          <a:solidFill>
            <a:srgbClr val="D0D4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656832"/>
            <a:ext cx="7315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A6072"/>
                </a:solidFill>
                <a:latin typeface="Calibri"/>
              </a:rPr>
              <a:t>GGMI (LATAM)   |   July 2026 Performance Review   |   Berelvant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20095" y="6656832"/>
            <a:ext cx="914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>
                <a:solidFill>
                  <a:srgbClr val="5A6072"/>
                </a:solidFill>
                <a:latin typeface="Calibri"/>
              </a:rPr>
              <a:t>8 / 14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737360"/>
            <a:ext cx="5577840" cy="4023360"/>
          </a:xfrm>
          <a:prstGeom prst="rect">
            <a:avLst/>
          </a:prstGeom>
          <a:solidFill>
            <a:srgbClr val="FFFFFF"/>
          </a:solidFill>
          <a:ln w="9525">
            <a:solidFill>
              <a:srgbClr val="D0D4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1737360"/>
            <a:ext cx="64008" cy="4023360"/>
          </a:xfrm>
          <a:prstGeom prst="rect">
            <a:avLst/>
          </a:prstGeom>
          <a:solidFill>
            <a:srgbClr val="2E7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6656" y="1901952"/>
            <a:ext cx="517550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1E2761"/>
                </a:solidFill>
                <a:latin typeface="Georgia"/>
              </a:rPr>
              <a:t>WHAT THE DATA SHOWS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6656" y="2240280"/>
            <a:ext cx="5175503" cy="3337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2B3147"/>
                </a:solidFill>
                <a:latin typeface="Calibri"/>
              </a:rPr>
              <a:t>The disallow list is the direct lever on viewability: 66 domains flagged for exclusion, led by low-viewability news and utility inventory.</a:t>
            </a:r>
          </a:p>
          <a:p>
            <a:pPr algn="l">
              <a:spcBef>
                <a:spcPts val="600"/>
              </a:spcBef>
            </a:pPr>
            <a:r>
              <a:rPr sz="950" b="0">
                <a:solidFill>
                  <a:srgbClr val="2B3147"/>
                </a:solidFill>
                <a:latin typeface="Calibri"/>
              </a:rPr>
              <a:t>The campaign-level viewability floor recommended in June has not yet been implemented; without it, excluded inventory is replaced by unscreened inventory as reach scales.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09360" y="1737360"/>
            <a:ext cx="5394960" cy="4023360"/>
          </a:xfrm>
          <a:prstGeom prst="rect">
            <a:avLst/>
          </a:prstGeom>
          <a:solidFill>
            <a:srgbClr val="FFFFFF"/>
          </a:solidFill>
          <a:ln w="9525">
            <a:solidFill>
              <a:srgbClr val="D0D4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309360" y="1737360"/>
            <a:ext cx="64008" cy="4023360"/>
          </a:xfrm>
          <a:prstGeom prst="rect">
            <a:avLst/>
          </a:prstGeom>
          <a:solidFill>
            <a:srgbClr val="E9B4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28816" y="1901952"/>
            <a:ext cx="499262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1E2761"/>
                </a:solidFill>
                <a:latin typeface="Georgia"/>
              </a:rPr>
              <a:t>WHAT WE RECOMMEND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28816" y="2240280"/>
            <a:ext cx="4992624" cy="3337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2B3147"/>
                </a:solidFill>
                <a:latin typeface="Calibri"/>
              </a:rPr>
              <a:t>Apply the refreshed 66-site disallow list, leading with tvazteca.com.</a:t>
            </a:r>
          </a:p>
          <a:p>
            <a:pPr algn="l">
              <a:spcBef>
                <a:spcPts val="600"/>
              </a:spcBef>
            </a:pPr>
            <a:r>
              <a:rPr sz="950" b="0">
                <a:solidFill>
                  <a:srgbClr val="2B3147"/>
                </a:solidFill>
                <a:latin typeface="Calibri"/>
              </a:rPr>
              <a:t>Implement the campaign-level viewability floor carried forward from June. It is the structural fix that holds quality as reach scales.</a:t>
            </a:r>
          </a:p>
          <a:p>
            <a:pPr algn="l">
              <a:spcBef>
                <a:spcPts val="600"/>
              </a:spcBef>
            </a:pPr>
            <a:r>
              <a:rPr sz="950" b="0">
                <a:solidFill>
                  <a:srgbClr val="2B3147"/>
                </a:solidFill>
                <a:latin typeface="Calibri"/>
              </a:rPr>
              <a:t>Keep the channel judged on reach and cost of reach until result volume supports more.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30936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30936"/>
            <a:ext cx="12191695" cy="45720"/>
          </a:xfrm>
          <a:prstGeom prst="rect">
            <a:avLst/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Georgia"/>
              </a:rPr>
              <a:t>AZERION  ·  PERFORMANCE</a:t>
            </a:r>
          </a:p>
        </p:txBody>
      </p:sp>
      <p:pic>
        <p:nvPicPr>
          <p:cNvPr id="5" name="Picture 4" descr="berelvan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28655" y="146304"/>
            <a:ext cx="960120" cy="274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868680"/>
            <a:ext cx="112471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>
                <a:solidFill>
                  <a:srgbClr val="1E2761"/>
                </a:solidFill>
                <a:latin typeface="Georgia"/>
              </a:rPr>
              <a:t>41 vendor-reported applications; viewability now clear of the floor on both formats.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83680"/>
            <a:ext cx="12191695" cy="10972"/>
          </a:xfrm>
          <a:prstGeom prst="rect">
            <a:avLst/>
          </a:prstGeom>
          <a:solidFill>
            <a:srgbClr val="D0D4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656832"/>
            <a:ext cx="7315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A6072"/>
                </a:solidFill>
                <a:latin typeface="Calibri"/>
              </a:rPr>
              <a:t>GGMI (LATAM)   |   July 2026 Performance Review   |   Berelvant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20095" y="6656832"/>
            <a:ext cx="914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>
                <a:solidFill>
                  <a:srgbClr val="5A6072"/>
                </a:solidFill>
                <a:latin typeface="Calibri"/>
              </a:rPr>
              <a:t>9 / 14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691640"/>
            <a:ext cx="178308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D0D4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1691640"/>
            <a:ext cx="54864" cy="1005840"/>
          </a:xfrm>
          <a:prstGeom prst="rect">
            <a:avLst/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1737360"/>
            <a:ext cx="1508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5A6072"/>
                </a:solidFill>
                <a:latin typeface="Calibri"/>
              </a:rPr>
              <a:t>SPEND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1984248"/>
            <a:ext cx="1508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E2761"/>
                </a:solidFill>
                <a:latin typeface="Calibri"/>
              </a:rPr>
              <a:t>$37,509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2441448"/>
            <a:ext cx="15087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A6072"/>
                </a:solidFill>
                <a:latin typeface="Calibri"/>
              </a:rPr>
              <a:t>display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359152" y="1691640"/>
            <a:ext cx="178308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D0D4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359152" y="1691640"/>
            <a:ext cx="54864" cy="1005840"/>
          </a:xfrm>
          <a:prstGeom prst="rect">
            <a:avLst/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542032" y="1737360"/>
            <a:ext cx="1508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5A6072"/>
                </a:solidFill>
                <a:latin typeface="Calibri"/>
              </a:rPr>
              <a:t>IMPRESSIONS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542032" y="1984248"/>
            <a:ext cx="1508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E2761"/>
                </a:solidFill>
                <a:latin typeface="Calibri"/>
              </a:rPr>
              <a:t>7.58M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42032" y="2441448"/>
            <a:ext cx="15087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A6072"/>
                </a:solidFill>
                <a:latin typeface="Calibri"/>
              </a:rPr>
              <a:t>display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261104" y="1691640"/>
            <a:ext cx="178308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D0D4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261104" y="1691640"/>
            <a:ext cx="54864" cy="1005840"/>
          </a:xfrm>
          <a:prstGeom prst="rect">
            <a:avLst/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443984" y="1737360"/>
            <a:ext cx="1508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5A6072"/>
                </a:solidFill>
                <a:latin typeface="Calibri"/>
              </a:rPr>
              <a:t>CLICKS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43984" y="1984248"/>
            <a:ext cx="1508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E2761"/>
                </a:solidFill>
                <a:latin typeface="Calibri"/>
              </a:rPr>
              <a:t>12,915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43984" y="2441448"/>
            <a:ext cx="15087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A6072"/>
                </a:solidFill>
                <a:latin typeface="Calibri"/>
              </a:rPr>
              <a:t>display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63056" y="1691640"/>
            <a:ext cx="178308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D0D4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63056" y="1691640"/>
            <a:ext cx="54864" cy="1005840"/>
          </a:xfrm>
          <a:prstGeom prst="rect">
            <a:avLst/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45936" y="1737360"/>
            <a:ext cx="1508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5A6072"/>
                </a:solidFill>
                <a:latin typeface="Calibri"/>
              </a:rPr>
              <a:t>APPLICATIONS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45936" y="1984248"/>
            <a:ext cx="1508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E2761"/>
                </a:solidFill>
                <a:latin typeface="Calibri"/>
              </a:rPr>
              <a:t>41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45936" y="2441448"/>
            <a:ext cx="15087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A6072"/>
                </a:solidFill>
                <a:latin typeface="Calibri"/>
              </a:rPr>
              <a:t>vendor-reported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065008" y="1691640"/>
            <a:ext cx="178308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D0D4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065008" y="1691640"/>
            <a:ext cx="54864" cy="1005840"/>
          </a:xfrm>
          <a:prstGeom prst="rect">
            <a:avLst/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47888" y="1737360"/>
            <a:ext cx="1508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5A6072"/>
                </a:solidFill>
                <a:latin typeface="Calibri"/>
              </a:rPr>
              <a:t>COST / APP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47888" y="1984248"/>
            <a:ext cx="1508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E2761"/>
                </a:solidFill>
                <a:latin typeface="Calibri"/>
              </a:rPr>
              <a:t>$914.85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47888" y="2441448"/>
            <a:ext cx="15087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A6072"/>
                </a:solidFill>
                <a:latin typeface="Calibri"/>
              </a:rPr>
              <a:t>vendor-reported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966960" y="1691640"/>
            <a:ext cx="178308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D0D4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966960" y="1691640"/>
            <a:ext cx="54864" cy="1005840"/>
          </a:xfrm>
          <a:prstGeom prst="rect">
            <a:avLst/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149840" y="1737360"/>
            <a:ext cx="1508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5A6072"/>
                </a:solidFill>
                <a:latin typeface="Calibri"/>
              </a:rPr>
              <a:t>VIEWABILITY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149840" y="1984248"/>
            <a:ext cx="1508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E2761"/>
                </a:solidFill>
                <a:latin typeface="Calibri"/>
              </a:rPr>
              <a:t>82.47%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49840" y="2441448"/>
            <a:ext cx="15087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A6072"/>
                </a:solidFill>
                <a:latin typeface="Calibri"/>
              </a:rPr>
              <a:t>native 77.34%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57200" y="3017520"/>
            <a:ext cx="5577840" cy="3108960"/>
          </a:xfrm>
          <a:prstGeom prst="rect">
            <a:avLst/>
          </a:prstGeom>
          <a:solidFill>
            <a:srgbClr val="FFFFFF"/>
          </a:solidFill>
          <a:ln w="9525">
            <a:solidFill>
              <a:srgbClr val="D0D4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457200" y="3017520"/>
            <a:ext cx="64008" cy="3108960"/>
          </a:xfrm>
          <a:prstGeom prst="rect">
            <a:avLst/>
          </a:prstGeom>
          <a:solidFill>
            <a:srgbClr val="2E7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76656" y="3182112"/>
            <a:ext cx="517550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1E2761"/>
                </a:solidFill>
                <a:latin typeface="Georgia"/>
              </a:rPr>
              <a:t>WHAT THE DATA SHOWS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76656" y="3520439"/>
            <a:ext cx="5175503" cy="2423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2B3147"/>
                </a:solidFill>
                <a:latin typeface="Calibri"/>
              </a:rPr>
              <a:t>Applications are reported by the vendor’s own tracking rather than by SA360, the source of record behind Bing’s count; the distinction travels with the number.</a:t>
            </a:r>
          </a:p>
          <a:p>
            <a:pPr algn="l">
              <a:spcBef>
                <a:spcPts val="600"/>
              </a:spcBef>
            </a:pPr>
            <a:r>
              <a:rPr sz="950" b="0">
                <a:solidFill>
                  <a:srgbClr val="2B3147"/>
                </a:solidFill>
                <a:latin typeface="Calibri"/>
              </a:rPr>
              <a:t>June’s viewability recommendation fully landed: display rose from 68.5% to 82.47%, native came in at 77.34%, both clear of the 70% floor.</a:t>
            </a:r>
          </a:p>
          <a:p>
            <a:pPr algn="l">
              <a:spcBef>
                <a:spcPts val="600"/>
              </a:spcBef>
            </a:pPr>
            <a:r>
              <a:rPr sz="950" b="0">
                <a:solidFill>
                  <a:srgbClr val="2B3147"/>
                </a:solidFill>
                <a:latin typeface="Calibri"/>
              </a:rPr>
              <a:t>Country-level delivery detail was requested from the vendor in early July; the follow-up runs with the August cycle. A data-completeness item.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309360" y="3017520"/>
            <a:ext cx="5394960" cy="3108960"/>
          </a:xfrm>
          <a:prstGeom prst="rect">
            <a:avLst/>
          </a:prstGeom>
          <a:solidFill>
            <a:srgbClr val="FFFFFF"/>
          </a:solidFill>
          <a:ln w="9525">
            <a:solidFill>
              <a:srgbClr val="D0D4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6309360" y="3017520"/>
            <a:ext cx="64008" cy="3108960"/>
          </a:xfrm>
          <a:prstGeom prst="rect">
            <a:avLst/>
          </a:prstGeom>
          <a:solidFill>
            <a:srgbClr val="0F15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528816" y="3182112"/>
            <a:ext cx="499262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1E2761"/>
                </a:solidFill>
                <a:latin typeface="Georgia"/>
              </a:rPr>
              <a:t>AD-SET ECONOMICS ROTATED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528816" y="3520439"/>
            <a:ext cx="4992624" cy="2423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2B3147"/>
                </a:solidFill>
                <a:latin typeface="Calibri"/>
              </a:rPr>
              <a:t>June flagged Conversion_Commodities for reallocation (zero applications) and named Global Market the leader at $412. July reversed both: Commodities converted 6 at $500; Global Market fell to 2 at $1,660. The month’s leader was Conversion_Instruments, 9 at roughly $339.</a:t>
            </a:r>
          </a:p>
          <a:p>
            <a:pPr algn="l">
              <a:spcBef>
                <a:spcPts val="600"/>
              </a:spcBef>
            </a:pPr>
            <a:r>
              <a:rPr sz="950" b="0">
                <a:solidFill>
                  <a:srgbClr val="2B3147"/>
                </a:solidFill>
                <a:latin typeface="Calibri"/>
              </a:rPr>
              <a:t>At this volume, ad-set winners rotate faster than a reallocation decision can act on them.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30936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30936"/>
            <a:ext cx="12191695" cy="45720"/>
          </a:xfrm>
          <a:prstGeom prst="rect">
            <a:avLst/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Georgia"/>
              </a:rPr>
              <a:t>AZERION  ·  READ &amp; RECOMMENDATIONS</a:t>
            </a:r>
          </a:p>
        </p:txBody>
      </p:sp>
      <p:pic>
        <p:nvPicPr>
          <p:cNvPr id="5" name="Picture 4" descr="berelvan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28655" y="146304"/>
            <a:ext cx="960120" cy="274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868680"/>
            <a:ext cx="112471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>
                <a:solidFill>
                  <a:srgbClr val="1E2761"/>
                </a:solidFill>
                <a:latin typeface="Georgia"/>
              </a:rPr>
              <a:t>Judge the channel at the monthly level. Close out the vendor confirmation.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83680"/>
            <a:ext cx="12191695" cy="10972"/>
          </a:xfrm>
          <a:prstGeom prst="rect">
            <a:avLst/>
          </a:prstGeom>
          <a:solidFill>
            <a:srgbClr val="D0D4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656832"/>
            <a:ext cx="7315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A6072"/>
                </a:solidFill>
                <a:latin typeface="Calibri"/>
              </a:rPr>
              <a:t>GGMI (LATAM)   |   July 2026 Performance Review   |   Berelvant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20095" y="6656832"/>
            <a:ext cx="914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>
                <a:solidFill>
                  <a:srgbClr val="5A6072"/>
                </a:solidFill>
                <a:latin typeface="Calibri"/>
              </a:rPr>
              <a:t>10 / 14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737360"/>
            <a:ext cx="5577840" cy="4023360"/>
          </a:xfrm>
          <a:prstGeom prst="rect">
            <a:avLst/>
          </a:prstGeom>
          <a:solidFill>
            <a:srgbClr val="FFFFFF"/>
          </a:solidFill>
          <a:ln w="9525">
            <a:solidFill>
              <a:srgbClr val="D0D4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1737360"/>
            <a:ext cx="64008" cy="4023360"/>
          </a:xfrm>
          <a:prstGeom prst="rect">
            <a:avLst/>
          </a:prstGeom>
          <a:solidFill>
            <a:srgbClr val="2E7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6656" y="1901952"/>
            <a:ext cx="517550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1E2761"/>
                </a:solidFill>
                <a:latin typeface="Georgia"/>
              </a:rPr>
              <a:t>WHAT THE DATA SHOWS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6656" y="2240280"/>
            <a:ext cx="5175503" cy="3337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2B3147"/>
                </a:solidFill>
                <a:latin typeface="Calibri"/>
              </a:rPr>
              <a:t>The channel figure is the stable read: $914.85 per vendor-reported application, against $834 in June.</a:t>
            </a:r>
          </a:p>
          <a:p>
            <a:pPr algn="l">
              <a:spcBef>
                <a:spcPts val="600"/>
              </a:spcBef>
            </a:pPr>
            <a:r>
              <a:rPr sz="950" b="0">
                <a:solidFill>
                  <a:srgbClr val="2B3147"/>
                </a:solidFill>
                <a:latin typeface="Calibri"/>
              </a:rPr>
              <a:t>Ad-set level winners rotated against June’s picks, which closes out June’s reallocation call; the flagged ad set converted well on its own.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09360" y="1737360"/>
            <a:ext cx="5394960" cy="4023360"/>
          </a:xfrm>
          <a:prstGeom prst="rect">
            <a:avLst/>
          </a:prstGeom>
          <a:solidFill>
            <a:srgbClr val="FFFFFF"/>
          </a:solidFill>
          <a:ln w="9525">
            <a:solidFill>
              <a:srgbClr val="D0D4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309360" y="1737360"/>
            <a:ext cx="64008" cy="4023360"/>
          </a:xfrm>
          <a:prstGeom prst="rect">
            <a:avLst/>
          </a:prstGeom>
          <a:solidFill>
            <a:srgbClr val="E9B4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28816" y="1901952"/>
            <a:ext cx="499262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1E2761"/>
                </a:solidFill>
                <a:latin typeface="Georgia"/>
              </a:rPr>
              <a:t>WHAT WE RECOMMEND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28816" y="2240280"/>
            <a:ext cx="4992624" cy="3337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2B3147"/>
                </a:solidFill>
                <a:latin typeface="Calibri"/>
              </a:rPr>
              <a:t>Hold the channel’s pace and judge it on the monthly figure rather than reallocating off one month’s ad-set data.</a:t>
            </a:r>
          </a:p>
          <a:p>
            <a:pPr algn="l">
              <a:spcBef>
                <a:spcPts val="600"/>
              </a:spcBef>
            </a:pPr>
            <a:r>
              <a:rPr sz="950" b="0">
                <a:solidFill>
                  <a:srgbClr val="2B3147"/>
                </a:solidFill>
                <a:latin typeface="Calibri"/>
              </a:rPr>
              <a:t>Follow up with the vendor on the country-level delivery detail requested in early July, in the August cycle, and hold certification of that detail until it lands.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30936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30936"/>
            <a:ext cx="12191695" cy="45720"/>
          </a:xfrm>
          <a:prstGeom prst="rect">
            <a:avLst/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Georgia"/>
              </a:rPr>
              <a:t>META  ·  SPEND &amp; DELIVERY</a:t>
            </a:r>
          </a:p>
        </p:txBody>
      </p:sp>
      <p:pic>
        <p:nvPicPr>
          <p:cNvPr id="5" name="Picture 4" descr="berelvan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28655" y="146304"/>
            <a:ext cx="960120" cy="274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868680"/>
            <a:ext cx="112471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>
                <a:solidFill>
                  <a:srgbClr val="1E2761"/>
                </a:solidFill>
                <a:latin typeface="Georgia"/>
              </a:rPr>
              <a:t>Reported on spend and delivery this month. Instagram testing delivered.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83680"/>
            <a:ext cx="12191695" cy="10972"/>
          </a:xfrm>
          <a:prstGeom prst="rect">
            <a:avLst/>
          </a:prstGeom>
          <a:solidFill>
            <a:srgbClr val="D0D4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656832"/>
            <a:ext cx="7315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A6072"/>
                </a:solidFill>
                <a:latin typeface="Calibri"/>
              </a:rPr>
              <a:t>GGMI (LATAM)   |   July 2026 Performance Review   |   Berelvant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20095" y="6656832"/>
            <a:ext cx="914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>
                <a:solidFill>
                  <a:srgbClr val="5A6072"/>
                </a:solidFill>
                <a:latin typeface="Calibri"/>
              </a:rPr>
              <a:t>11 / 14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691640"/>
            <a:ext cx="178308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D0D4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1691640"/>
            <a:ext cx="54864" cy="1005840"/>
          </a:xfrm>
          <a:prstGeom prst="rect">
            <a:avLst/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1737360"/>
            <a:ext cx="1508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5A6072"/>
                </a:solidFill>
                <a:latin typeface="Calibri"/>
              </a:rPr>
              <a:t>SPEND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1984248"/>
            <a:ext cx="1508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E2761"/>
                </a:solidFill>
                <a:latin typeface="Calibri"/>
              </a:rPr>
              <a:t>$8,027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2441448"/>
            <a:ext cx="15087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A6072"/>
                </a:solidFill>
                <a:latin typeface="Calibri"/>
              </a:rPr>
              <a:t>Mexico only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359152" y="1691640"/>
            <a:ext cx="178308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D0D4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359152" y="1691640"/>
            <a:ext cx="54864" cy="1005840"/>
          </a:xfrm>
          <a:prstGeom prst="rect">
            <a:avLst/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542032" y="1737360"/>
            <a:ext cx="1508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5A6072"/>
                </a:solidFill>
                <a:latin typeface="Calibri"/>
              </a:rPr>
              <a:t>IMPRESSIONS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542032" y="1984248"/>
            <a:ext cx="1508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E2761"/>
                </a:solidFill>
                <a:latin typeface="Calibri"/>
              </a:rPr>
              <a:t>4.25M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42032" y="2441448"/>
            <a:ext cx="15087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A6072"/>
                </a:solidFill>
                <a:latin typeface="Calibri"/>
              </a:rPr>
              <a:t>CPM ~$1.89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261104" y="1691640"/>
            <a:ext cx="178308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D0D4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261104" y="1691640"/>
            <a:ext cx="54864" cy="1005840"/>
          </a:xfrm>
          <a:prstGeom prst="rect">
            <a:avLst/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443984" y="1737360"/>
            <a:ext cx="1508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5A6072"/>
                </a:solidFill>
                <a:latin typeface="Calibri"/>
              </a:rPr>
              <a:t>LINK CLICKS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43984" y="1984248"/>
            <a:ext cx="1508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E2761"/>
                </a:solidFill>
                <a:latin typeface="Calibri"/>
              </a:rPr>
              <a:t>74,489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43984" y="2441448"/>
            <a:ext cx="15087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A6072"/>
                </a:solidFill>
                <a:latin typeface="Calibri"/>
              </a:rPr>
              <a:t>CTR 1.75% · June 2.06%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63056" y="1691640"/>
            <a:ext cx="178308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D0D4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63056" y="1691640"/>
            <a:ext cx="54864" cy="1005840"/>
          </a:xfrm>
          <a:prstGeom prst="rect">
            <a:avLst/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45936" y="1737360"/>
            <a:ext cx="1508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5A6072"/>
                </a:solidFill>
                <a:latin typeface="Calibri"/>
              </a:rPr>
              <a:t>REACH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45936" y="1984248"/>
            <a:ext cx="1508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E2761"/>
                </a:solidFill>
                <a:latin typeface="Calibri"/>
              </a:rPr>
              <a:t>2,251,346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45936" y="2441448"/>
            <a:ext cx="15087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A6072"/>
                </a:solidFill>
                <a:latin typeface="Calibri"/>
              </a:rPr>
              <a:t>largest campaign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065008" y="1691640"/>
            <a:ext cx="178308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D0D4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065008" y="1691640"/>
            <a:ext cx="54864" cy="1005840"/>
          </a:xfrm>
          <a:prstGeom prst="rect">
            <a:avLst/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47888" y="1737360"/>
            <a:ext cx="1508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5A6072"/>
                </a:solidFill>
                <a:latin typeface="Calibri"/>
              </a:rPr>
              <a:t>GEO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47888" y="1984248"/>
            <a:ext cx="1508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E2761"/>
                </a:solidFill>
                <a:latin typeface="Calibri"/>
              </a:rPr>
              <a:t>Mexico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47888" y="2441448"/>
            <a:ext cx="15087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A6072"/>
                </a:solidFill>
                <a:latin typeface="Calibri"/>
              </a:rPr>
              <a:t>all campaigns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966960" y="1691640"/>
            <a:ext cx="178308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D0D4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966960" y="1691640"/>
            <a:ext cx="54864" cy="1005840"/>
          </a:xfrm>
          <a:prstGeom prst="rect">
            <a:avLst/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149840" y="1737360"/>
            <a:ext cx="1508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5A6072"/>
                </a:solidFill>
                <a:latin typeface="Calibri"/>
              </a:rPr>
              <a:t>INSTAGRAM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149840" y="1984248"/>
            <a:ext cx="1508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E2761"/>
                </a:solidFill>
                <a:latin typeface="Calibri"/>
              </a:rPr>
              <a:t>10.2%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49840" y="2441448"/>
            <a:ext cx="15087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A6072"/>
                </a:solidFill>
                <a:latin typeface="Calibri"/>
              </a:rPr>
              <a:t>June: 0.3%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57200" y="3017520"/>
            <a:ext cx="5577840" cy="3108960"/>
          </a:xfrm>
          <a:prstGeom prst="rect">
            <a:avLst/>
          </a:prstGeom>
          <a:solidFill>
            <a:srgbClr val="FFFFFF"/>
          </a:solidFill>
          <a:ln w="9525">
            <a:solidFill>
              <a:srgbClr val="D0D4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457200" y="3017520"/>
            <a:ext cx="64008" cy="3108960"/>
          </a:xfrm>
          <a:prstGeom prst="rect">
            <a:avLst/>
          </a:prstGeom>
          <a:solidFill>
            <a:srgbClr val="2E7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76656" y="3182112"/>
            <a:ext cx="517550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1E2761"/>
                </a:solidFill>
                <a:latin typeface="Georgia"/>
              </a:rPr>
              <a:t>WHAT THE DATA SHOWS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76656" y="3520439"/>
            <a:ext cx="5175503" cy="2423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2B3147"/>
                </a:solidFill>
                <a:latin typeface="Calibri"/>
              </a:rPr>
              <a:t>Delivery held to Mexico across every campaign.</a:t>
            </a:r>
          </a:p>
          <a:p>
            <a:pPr algn="l">
              <a:spcBef>
                <a:spcPts val="600"/>
              </a:spcBef>
            </a:pPr>
            <a:r>
              <a:rPr sz="950" b="0">
                <a:solidFill>
                  <a:srgbClr val="2B3147"/>
                </a:solidFill>
                <a:latin typeface="Calibri"/>
              </a:rPr>
              <a:t>Placement mix shifted toward Instagram: 10.2% of July delivery, up from 0.3%, answering the specific ask from the June review. Facebook carried 89.2%.</a:t>
            </a:r>
          </a:p>
          <a:p>
            <a:pPr algn="l">
              <a:spcBef>
                <a:spcPts val="600"/>
              </a:spcBef>
            </a:pPr>
            <a:r>
              <a:rPr sz="950" b="0">
                <a:solidFill>
                  <a:srgbClr val="2B3147"/>
                </a:solidFill>
                <a:latin typeface="Calibri"/>
              </a:rPr>
              <a:t>The other June ask, narrowing targeting away from the 55-and-over audience, was not implemented; targeting still runs 18–65 with audience expansion on.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309360" y="3017520"/>
            <a:ext cx="5394960" cy="3108960"/>
          </a:xfrm>
          <a:prstGeom prst="rect">
            <a:avLst/>
          </a:prstGeom>
          <a:solidFill>
            <a:srgbClr val="FFFFFF"/>
          </a:solidFill>
          <a:ln w="9525">
            <a:solidFill>
              <a:srgbClr val="D0D4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6309360" y="3017520"/>
            <a:ext cx="64008" cy="3108960"/>
          </a:xfrm>
          <a:prstGeom prst="rect">
            <a:avLst/>
          </a:prstGeom>
          <a:solidFill>
            <a:srgbClr val="0F15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528816" y="3182112"/>
            <a:ext cx="499262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1E2761"/>
                </a:solidFill>
                <a:latin typeface="Georgia"/>
              </a:rPr>
              <a:t>MEASUREMENT NOTE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528816" y="3520439"/>
            <a:ext cx="4992624" cy="2423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2B3147"/>
                </a:solidFill>
                <a:latin typeface="Calibri"/>
              </a:rPr>
              <a:t>July’s Meta reporting covers spend and delivery: impressions, reach, frequency, link clicks, CTR, CPC, CPM, landing-page views, placements and geo.</a:t>
            </a:r>
          </a:p>
          <a:p>
            <a:pPr algn="l">
              <a:spcBef>
                <a:spcPts val="600"/>
              </a:spcBef>
            </a:pPr>
            <a:r>
              <a:rPr sz="950" b="0">
                <a:solidFill>
                  <a:srgbClr val="2B3147"/>
                </a:solidFill>
                <a:latin typeface="Calibri"/>
              </a:rPr>
              <a:t>The platform reports 117 submitted-application pixel fires; that figure is Meta-reported and unvalidated, is not compared to Bing’s SA360-reported count, and carries no cost-per-application figure.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30936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30936"/>
            <a:ext cx="12191695" cy="45720"/>
          </a:xfrm>
          <a:prstGeom prst="rect">
            <a:avLst/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Georgia"/>
              </a:rPr>
              <a:t>NATIVE &amp; DOOH  ·  NEW LINES</a:t>
            </a:r>
          </a:p>
        </p:txBody>
      </p:sp>
      <p:pic>
        <p:nvPicPr>
          <p:cNvPr id="5" name="Picture 4" descr="berelvan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28655" y="146304"/>
            <a:ext cx="960120" cy="274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868680"/>
            <a:ext cx="112471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>
                <a:solidFill>
                  <a:srgbClr val="1E2761"/>
                </a:solidFill>
                <a:latin typeface="Georgia"/>
              </a:rPr>
              <a:t>First full month for both. Upper-funnel roles, reported on delivery.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83680"/>
            <a:ext cx="12191695" cy="10972"/>
          </a:xfrm>
          <a:prstGeom prst="rect">
            <a:avLst/>
          </a:prstGeom>
          <a:solidFill>
            <a:srgbClr val="D0D4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656832"/>
            <a:ext cx="7315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A6072"/>
                </a:solidFill>
                <a:latin typeface="Calibri"/>
              </a:rPr>
              <a:t>GGMI (LATAM)   |   July 2026 Performance Review   |   Berelvant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20095" y="6656832"/>
            <a:ext cx="914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>
                <a:solidFill>
                  <a:srgbClr val="5A6072"/>
                </a:solidFill>
                <a:latin typeface="Calibri"/>
              </a:rPr>
              <a:t>12 / 14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1828800"/>
          <a:ext cx="6766560" cy="16002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108960"/>
                <a:gridCol w="1188720"/>
                <a:gridCol w="1371600"/>
                <a:gridCol w="1097280"/>
              </a:tblGrid>
              <a:tr h="533400"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Line</a:t>
                      </a:r>
                    </a:p>
                  </a:txBody>
                  <a:tcPr marL="54864" marR="54864" marT="27432" marB="27432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Spend</a:t>
                      </a:r>
                    </a:p>
                  </a:txBody>
                  <a:tcPr marL="54864" marR="54864" marT="27432" marB="27432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Impressions</a:t>
                      </a:r>
                    </a:p>
                  </a:txBody>
                  <a:tcPr marL="54864" marR="54864" marT="27432" marB="27432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Clicks</a:t>
                      </a:r>
                    </a:p>
                  </a:txBody>
                  <a:tcPr marL="54864" marR="54864" marT="27432" marB="27432">
                    <a:solidFill>
                      <a:srgbClr val="1E2761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2B3147"/>
                          </a:solidFill>
                          <a:latin typeface="Calibri"/>
                        </a:rPr>
                        <a:t>Native (Quantcast + Azerion)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B3147"/>
                          </a:solidFill>
                          <a:latin typeface="Calibri"/>
                        </a:rPr>
                        <a:t>$27,630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B3147"/>
                          </a:solidFill>
                          <a:latin typeface="Calibri"/>
                        </a:rPr>
                        <a:t>18.18M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B3147"/>
                          </a:solidFill>
                          <a:latin typeface="Calibri"/>
                        </a:rPr>
                        <a:t>9,953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2B3147"/>
                          </a:solidFill>
                          <a:latin typeface="Calibri"/>
                        </a:rPr>
                        <a:t>DOOH (Perion)</a:t>
                      </a:r>
                    </a:p>
                  </a:txBody>
                  <a:tcPr marL="54864" marR="54864" marT="27432" marB="27432">
                    <a:solidFill>
                      <a:srgbClr val="F9FAF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B3147"/>
                          </a:solidFill>
                          <a:latin typeface="Calibri"/>
                        </a:rPr>
                        <a:t>$26,865</a:t>
                      </a:r>
                    </a:p>
                  </a:txBody>
                  <a:tcPr marL="54864" marR="54864" marT="27432" marB="27432">
                    <a:solidFill>
                      <a:srgbClr val="F9FAF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B3147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54864" marR="54864" marT="27432" marB="27432">
                    <a:solidFill>
                      <a:srgbClr val="F9FAF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B3147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54864" marR="54864" marT="27432" marB="27432">
                    <a:solidFill>
                      <a:srgbClr val="F9FAFC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457200" y="3566160"/>
            <a:ext cx="67665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>
                <a:solidFill>
                  <a:srgbClr val="5A6072"/>
                </a:solidFill>
                <a:latin typeface="Calibri"/>
              </a:rPr>
              <a:t>Native combines Quantcast’s dedicated native placement and Azerion’s native inventory. Azerion native viewability: 77.34%, clear of the 70% floor. DOOH reports spend only this cycle.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406640" y="1828800"/>
            <a:ext cx="4297680" cy="2926080"/>
          </a:xfrm>
          <a:prstGeom prst="rect">
            <a:avLst/>
          </a:prstGeom>
          <a:solidFill>
            <a:srgbClr val="FFFFFF"/>
          </a:solidFill>
          <a:ln w="9525">
            <a:solidFill>
              <a:srgbClr val="D0D4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406640" y="1828800"/>
            <a:ext cx="64008" cy="2926080"/>
          </a:xfrm>
          <a:prstGeom prst="rect">
            <a:avLst/>
          </a:prstGeom>
          <a:solidFill>
            <a:srgbClr val="0F15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26096" y="1993392"/>
            <a:ext cx="389534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1E2761"/>
                </a:solidFill>
                <a:latin typeface="Georgia"/>
              </a:rPr>
              <a:t>HOW TO READ THE NEW LINES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26096" y="2331720"/>
            <a:ext cx="3895344" cy="2240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2B3147"/>
                </a:solidFill>
                <a:latin typeface="Calibri"/>
              </a:rPr>
              <a:t>Both are upper-funnel. Native carries a spend and delivery line with no conversion claim; DOOH carries spend only, with delivery detail out of scope this cycle.</a:t>
            </a:r>
          </a:p>
          <a:p>
            <a:pPr algn="l">
              <a:spcBef>
                <a:spcPts val="600"/>
              </a:spcBef>
            </a:pPr>
            <a:r>
              <a:rPr sz="950" b="0">
                <a:solidFill>
                  <a:srgbClr val="2B3147"/>
                </a:solidFill>
                <a:latin typeface="Calibri"/>
              </a:rPr>
              <a:t>Both report in full once a second month of data gives them something to compare against.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30936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30936"/>
            <a:ext cx="12191695" cy="45720"/>
          </a:xfrm>
          <a:prstGeom prst="rect">
            <a:avLst/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Georgia"/>
              </a:rPr>
              <a:t>SITE TRAFFIC  ·  GA4 (MEXICO)</a:t>
            </a:r>
          </a:p>
        </p:txBody>
      </p:sp>
      <p:pic>
        <p:nvPicPr>
          <p:cNvPr id="5" name="Picture 4" descr="berelvan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28655" y="146304"/>
            <a:ext cx="960120" cy="274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868680"/>
            <a:ext cx="112471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>
                <a:solidFill>
                  <a:srgbClr val="1E2761"/>
                </a:solidFill>
                <a:latin typeface="Georgia"/>
              </a:rPr>
              <a:t>Context, not conversion, and the measurement fix that unlocks August.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83680"/>
            <a:ext cx="12191695" cy="10972"/>
          </a:xfrm>
          <a:prstGeom prst="rect">
            <a:avLst/>
          </a:prstGeom>
          <a:solidFill>
            <a:srgbClr val="D0D4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656832"/>
            <a:ext cx="7315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A6072"/>
                </a:solidFill>
                <a:latin typeface="Calibri"/>
              </a:rPr>
              <a:t>GGMI (LATAM)   |   July 2026 Performance Review   |   Berelvant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20095" y="6656832"/>
            <a:ext cx="914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>
                <a:solidFill>
                  <a:srgbClr val="5A6072"/>
                </a:solidFill>
                <a:latin typeface="Calibri"/>
              </a:rPr>
              <a:t>13 / 14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691640"/>
            <a:ext cx="178308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D0D4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1691640"/>
            <a:ext cx="54864" cy="1005840"/>
          </a:xfrm>
          <a:prstGeom prst="rect">
            <a:avLst/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1737360"/>
            <a:ext cx="1508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5A6072"/>
                </a:solidFill>
                <a:latin typeface="Calibri"/>
              </a:rPr>
              <a:t>MEXICO SESSIONS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1984248"/>
            <a:ext cx="1508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E2761"/>
                </a:solidFill>
                <a:latin typeface="Calibri"/>
              </a:rPr>
              <a:t>7,310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2441448"/>
            <a:ext cx="15087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A6072"/>
                </a:solidFill>
                <a:latin typeface="Calibri"/>
              </a:rPr>
              <a:t>June: 9,236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359152" y="1691640"/>
            <a:ext cx="178308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D0D4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359152" y="1691640"/>
            <a:ext cx="54864" cy="1005840"/>
          </a:xfrm>
          <a:prstGeom prst="rect">
            <a:avLst/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542032" y="1737360"/>
            <a:ext cx="1508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5A6072"/>
                </a:solidFill>
                <a:latin typeface="Calibri"/>
              </a:rPr>
              <a:t>UNIQUE VISITORS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542032" y="1984248"/>
            <a:ext cx="1508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E2761"/>
                </a:solidFill>
                <a:latin typeface="Calibri"/>
              </a:rPr>
              <a:t>3,981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42032" y="2441448"/>
            <a:ext cx="15087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A6072"/>
                </a:solidFill>
                <a:latin typeface="Calibri"/>
              </a:rPr>
              <a:t>Mexico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261104" y="1691640"/>
            <a:ext cx="178308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D0D4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261104" y="1691640"/>
            <a:ext cx="54864" cy="1005840"/>
          </a:xfrm>
          <a:prstGeom prst="rect">
            <a:avLst/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443984" y="1737360"/>
            <a:ext cx="1508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5A6072"/>
                </a:solidFill>
                <a:latin typeface="Calibri"/>
              </a:rPr>
              <a:t>KEY-EVENT CAPTURE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43984" y="1984248"/>
            <a:ext cx="1508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E2761"/>
                </a:solidFill>
                <a:latin typeface="Calibri"/>
              </a:rPr>
              <a:t>Fixed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43984" y="2441448"/>
            <a:ext cx="15087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A6072"/>
                </a:solidFill>
                <a:latin typeface="Calibri"/>
              </a:rPr>
              <a:t>live since Jul 31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63056" y="1691640"/>
            <a:ext cx="178308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D0D4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63056" y="1691640"/>
            <a:ext cx="54864" cy="1005840"/>
          </a:xfrm>
          <a:prstGeom prst="rect">
            <a:avLst/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45936" y="1737360"/>
            <a:ext cx="1508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5A6072"/>
                </a:solidFill>
                <a:latin typeface="Calibri"/>
              </a:rPr>
              <a:t>GA4 CORROBORATION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45936" y="1984248"/>
            <a:ext cx="1508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E2761"/>
                </a:solidFill>
                <a:latin typeface="Calibri"/>
              </a:rPr>
              <a:t>August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45936" y="2441448"/>
            <a:ext cx="15087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A6072"/>
                </a:solidFill>
                <a:latin typeface="Calibri"/>
              </a:rPr>
              <a:t>first full month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7200" y="3017520"/>
            <a:ext cx="5577840" cy="3108960"/>
          </a:xfrm>
          <a:prstGeom prst="rect">
            <a:avLst/>
          </a:prstGeom>
          <a:solidFill>
            <a:srgbClr val="FFFFFF"/>
          </a:solidFill>
          <a:ln w="9525">
            <a:solidFill>
              <a:srgbClr val="D0D4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57200" y="3017520"/>
            <a:ext cx="64008" cy="3108960"/>
          </a:xfrm>
          <a:prstGeom prst="rect">
            <a:avLst/>
          </a:prstGeom>
          <a:solidFill>
            <a:srgbClr val="2E7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76656" y="3182112"/>
            <a:ext cx="517550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1E2761"/>
                </a:solidFill>
                <a:latin typeface="Georgia"/>
              </a:rPr>
              <a:t>WHAT THE DATA SHOWS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76656" y="3520439"/>
            <a:ext cx="5175503" cy="2423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2B3147"/>
                </a:solidFill>
                <a:latin typeface="Calibri"/>
              </a:rPr>
              <a:t>A large share of July’s session dip tracks Bing’s own month: dark for ten days, then a non-converting legacy structure for eleven. Property-wide, one unattributed bucket collapsed sharply; sessions outside it grew.</a:t>
            </a:r>
          </a:p>
          <a:p>
            <a:pPr algn="l">
              <a:spcBef>
                <a:spcPts val="600"/>
              </a:spcBef>
            </a:pPr>
            <a:r>
              <a:rPr sz="950" b="0">
                <a:solidFill>
                  <a:srgbClr val="2B3147"/>
                </a:solidFill>
                <a:latin typeface="Calibri"/>
              </a:rPr>
              <a:t>Venezuela’s session volume fell sharply with the same legacy-campaign pause behind Bing’s in-market concentration, a campaign-mix effect this month.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309360" y="3017520"/>
            <a:ext cx="5394960" cy="3108960"/>
          </a:xfrm>
          <a:prstGeom prst="rect">
            <a:avLst/>
          </a:prstGeom>
          <a:solidFill>
            <a:srgbClr val="FFFFFF"/>
          </a:solidFill>
          <a:ln w="9525">
            <a:solidFill>
              <a:srgbClr val="D0D4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309360" y="3017520"/>
            <a:ext cx="64008" cy="3108960"/>
          </a:xfrm>
          <a:prstGeom prst="rect">
            <a:avLst/>
          </a:prstGeom>
          <a:solidFill>
            <a:srgbClr val="0F15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528816" y="3182112"/>
            <a:ext cx="499262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1E2761"/>
                </a:solidFill>
                <a:latin typeface="Georgia"/>
              </a:rPr>
              <a:t>MEASUREMENT TO CLOSE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528816" y="3520439"/>
            <a:ext cx="4992624" cy="2423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2B3147"/>
                </a:solidFill>
                <a:latin typeface="Calibri"/>
              </a:rPr>
              <a:t>The submitted-application key event began counting correctly on July 31 and has held at full capture since. July is reported on the SA360 count; August is the first month GA4 can corroborate it independently.</a:t>
            </a:r>
          </a:p>
          <a:p>
            <a:pPr algn="l">
              <a:spcBef>
                <a:spcPts val="600"/>
              </a:spcBef>
            </a:pPr>
            <a:r>
              <a:rPr sz="950" b="0">
                <a:solidFill>
                  <a:srgbClr val="2B3147"/>
                </a:solidFill>
                <a:latin typeface="Calibri"/>
              </a:rPr>
              <a:t>Completion of the Bing-to-GA4 account link has not yet been verified; the paid-search restatement June’s deck flagged lands once it is, expected alongside August’s corroboration.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30936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30936"/>
            <a:ext cx="12191695" cy="45720"/>
          </a:xfrm>
          <a:prstGeom prst="rect">
            <a:avLst/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Georgia"/>
              </a:rPr>
              <a:t>CROSS-CHANNEL PRIORITIES + NEXT STEPS</a:t>
            </a:r>
          </a:p>
        </p:txBody>
      </p:sp>
      <p:pic>
        <p:nvPicPr>
          <p:cNvPr id="5" name="Picture 4" descr="berelvan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28655" y="146304"/>
            <a:ext cx="960120" cy="274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868680"/>
            <a:ext cx="112471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>
                <a:solidFill>
                  <a:srgbClr val="1E2761"/>
                </a:solidFill>
                <a:latin typeface="Georgia"/>
              </a:rPr>
              <a:t>Lock in the rebuild. Finish the measurement. Hold programmatic quality.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83680"/>
            <a:ext cx="12191695" cy="10972"/>
          </a:xfrm>
          <a:prstGeom prst="rect">
            <a:avLst/>
          </a:prstGeom>
          <a:solidFill>
            <a:srgbClr val="D0D4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656832"/>
            <a:ext cx="7315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A6072"/>
                </a:solidFill>
                <a:latin typeface="Calibri"/>
              </a:rPr>
              <a:t>GGMI (LATAM)   |   July 2026 Performance Review   |   Berelvant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20095" y="6656832"/>
            <a:ext cx="914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>
                <a:solidFill>
                  <a:srgbClr val="5A6072"/>
                </a:solidFill>
                <a:latin typeface="Calibri"/>
              </a:rPr>
              <a:t>14 / 14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783080"/>
            <a:ext cx="3703320" cy="2103120"/>
          </a:xfrm>
          <a:prstGeom prst="rect">
            <a:avLst/>
          </a:prstGeom>
          <a:solidFill>
            <a:srgbClr val="F9FAFC"/>
          </a:solidFill>
          <a:ln w="9525">
            <a:solidFill>
              <a:srgbClr val="D0D4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1783080"/>
            <a:ext cx="3703320" cy="292608"/>
          </a:xfrm>
          <a:prstGeom prst="rect">
            <a:avLst/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03504" y="1837943"/>
            <a:ext cx="341071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FFFFFF"/>
                </a:solidFill>
                <a:latin typeface="Georgia"/>
              </a:rPr>
              <a:t>PRIORITY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3504" y="2185416"/>
            <a:ext cx="3410712" cy="15544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B3147"/>
                </a:solidFill>
                <a:latin typeface="Calibri"/>
              </a:rPr>
              <a:t>Harden the Mexico configuration: presence-only targeting and an expanded exclusion list on every enabled campaign.</a:t>
            </a:r>
          </a:p>
          <a:p>
            <a:pPr algn="l">
              <a:spcBef>
                <a:spcPts val="600"/>
              </a:spcBef>
            </a:pPr>
            <a:r>
              <a:rPr sz="900" b="0">
                <a:solidFill>
                  <a:srgbClr val="2B3147"/>
                </a:solidFill>
                <a:latin typeface="Calibri"/>
              </a:rPr>
              <a:t>Standardize every Bing campaign on the converting landing destination.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43400" y="1783080"/>
            <a:ext cx="3703320" cy="2103120"/>
          </a:xfrm>
          <a:prstGeom prst="rect">
            <a:avLst/>
          </a:prstGeom>
          <a:solidFill>
            <a:srgbClr val="F9FAFC"/>
          </a:solidFill>
          <a:ln w="9525">
            <a:solidFill>
              <a:srgbClr val="D0D4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43400" y="1783080"/>
            <a:ext cx="3703320" cy="292608"/>
          </a:xfrm>
          <a:prstGeom prst="rect">
            <a:avLst/>
          </a:prstGeom>
          <a:solidFill>
            <a:srgbClr val="E9B4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89704" y="1837943"/>
            <a:ext cx="341071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0F1535"/>
                </a:solidFill>
                <a:latin typeface="Georgia"/>
              </a:rPr>
              <a:t>HIGH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89704" y="2185416"/>
            <a:ext cx="3410712" cy="15544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B3147"/>
                </a:solidFill>
                <a:latin typeface="Calibri"/>
              </a:rPr>
              <a:t>Turn on bidding feedback for the Bing conversion goals; July’s $237.12 was earned with no automated signal.</a:t>
            </a:r>
          </a:p>
          <a:p>
            <a:pPr algn="l">
              <a:spcBef>
                <a:spcPts val="600"/>
              </a:spcBef>
            </a:pPr>
            <a:r>
              <a:rPr sz="900" b="0">
                <a:solidFill>
                  <a:srgbClr val="2B3147"/>
                </a:solidFill>
                <a:latin typeface="Calibri"/>
              </a:rPr>
              <a:t>Apply the 66-site Quantcast disallow list, led by tvazteca.com, and implement the viewability floor.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0" y="1783080"/>
            <a:ext cx="3520440" cy="2103120"/>
          </a:xfrm>
          <a:prstGeom prst="rect">
            <a:avLst/>
          </a:prstGeom>
          <a:solidFill>
            <a:srgbClr val="F9FAFC"/>
          </a:solidFill>
          <a:ln w="9525">
            <a:solidFill>
              <a:srgbClr val="D0D4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229600" y="1783080"/>
            <a:ext cx="3520440" cy="292608"/>
          </a:xfrm>
          <a:prstGeom prst="rect">
            <a:avLst/>
          </a:prstGeom>
          <a:solidFill>
            <a:srgbClr val="0F15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75904" y="1837943"/>
            <a:ext cx="322783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FFFFFF"/>
                </a:solidFill>
                <a:latin typeface="Georgia"/>
              </a:rPr>
              <a:t>MEASUREMENT TO CLOSE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75904" y="2185416"/>
            <a:ext cx="3227832" cy="15544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B3147"/>
                </a:solidFill>
                <a:latin typeface="Calibri"/>
              </a:rPr>
              <a:t>Complete the Bing-to-GA4 link; the flagged restatement lands with August’s key-event corroboration.</a:t>
            </a:r>
          </a:p>
          <a:p>
            <a:pPr algn="l">
              <a:spcBef>
                <a:spcPts val="600"/>
              </a:spcBef>
            </a:pPr>
            <a:r>
              <a:rPr sz="900" b="0">
                <a:solidFill>
                  <a:srgbClr val="2B3147"/>
                </a:solidFill>
                <a:latin typeface="Calibri"/>
              </a:rPr>
              <a:t>Close out Azerion’s country-level delivery confirmation with the vendor.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069080"/>
            <a:ext cx="3703320" cy="1828800"/>
          </a:xfrm>
          <a:prstGeom prst="rect">
            <a:avLst/>
          </a:prstGeom>
          <a:solidFill>
            <a:srgbClr val="F9FAFC"/>
          </a:solidFill>
          <a:ln w="9525">
            <a:solidFill>
              <a:srgbClr val="D0D4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57200" y="4069080"/>
            <a:ext cx="3703320" cy="292608"/>
          </a:xfrm>
          <a:prstGeom prst="rect">
            <a:avLst/>
          </a:prstGeom>
          <a:solidFill>
            <a:srgbClr val="2E7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03504" y="4123944"/>
            <a:ext cx="341071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FFFFFF"/>
                </a:solidFill>
                <a:latin typeface="Georgia"/>
              </a:rPr>
              <a:t>OPPORTUNITY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03504" y="4471416"/>
            <a:ext cx="3410712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B3147"/>
                </a:solidFill>
                <a:latin typeface="Calibri"/>
              </a:rPr>
              <a:t>Hold Azerion’s pace; judge the channel monthly.</a:t>
            </a:r>
          </a:p>
          <a:p>
            <a:pPr algn="l">
              <a:spcBef>
                <a:spcPts val="600"/>
              </a:spcBef>
            </a:pPr>
            <a:r>
              <a:rPr sz="900" b="0">
                <a:solidFill>
                  <a:srgbClr val="2B3147"/>
                </a:solidFill>
                <a:latin typeface="Calibri"/>
              </a:rPr>
              <a:t>Read Bing on the rebuilt structure’s $237.12, with August tracking at $243 across three products.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343400" y="4069080"/>
            <a:ext cx="7406640" cy="1828800"/>
          </a:xfrm>
          <a:prstGeom prst="rect">
            <a:avLst/>
          </a:prstGeom>
          <a:solidFill>
            <a:srgbClr val="0F15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617720" y="4069080"/>
            <a:ext cx="6858000" cy="1828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Georgia"/>
              </a:rPr>
              <a:t>July proved the rebuilt structure. August locks it in: configuration hardening, one landing destination, bidding signal 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