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249DBC5-FEE5-4DA5-9DA3-8EE04EB06B53}">
  <a:tblStyle styleId="{3249DBC5-FEE5-4DA5-9DA3-8EE04EB06B5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3" name="Google Shape;2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4" name="Google Shape;30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53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457200" y="2103120"/>
            <a:ext cx="137100" cy="201180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822960" y="210312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MONTHLY PERFORMANCE REVIEW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822960" y="260604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GGMI (MX) - Paid Media</a:t>
            </a:r>
            <a:endParaRPr b="0" i="0" sz="4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822960" y="3611880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800"/>
              <a:buFont typeface="Georgia"/>
              <a:buNone/>
            </a:pPr>
            <a:r>
              <a:rPr b="0" i="1" lang="en-US" sz="2800" u="none" cap="none" strike="noStrik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April 2026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822960" y="4389120"/>
            <a:ext cx="1097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Bing Ads · Meta · Quantcast · Azerion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22734" y="5743648"/>
            <a:ext cx="12161400" cy="1097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0F15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0" name="Google Shape;90;p13" title="forex-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28624"/>
            <a:ext cx="2466525" cy="7047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731520" y="5988183"/>
            <a:ext cx="109728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Reporting period: April 1-30, 2026  |  Currency: USD  |  Prepared by Berelvant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731520" y="6308223"/>
            <a:ext cx="10972800" cy="2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Live channels: Meta, Bing, Quantcast, Azerion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" name="Google Shape;93;p13" title="berelvant-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07474" y="6148599"/>
            <a:ext cx="1600188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/>
          <p:nvPr/>
        </p:nvSpPr>
        <p:spPr>
          <a:xfrm>
            <a:off x="0" y="0"/>
            <a:ext cx="12191700" cy="6402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0" y="640080"/>
            <a:ext cx="12191695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365760" y="73152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Executive Summary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365760" y="804672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Azerion delivered a 72% CPA improvement. Meta funnel is broken. Bing drove 16 application starts.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2" name="Google Shape;102;p14"/>
          <p:cNvGraphicFramePr/>
          <p:nvPr/>
        </p:nvGraphicFramePr>
        <p:xfrm>
          <a:off x="365760" y="13258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{3249DBC5-FEE5-4DA5-9DA3-8EE04EB06B53}</a:tableStyleId>
              </a:tblPr>
              <a:tblGrid>
                <a:gridCol w="1280150"/>
                <a:gridCol w="1005850"/>
                <a:gridCol w="1280150"/>
                <a:gridCol w="1097275"/>
                <a:gridCol w="2103125"/>
                <a:gridCol w="1463050"/>
                <a:gridCol w="3200400"/>
              </a:tblGrid>
              <a:tr h="35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Channel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Spend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Impr.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Clicks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Conversions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CPA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Note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</a:tr>
              <a:tr h="35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Meta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$5,227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2,935,470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89,942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conv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$5,227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</a:rPr>
                        <a:t>Funnel broken — 42K LPVs, 1 conversion. Post-click failure.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</a:tr>
              <a:tr h="35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Bing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$15,289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286,359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33,393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16*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$956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</a:rPr>
                        <a:t>*App Form Step 1. March ref: 4 conv, $3,985 CPA.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</a:tr>
              <a:tr h="35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Quantcast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$15,005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7.02M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3,369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</a:rPr>
                        <a:t>0 conversions. Full month Apr 1–30. Pixel fixed.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</a:tr>
              <a:tr h="35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Azerion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$10,981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2,269,903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2,380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$578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</a:rPr>
                        <a:t>CPA −72% MoM ($2,061→$578). Account’s best month.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</a:tr>
              <a:tr h="358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Blended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2761"/>
                          </a:solidFill>
                        </a:rPr>
                        <a:t>$46,502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~12.5M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~129K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 bottom-funnel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est. $2,325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103" name="Google Shape;103;p14"/>
          <p:cNvSpPr txBox="1"/>
          <p:nvPr/>
        </p:nvSpPr>
        <p:spPr>
          <a:xfrm>
            <a:off x="365760" y="3520440"/>
            <a:ext cx="114300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4"/>
          <p:cNvSpPr/>
          <p:nvPr/>
        </p:nvSpPr>
        <p:spPr>
          <a:xfrm>
            <a:off x="365760" y="3931920"/>
            <a:ext cx="11430000" cy="242316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4"/>
          <p:cNvSpPr/>
          <p:nvPr/>
        </p:nvSpPr>
        <p:spPr>
          <a:xfrm>
            <a:off x="365760" y="3931920"/>
            <a:ext cx="109728" cy="242316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594360" y="4023360"/>
            <a:ext cx="110643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Highlights</a:t>
            </a:r>
            <a:endParaRPr b="1" i="0" sz="1200" u="none" cap="none" strike="noStrike">
              <a:solidFill>
                <a:srgbClr val="1E276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594360" y="4389120"/>
            <a:ext cx="109728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April 2026 delivered a significant conversion improvement in Azerion: 19 full applications at $578 CPA, down from $2,061 in March (−74%). This efficiency gain came with flat spend — a pure optimization improvement. The account's persistent gap is the Meta conversion funnel: 89,942 clicks and 42,606 LPVs produced only 1 conversion, pointing to a post-click failure that is not a media problem. Bing is strong on engagement (11.66% CTR, 33K clicks) and drove 16 application starts at a $956 CPA, concentrated in the efficient Brand_Discovery unit, with no funded confirmations yet.</a:t>
            </a:r>
            <a:endParaRPr b="1" i="0" sz="105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clearest optimization opportunity this month is Bing. Spend is concentrated, conversion volume is low, and a second optimization round is approved and waiting. That is the highest-impact action available right now</a:t>
            </a:r>
            <a:endParaRPr b="1" i="0" sz="105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GGMI (LATAM / Mexico)  |  April 2026 Performance Review  |  Berelvant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11247120" y="660196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2 / 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14" title="berelvant-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85838" y="68588"/>
            <a:ext cx="854075" cy="27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0" y="640080"/>
            <a:ext cx="12191695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365760" y="73152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Bing Ads: Performance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365760" y="868680"/>
            <a:ext cx="274320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4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5400000" dist="25400">
              <a:srgbClr val="000000">
                <a:alpha val="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365760" y="868680"/>
            <a:ext cx="73152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530352" y="941832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Spend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5"/>
          <p:cNvSpPr txBox="1"/>
          <p:nvPr/>
        </p:nvSpPr>
        <p:spPr>
          <a:xfrm>
            <a:off x="530352" y="1170432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$15,289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530352" y="1600200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Single campaign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3236976" y="868680"/>
            <a:ext cx="274320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4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5400000" dist="25400">
              <a:srgbClr val="000000">
                <a:alpha val="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3236976" y="868680"/>
            <a:ext cx="73152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3401568" y="941832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CTR / CPC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3401568" y="1170432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11.66% / $0.46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3401568" y="1600200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33,393 clicks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6108192" y="868680"/>
            <a:ext cx="274320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4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5400000" dist="25400">
              <a:srgbClr val="000000">
                <a:alpha val="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6108192" y="868680"/>
            <a:ext cx="73152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6272784" y="941832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Conversions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6272784" y="1170432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N/A*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6272784" y="1600200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*App Form Step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8979408" y="868680"/>
            <a:ext cx="2743200" cy="10058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4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5400000" dist="25400">
              <a:srgbClr val="000000">
                <a:alpha val="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8979408" y="868680"/>
            <a:ext cx="73152" cy="10058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9144000" y="941832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Ad Group split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9144000" y="1170432"/>
            <a:ext cx="2514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73.3%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9144000" y="1600200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Brand_Discovery_EXA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5"/>
          <p:cNvSpPr txBox="1"/>
          <p:nvPr/>
        </p:nvSpPr>
        <p:spPr>
          <a:xfrm>
            <a:off x="365760" y="20574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Ad Group Concentration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0" name="Google Shape;140;p15"/>
          <p:cNvGraphicFramePr/>
          <p:nvPr/>
        </p:nvGraphicFramePr>
        <p:xfrm>
          <a:off x="365760" y="24688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{3249DBC5-FEE5-4DA5-9DA3-8EE04EB06B53}</a:tableStyleId>
              </a:tblPr>
              <a:tblGrid>
                <a:gridCol w="1554475"/>
                <a:gridCol w="1280150"/>
                <a:gridCol w="1280150"/>
                <a:gridCol w="1463050"/>
              </a:tblGrid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 Group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Spend %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Clicks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CPC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Brand_Discovery_EXA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73.3%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24,512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$0.46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Brand_Platform_MT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13.8%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7,538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$0.28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TV (non-brand)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9.5%+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854–102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$1.71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1" name="Google Shape;141;p15"/>
          <p:cNvSpPr txBox="1"/>
          <p:nvPr/>
        </p:nvSpPr>
        <p:spPr>
          <a:xfrm>
            <a:off x="6263640" y="20574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Top 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2" name="Google Shape;142;p15"/>
          <p:cNvGraphicFramePr/>
          <p:nvPr/>
        </p:nvGraphicFramePr>
        <p:xfrm>
          <a:off x="6263640" y="24688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{3249DBC5-FEE5-4DA5-9DA3-8EE04EB06B53}</a:tableStyleId>
              </a:tblPr>
              <a:tblGrid>
                <a:gridCol w="1783075"/>
                <a:gridCol w="1097275"/>
                <a:gridCol w="960125"/>
                <a:gridCol w="777250"/>
                <a:gridCol w="96012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Note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Top IS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88.99%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Dominant top-page position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Abs Top IS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69.89%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Strong absolute top presence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Brand CPM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$64.69 avg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Bing LATAM market rate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Conversions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 Form Step 1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</a:tr>
            </a:tbl>
          </a:graphicData>
        </a:graphic>
      </p:graphicFrame>
      <p:sp>
        <p:nvSpPr>
          <p:cNvPr id="143" name="Google Shape;143;p15"/>
          <p:cNvSpPr/>
          <p:nvPr/>
        </p:nvSpPr>
        <p:spPr>
          <a:xfrm>
            <a:off x="365760" y="4572000"/>
            <a:ext cx="11475720" cy="192024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4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/>
          <p:nvPr/>
        </p:nvSpPr>
        <p:spPr>
          <a:xfrm>
            <a:off x="365760" y="4572000"/>
            <a:ext cx="73152" cy="192024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566928" y="4645152"/>
            <a:ext cx="111558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Highlights</a:t>
            </a:r>
            <a:endParaRPr b="1" i="0" sz="1200" u="none" cap="none" strike="noStrike">
              <a:solidFill>
                <a:srgbClr val="1E276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46" name="Google Shape;146;p15"/>
          <p:cNvSpPr txBox="1"/>
          <p:nvPr/>
        </p:nvSpPr>
        <p:spPr>
          <a:xfrm>
            <a:off x="566928" y="4983480"/>
            <a:ext cx="11109900" cy="7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Bing delivered $15,289 spend across 286K impressions and 33K clicks at 11.66% CTR — strong engagement rate, consistent with March (11.83% CTR). Brand_Discovery_EXA accounts for 73% of spend ($11,205) and all 24,512 brand clicks at $0.46 CPC — the account's most efficient unit. Top IS of 88.99% and Absolute Top IS of 69.89% are exceptionally strong — the account dominates top-of-page positioning. Bing drove 16 application starts (App Form Step 1) in April at a $956 CPA, captured via the account's offline conversion goals; no funded confirmations yet. March reference: 4 conversions at ~$3,985 CPA.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Bing delivered an 11.83% CTR and $0.54 CPC — both strong for the financial services category. Conversions were concentrated on desktop, with 3 of 4 recorded there at a $940 CPA. The current campaign structure has budget distributed broadly across keyword groups. The optimization round delivered on 03.04 and approved on 03.30 restructures that allocation toward higher-performing segments. Approval and implementation of round 2 is the primary lever for improving Bing efficiency in April.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GGMI (LATAM / Mexico)  |  April 2026 Performance Review  |  Berelvant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11247120" y="660196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3 / 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15" title="berelvant-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85838" y="68588"/>
            <a:ext cx="854075" cy="27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0" y="640080"/>
            <a:ext cx="12191695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365760" y="73152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Bing Ads: Read and Recommendations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365760" y="868680"/>
            <a:ext cx="5577840" cy="3886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4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365760" y="868680"/>
            <a:ext cx="73152" cy="388620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566928" y="941832"/>
            <a:ext cx="5257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WHAT THE DATA SHOWS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16"/>
          <p:cNvSpPr txBox="1"/>
          <p:nvPr/>
        </p:nvSpPr>
        <p:spPr>
          <a:xfrm>
            <a:off x="566928" y="1280160"/>
            <a:ext cx="5212200" cy="18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Brand_Discovery_EXA delivered strong efficiency in April: $0.46 CPC and 96.6% Top IS at 73% of budget. The account has exceptional positioning — 88.99% Top IS and 69.89% Absolute Top IS. April drove 16 application starts (App Form Step 1) at a $956 CPA, captured via offline conversion goals. The March 2026 reference shows 4 conversions at $3,985 CPA. May's focus is converting these starts into funded accounts.</a:t>
            </a:r>
            <a:endParaRPr b="1" i="0" sz="105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Outside brand, conversion volume was low. Desktop drove all recorded conversions. Mobile absorbed the majority of spend with no conversions recorded — a pattern that optimization round 2 is specifically designed to address.</a:t>
            </a:r>
            <a:endParaRPr b="1" i="0" sz="105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Bing auction in LATAM remains cost-efficient. The conditions to scale are in place once the restructure is implemented.</a:t>
            </a:r>
            <a:endParaRPr b="1" i="0" sz="105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6"/>
          <p:cNvSpPr/>
          <p:nvPr/>
        </p:nvSpPr>
        <p:spPr>
          <a:xfrm>
            <a:off x="6263640" y="868680"/>
            <a:ext cx="5577840" cy="3886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4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6"/>
          <p:cNvSpPr/>
          <p:nvPr/>
        </p:nvSpPr>
        <p:spPr>
          <a:xfrm>
            <a:off x="6263640" y="868680"/>
            <a:ext cx="73152" cy="388620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6"/>
          <p:cNvSpPr txBox="1"/>
          <p:nvPr/>
        </p:nvSpPr>
        <p:spPr>
          <a:xfrm>
            <a:off x="6464808" y="941832"/>
            <a:ext cx="5257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WHAT WE RECOMMEND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6"/>
          <p:cNvSpPr txBox="1"/>
          <p:nvPr/>
        </p:nvSpPr>
        <p:spPr>
          <a:xfrm>
            <a:off x="6464808" y="1280160"/>
            <a:ext cx="5212200" cy="15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Restructuring keyword concentration is the highest-priority action for GGMI Bing this month — Brand_Discovery_EXA carries 73% of budget and all conversions, creating a structural single-point-of-failure risk.</a:t>
            </a:r>
            <a:endParaRPr b="1" i="0" sz="105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second-round optimization build is approved on our end and pending client sign-off. Once cleared, budget reallocates toward the brand and high-intent segments that converted in March, while mobile allocation is adjusted based on performance data.</a:t>
            </a:r>
            <a:endParaRPr b="1" i="0" sz="105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This is the single highest-leverage action available in Bing this month.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1" i="0" sz="105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365760" y="4823453"/>
            <a:ext cx="109728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Next steps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7" name="Google Shape;167;p16"/>
          <p:cNvGraphicFramePr/>
          <p:nvPr/>
        </p:nvGraphicFramePr>
        <p:xfrm>
          <a:off x="380847" y="51654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{3249DBC5-FEE5-4DA5-9DA3-8EE04EB06B53}</a:tableStyleId>
              </a:tblPr>
              <a:tblGrid>
                <a:gridCol w="7223750"/>
                <a:gridCol w="2103125"/>
                <a:gridCol w="2103125"/>
              </a:tblGrid>
              <a:tr h="265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Owner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Due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</a:rPr>
                        <a:t>CRITICAL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Restructure keyword concentration beyond Brand_Discovery_EXA.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BRLVNT (technical)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</a:rPr>
                        <a:t>Split Brand_Discovery_EXA by keyword theme.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Reduce structural concentration risk.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</a:tr>
              <a:tr h="265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</a:rPr>
                        <a:t>HIGH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Evaluate TV (non-brand) performance.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TV_Catch_Phrase: 1.9% CTR on $1,456 spend — review relevance.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</a:tr>
            </a:tbl>
          </a:graphicData>
        </a:graphic>
      </p:graphicFrame>
      <p:sp>
        <p:nvSpPr>
          <p:cNvPr id="168" name="Google Shape;168;p16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6"/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GGMI (LATAM / Mexico)  |  April 2026 Performance Review  |  Berelvant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6"/>
          <p:cNvSpPr txBox="1"/>
          <p:nvPr/>
        </p:nvSpPr>
        <p:spPr>
          <a:xfrm>
            <a:off x="11247120" y="660196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4 / 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1" name="Google Shape;171;p16" title="berelvant-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85838" y="68588"/>
            <a:ext cx="854075" cy="27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7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7"/>
          <p:cNvSpPr/>
          <p:nvPr/>
        </p:nvSpPr>
        <p:spPr>
          <a:xfrm>
            <a:off x="0" y="640080"/>
            <a:ext cx="12191695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365760" y="73152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Meta: Performance (Funnel + Trend)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7"/>
          <p:cNvSpPr/>
          <p:nvPr/>
        </p:nvSpPr>
        <p:spPr>
          <a:xfrm>
            <a:off x="365760" y="868680"/>
            <a:ext cx="2761488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4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5400000" dist="25400">
              <a:srgbClr val="000000">
                <a:alpha val="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365760" y="868680"/>
            <a:ext cx="73152" cy="9601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7"/>
          <p:cNvSpPr txBox="1"/>
          <p:nvPr/>
        </p:nvSpPr>
        <p:spPr>
          <a:xfrm>
            <a:off x="530352" y="941832"/>
            <a:ext cx="25328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Spend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7"/>
          <p:cNvSpPr txBox="1"/>
          <p:nvPr/>
        </p:nvSpPr>
        <p:spPr>
          <a:xfrm>
            <a:off x="530352" y="1170432"/>
            <a:ext cx="25328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$5,227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7"/>
          <p:cNvSpPr txBox="1"/>
          <p:nvPr/>
        </p:nvSpPr>
        <p:spPr>
          <a:xfrm>
            <a:off x="530352" y="1554480"/>
            <a:ext cx="25328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3255264" y="868680"/>
            <a:ext cx="2761488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4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5400000" dist="25400">
              <a:srgbClr val="000000">
                <a:alpha val="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7"/>
          <p:cNvSpPr/>
          <p:nvPr/>
        </p:nvSpPr>
        <p:spPr>
          <a:xfrm>
            <a:off x="3255264" y="868680"/>
            <a:ext cx="73152" cy="9601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7"/>
          <p:cNvSpPr txBox="1"/>
          <p:nvPr/>
        </p:nvSpPr>
        <p:spPr>
          <a:xfrm>
            <a:off x="3419856" y="941832"/>
            <a:ext cx="25328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Link clicks / CPC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17"/>
          <p:cNvSpPr txBox="1"/>
          <p:nvPr/>
        </p:nvSpPr>
        <p:spPr>
          <a:xfrm>
            <a:off x="3419856" y="1170432"/>
            <a:ext cx="25328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89,942 / $0.06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7"/>
          <p:cNvSpPr txBox="1"/>
          <p:nvPr/>
        </p:nvSpPr>
        <p:spPr>
          <a:xfrm>
            <a:off x="3419856" y="1554480"/>
            <a:ext cx="25328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CPM $1.78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17"/>
          <p:cNvSpPr/>
          <p:nvPr/>
        </p:nvSpPr>
        <p:spPr>
          <a:xfrm>
            <a:off x="6144768" y="868680"/>
            <a:ext cx="2761488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4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5400000" dist="25400">
              <a:srgbClr val="000000">
                <a:alpha val="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7"/>
          <p:cNvSpPr/>
          <p:nvPr/>
        </p:nvSpPr>
        <p:spPr>
          <a:xfrm>
            <a:off x="6144768" y="868680"/>
            <a:ext cx="73152" cy="9601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7"/>
          <p:cNvSpPr txBox="1"/>
          <p:nvPr/>
        </p:nvSpPr>
        <p:spPr>
          <a:xfrm>
            <a:off x="6309360" y="941832"/>
            <a:ext cx="25328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Conv / Reach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7"/>
          <p:cNvSpPr txBox="1"/>
          <p:nvPr/>
        </p:nvSpPr>
        <p:spPr>
          <a:xfrm>
            <a:off x="6309360" y="1170432"/>
            <a:ext cx="25328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 / 1.36M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6309360" y="1554480"/>
            <a:ext cx="25328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$5,227 CPA / 2.16x freq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9034272" y="868680"/>
            <a:ext cx="2761488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4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5400000" dist="25400">
              <a:srgbClr val="000000">
                <a:alpha val="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7"/>
          <p:cNvSpPr/>
          <p:nvPr/>
        </p:nvSpPr>
        <p:spPr>
          <a:xfrm>
            <a:off x="9034272" y="868680"/>
            <a:ext cx="73152" cy="9601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 txBox="1"/>
          <p:nvPr/>
        </p:nvSpPr>
        <p:spPr>
          <a:xfrm>
            <a:off x="9198864" y="941832"/>
            <a:ext cx="25328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Two Campaigns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17"/>
          <p:cNvSpPr txBox="1"/>
          <p:nvPr/>
        </p:nvSpPr>
        <p:spPr>
          <a:xfrm>
            <a:off x="9198864" y="1170432"/>
            <a:ext cx="25328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0326 + 0426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7"/>
          <p:cNvSpPr txBox="1"/>
          <p:nvPr/>
        </p:nvSpPr>
        <p:spPr>
          <a:xfrm>
            <a:off x="9198864" y="1554480"/>
            <a:ext cx="25328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Apr 1–30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17"/>
          <p:cNvSpPr txBox="1"/>
          <p:nvPr/>
        </p:nvSpPr>
        <p:spPr>
          <a:xfrm>
            <a:off x="365760" y="19659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Funnel: 0326_GGMI_Q2_esp_mx_CTR (Mar campaign)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0" name="Google Shape;200;p17"/>
          <p:cNvGraphicFramePr/>
          <p:nvPr/>
        </p:nvGraphicFramePr>
        <p:xfrm>
          <a:off x="365760" y="23774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{3249DBC5-FEE5-4DA5-9DA3-8EE04EB06B53}</a:tableStyleId>
              </a:tblPr>
              <a:tblGrid>
                <a:gridCol w="1920250"/>
                <a:gridCol w="1645925"/>
                <a:gridCol w="2011675"/>
              </a:tblGrid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Step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Rate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Impressions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981,316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Link Clicks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27,417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2.79% CTR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LPV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20,146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73.5% LPV/Click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 (Custom)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0.005% Conv/LPV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CPA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$2,673.57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conv, $2,674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1" name="Google Shape;201;p17"/>
          <p:cNvSpPr txBox="1"/>
          <p:nvPr/>
        </p:nvSpPr>
        <p:spPr>
          <a:xfrm>
            <a:off x="6263640" y="19659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Funnel: 0426_GGMI_Q2_esp_mx_CTR (Apr campaign)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02" name="Google Shape;202;p17"/>
          <p:cNvGraphicFramePr/>
          <p:nvPr/>
        </p:nvGraphicFramePr>
        <p:xfrm>
          <a:off x="6263640" y="23774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{3249DBC5-FEE5-4DA5-9DA3-8EE04EB06B53}</a:tableStyleId>
              </a:tblPr>
              <a:tblGrid>
                <a:gridCol w="1920250"/>
                <a:gridCol w="1645925"/>
                <a:gridCol w="2011675"/>
              </a:tblGrid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Step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Rate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Impressions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1,954,154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Link Clicks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62,525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3.20% CTR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LPV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22,460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35.9% LPV/Click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 (Custom)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 conversions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</a:tr>
              <a:tr h="396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CPA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$2,554 spend, 0 conv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3" name="Google Shape;203;p17"/>
          <p:cNvSpPr/>
          <p:nvPr/>
        </p:nvSpPr>
        <p:spPr>
          <a:xfrm>
            <a:off x="365760" y="4937760"/>
            <a:ext cx="11475720" cy="1600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4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365760" y="4937760"/>
            <a:ext cx="73152" cy="160020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 txBox="1"/>
          <p:nvPr/>
        </p:nvSpPr>
        <p:spPr>
          <a:xfrm>
            <a:off x="566928" y="5010912"/>
            <a:ext cx="111558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Highlights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17"/>
          <p:cNvSpPr txBox="1"/>
          <p:nvPr/>
        </p:nvSpPr>
        <p:spPr>
          <a:xfrm>
            <a:off x="521025" y="5349250"/>
            <a:ext cx="111558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 total conversion across $5,227 combined spend — CPA $5,227. Near-zero conversion signal despite 89K clicks (3.06% CTR) and 42K LPVs (47.4% LPV rate). Users reach the page but do not convert. 0326_GGMI hit 5.05x frequency — audience exhausted. 0426_GGMI: fresh audience (1.67x freq), strong delivery at $1.31 CPM, but 0 conversions on $2,554 spend.</a:t>
            </a:r>
            <a:endParaRPr b="1" i="0" sz="100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The Leads campaign generated 912 Start Applications at $1.16 per start — a competitive cost for financial services. Reach of 304K at 2.61x frequency is within a healthy range. The CTR campaign launched March 16 and shows stronger post-click engagement, with LPV/Click improving from 19% to 47.5%. Conversion data from this campaign reflects a partial month and will be more conclusive in April.</a:t>
            </a:r>
            <a:endParaRPr b="1" i="0" sz="100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Across both campaigns, the submission step is where volume drops. That is the focus for April — isolating whether the gap is messaging, form friction, or landing page alignment. The pending landing pages currently in WebOps are directly relevant to this.</a:t>
            </a:r>
            <a:endParaRPr b="1" i="0" sz="100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7"/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GGMI (LATAM / Mexico)  |  April 2026 Performance Review  |  Berelvant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7"/>
          <p:cNvSpPr txBox="1"/>
          <p:nvPr/>
        </p:nvSpPr>
        <p:spPr>
          <a:xfrm>
            <a:off x="11247120" y="660196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5 / 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Google Shape;210;p17" title="berelvant-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85838" y="68588"/>
            <a:ext cx="854075" cy="27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0" y="640080"/>
            <a:ext cx="12191695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 txBox="1"/>
          <p:nvPr/>
        </p:nvSpPr>
        <p:spPr>
          <a:xfrm>
            <a:off x="365760" y="73152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Meta: Read and Recommendations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8"/>
          <p:cNvSpPr/>
          <p:nvPr/>
        </p:nvSpPr>
        <p:spPr>
          <a:xfrm>
            <a:off x="365760" y="868680"/>
            <a:ext cx="5577840" cy="3886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4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365760" y="868680"/>
            <a:ext cx="73152" cy="388620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8"/>
          <p:cNvSpPr txBox="1"/>
          <p:nvPr/>
        </p:nvSpPr>
        <p:spPr>
          <a:xfrm>
            <a:off x="566928" y="941832"/>
            <a:ext cx="5257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WHAT THE DATA SHOWS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8"/>
          <p:cNvSpPr txBox="1"/>
          <p:nvPr/>
        </p:nvSpPr>
        <p:spPr>
          <a:xfrm>
            <a:off x="566928" y="1280160"/>
            <a:ext cx="5212200" cy="191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89K clicks and 42K LPVs generated 1 conversion. Users reach the landing page in volume — the failure is post-click. LPV/Click rate is 47.4%, which is solid — the break is between landing page arrival and conversion. This is a landing page or form friction problem, not a media targeting or reach problem. The 0326_GGMI campaign also hit 5.05x frequency — this audience is fully saturated. The 0426_GGMI campaign has fresh audience headroom (1.67x freq) but also generated 0 conversions.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Leads campaign delivered 912 Start Applications at $1.16 per start across a reach of 304K at 2.61x frequency. Both metrics are competitive for financial services. The CTR campaign launched mid-month and shows stronger landing page engagement. Bottom-funnel data from that unit will be more meaningful with a full month of delivery.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submission step conversion rate is the primary optimization variable for April. Understanding drop-off there — whether it is messaging, form design, or flow friction — requires landing page deployment and conversion tracking to be fully operational.</a:t>
            </a:r>
            <a:endParaRPr b="1" i="0" sz="95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8"/>
          <p:cNvSpPr/>
          <p:nvPr/>
        </p:nvSpPr>
        <p:spPr>
          <a:xfrm>
            <a:off x="6263640" y="868680"/>
            <a:ext cx="5577840" cy="38862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4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8"/>
          <p:cNvSpPr/>
          <p:nvPr/>
        </p:nvSpPr>
        <p:spPr>
          <a:xfrm>
            <a:off x="6263640" y="868680"/>
            <a:ext cx="73152" cy="388620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8"/>
          <p:cNvSpPr txBox="1"/>
          <p:nvPr/>
        </p:nvSpPr>
        <p:spPr>
          <a:xfrm>
            <a:off x="6464808" y="941832"/>
            <a:ext cx="5257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WHAT WE RECOMMEND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8"/>
          <p:cNvSpPr txBox="1"/>
          <p:nvPr/>
        </p:nvSpPr>
        <p:spPr>
          <a:xfrm>
            <a:off x="6464808" y="1280160"/>
            <a:ext cx="5212200" cy="22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Investigate the post-click conversion funnel for Mexico as the primary May action. Audit landing page experience (form friction, CTA visibility, page speed for MX traffic). The media is performing — the funnel is the constraint. Pause 0326_GGMI permanently. Continue 0426_GGMI in May with a landing page fix as the prerequisite for any meaningful performance improvement.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Leads campaign cost per Start App is proven. Reactivating it in April restores conversion signal and gives the account a foundation to optimize from. The CTR campaign continues in parallel with April as its first full measurement month.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Full-funnel reporting — including submission-to-funded account rate — becomes available once revenue tracking is live and the landing pages are deployed. Both are in progress. Completing those two items is the prerequisite for any meaningful April-to-March comparison.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t/>
            </a:r>
            <a:endParaRPr b="1" i="0" sz="95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8"/>
          <p:cNvSpPr txBox="1"/>
          <p:nvPr/>
        </p:nvSpPr>
        <p:spPr>
          <a:xfrm>
            <a:off x="365760" y="4754865"/>
            <a:ext cx="10972800" cy="2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Next steps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7" name="Google Shape;227;p18"/>
          <p:cNvGraphicFramePr/>
          <p:nvPr/>
        </p:nvGraphicFramePr>
        <p:xfrm>
          <a:off x="380835" y="49834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{3249DBC5-FEE5-4DA5-9DA3-8EE04EB06B53}</a:tableStyleId>
              </a:tblPr>
              <a:tblGrid>
                <a:gridCol w="7223750"/>
                <a:gridCol w="2103125"/>
                <a:gridCol w="2103125"/>
              </a:tblGrid>
              <a:tr h="192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Owner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Due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</a:tr>
              <a:tr h="139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</a:rPr>
                        <a:t>CRITICAL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Audit Mexico landing page conversion flow.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</a:rPr>
                        <a:t>Test form friction, CTA, and page speed on /es-mx.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</a:rPr>
                        <a:t>CRITICAL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</a:rPr>
                        <a:t>Pause 0326_GGMI permanently (5.05x freq, 1 conv).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</a:rPr>
                        <a:t>Redirect all GGMI budget to 0426_GGMI.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9FAFC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</a:rPr>
                        <a:t>HIGH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</a:rPr>
                        <a:t>Validate Meta pixel firing for Mexico.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</a:rPr>
                        <a:t>Confirm conversion event triggers on correct action.</a:t>
                      </a:r>
                      <a:endParaRPr sz="1000" u="none" cap="none" strike="noStrike">
                        <a:solidFill>
                          <a:srgbClr val="0F1535"/>
                        </a:solidFill>
                      </a:endParaRPr>
                    </a:p>
                  </a:txBody>
                  <a:tcPr marT="27425" marB="27425" marR="54875" marL="5487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FFFFF"/>
                    </a:solidFill>
                  </a:tcPr>
                </a:tc>
              </a:tr>
              <a:tr h="134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</a:rPr>
                        <a:t>HIGH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</a:rPr>
                        <a:t>Implement revenue/lead value pixel for GGMI.</a:t>
                      </a:r>
                      <a:endParaRPr sz="1400" u="none" cap="none" strike="noStrike"/>
                    </a:p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t/>
                      </a:r>
                      <a:endParaRPr sz="1000" u="none" cap="none" strike="noStrike">
                        <a:solidFill>
                          <a:srgbClr val="0F1535"/>
                        </a:solidFill>
                      </a:endParaRPr>
                    </a:p>
                  </a:txBody>
                  <a:tcPr marT="27425" marB="27425" marR="54875" marL="5487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</a:rPr>
                        <a:t>Enable downstream CPA-vs-value analysis.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F9FAFC"/>
                    </a:solidFill>
                  </a:tcPr>
                </a:tc>
              </a:tr>
            </a:tbl>
          </a:graphicData>
        </a:graphic>
      </p:graphicFrame>
      <p:sp>
        <p:nvSpPr>
          <p:cNvPr id="228" name="Google Shape;228;p18"/>
          <p:cNvSpPr txBox="1"/>
          <p:nvPr/>
        </p:nvSpPr>
        <p:spPr>
          <a:xfrm>
            <a:off x="11247120" y="660196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6 / 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9" name="Google Shape;229;p18" title="berelvant-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85838" y="68588"/>
            <a:ext cx="854075" cy="27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9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0" y="640080"/>
            <a:ext cx="12191695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9"/>
          <p:cNvSpPr txBox="1"/>
          <p:nvPr/>
        </p:nvSpPr>
        <p:spPr>
          <a:xfrm>
            <a:off x="365760" y="73152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Quantcast: Performance + Diagnostics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9"/>
          <p:cNvSpPr/>
          <p:nvPr/>
        </p:nvSpPr>
        <p:spPr>
          <a:xfrm>
            <a:off x="365760" y="868680"/>
            <a:ext cx="2761488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4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5400000" dist="25400">
              <a:srgbClr val="000000">
                <a:alpha val="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9"/>
          <p:cNvSpPr/>
          <p:nvPr/>
        </p:nvSpPr>
        <p:spPr>
          <a:xfrm>
            <a:off x="365760" y="868680"/>
            <a:ext cx="73152" cy="9601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9"/>
          <p:cNvSpPr txBox="1"/>
          <p:nvPr/>
        </p:nvSpPr>
        <p:spPr>
          <a:xfrm>
            <a:off x="530352" y="941832"/>
            <a:ext cx="25328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Spend / CPM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9"/>
          <p:cNvSpPr txBox="1"/>
          <p:nvPr/>
        </p:nvSpPr>
        <p:spPr>
          <a:xfrm>
            <a:off x="530352" y="1170432"/>
            <a:ext cx="25329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$15,005 / $2.14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9"/>
          <p:cNvSpPr txBox="1"/>
          <p:nvPr/>
        </p:nvSpPr>
        <p:spPr>
          <a:xfrm>
            <a:off x="530352" y="1554480"/>
            <a:ext cx="25328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7.0M impressions (Apr 1–30)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9"/>
          <p:cNvSpPr/>
          <p:nvPr/>
        </p:nvSpPr>
        <p:spPr>
          <a:xfrm>
            <a:off x="3255264" y="868680"/>
            <a:ext cx="2761488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4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5400000" dist="25400">
              <a:srgbClr val="000000">
                <a:alpha val="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9"/>
          <p:cNvSpPr/>
          <p:nvPr/>
        </p:nvSpPr>
        <p:spPr>
          <a:xfrm>
            <a:off x="3255264" y="868680"/>
            <a:ext cx="73152" cy="9601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9"/>
          <p:cNvSpPr txBox="1"/>
          <p:nvPr/>
        </p:nvSpPr>
        <p:spPr>
          <a:xfrm>
            <a:off x="3419856" y="941832"/>
            <a:ext cx="25328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CTR / CPC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9"/>
          <p:cNvSpPr txBox="1"/>
          <p:nvPr/>
        </p:nvSpPr>
        <p:spPr>
          <a:xfrm>
            <a:off x="3419856" y="1170432"/>
            <a:ext cx="25328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0.05% / $4.46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9"/>
          <p:cNvSpPr txBox="1"/>
          <p:nvPr/>
        </p:nvSpPr>
        <p:spPr>
          <a:xfrm>
            <a:off x="3419856" y="1554480"/>
            <a:ext cx="25328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3,369 clicks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9"/>
          <p:cNvSpPr/>
          <p:nvPr/>
        </p:nvSpPr>
        <p:spPr>
          <a:xfrm>
            <a:off x="6144768" y="868680"/>
            <a:ext cx="2761488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4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5400000" dist="25400">
              <a:srgbClr val="000000">
                <a:alpha val="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9"/>
          <p:cNvSpPr/>
          <p:nvPr/>
        </p:nvSpPr>
        <p:spPr>
          <a:xfrm>
            <a:off x="6144768" y="868680"/>
            <a:ext cx="73152" cy="9601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9"/>
          <p:cNvSpPr txBox="1"/>
          <p:nvPr/>
        </p:nvSpPr>
        <p:spPr>
          <a:xfrm>
            <a:off x="6309360" y="941832"/>
            <a:ext cx="25328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Conversions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9"/>
          <p:cNvSpPr txBox="1"/>
          <p:nvPr/>
        </p:nvSpPr>
        <p:spPr>
          <a:xfrm>
            <a:off x="6309360" y="1170432"/>
            <a:ext cx="25328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0 (no conv.)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9"/>
          <p:cNvSpPr txBox="1"/>
          <p:nvPr/>
        </p:nvSpPr>
        <p:spPr>
          <a:xfrm>
            <a:off x="6309360" y="1554480"/>
            <a:ext cx="25328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CPA —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9"/>
          <p:cNvSpPr/>
          <p:nvPr/>
        </p:nvSpPr>
        <p:spPr>
          <a:xfrm>
            <a:off x="9034272" y="868680"/>
            <a:ext cx="2761488" cy="9601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4DC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dir="5400000" dist="25400">
              <a:srgbClr val="000000">
                <a:alpha val="784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9034272" y="868680"/>
            <a:ext cx="73152" cy="9601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9"/>
          <p:cNvSpPr txBox="1"/>
          <p:nvPr/>
        </p:nvSpPr>
        <p:spPr>
          <a:xfrm>
            <a:off x="9198864" y="941832"/>
            <a:ext cx="25328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Viewability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9"/>
          <p:cNvSpPr txBox="1"/>
          <p:nvPr/>
        </p:nvSpPr>
        <p:spPr>
          <a:xfrm>
            <a:off x="9198864" y="1170432"/>
            <a:ext cx="2532888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66.2%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19"/>
          <p:cNvSpPr txBox="1"/>
          <p:nvPr/>
        </p:nvSpPr>
        <p:spPr>
          <a:xfrm>
            <a:off x="9198864" y="1554480"/>
            <a:ext cx="253288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Below 70% IAB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19"/>
          <p:cNvSpPr txBox="1"/>
          <p:nvPr/>
        </p:nvSpPr>
        <p:spPr>
          <a:xfrm>
            <a:off x="365760" y="19659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Campaign split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8" name="Google Shape;258;p19"/>
          <p:cNvGraphicFramePr/>
          <p:nvPr/>
        </p:nvGraphicFramePr>
        <p:xfrm>
          <a:off x="365760" y="23774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{3249DBC5-FEE5-4DA5-9DA3-8EE04EB06B53}</a:tableStyleId>
              </a:tblPr>
              <a:tblGrid>
                <a:gridCol w="1691650"/>
                <a:gridCol w="914400"/>
                <a:gridCol w="822950"/>
                <a:gridCol w="777250"/>
                <a:gridCol w="640075"/>
                <a:gridCol w="731525"/>
              </a:tblGrid>
              <a:tr h="44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Campaign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Spend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CTR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VW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</a:tr>
              <a:tr h="44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Conversion (Apr 16–30)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$7,232</a:t>
                      </a:r>
                      <a:endParaRPr sz="1000" u="none" cap="none" strike="noStrike">
                        <a:solidFill>
                          <a:srgbClr val="0F1535"/>
                        </a:solidFill>
                      </a:endParaRPr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5.85M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0.03%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67.5%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</a:tr>
              <a:tr h="44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Clicks (Apr 1–15)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$7,773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1.17M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0.13%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59.6%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</a:tr>
              <a:tr h="44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$15,005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7.02M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0.05%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1E276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66.2%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259" name="Google Shape;259;p19"/>
          <p:cNvSpPr txBox="1"/>
          <p:nvPr/>
        </p:nvSpPr>
        <p:spPr>
          <a:xfrm>
            <a:off x="6263640" y="19659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0" spcFirstLastPara="1" rIns="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Device breakdown (Conv. campaign only)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0" name="Google Shape;260;p19"/>
          <p:cNvGraphicFramePr/>
          <p:nvPr/>
        </p:nvGraphicFramePr>
        <p:xfrm>
          <a:off x="6263640" y="23774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{3249DBC5-FEE5-4DA5-9DA3-8EE04EB06B53}</a:tableStyleId>
              </a:tblPr>
              <a:tblGrid>
                <a:gridCol w="1554475"/>
                <a:gridCol w="1097275"/>
                <a:gridCol w="1005850"/>
                <a:gridCol w="914400"/>
                <a:gridCol w="1005850"/>
              </a:tblGrid>
              <a:tr h="44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Device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Spend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Clicks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VW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</a:tr>
              <a:tr h="44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Desktop (~62% impr)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$4,552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719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68.9%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</a:tr>
              <a:tr h="44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Smartphone (~38% impr)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$2,618</a:t>
                      </a:r>
                      <a:endParaRPr sz="10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</a:rPr>
                        <a:t>1,089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65.5%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</a:tr>
              <a:tr h="44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(Conv.)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</a:rPr>
                        <a:t>$7,232</a:t>
                      </a:r>
                      <a:endParaRPr sz="1000" u="none" cap="none" strike="noStrike">
                        <a:solidFill>
                          <a:srgbClr val="0F1535"/>
                        </a:solidFill>
                      </a:endParaRPr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</a:rPr>
                        <a:t>1,823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67.5%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1" name="Google Shape;261;p19"/>
          <p:cNvSpPr/>
          <p:nvPr/>
        </p:nvSpPr>
        <p:spPr>
          <a:xfrm>
            <a:off x="365750" y="4343400"/>
            <a:ext cx="11475600" cy="1836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4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9"/>
          <p:cNvSpPr/>
          <p:nvPr/>
        </p:nvSpPr>
        <p:spPr>
          <a:xfrm>
            <a:off x="314575" y="4343400"/>
            <a:ext cx="124500" cy="18363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9"/>
          <p:cNvSpPr txBox="1"/>
          <p:nvPr/>
        </p:nvSpPr>
        <p:spPr>
          <a:xfrm>
            <a:off x="566928" y="4416552"/>
            <a:ext cx="11155800" cy="2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Highlights</a:t>
            </a:r>
            <a:endParaRPr b="1" i="0" sz="1200" u="none" cap="none" strike="noStrike">
              <a:solidFill>
                <a:srgbClr val="1E276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64" name="Google Shape;264;p19"/>
          <p:cNvSpPr txBox="1"/>
          <p:nvPr/>
        </p:nvSpPr>
        <p:spPr>
          <a:xfrm>
            <a:off x="566928" y="4754880"/>
            <a:ext cx="11109900" cy="14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Quantcast delivered 7.0M impressions at $2.14 CPM across 3.1M unique devices at 2.27 frequency in April. Total spend: $15,005.</a:t>
            </a:r>
            <a:endParaRPr b="0" i="0" sz="105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Clicks campaign (Apr 1–15): 1,546 clicks at 0.13% CTR and 59.6% viewability before transitioning to conversion objective.</a:t>
            </a:r>
            <a:endParaRPr b="0" i="0" sz="105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Conversion campaign (Apr 16–30): 5.85M impressions at $1.24 CPM with 67.5% viewability. Pixel tracking confirmed fixed.</a:t>
            </a:r>
            <a:endParaRPr b="0" i="0" sz="105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0 conversions recorded. Smartphone drives 60% of Conversion clicks on 37.6% of impressions — superior click efficiency vs. desktop.</a:t>
            </a:r>
            <a:endParaRPr b="0" i="0" sz="105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Tablet: &lt;1% of spend ($61). Excluded from device table.</a:t>
            </a:r>
            <a:endParaRPr b="0" i="0" sz="105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9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9"/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GGMI (LATAM / Mexico)  |  April 2026 Performance Review  |  Berelvant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9"/>
          <p:cNvSpPr txBox="1"/>
          <p:nvPr/>
        </p:nvSpPr>
        <p:spPr>
          <a:xfrm>
            <a:off x="11247120" y="660196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7 / 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8" name="Google Shape;268;p19" title="berelvant-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85838" y="68588"/>
            <a:ext cx="854075" cy="27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0"/>
          <p:cNvSpPr/>
          <p:nvPr/>
        </p:nvSpPr>
        <p:spPr>
          <a:xfrm>
            <a:off x="0" y="640080"/>
            <a:ext cx="12191695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0"/>
          <p:cNvSpPr txBox="1"/>
          <p:nvPr/>
        </p:nvSpPr>
        <p:spPr>
          <a:xfrm>
            <a:off x="365760" y="73152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Quantcast + Azerion: Recs and Next Steps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0"/>
          <p:cNvSpPr/>
          <p:nvPr/>
        </p:nvSpPr>
        <p:spPr>
          <a:xfrm>
            <a:off x="365760" y="868680"/>
            <a:ext cx="5577840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0"/>
          <p:cNvSpPr txBox="1"/>
          <p:nvPr/>
        </p:nvSpPr>
        <p:spPr>
          <a:xfrm>
            <a:off x="502920" y="896112"/>
            <a:ext cx="5486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QUANTCAST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0"/>
          <p:cNvSpPr/>
          <p:nvPr/>
        </p:nvSpPr>
        <p:spPr>
          <a:xfrm>
            <a:off x="6263640" y="868680"/>
            <a:ext cx="5577840" cy="3657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0"/>
          <p:cNvSpPr txBox="1"/>
          <p:nvPr/>
        </p:nvSpPr>
        <p:spPr>
          <a:xfrm>
            <a:off x="6400800" y="896112"/>
            <a:ext cx="2743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AZERION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0"/>
          <p:cNvSpPr txBox="1"/>
          <p:nvPr/>
        </p:nvSpPr>
        <p:spPr>
          <a:xfrm>
            <a:off x="7589520" y="896112"/>
            <a:ext cx="41605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Spend $10,981  |  Conv 19  |  CPA $578  |  VW 72.41%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0"/>
          <p:cNvSpPr/>
          <p:nvPr/>
        </p:nvSpPr>
        <p:spPr>
          <a:xfrm>
            <a:off x="365760" y="1325880"/>
            <a:ext cx="5577840" cy="2194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4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0"/>
          <p:cNvSpPr/>
          <p:nvPr/>
        </p:nvSpPr>
        <p:spPr>
          <a:xfrm>
            <a:off x="365760" y="1325880"/>
            <a:ext cx="73152" cy="219456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0"/>
          <p:cNvSpPr txBox="1"/>
          <p:nvPr/>
        </p:nvSpPr>
        <p:spPr>
          <a:xfrm>
            <a:off x="566928" y="1399032"/>
            <a:ext cx="5257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CURRENT STATE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0"/>
          <p:cNvSpPr txBox="1"/>
          <p:nvPr/>
        </p:nvSpPr>
        <p:spPr>
          <a:xfrm>
            <a:off x="566928" y="1737360"/>
            <a:ext cx="5212200" cy="11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Quantcast delivered 7.0M impressions at $2.14 CPM across 3.1M unique devices at 2.27 frequency. Spend: $15,005.</a:t>
            </a:r>
            <a:endParaRPr b="0" i="0" sz="1050" u="none" cap="none" strike="noStrike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Clicks campaign (Apr 1–15) ran at 0.13% CTR and $6.65 CPM. Conversion campaign (Apr 16–30) delivered 5.85M impressions at $1.24 CPM and 67.5% viewability.</a:t>
            </a:r>
            <a:endParaRPr b="0" i="0" sz="1050" u="none" cap="none" strike="noStrike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0 conversions recorded — pixel tracking was fixed in April. MX audience pool validated at efficient cost and reach; 3.1M unique devices built.</a:t>
            </a:r>
            <a:endParaRPr b="0" i="0" sz="1050" u="none" cap="none" strike="noStrike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0"/>
          <p:cNvSpPr/>
          <p:nvPr/>
        </p:nvSpPr>
        <p:spPr>
          <a:xfrm>
            <a:off x="365760" y="3566160"/>
            <a:ext cx="5577840" cy="1965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4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0"/>
          <p:cNvSpPr/>
          <p:nvPr/>
        </p:nvSpPr>
        <p:spPr>
          <a:xfrm>
            <a:off x="365760" y="3566160"/>
            <a:ext cx="73152" cy="196596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0"/>
          <p:cNvSpPr txBox="1"/>
          <p:nvPr/>
        </p:nvSpPr>
        <p:spPr>
          <a:xfrm>
            <a:off x="566928" y="3639312"/>
            <a:ext cx="5257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WHAT WE RECOMMEND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0"/>
          <p:cNvSpPr txBox="1"/>
          <p:nvPr/>
        </p:nvSpPr>
        <p:spPr>
          <a:xfrm>
            <a:off x="566928" y="3977640"/>
            <a:ext cx="5212200" cy="9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Pixel was fixed in April. Monitor conversion tracking closely for May — first full month on conversion objective.</a:t>
            </a:r>
            <a:endParaRPr b="1" i="0" sz="105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Activate retargeting against the 3.1M device pool built in April. MX audience is the most efficient place to drive bottom-funnel action from display.</a:t>
            </a:r>
            <a:endParaRPr b="1" i="0" sz="105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Set viewability floor ≥60% on future Clicks placements (Apr Clicks ran at 59.6%).</a:t>
            </a:r>
            <a:endParaRPr b="1" i="0" sz="105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Budget scaling should begin once first-month conversion data is available from May.</a:t>
            </a:r>
            <a:endParaRPr b="1" i="0" sz="105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0"/>
          <p:cNvSpPr/>
          <p:nvPr/>
        </p:nvSpPr>
        <p:spPr>
          <a:xfrm>
            <a:off x="6263640" y="1325880"/>
            <a:ext cx="5577840" cy="21945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4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0"/>
          <p:cNvSpPr/>
          <p:nvPr/>
        </p:nvSpPr>
        <p:spPr>
          <a:xfrm>
            <a:off x="6263640" y="1325880"/>
            <a:ext cx="73152" cy="2194560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0"/>
          <p:cNvSpPr txBox="1"/>
          <p:nvPr/>
        </p:nvSpPr>
        <p:spPr>
          <a:xfrm>
            <a:off x="6464808" y="1399032"/>
            <a:ext cx="5257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CURRENT STATE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0"/>
          <p:cNvSpPr txBox="1"/>
          <p:nvPr/>
        </p:nvSpPr>
        <p:spPr>
          <a:xfrm>
            <a:off x="6464808" y="1737360"/>
            <a:ext cx="5212200" cy="16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Azerion delivered a conversion breakthrough in April: 19 full application conversions at $578 CPA, down from $2,061 in March. Spend flat at $10,981. Same 5 ad sets ran. Conversion_Instruments ($365 CPA) and Experience ($622 CPA) drove 58% of conversions on 52% of spend. Viewability held at 72.41% — above IAB standard.</a:t>
            </a:r>
            <a:endParaRPr b="1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1" i="0" sz="105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0"/>
          <p:cNvSpPr/>
          <p:nvPr/>
        </p:nvSpPr>
        <p:spPr>
          <a:xfrm>
            <a:off x="6263640" y="3566160"/>
            <a:ext cx="5577840" cy="196596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4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0"/>
          <p:cNvSpPr/>
          <p:nvPr/>
        </p:nvSpPr>
        <p:spPr>
          <a:xfrm>
            <a:off x="6263640" y="3566160"/>
            <a:ext cx="73152" cy="1965960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0"/>
          <p:cNvSpPr txBox="1"/>
          <p:nvPr/>
        </p:nvSpPr>
        <p:spPr>
          <a:xfrm>
            <a:off x="6464808" y="3639312"/>
            <a:ext cx="5257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WHAT WE RECOMMEND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0"/>
          <p:cNvSpPr txBox="1"/>
          <p:nvPr/>
        </p:nvSpPr>
        <p:spPr>
          <a:xfrm>
            <a:off x="6464808" y="3977640"/>
            <a:ext cx="5212200" cy="9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Scale Conversion_Instruments ($365 CPA, 5 results) — the account's best-performing ad set by CPA. Review TradeForex ($962 CPA, 2 results) — 2× account average with minimal volume. Confirm click-through pixel: all 19 results are view-through. Validate before scaling further.</a:t>
            </a:r>
            <a:endParaRPr b="1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05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Investing, personal finance, and macro news audiences are the top-performing segments. Recommendation is to concentrate April budget there while holding the 74% viewability floor as a placement filter. Full attribution methodology will be confirmed by April 20.</a:t>
            </a:r>
            <a:endParaRPr b="1" i="0" sz="850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7" name="Google Shape;297;p20"/>
          <p:cNvGraphicFramePr/>
          <p:nvPr/>
        </p:nvGraphicFramePr>
        <p:xfrm>
          <a:off x="365760" y="56235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{3249DBC5-FEE5-4DA5-9DA3-8EE04EB06B53}</a:tableStyleId>
              </a:tblPr>
              <a:tblGrid>
                <a:gridCol w="5943600"/>
                <a:gridCol w="3200400"/>
                <a:gridCol w="2331725"/>
              </a:tblGrid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Owner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Due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1E2761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</a:rPr>
                        <a:t>Monitor Quantcast conversion pixel — track May results (pixel fixed Apr)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BRLVNT + Central Team – Jun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04.22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</a:rPr>
                        <a:t>Scale Azerion Conversion_Instruments ad set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BRLVNT · Jun 1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04.22</a:t>
                      </a:r>
                      <a:endParaRPr sz="1400" u="none" cap="none" strike="noStrike"/>
                    </a:p>
                  </a:txBody>
                  <a:tcPr marT="27425" marB="27425" marR="54875" marL="54875" anchor="ctr">
                    <a:solidFill>
                      <a:srgbClr val="F9FAFC"/>
                    </a:solidFill>
                  </a:tcPr>
                </a:tc>
              </a:tr>
            </a:tbl>
          </a:graphicData>
        </a:graphic>
      </p:graphicFrame>
      <p:sp>
        <p:nvSpPr>
          <p:cNvPr id="298" name="Google Shape;298;p20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0"/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GGMI (LATAM / Mexico)  |  April 2026 Performance Review  |  Berelvant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0"/>
          <p:cNvSpPr txBox="1"/>
          <p:nvPr/>
        </p:nvSpPr>
        <p:spPr>
          <a:xfrm>
            <a:off x="11247120" y="660196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8 / 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p20" title="berelvant-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85838" y="68588"/>
            <a:ext cx="854075" cy="27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0" y="640080"/>
            <a:ext cx="12191695" cy="36576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1"/>
          <p:cNvSpPr txBox="1"/>
          <p:nvPr/>
        </p:nvSpPr>
        <p:spPr>
          <a:xfrm>
            <a:off x="365760" y="73152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Cross-Channel Recommendations + Blockers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365760" y="804672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Media is not the constraint. The Mexico landing page funnel is the key blocker. Quantcast pixel was fixed in April.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21"/>
          <p:cNvSpPr/>
          <p:nvPr/>
        </p:nvSpPr>
        <p:spPr>
          <a:xfrm>
            <a:off x="365760" y="1280160"/>
            <a:ext cx="3718560" cy="196596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1"/>
          <p:cNvSpPr/>
          <p:nvPr/>
        </p:nvSpPr>
        <p:spPr>
          <a:xfrm>
            <a:off x="365760" y="1280160"/>
            <a:ext cx="3718560" cy="347472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1"/>
          <p:cNvSpPr txBox="1"/>
          <p:nvPr/>
        </p:nvSpPr>
        <p:spPr>
          <a:xfrm>
            <a:off x="530352" y="1298448"/>
            <a:ext cx="3398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CRITICAL (this week)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1"/>
          <p:cNvSpPr txBox="1"/>
          <p:nvPr/>
        </p:nvSpPr>
        <p:spPr>
          <a:xfrm>
            <a:off x="475488" y="1691640"/>
            <a:ext cx="34992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F1535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Audit Mexico landing page conversion flow — 89K Meta clicks, 42K LPVs, 1 conversion.</a:t>
            </a:r>
            <a:endParaRPr b="0" i="0" sz="1000" u="none" cap="none" strike="noStrike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F1535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Monitor Quantcast conversion tracking in May — pixel fixed, 0 conversions in April despite 7.0M impressions.</a:t>
            </a:r>
            <a:endParaRPr b="0" i="0" sz="1000" u="none" cap="none" strike="noStrike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F1535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Validate Azerion click-through pixel — all 19 results are view-through only.</a:t>
            </a:r>
            <a:endParaRPr b="0" i="0" sz="1000" u="none" cap="none" strike="noStrike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1"/>
          <p:cNvSpPr/>
          <p:nvPr/>
        </p:nvSpPr>
        <p:spPr>
          <a:xfrm>
            <a:off x="4221480" y="1280160"/>
            <a:ext cx="3718560" cy="196596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1"/>
          <p:cNvSpPr/>
          <p:nvPr/>
        </p:nvSpPr>
        <p:spPr>
          <a:xfrm>
            <a:off x="4221480" y="1280160"/>
            <a:ext cx="3718560" cy="347472"/>
          </a:xfrm>
          <a:prstGeom prst="rect">
            <a:avLst/>
          </a:prstGeom>
          <a:solidFill>
            <a:srgbClr val="E9B44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1"/>
          <p:cNvSpPr txBox="1"/>
          <p:nvPr/>
        </p:nvSpPr>
        <p:spPr>
          <a:xfrm>
            <a:off x="4386072" y="1298448"/>
            <a:ext cx="3398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HIGH (by 04.30)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21"/>
          <p:cNvSpPr txBox="1"/>
          <p:nvPr/>
        </p:nvSpPr>
        <p:spPr>
          <a:xfrm>
            <a:off x="4331208" y="1691640"/>
            <a:ext cx="3499200" cy="7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F1535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Pause 0326_GGMI Meta campaign permanently — 5.05x frequency, 1 conversion, audience exhausted.</a:t>
            </a:r>
            <a:endParaRPr b="0" i="0" sz="1000" u="none" cap="none" strike="noStrike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F1535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Scale Azerion Conversion_Instruments ($365 CPA) and Experience ($622 CPA) in May.</a:t>
            </a:r>
            <a:endParaRPr b="0" i="0" sz="1000" u="none" cap="none" strike="noStrike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F1535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Deploy Mexico landing page improvements (form friction, CTA, page speed).</a:t>
            </a:r>
            <a:endParaRPr b="0" i="0" sz="1000" u="none" cap="none" strike="noStrike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1"/>
          <p:cNvSpPr/>
          <p:nvPr/>
        </p:nvSpPr>
        <p:spPr>
          <a:xfrm>
            <a:off x="8077200" y="1280160"/>
            <a:ext cx="3718560" cy="196596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1"/>
          <p:cNvSpPr/>
          <p:nvPr/>
        </p:nvSpPr>
        <p:spPr>
          <a:xfrm>
            <a:off x="8077200" y="1280160"/>
            <a:ext cx="3718560" cy="347472"/>
          </a:xfrm>
          <a:prstGeom prst="rect">
            <a:avLst/>
          </a:prstGeom>
          <a:solidFill>
            <a:srgbClr val="2E7D5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1"/>
          <p:cNvSpPr txBox="1"/>
          <p:nvPr/>
        </p:nvSpPr>
        <p:spPr>
          <a:xfrm>
            <a:off x="8241792" y="1298448"/>
            <a:ext cx="3398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OPPORTUNITY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21"/>
          <p:cNvSpPr txBox="1"/>
          <p:nvPr/>
        </p:nvSpPr>
        <p:spPr>
          <a:xfrm>
            <a:off x="8186928" y="1691640"/>
            <a:ext cx="3499200" cy="7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F1535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Quantcast retargeting: 3.1M unique devices reached in April — activate retargeting campaign for May.</a:t>
            </a:r>
            <a:endParaRPr b="0" i="0" sz="1000" u="none" cap="none" strike="noStrike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F1535"/>
              </a:buClr>
              <a:buSzPts val="1000"/>
              <a:buFont typeface="Arial"/>
              <a:buChar char="•"/>
            </a:pPr>
            <a:r>
              <a:rPr b="0" i="0" lang="en-US" sz="10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Azerion DSP expansion: add a second DSP to extend reach against MX investing audiences.</a:t>
            </a:r>
            <a:endParaRPr b="0" i="0" sz="1000" u="none" cap="none" strike="noStrike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1"/>
          <p:cNvSpPr/>
          <p:nvPr/>
        </p:nvSpPr>
        <p:spPr>
          <a:xfrm>
            <a:off x="365760" y="3383280"/>
            <a:ext cx="11475720" cy="23317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1"/>
          <p:cNvSpPr/>
          <p:nvPr/>
        </p:nvSpPr>
        <p:spPr>
          <a:xfrm>
            <a:off x="365760" y="3383280"/>
            <a:ext cx="109728" cy="233172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1"/>
          <p:cNvSpPr txBox="1"/>
          <p:nvPr/>
        </p:nvSpPr>
        <p:spPr>
          <a:xfrm>
            <a:off x="640080" y="3493008"/>
            <a:ext cx="11018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TRACKING AND INFRASTRUCTURE GAPS LIMITING APRIL UPSIDE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1"/>
          <p:cNvSpPr txBox="1"/>
          <p:nvPr/>
        </p:nvSpPr>
        <p:spPr>
          <a:xfrm>
            <a:off x="640080" y="3840480"/>
            <a:ext cx="10927200" cy="8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Two items control May performance more than any media lever: the Mexico landing page and the Bing conversion funnel. Azerion has proven it can convert — $578 CPA with flat spend is a strong efficiency signal. Scale Azerion while fixing the infrastructure gaps. Once the Meta funnel improves and Bing scales, the GGMI account will have a complete multi-channel conversion picture for the first time.</a:t>
            </a:r>
            <a:endParaRPr b="0" i="0" sz="10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Landing pages in WebOps unlock proper funnel measurement and give paid traffic a destination built for conversion. Revenue tracking enables full-funnel reporting across all channels. The Bing and TradingView approvals release optimized campaigns that are already built and ready.</a:t>
            </a:r>
            <a:endParaRPr b="0" i="0" sz="10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efficiency improvement comes from completing the infrastructure that is already in progress.</a:t>
            </a:r>
            <a:endParaRPr b="0" i="0" sz="10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1"/>
          <p:cNvSpPr/>
          <p:nvPr/>
        </p:nvSpPr>
        <p:spPr>
          <a:xfrm>
            <a:off x="365760" y="5852160"/>
            <a:ext cx="11475720" cy="502920"/>
          </a:xfrm>
          <a:prstGeom prst="rect">
            <a:avLst/>
          </a:prstGeom>
          <a:solidFill>
            <a:srgbClr val="0F153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1"/>
          <p:cNvSpPr txBox="1"/>
          <p:nvPr/>
        </p:nvSpPr>
        <p:spPr>
          <a:xfrm>
            <a:off x="502920" y="5852160"/>
            <a:ext cx="11247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Fix infrastructure. Scale Azerion. The Mexico funnel fix is the highest-leverage action in May.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21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>
            <a:off x="365760" y="660196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GGMI (LATAM / Mexico)  |  April 2026 Performance Review  |  Berelvant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1"/>
          <p:cNvSpPr txBox="1"/>
          <p:nvPr/>
        </p:nvSpPr>
        <p:spPr>
          <a:xfrm>
            <a:off x="11247120" y="6601968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45700" spcFirstLastPara="1" rIns="45700" wrap="square" tIns="182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9 / 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1" name="Google Shape;331;p21" title="berelvant-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85838" y="68588"/>
            <a:ext cx="854075" cy="27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