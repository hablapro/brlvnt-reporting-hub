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6DB2E7-D5CD-46CD-8FBD-676A5DF2763B}">
  <a:tblStyle styleId="{626DB2E7-D5CD-46CD-8FBD-676A5DF2763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535"/>
        </a:solidFill>
      </p:bgPr>
    </p:bg>
    <p:spTree>
      <p:nvGrpSpPr>
        <p:cNvPr id="83" name="Shape 83"/>
        <p:cNvGrpSpPr/>
        <p:nvPr/>
      </p:nvGrpSpPr>
      <p:grpSpPr>
        <a:xfrm>
          <a:off x="0" y="0"/>
          <a:ext cx="0" cy="0"/>
          <a:chOff x="0" y="0"/>
          <a:chExt cx="0" cy="0"/>
        </a:xfrm>
      </p:grpSpPr>
      <p:sp>
        <p:nvSpPr>
          <p:cNvPr id="84" name="Google Shape;84;p13"/>
          <p:cNvSpPr/>
          <p:nvPr/>
        </p:nvSpPr>
        <p:spPr>
          <a:xfrm>
            <a:off x="457200" y="2103120"/>
            <a:ext cx="137100" cy="2011800"/>
          </a:xfrm>
          <a:prstGeom prst="rect">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a:off x="822960" y="2103120"/>
            <a:ext cx="9144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MONTHLY PERFORMANCE REVIEW</a:t>
            </a:r>
            <a:endParaRPr b="0" i="0" sz="1400" u="none" cap="none" strike="noStrike">
              <a:solidFill>
                <a:srgbClr val="000000"/>
              </a:solidFill>
              <a:latin typeface="Calibri"/>
              <a:ea typeface="Calibri"/>
              <a:cs typeface="Calibri"/>
              <a:sym typeface="Calibri"/>
            </a:endParaRPr>
          </a:p>
        </p:txBody>
      </p:sp>
      <p:sp>
        <p:nvSpPr>
          <p:cNvPr id="86" name="Google Shape;86;p13"/>
          <p:cNvSpPr/>
          <p:nvPr/>
        </p:nvSpPr>
        <p:spPr>
          <a:xfrm>
            <a:off x="822960" y="2606040"/>
            <a:ext cx="10972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G</a:t>
            </a:r>
            <a:r>
              <a:rPr b="1" lang="en-US" sz="4400">
                <a:solidFill>
                  <a:srgbClr val="FFFFFF"/>
                </a:solidFill>
                <a:latin typeface="Georgia"/>
                <a:ea typeface="Georgia"/>
                <a:cs typeface="Georgia"/>
                <a:sym typeface="Georgia"/>
              </a:rPr>
              <a:t>GMI</a:t>
            </a:r>
            <a:r>
              <a:rPr b="1" i="0" lang="en-US" sz="4400" u="none" cap="none" strike="noStrike">
                <a:solidFill>
                  <a:srgbClr val="FFFFFF"/>
                </a:solidFill>
                <a:latin typeface="Georgia"/>
                <a:ea typeface="Georgia"/>
                <a:cs typeface="Georgia"/>
                <a:sym typeface="Georgia"/>
              </a:rPr>
              <a:t> (</a:t>
            </a:r>
            <a:r>
              <a:rPr b="1" lang="en-US" sz="4400">
                <a:solidFill>
                  <a:srgbClr val="FFFFFF"/>
                </a:solidFill>
                <a:latin typeface="Georgia"/>
                <a:ea typeface="Georgia"/>
                <a:cs typeface="Georgia"/>
                <a:sym typeface="Georgia"/>
              </a:rPr>
              <a:t>MX</a:t>
            </a:r>
            <a:r>
              <a:rPr b="1" i="0" lang="en-US" sz="4400" u="none" cap="none" strike="noStrike">
                <a:solidFill>
                  <a:srgbClr val="FFFFFF"/>
                </a:solidFill>
                <a:latin typeface="Georgia"/>
                <a:ea typeface="Georgia"/>
                <a:cs typeface="Georgia"/>
                <a:sym typeface="Georgia"/>
              </a:rPr>
              <a:t>) - Paid Media</a:t>
            </a:r>
            <a:endParaRPr b="0" i="0" sz="4400" u="none" cap="none" strike="noStrike">
              <a:solidFill>
                <a:srgbClr val="000000"/>
              </a:solidFill>
              <a:latin typeface="Calibri"/>
              <a:ea typeface="Calibri"/>
              <a:cs typeface="Calibri"/>
              <a:sym typeface="Calibri"/>
            </a:endParaRPr>
          </a:p>
        </p:txBody>
      </p:sp>
      <p:sp>
        <p:nvSpPr>
          <p:cNvPr id="87" name="Google Shape;87;p13"/>
          <p:cNvSpPr/>
          <p:nvPr/>
        </p:nvSpPr>
        <p:spPr>
          <a:xfrm>
            <a:off x="822960" y="3611880"/>
            <a:ext cx="10972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2800"/>
              <a:buFont typeface="Georgia"/>
              <a:buNone/>
            </a:pPr>
            <a:r>
              <a:rPr b="0" i="1" lang="en-US" sz="2800" u="none" cap="none" strike="noStrike">
                <a:solidFill>
                  <a:srgbClr val="CADCFC"/>
                </a:solidFill>
                <a:latin typeface="Georgia"/>
                <a:ea typeface="Georgia"/>
                <a:cs typeface="Georgia"/>
                <a:sym typeface="Georgia"/>
              </a:rPr>
              <a:t>March 2026</a:t>
            </a:r>
            <a:endParaRPr b="0" i="0" sz="2800" u="none" cap="none" strike="noStrike">
              <a:solidFill>
                <a:srgbClr val="000000"/>
              </a:solidFill>
              <a:latin typeface="Calibri"/>
              <a:ea typeface="Calibri"/>
              <a:cs typeface="Calibri"/>
              <a:sym typeface="Calibri"/>
            </a:endParaRPr>
          </a:p>
        </p:txBody>
      </p:sp>
      <p:sp>
        <p:nvSpPr>
          <p:cNvPr id="88" name="Google Shape;88;p13"/>
          <p:cNvSpPr/>
          <p:nvPr/>
        </p:nvSpPr>
        <p:spPr>
          <a:xfrm>
            <a:off x="822960" y="438912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lang="en-US">
                <a:solidFill>
                  <a:srgbClr val="CADCFC"/>
                </a:solidFill>
                <a:latin typeface="Calibri"/>
                <a:ea typeface="Calibri"/>
                <a:cs typeface="Calibri"/>
                <a:sym typeface="Calibri"/>
              </a:rPr>
              <a:t>Bing</a:t>
            </a:r>
            <a:r>
              <a:rPr b="0" i="0" lang="en-US" sz="1400" u="none" cap="none" strike="noStrike">
                <a:solidFill>
                  <a:srgbClr val="CADCFC"/>
                </a:solidFill>
                <a:latin typeface="Calibri"/>
                <a:ea typeface="Calibri"/>
                <a:cs typeface="Calibri"/>
                <a:sym typeface="Calibri"/>
              </a:rPr>
              <a:t> Ads · Meta · Quantcast · Azerion</a:t>
            </a:r>
            <a:endParaRPr b="0" i="0" sz="1400" u="none" cap="none" strike="noStrike">
              <a:solidFill>
                <a:srgbClr val="000000"/>
              </a:solidFill>
              <a:latin typeface="Calibri"/>
              <a:ea typeface="Calibri"/>
              <a:cs typeface="Calibri"/>
              <a:sym typeface="Calibri"/>
            </a:endParaRPr>
          </a:p>
        </p:txBody>
      </p:sp>
      <p:sp>
        <p:nvSpPr>
          <p:cNvPr id="89" name="Google Shape;89;p13"/>
          <p:cNvSpPr/>
          <p:nvPr/>
        </p:nvSpPr>
        <p:spPr>
          <a:xfrm>
            <a:off x="22734" y="5743648"/>
            <a:ext cx="12161400" cy="1097400"/>
          </a:xfrm>
          <a:prstGeom prst="rect">
            <a:avLst/>
          </a:prstGeom>
          <a:solidFill>
            <a:srgbClr val="1E2761"/>
          </a:solidFill>
          <a:ln cap="flat" cmpd="sng" w="12700">
            <a:solidFill>
              <a:srgbClr val="0F15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 name="Google Shape;90;p13" title="forex-logo.png"/>
          <p:cNvPicPr preferRelativeResize="0"/>
          <p:nvPr/>
        </p:nvPicPr>
        <p:blipFill>
          <a:blip r:embed="rId3">
            <a:alphaModFix/>
          </a:blip>
          <a:stretch>
            <a:fillRect/>
          </a:stretch>
        </p:blipFill>
        <p:spPr>
          <a:xfrm>
            <a:off x="457200" y="428624"/>
            <a:ext cx="2466525" cy="704725"/>
          </a:xfrm>
          <a:prstGeom prst="rect">
            <a:avLst/>
          </a:prstGeom>
          <a:noFill/>
          <a:ln>
            <a:noFill/>
          </a:ln>
        </p:spPr>
      </p:pic>
      <p:sp>
        <p:nvSpPr>
          <p:cNvPr id="91" name="Google Shape;91;p13"/>
          <p:cNvSpPr txBox="1"/>
          <p:nvPr/>
        </p:nvSpPr>
        <p:spPr>
          <a:xfrm>
            <a:off x="731520" y="5988183"/>
            <a:ext cx="10972800" cy="2061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1100" u="none" cap="none" strike="noStrike">
                <a:solidFill>
                  <a:srgbClr val="CADCFC"/>
                </a:solidFill>
                <a:latin typeface="Calibri"/>
                <a:ea typeface="Calibri"/>
                <a:cs typeface="Calibri"/>
                <a:sym typeface="Calibri"/>
              </a:rPr>
              <a:t>Reporting period: March 1-31, 2026  |  Currency: USD  |  Prepared by Berelvant</a:t>
            </a:r>
            <a:endParaRPr/>
          </a:p>
        </p:txBody>
      </p:sp>
      <p:sp>
        <p:nvSpPr>
          <p:cNvPr id="92" name="Google Shape;92;p13"/>
          <p:cNvSpPr txBox="1"/>
          <p:nvPr/>
        </p:nvSpPr>
        <p:spPr>
          <a:xfrm>
            <a:off x="731520" y="6308223"/>
            <a:ext cx="10972800" cy="2061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1100" u="none" cap="none" strike="noStrike">
                <a:solidFill>
                  <a:srgbClr val="5A6072"/>
                </a:solidFill>
                <a:latin typeface="Calibri"/>
                <a:ea typeface="Calibri"/>
                <a:cs typeface="Calibri"/>
                <a:sym typeface="Calibri"/>
              </a:rPr>
              <a:t>Live channels: Meta, Bing (via SA360), Quantcast, Azerion</a:t>
            </a:r>
            <a:endParaRPr/>
          </a:p>
        </p:txBody>
      </p:sp>
      <p:pic>
        <p:nvPicPr>
          <p:cNvPr id="93" name="Google Shape;93;p13" title="berelvant-logo.png"/>
          <p:cNvPicPr preferRelativeResize="0"/>
          <p:nvPr/>
        </p:nvPicPr>
        <p:blipFill>
          <a:blip r:embed="rId4">
            <a:alphaModFix/>
          </a:blip>
          <a:stretch>
            <a:fillRect/>
          </a:stretch>
        </p:blipFill>
        <p:spPr>
          <a:xfrm>
            <a:off x="10407474" y="6148599"/>
            <a:ext cx="1600188" cy="457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p:nvPr/>
        </p:nvSpPr>
        <p:spPr>
          <a:xfrm>
            <a:off x="0" y="0"/>
            <a:ext cx="12191700" cy="6402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14"/>
          <p:cNvSpPr/>
          <p:nvPr/>
        </p:nvSpPr>
        <p:spPr>
          <a:xfrm>
            <a:off x="0" y="640080"/>
            <a:ext cx="12191695" cy="36576"/>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14"/>
          <p:cNvSpPr txBox="1"/>
          <p:nvPr/>
        </p:nvSpPr>
        <p:spPr>
          <a:xfrm>
            <a:off x="365760" y="73152"/>
            <a:ext cx="9144000" cy="548640"/>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2600" u="none" cap="none" strike="noStrike">
                <a:solidFill>
                  <a:srgbClr val="FFFFFF"/>
                </a:solidFill>
                <a:latin typeface="Georgia"/>
                <a:ea typeface="Georgia"/>
                <a:cs typeface="Georgia"/>
                <a:sym typeface="Georgia"/>
              </a:rPr>
              <a:t>Executive Summary</a:t>
            </a:r>
            <a:endParaRPr/>
          </a:p>
        </p:txBody>
      </p:sp>
      <p:sp>
        <p:nvSpPr>
          <p:cNvPr id="101" name="Google Shape;101;p14"/>
          <p:cNvSpPr txBox="1"/>
          <p:nvPr/>
        </p:nvSpPr>
        <p:spPr>
          <a:xfrm>
            <a:off x="365760" y="804672"/>
            <a:ext cx="11430000"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700" u="none" cap="none" strike="noStrike">
                <a:solidFill>
                  <a:srgbClr val="1E2761"/>
                </a:solidFill>
                <a:latin typeface="Georgia"/>
                <a:ea typeface="Georgia"/>
                <a:cs typeface="Georgia"/>
                <a:sym typeface="Georgia"/>
              </a:rPr>
              <a:t>Traffic is cheap. Conversions are not. Tracking and funnel gaps are the bottleneck.</a:t>
            </a:r>
            <a:endParaRPr/>
          </a:p>
        </p:txBody>
      </p:sp>
      <p:graphicFrame>
        <p:nvGraphicFramePr>
          <p:cNvPr id="102" name="Google Shape;102;p14"/>
          <p:cNvGraphicFramePr/>
          <p:nvPr/>
        </p:nvGraphicFramePr>
        <p:xfrm>
          <a:off x="365760" y="1325880"/>
          <a:ext cx="3000000" cy="3000000"/>
        </p:xfrm>
        <a:graphic>
          <a:graphicData uri="http://schemas.openxmlformats.org/drawingml/2006/table">
            <a:tbl>
              <a:tblPr bandRow="1" firstRow="1">
                <a:noFill/>
                <a:tableStyleId>{626DB2E7-D5CD-46CD-8FBD-676A5DF2763B}</a:tableStyleId>
              </a:tblPr>
              <a:tblGrid>
                <a:gridCol w="1280150"/>
                <a:gridCol w="1005850"/>
                <a:gridCol w="1280150"/>
                <a:gridCol w="1097275"/>
                <a:gridCol w="2103125"/>
                <a:gridCol w="1463050"/>
                <a:gridCol w="3200400"/>
              </a:tblGrid>
              <a:tr h="358150">
                <a:tc>
                  <a:txBody>
                    <a:bodyPr/>
                    <a:lstStyle/>
                    <a:p>
                      <a:pPr indent="0" lvl="0" marL="0" marR="0" rtl="0" algn="l">
                        <a:spcBef>
                          <a:spcPts val="0"/>
                        </a:spcBef>
                        <a:spcAft>
                          <a:spcPts val="0"/>
                        </a:spcAft>
                        <a:buNone/>
                      </a:pPr>
                      <a:r>
                        <a:rPr b="1" lang="en-US" sz="1050" u="none" cap="none" strike="noStrike">
                          <a:solidFill>
                            <a:srgbClr val="FFFFFF"/>
                          </a:solidFill>
                          <a:latin typeface="Calibri"/>
                          <a:ea typeface="Calibri"/>
                          <a:cs typeface="Calibri"/>
                          <a:sym typeface="Calibri"/>
                        </a:rPr>
                        <a:t>Channel</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Spend</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Impr.</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Clicks</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Conversions</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CPA</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Note</a:t>
                      </a:r>
                      <a:endParaRPr/>
                    </a:p>
                  </a:txBody>
                  <a:tcPr marT="27425" marB="27425" marR="54875" marL="54875" anchor="ctr">
                    <a:solidFill>
                      <a:srgbClr val="1E2761"/>
                    </a:solidFill>
                  </a:tcPr>
                </a:tc>
              </a:tr>
              <a:tr h="3581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Meta</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$3,631</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794,111</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36,423</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3 Submit / 912 Start</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$1,210 / $3.98</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a:solidFill>
                            <a:srgbClr val="0F1535"/>
                          </a:solidFill>
                        </a:rPr>
                        <a:t>Top-of-funnel performing. Submission rate requires funnel review.</a:t>
                      </a:r>
                      <a:endParaRPr/>
                    </a:p>
                  </a:txBody>
                  <a:tcPr marT="27425" marB="27425" marR="54875" marL="54875" anchor="ctr">
                    <a:solidFill>
                      <a:srgbClr val="FFFFFF"/>
                    </a:solidFill>
                  </a:tcPr>
                </a:tc>
              </a:tr>
              <a:tr h="3581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Bing</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$15,939</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249,963</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29,569</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4</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$3,985</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a:solidFill>
                            <a:srgbClr val="0F1535"/>
                          </a:solidFill>
                        </a:rPr>
                        <a:t>Low conversion volume relative to spend. Optimization round 2 pending approval.</a:t>
                      </a:r>
                      <a:endParaRPr/>
                    </a:p>
                  </a:txBody>
                  <a:tcPr marT="27425" marB="27425" marR="54875" marL="54875" anchor="ctr">
                    <a:solidFill>
                      <a:srgbClr val="F9FAFC"/>
                    </a:solidFill>
                  </a:tcPr>
                </a:tc>
              </a:tr>
              <a:tr h="3581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Quantcast</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$11,</a:t>
                      </a:r>
                      <a:r>
                        <a:rPr lang="en-US" sz="1000">
                          <a:solidFill>
                            <a:srgbClr val="0F1535"/>
                          </a:solidFill>
                        </a:rPr>
                        <a:t>980</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6,030,187</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2,691</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4 (all VT)</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$2,</a:t>
                      </a:r>
                      <a:r>
                        <a:rPr lang="en-US" sz="1000">
                          <a:solidFill>
                            <a:srgbClr val="0F1535"/>
                          </a:solidFill>
                        </a:rPr>
                        <a:t>995</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a:solidFill>
                            <a:srgbClr val="0F1535"/>
                          </a:solidFill>
                        </a:rPr>
                        <a:t>4 conversions recorded, all view-through. Click-through attribution pending validation.</a:t>
                      </a:r>
                      <a:endParaRPr/>
                    </a:p>
                  </a:txBody>
                  <a:tcPr marT="27425" marB="27425" marR="54875" marL="54875" anchor="ctr">
                    <a:solidFill>
                      <a:srgbClr val="FFFFFF"/>
                    </a:solidFill>
                  </a:tcPr>
                </a:tc>
              </a:tr>
              <a:tr h="3581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Azerion</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$10,874</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2,290,550</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2,802</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5</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$2,175</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a:solidFill>
                            <a:srgbClr val="0F1535"/>
                          </a:solidFill>
                        </a:rPr>
                        <a:t>Above-benchmark viewability at 74%.</a:t>
                      </a:r>
                      <a:endParaRPr/>
                    </a:p>
                  </a:txBody>
                  <a:tcPr marT="27425" marB="27425" marR="54875" marL="54875" anchor="ctr">
                    <a:solidFill>
                      <a:srgbClr val="F9FAFC"/>
                    </a:solidFill>
                  </a:tcPr>
                </a:tc>
              </a:tr>
              <a:tr h="358150">
                <a:tc>
                  <a:txBody>
                    <a:bodyPr/>
                    <a:lstStyle/>
                    <a:p>
                      <a:pPr indent="0" lvl="0" marL="0" marR="0" rtl="0" algn="l">
                        <a:spcBef>
                          <a:spcPts val="0"/>
                        </a:spcBef>
                        <a:spcAft>
                          <a:spcPts val="0"/>
                        </a:spcAft>
                        <a:buNone/>
                      </a:pPr>
                      <a:r>
                        <a:rPr b="1" lang="en-US" sz="1000" u="none" cap="none" strike="noStrike">
                          <a:solidFill>
                            <a:srgbClr val="1E2761"/>
                          </a:solidFill>
                          <a:latin typeface="Calibri"/>
                          <a:ea typeface="Calibri"/>
                          <a:cs typeface="Calibri"/>
                          <a:sym typeface="Calibri"/>
                        </a:rPr>
                        <a:t>Blended</a:t>
                      </a:r>
                      <a:endParaRPr/>
                    </a:p>
                  </a:txBody>
                  <a:tcPr marT="27425" marB="27425" marR="54875" marL="54875" anchor="ctr">
                    <a:solidFill>
                      <a:srgbClr val="CADCFC"/>
                    </a:solidFill>
                  </a:tcPr>
                </a:tc>
                <a:tc>
                  <a:txBody>
                    <a:bodyPr/>
                    <a:lstStyle/>
                    <a:p>
                      <a:pPr indent="0" lvl="0" marL="0" marR="0" rtl="0" algn="r">
                        <a:spcBef>
                          <a:spcPts val="0"/>
                        </a:spcBef>
                        <a:spcAft>
                          <a:spcPts val="0"/>
                        </a:spcAft>
                        <a:buNone/>
                      </a:pPr>
                      <a:r>
                        <a:rPr b="1" lang="en-US" sz="1000">
                          <a:solidFill>
                            <a:srgbClr val="1E2761"/>
                          </a:solidFill>
                        </a:rPr>
                        <a:t>$42,424</a:t>
                      </a:r>
                      <a:endParaRPr/>
                    </a:p>
                  </a:txBody>
                  <a:tcPr marT="27425" marB="27425" marR="54875" marL="54875" anchor="ctr">
                    <a:solidFill>
                      <a:srgbClr val="CADCFC"/>
                    </a:solidFill>
                  </a:tcPr>
                </a:tc>
                <a:tc>
                  <a:txBody>
                    <a:bodyPr/>
                    <a:lstStyle/>
                    <a:p>
                      <a:pPr indent="0" lvl="0" marL="0" marR="0" rtl="0" algn="r">
                        <a:spcBef>
                          <a:spcPts val="0"/>
                        </a:spcBef>
                        <a:spcAft>
                          <a:spcPts val="0"/>
                        </a:spcAft>
                        <a:buNone/>
                      </a:pPr>
                      <a:r>
                        <a:rPr b="1" lang="en-US" sz="1000" u="none" cap="none" strike="noStrike">
                          <a:solidFill>
                            <a:srgbClr val="1E2761"/>
                          </a:solidFill>
                          <a:latin typeface="Calibri"/>
                          <a:ea typeface="Calibri"/>
                          <a:cs typeface="Calibri"/>
                          <a:sym typeface="Calibri"/>
                        </a:rPr>
                        <a:t>9,364,811</a:t>
                      </a:r>
                      <a:endParaRPr/>
                    </a:p>
                  </a:txBody>
                  <a:tcPr marT="27425" marB="27425" marR="54875" marL="54875" anchor="ctr">
                    <a:solidFill>
                      <a:srgbClr val="CADCFC"/>
                    </a:solidFill>
                  </a:tcPr>
                </a:tc>
                <a:tc>
                  <a:txBody>
                    <a:bodyPr/>
                    <a:lstStyle/>
                    <a:p>
                      <a:pPr indent="0" lvl="0" marL="0" marR="0" rtl="0" algn="r">
                        <a:spcBef>
                          <a:spcPts val="0"/>
                        </a:spcBef>
                        <a:spcAft>
                          <a:spcPts val="0"/>
                        </a:spcAft>
                        <a:buNone/>
                      </a:pPr>
                      <a:r>
                        <a:rPr b="1" lang="en-US" sz="1000" u="none" cap="none" strike="noStrike">
                          <a:solidFill>
                            <a:srgbClr val="1E2761"/>
                          </a:solidFill>
                          <a:latin typeface="Calibri"/>
                          <a:ea typeface="Calibri"/>
                          <a:cs typeface="Calibri"/>
                          <a:sym typeface="Calibri"/>
                        </a:rPr>
                        <a:t>71,485</a:t>
                      </a:r>
                      <a:endParaRPr/>
                    </a:p>
                  </a:txBody>
                  <a:tcPr marT="27425" marB="27425" marR="54875" marL="54875" anchor="ctr">
                    <a:solidFill>
                      <a:srgbClr val="CADCFC"/>
                    </a:solidFill>
                  </a:tcPr>
                </a:tc>
                <a:tc>
                  <a:txBody>
                    <a:bodyPr/>
                    <a:lstStyle/>
                    <a:p>
                      <a:pPr indent="0" lvl="0" marL="0" marR="0" rtl="0" algn="r">
                        <a:spcBef>
                          <a:spcPts val="0"/>
                        </a:spcBef>
                        <a:spcAft>
                          <a:spcPts val="0"/>
                        </a:spcAft>
                        <a:buNone/>
                      </a:pPr>
                      <a:r>
                        <a:rPr b="1" lang="en-US" sz="1000" u="none" cap="none" strike="noStrike">
                          <a:solidFill>
                            <a:srgbClr val="1E2761"/>
                          </a:solidFill>
                          <a:latin typeface="Calibri"/>
                          <a:ea typeface="Calibri"/>
                          <a:cs typeface="Calibri"/>
                          <a:sym typeface="Calibri"/>
                        </a:rPr>
                        <a:t>16 bottom-funnel</a:t>
                      </a:r>
                      <a:endParaRPr/>
                    </a:p>
                  </a:txBody>
                  <a:tcPr marT="27425" marB="27425" marR="54875" marL="54875" anchor="ctr">
                    <a:solidFill>
                      <a:srgbClr val="CADCFC"/>
                    </a:solidFill>
                  </a:tcPr>
                </a:tc>
                <a:tc>
                  <a:txBody>
                    <a:bodyPr/>
                    <a:lstStyle/>
                    <a:p>
                      <a:pPr indent="0" lvl="0" marL="0" marR="0" rtl="0" algn="r">
                        <a:spcBef>
                          <a:spcPts val="0"/>
                        </a:spcBef>
                        <a:spcAft>
                          <a:spcPts val="0"/>
                        </a:spcAft>
                        <a:buNone/>
                      </a:pPr>
                      <a:r>
                        <a:rPr b="1" lang="en-US" sz="1000" u="none" cap="none" strike="noStrike">
                          <a:solidFill>
                            <a:srgbClr val="1E2761"/>
                          </a:solidFill>
                          <a:latin typeface="Calibri"/>
                          <a:ea typeface="Calibri"/>
                          <a:cs typeface="Calibri"/>
                          <a:sym typeface="Calibri"/>
                        </a:rPr>
                        <a:t>$2,</a:t>
                      </a:r>
                      <a:r>
                        <a:rPr b="1" lang="en-US" sz="1000">
                          <a:solidFill>
                            <a:srgbClr val="1E2761"/>
                          </a:solidFill>
                        </a:rPr>
                        <a:t>651</a:t>
                      </a:r>
                      <a:endParaRPr/>
                    </a:p>
                  </a:txBody>
                  <a:tcPr marT="27425" marB="27425" marR="54875" marL="54875" anchor="ctr">
                    <a:solidFill>
                      <a:srgbClr val="CADCFC"/>
                    </a:solidFill>
                  </a:tcPr>
                </a:tc>
                <a:tc>
                  <a:txBody>
                    <a:bodyPr/>
                    <a:lstStyle/>
                    <a:p>
                      <a:pPr indent="0" lvl="0" marL="0" marR="0" rtl="0" algn="r">
                        <a:spcBef>
                          <a:spcPts val="0"/>
                        </a:spcBef>
                        <a:spcAft>
                          <a:spcPts val="0"/>
                        </a:spcAft>
                        <a:buNone/>
                      </a:pPr>
                      <a:r>
                        <a:t/>
                      </a:r>
                      <a:endParaRPr/>
                    </a:p>
                  </a:txBody>
                  <a:tcPr marT="27425" marB="27425" marR="54875" marL="54875" anchor="ctr">
                    <a:solidFill>
                      <a:srgbClr val="CADCFC"/>
                    </a:solidFill>
                  </a:tcPr>
                </a:tc>
              </a:tr>
            </a:tbl>
          </a:graphicData>
        </a:graphic>
      </p:graphicFrame>
      <p:sp>
        <p:nvSpPr>
          <p:cNvPr id="103" name="Google Shape;103;p14"/>
          <p:cNvSpPr txBox="1"/>
          <p:nvPr/>
        </p:nvSpPr>
        <p:spPr>
          <a:xfrm>
            <a:off x="365760" y="3520440"/>
            <a:ext cx="11430000" cy="2523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t/>
            </a:r>
            <a:endParaRPr/>
          </a:p>
        </p:txBody>
      </p:sp>
      <p:sp>
        <p:nvSpPr>
          <p:cNvPr id="104" name="Google Shape;104;p14"/>
          <p:cNvSpPr/>
          <p:nvPr/>
        </p:nvSpPr>
        <p:spPr>
          <a:xfrm>
            <a:off x="365760" y="3931920"/>
            <a:ext cx="11430000" cy="2423160"/>
          </a:xfrm>
          <a:prstGeom prst="rect">
            <a:avLst/>
          </a:prstGeom>
          <a:solidFill>
            <a:srgbClr val="FFFFFF"/>
          </a:solidFill>
          <a:ln cap="flat" cmpd="sng" w="25400">
            <a:solidFill>
              <a:srgbClr val="F961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4"/>
          <p:cNvSpPr/>
          <p:nvPr/>
        </p:nvSpPr>
        <p:spPr>
          <a:xfrm>
            <a:off x="365760" y="3931920"/>
            <a:ext cx="109728" cy="242316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 name="Google Shape;106;p14"/>
          <p:cNvSpPr txBox="1"/>
          <p:nvPr/>
        </p:nvSpPr>
        <p:spPr>
          <a:xfrm>
            <a:off x="594360" y="4023360"/>
            <a:ext cx="11064300" cy="221700"/>
          </a:xfrm>
          <a:prstGeom prst="rect">
            <a:avLst/>
          </a:prstGeom>
          <a:noFill/>
          <a:ln>
            <a:noFill/>
          </a:ln>
        </p:spPr>
        <p:txBody>
          <a:bodyPr anchorCtr="0" anchor="t" bIns="18275" lIns="45700" spcFirstLastPara="1" rIns="45700" wrap="square" tIns="18275">
            <a:spAutoFit/>
          </a:bodyPr>
          <a:lstStyle/>
          <a:p>
            <a:pPr indent="0" lvl="0" marL="0" rtl="0" algn="l">
              <a:spcBef>
                <a:spcPts val="0"/>
              </a:spcBef>
              <a:spcAft>
                <a:spcPts val="0"/>
              </a:spcAft>
              <a:buNone/>
            </a:pPr>
            <a:r>
              <a:rPr b="1" lang="en-US" sz="1200">
                <a:solidFill>
                  <a:srgbClr val="1E2761"/>
                </a:solidFill>
                <a:latin typeface="Georgia"/>
                <a:ea typeface="Georgia"/>
                <a:cs typeface="Georgia"/>
                <a:sym typeface="Georgia"/>
              </a:rPr>
              <a:t>Highlights</a:t>
            </a:r>
            <a:endParaRPr b="1" sz="1200">
              <a:solidFill>
                <a:srgbClr val="1E2761"/>
              </a:solidFill>
              <a:latin typeface="Georgia"/>
              <a:ea typeface="Georgia"/>
              <a:cs typeface="Georgia"/>
              <a:sym typeface="Georgia"/>
            </a:endParaRPr>
          </a:p>
        </p:txBody>
      </p:sp>
      <p:sp>
        <p:nvSpPr>
          <p:cNvPr id="107" name="Google Shape;107;p14"/>
          <p:cNvSpPr txBox="1"/>
          <p:nvPr/>
        </p:nvSpPr>
        <p:spPr>
          <a:xfrm>
            <a:off x="594360" y="4389120"/>
            <a:ext cx="10972800" cy="909900"/>
          </a:xfrm>
          <a:prstGeom prst="rect">
            <a:avLst/>
          </a:prstGeom>
          <a:noFill/>
          <a:ln>
            <a:noFill/>
          </a:ln>
        </p:spPr>
        <p:txBody>
          <a:bodyPr anchorCtr="0" anchor="t" bIns="18275" lIns="45700" spcFirstLastPara="1" rIns="45700" wrap="square" tIns="18275">
            <a:spAutoFit/>
          </a:bodyPr>
          <a:lstStyle/>
          <a:p>
            <a:pPr indent="0" lvl="0" marL="0" rtl="0" algn="l">
              <a:lnSpc>
                <a:spcPct val="115000"/>
              </a:lnSpc>
              <a:spcBef>
                <a:spcPts val="1200"/>
              </a:spcBef>
              <a:spcAft>
                <a:spcPts val="0"/>
              </a:spcAft>
              <a:buClr>
                <a:schemeClr val="dk1"/>
              </a:buClr>
              <a:buSzPts val="1100"/>
              <a:buFont typeface="Arial"/>
              <a:buNone/>
            </a:pPr>
            <a:r>
              <a:rPr b="1" lang="en-US" sz="1050">
                <a:solidFill>
                  <a:srgbClr val="1E2761"/>
                </a:solidFill>
                <a:latin typeface="Calibri"/>
                <a:ea typeface="Calibri"/>
                <a:cs typeface="Calibri"/>
                <a:sym typeface="Calibri"/>
              </a:rPr>
              <a:t>Media delivery is functioning across all four channels. The limiting factor in March is attribution infrastructure, not reach or targeting. Until campaign CIDs and advertiser tracking are fully configured, conversion data reflects partial capture only. The $2,651 blended CPA is directional. It will move as tracking completeness improves.</a:t>
            </a:r>
            <a:endParaRPr b="1" sz="1050">
              <a:solidFill>
                <a:srgbClr val="1E2761"/>
              </a:solidFill>
              <a:latin typeface="Calibri"/>
              <a:ea typeface="Calibri"/>
              <a:cs typeface="Calibri"/>
              <a:sym typeface="Calibri"/>
            </a:endParaRPr>
          </a:p>
          <a:p>
            <a:pPr indent="0" lvl="0" marL="0" rtl="0" algn="l">
              <a:lnSpc>
                <a:spcPct val="115000"/>
              </a:lnSpc>
              <a:spcBef>
                <a:spcPts val="1200"/>
              </a:spcBef>
              <a:spcAft>
                <a:spcPts val="1200"/>
              </a:spcAft>
              <a:buSzPts val="1100"/>
              <a:buNone/>
            </a:pPr>
            <a:r>
              <a:rPr b="1" lang="en-US" sz="1050">
                <a:solidFill>
                  <a:srgbClr val="1E2761"/>
                </a:solidFill>
                <a:latin typeface="Calibri"/>
                <a:ea typeface="Calibri"/>
                <a:cs typeface="Calibri"/>
                <a:sym typeface="Calibri"/>
              </a:rPr>
              <a:t>The clearest optimization opportunity this month is Bing. Spend is concentrated, conversion volume is low, and a second optimization round is approved and waiting. That is the highest-impact action available right now</a:t>
            </a:r>
            <a:endParaRPr b="1" sz="1050">
              <a:solidFill>
                <a:srgbClr val="1E2761"/>
              </a:solidFill>
              <a:latin typeface="Calibri"/>
              <a:ea typeface="Calibri"/>
              <a:cs typeface="Calibri"/>
              <a:sym typeface="Calibri"/>
            </a:endParaRPr>
          </a:p>
        </p:txBody>
      </p:sp>
      <p:sp>
        <p:nvSpPr>
          <p:cNvPr id="108" name="Google Shape;108;p14"/>
          <p:cNvSpPr/>
          <p:nvPr/>
        </p:nvSpPr>
        <p:spPr>
          <a:xfrm>
            <a:off x="0" y="6583680"/>
            <a:ext cx="12191695" cy="274320"/>
          </a:xfrm>
          <a:prstGeom prst="rect">
            <a:avLst/>
          </a:prstGeom>
          <a:solidFill>
            <a:srgbClr val="F4F6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14"/>
          <p:cNvSpPr txBox="1"/>
          <p:nvPr/>
        </p:nvSpPr>
        <p:spPr>
          <a:xfrm>
            <a:off x="365760" y="6601968"/>
            <a:ext cx="8229600" cy="256032"/>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0" i="0" lang="en-US" sz="900" u="none" cap="none" strike="noStrike">
                <a:solidFill>
                  <a:srgbClr val="5A6072"/>
                </a:solidFill>
                <a:latin typeface="Calibri"/>
                <a:ea typeface="Calibri"/>
                <a:cs typeface="Calibri"/>
                <a:sym typeface="Calibri"/>
              </a:rPr>
              <a:t>GGMI (LATAM / Mexico)  |  March 2026 Performance Review  |  Berelvant</a:t>
            </a:r>
            <a:endParaRPr/>
          </a:p>
        </p:txBody>
      </p:sp>
      <p:sp>
        <p:nvSpPr>
          <p:cNvPr id="110" name="Google Shape;110;p14"/>
          <p:cNvSpPr txBox="1"/>
          <p:nvPr/>
        </p:nvSpPr>
        <p:spPr>
          <a:xfrm>
            <a:off x="11247120" y="6601968"/>
            <a:ext cx="822960" cy="256032"/>
          </a:xfrm>
          <a:prstGeom prst="rect">
            <a:avLst/>
          </a:prstGeom>
          <a:noFill/>
          <a:ln>
            <a:noFill/>
          </a:ln>
        </p:spPr>
        <p:txBody>
          <a:bodyPr anchorCtr="0" anchor="ctr" bIns="18275" lIns="45700" spcFirstLastPara="1" rIns="45700" wrap="square" tIns="18275">
            <a:spAutoFit/>
          </a:bodyPr>
          <a:lstStyle/>
          <a:p>
            <a:pPr indent="0" lvl="0" marL="0" marR="0" rtl="0" algn="r">
              <a:spcBef>
                <a:spcPts val="0"/>
              </a:spcBef>
              <a:spcAft>
                <a:spcPts val="0"/>
              </a:spcAft>
              <a:buNone/>
            </a:pPr>
            <a:r>
              <a:rPr b="0" i="0" lang="en-US" sz="900" u="none" cap="none" strike="noStrike">
                <a:solidFill>
                  <a:srgbClr val="5A6072"/>
                </a:solidFill>
                <a:latin typeface="Calibri"/>
                <a:ea typeface="Calibri"/>
                <a:cs typeface="Calibri"/>
                <a:sym typeface="Calibri"/>
              </a:rPr>
              <a:t>2 / 9</a:t>
            </a:r>
            <a:endParaRPr/>
          </a:p>
        </p:txBody>
      </p:sp>
      <p:pic>
        <p:nvPicPr>
          <p:cNvPr id="111" name="Google Shape;111;p14" title="berelvant-logo.png"/>
          <p:cNvPicPr preferRelativeResize="0"/>
          <p:nvPr/>
        </p:nvPicPr>
        <p:blipFill>
          <a:blip r:embed="rId3">
            <a:alphaModFix/>
          </a:blip>
          <a:stretch>
            <a:fillRect/>
          </a:stretch>
        </p:blipFill>
        <p:spPr>
          <a:xfrm>
            <a:off x="11185838" y="68588"/>
            <a:ext cx="854075" cy="274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5"/>
          <p:cNvSpPr/>
          <p:nvPr/>
        </p:nvSpPr>
        <p:spPr>
          <a:xfrm>
            <a:off x="0" y="0"/>
            <a:ext cx="12191695" cy="64008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5"/>
          <p:cNvSpPr/>
          <p:nvPr/>
        </p:nvSpPr>
        <p:spPr>
          <a:xfrm>
            <a:off x="0" y="640080"/>
            <a:ext cx="12191695" cy="36576"/>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15"/>
          <p:cNvSpPr txBox="1"/>
          <p:nvPr/>
        </p:nvSpPr>
        <p:spPr>
          <a:xfrm>
            <a:off x="365760" y="73152"/>
            <a:ext cx="9144000" cy="548640"/>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2600" u="none" cap="none" strike="noStrike">
                <a:solidFill>
                  <a:srgbClr val="FFFFFF"/>
                </a:solidFill>
                <a:latin typeface="Georgia"/>
                <a:ea typeface="Georgia"/>
                <a:cs typeface="Georgia"/>
                <a:sym typeface="Georgia"/>
              </a:rPr>
              <a:t>Bing Ads: Performance</a:t>
            </a:r>
            <a:endParaRPr/>
          </a:p>
        </p:txBody>
      </p:sp>
      <p:sp>
        <p:nvSpPr>
          <p:cNvPr id="119" name="Google Shape;119;p15"/>
          <p:cNvSpPr/>
          <p:nvPr/>
        </p:nvSpPr>
        <p:spPr>
          <a:xfrm>
            <a:off x="365760" y="868680"/>
            <a:ext cx="2743200" cy="1005840"/>
          </a:xfrm>
          <a:prstGeom prst="rect">
            <a:avLst/>
          </a:prstGeom>
          <a:solidFill>
            <a:srgbClr val="FFFFFF"/>
          </a:solidFill>
          <a:ln cap="flat" cmpd="sng" w="9525">
            <a:solidFill>
              <a:srgbClr val="D0D4DC"/>
            </a:solidFill>
            <a:prstDash val="solid"/>
            <a:round/>
            <a:headEnd len="sm" w="sm" type="none"/>
            <a:tailEnd len="sm" w="sm" type="none"/>
          </a:ln>
          <a:effectLst>
            <a:outerShdw blurRad="76200" rotWithShape="0" dir="5400000" dist="25400">
              <a:srgbClr val="000000">
                <a:alpha val="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15"/>
          <p:cNvSpPr/>
          <p:nvPr/>
        </p:nvSpPr>
        <p:spPr>
          <a:xfrm>
            <a:off x="365760" y="868680"/>
            <a:ext cx="73152" cy="100584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5"/>
          <p:cNvSpPr txBox="1"/>
          <p:nvPr/>
        </p:nvSpPr>
        <p:spPr>
          <a:xfrm>
            <a:off x="530352" y="941832"/>
            <a:ext cx="2514600"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00" u="none" cap="none" strike="noStrike">
                <a:solidFill>
                  <a:srgbClr val="5A6072"/>
                </a:solidFill>
                <a:latin typeface="Calibri"/>
                <a:ea typeface="Calibri"/>
                <a:cs typeface="Calibri"/>
                <a:sym typeface="Calibri"/>
              </a:rPr>
              <a:t>Spend</a:t>
            </a:r>
            <a:endParaRPr/>
          </a:p>
        </p:txBody>
      </p:sp>
      <p:sp>
        <p:nvSpPr>
          <p:cNvPr id="122" name="Google Shape;122;p15"/>
          <p:cNvSpPr txBox="1"/>
          <p:nvPr/>
        </p:nvSpPr>
        <p:spPr>
          <a:xfrm>
            <a:off x="530352" y="1170432"/>
            <a:ext cx="2514600"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2200" u="none" cap="none" strike="noStrike">
                <a:solidFill>
                  <a:srgbClr val="1E2761"/>
                </a:solidFill>
                <a:latin typeface="Calibri"/>
                <a:ea typeface="Calibri"/>
                <a:cs typeface="Calibri"/>
                <a:sym typeface="Calibri"/>
              </a:rPr>
              <a:t>$15,939</a:t>
            </a:r>
            <a:endParaRPr/>
          </a:p>
        </p:txBody>
      </p:sp>
      <p:sp>
        <p:nvSpPr>
          <p:cNvPr id="123" name="Google Shape;123;p15"/>
          <p:cNvSpPr txBox="1"/>
          <p:nvPr/>
        </p:nvSpPr>
        <p:spPr>
          <a:xfrm>
            <a:off x="530352" y="1600200"/>
            <a:ext cx="2514600"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950" u="none" cap="none" strike="noStrike">
                <a:solidFill>
                  <a:srgbClr val="0F1535"/>
                </a:solidFill>
                <a:latin typeface="Calibri"/>
                <a:ea typeface="Calibri"/>
                <a:cs typeface="Calibri"/>
                <a:sym typeface="Calibri"/>
              </a:rPr>
              <a:t>Single campaign</a:t>
            </a:r>
            <a:endParaRPr/>
          </a:p>
        </p:txBody>
      </p:sp>
      <p:sp>
        <p:nvSpPr>
          <p:cNvPr id="124" name="Google Shape;124;p15"/>
          <p:cNvSpPr/>
          <p:nvPr/>
        </p:nvSpPr>
        <p:spPr>
          <a:xfrm>
            <a:off x="3236976" y="868680"/>
            <a:ext cx="2743200" cy="1005840"/>
          </a:xfrm>
          <a:prstGeom prst="rect">
            <a:avLst/>
          </a:prstGeom>
          <a:solidFill>
            <a:srgbClr val="FFFFFF"/>
          </a:solidFill>
          <a:ln cap="flat" cmpd="sng" w="9525">
            <a:solidFill>
              <a:srgbClr val="D0D4DC"/>
            </a:solidFill>
            <a:prstDash val="solid"/>
            <a:round/>
            <a:headEnd len="sm" w="sm" type="none"/>
            <a:tailEnd len="sm" w="sm" type="none"/>
          </a:ln>
          <a:effectLst>
            <a:outerShdw blurRad="76200" rotWithShape="0" dir="5400000" dist="25400">
              <a:srgbClr val="000000">
                <a:alpha val="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15"/>
          <p:cNvSpPr/>
          <p:nvPr/>
        </p:nvSpPr>
        <p:spPr>
          <a:xfrm>
            <a:off x="3236976" y="868680"/>
            <a:ext cx="73152" cy="100584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15"/>
          <p:cNvSpPr txBox="1"/>
          <p:nvPr/>
        </p:nvSpPr>
        <p:spPr>
          <a:xfrm>
            <a:off x="3401568" y="941832"/>
            <a:ext cx="2514600"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00" u="none" cap="none" strike="noStrike">
                <a:solidFill>
                  <a:srgbClr val="5A6072"/>
                </a:solidFill>
                <a:latin typeface="Calibri"/>
                <a:ea typeface="Calibri"/>
                <a:cs typeface="Calibri"/>
                <a:sym typeface="Calibri"/>
              </a:rPr>
              <a:t>CTR / CPC</a:t>
            </a:r>
            <a:endParaRPr/>
          </a:p>
        </p:txBody>
      </p:sp>
      <p:sp>
        <p:nvSpPr>
          <p:cNvPr id="127" name="Google Shape;127;p15"/>
          <p:cNvSpPr txBox="1"/>
          <p:nvPr/>
        </p:nvSpPr>
        <p:spPr>
          <a:xfrm>
            <a:off x="3401568" y="1170432"/>
            <a:ext cx="2514600"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900" u="none" cap="none" strike="noStrike">
                <a:solidFill>
                  <a:srgbClr val="1E2761"/>
                </a:solidFill>
                <a:latin typeface="Calibri"/>
                <a:ea typeface="Calibri"/>
                <a:cs typeface="Calibri"/>
                <a:sym typeface="Calibri"/>
              </a:rPr>
              <a:t>11.83% / $0.54</a:t>
            </a:r>
            <a:endParaRPr/>
          </a:p>
        </p:txBody>
      </p:sp>
      <p:sp>
        <p:nvSpPr>
          <p:cNvPr id="128" name="Google Shape;128;p15"/>
          <p:cNvSpPr txBox="1"/>
          <p:nvPr/>
        </p:nvSpPr>
        <p:spPr>
          <a:xfrm>
            <a:off x="3401568" y="1600200"/>
            <a:ext cx="2514600"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950" u="none" cap="none" strike="noStrike">
                <a:solidFill>
                  <a:srgbClr val="0F1535"/>
                </a:solidFill>
                <a:latin typeface="Calibri"/>
                <a:ea typeface="Calibri"/>
                <a:cs typeface="Calibri"/>
                <a:sym typeface="Calibri"/>
              </a:rPr>
              <a:t>29,569 clicks</a:t>
            </a:r>
            <a:endParaRPr/>
          </a:p>
        </p:txBody>
      </p:sp>
      <p:sp>
        <p:nvSpPr>
          <p:cNvPr id="129" name="Google Shape;129;p15"/>
          <p:cNvSpPr/>
          <p:nvPr/>
        </p:nvSpPr>
        <p:spPr>
          <a:xfrm>
            <a:off x="6108192" y="868680"/>
            <a:ext cx="2743200" cy="1005840"/>
          </a:xfrm>
          <a:prstGeom prst="rect">
            <a:avLst/>
          </a:prstGeom>
          <a:solidFill>
            <a:srgbClr val="FFFFFF"/>
          </a:solidFill>
          <a:ln cap="flat" cmpd="sng" w="9525">
            <a:solidFill>
              <a:srgbClr val="D0D4DC"/>
            </a:solidFill>
            <a:prstDash val="solid"/>
            <a:round/>
            <a:headEnd len="sm" w="sm" type="none"/>
            <a:tailEnd len="sm" w="sm" type="none"/>
          </a:ln>
          <a:effectLst>
            <a:outerShdw blurRad="76200" rotWithShape="0" dir="5400000" dist="25400">
              <a:srgbClr val="000000">
                <a:alpha val="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15"/>
          <p:cNvSpPr/>
          <p:nvPr/>
        </p:nvSpPr>
        <p:spPr>
          <a:xfrm>
            <a:off x="6108192" y="868680"/>
            <a:ext cx="73152" cy="100584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5"/>
          <p:cNvSpPr txBox="1"/>
          <p:nvPr/>
        </p:nvSpPr>
        <p:spPr>
          <a:xfrm>
            <a:off x="6272784" y="941832"/>
            <a:ext cx="2514600"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00" u="none" cap="none" strike="noStrike">
                <a:solidFill>
                  <a:srgbClr val="5A6072"/>
                </a:solidFill>
                <a:latin typeface="Calibri"/>
                <a:ea typeface="Calibri"/>
                <a:cs typeface="Calibri"/>
                <a:sym typeface="Calibri"/>
              </a:rPr>
              <a:t>Conversions</a:t>
            </a:r>
            <a:endParaRPr/>
          </a:p>
        </p:txBody>
      </p:sp>
      <p:sp>
        <p:nvSpPr>
          <p:cNvPr id="132" name="Google Shape;132;p15"/>
          <p:cNvSpPr txBox="1"/>
          <p:nvPr/>
        </p:nvSpPr>
        <p:spPr>
          <a:xfrm>
            <a:off x="6272784" y="1170432"/>
            <a:ext cx="2514600"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2200" u="none" cap="none" strike="noStrike">
                <a:solidFill>
                  <a:srgbClr val="1E2761"/>
                </a:solidFill>
                <a:latin typeface="Calibri"/>
                <a:ea typeface="Calibri"/>
                <a:cs typeface="Calibri"/>
                <a:sym typeface="Calibri"/>
              </a:rPr>
              <a:t>4</a:t>
            </a:r>
            <a:endParaRPr/>
          </a:p>
        </p:txBody>
      </p:sp>
      <p:sp>
        <p:nvSpPr>
          <p:cNvPr id="133" name="Google Shape;133;p15"/>
          <p:cNvSpPr txBox="1"/>
          <p:nvPr/>
        </p:nvSpPr>
        <p:spPr>
          <a:xfrm>
            <a:off x="6272784" y="1600200"/>
            <a:ext cx="2514600"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950" u="none" cap="none" strike="noStrike">
                <a:solidFill>
                  <a:srgbClr val="0F1535"/>
                </a:solidFill>
                <a:latin typeface="Calibri"/>
                <a:ea typeface="Calibri"/>
                <a:cs typeface="Calibri"/>
                <a:sym typeface="Calibri"/>
              </a:rPr>
              <a:t>CPA $3,985</a:t>
            </a:r>
            <a:endParaRPr/>
          </a:p>
        </p:txBody>
      </p:sp>
      <p:sp>
        <p:nvSpPr>
          <p:cNvPr id="134" name="Google Shape;134;p15"/>
          <p:cNvSpPr/>
          <p:nvPr/>
        </p:nvSpPr>
        <p:spPr>
          <a:xfrm>
            <a:off x="8979408" y="868680"/>
            <a:ext cx="2743200" cy="1005840"/>
          </a:xfrm>
          <a:prstGeom prst="rect">
            <a:avLst/>
          </a:prstGeom>
          <a:solidFill>
            <a:srgbClr val="FFFFFF"/>
          </a:solidFill>
          <a:ln cap="flat" cmpd="sng" w="9525">
            <a:solidFill>
              <a:srgbClr val="D0D4DC"/>
            </a:solidFill>
            <a:prstDash val="solid"/>
            <a:round/>
            <a:headEnd len="sm" w="sm" type="none"/>
            <a:tailEnd len="sm" w="sm" type="none"/>
          </a:ln>
          <a:effectLst>
            <a:outerShdw blurRad="76200" rotWithShape="0" dir="5400000" dist="25400">
              <a:srgbClr val="000000">
                <a:alpha val="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5"/>
          <p:cNvSpPr/>
          <p:nvPr/>
        </p:nvSpPr>
        <p:spPr>
          <a:xfrm>
            <a:off x="8979408" y="868680"/>
            <a:ext cx="73152" cy="100584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5"/>
          <p:cNvSpPr txBox="1"/>
          <p:nvPr/>
        </p:nvSpPr>
        <p:spPr>
          <a:xfrm>
            <a:off x="9144000" y="941832"/>
            <a:ext cx="2514600"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00" u="none" cap="none" strike="noStrike">
                <a:solidFill>
                  <a:srgbClr val="5A6072"/>
                </a:solidFill>
                <a:latin typeface="Calibri"/>
                <a:ea typeface="Calibri"/>
                <a:cs typeface="Calibri"/>
                <a:sym typeface="Calibri"/>
              </a:rPr>
              <a:t>Wasted spend</a:t>
            </a:r>
            <a:endParaRPr/>
          </a:p>
        </p:txBody>
      </p:sp>
      <p:sp>
        <p:nvSpPr>
          <p:cNvPr id="137" name="Google Shape;137;p15"/>
          <p:cNvSpPr txBox="1"/>
          <p:nvPr/>
        </p:nvSpPr>
        <p:spPr>
          <a:xfrm>
            <a:off x="9144000" y="1170432"/>
            <a:ext cx="2514600"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2200" u="none" cap="none" strike="noStrike">
                <a:solidFill>
                  <a:srgbClr val="1E2761"/>
                </a:solidFill>
                <a:latin typeface="Calibri"/>
                <a:ea typeface="Calibri"/>
                <a:cs typeface="Calibri"/>
                <a:sym typeface="Calibri"/>
              </a:rPr>
              <a:t>96.4%</a:t>
            </a:r>
            <a:endParaRPr/>
          </a:p>
        </p:txBody>
      </p:sp>
      <p:sp>
        <p:nvSpPr>
          <p:cNvPr id="138" name="Google Shape;138;p15"/>
          <p:cNvSpPr txBox="1"/>
          <p:nvPr/>
        </p:nvSpPr>
        <p:spPr>
          <a:xfrm>
            <a:off x="9144000" y="1600200"/>
            <a:ext cx="2514600"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950" u="none" cap="none" strike="noStrike">
                <a:solidFill>
                  <a:srgbClr val="0F1535"/>
                </a:solidFill>
                <a:latin typeface="Calibri"/>
                <a:ea typeface="Calibri"/>
                <a:cs typeface="Calibri"/>
                <a:sym typeface="Calibri"/>
              </a:rPr>
              <a:t>Of budget = 0 conv</a:t>
            </a:r>
            <a:endParaRPr/>
          </a:p>
        </p:txBody>
      </p:sp>
      <p:sp>
        <p:nvSpPr>
          <p:cNvPr id="139" name="Google Shape;139;p15"/>
          <p:cNvSpPr txBox="1"/>
          <p:nvPr/>
        </p:nvSpPr>
        <p:spPr>
          <a:xfrm>
            <a:off x="365760" y="2057400"/>
            <a:ext cx="5486400" cy="365760"/>
          </a:xfrm>
          <a:prstGeom prst="rect">
            <a:avLst/>
          </a:prstGeom>
          <a:noFill/>
          <a:ln>
            <a:noFill/>
          </a:ln>
        </p:spPr>
        <p:txBody>
          <a:bodyPr anchorCtr="0" anchor="t" bIns="18275" lIns="0" spcFirstLastPara="1" rIns="0" wrap="square" tIns="18275">
            <a:spAutoFit/>
          </a:bodyPr>
          <a:lstStyle/>
          <a:p>
            <a:pPr indent="0" lvl="0" marL="0" marR="0" rtl="0" algn="l">
              <a:spcBef>
                <a:spcPts val="0"/>
              </a:spcBef>
              <a:spcAft>
                <a:spcPts val="0"/>
              </a:spcAft>
              <a:buNone/>
            </a:pPr>
            <a:r>
              <a:rPr b="1" i="0" lang="en-US" sz="1600" u="none" cap="none" strike="noStrike">
                <a:solidFill>
                  <a:srgbClr val="1E2761"/>
                </a:solidFill>
                <a:latin typeface="Georgia"/>
                <a:ea typeface="Georgia"/>
                <a:cs typeface="Georgia"/>
                <a:sym typeface="Georgia"/>
              </a:rPr>
              <a:t>Device split</a:t>
            </a:r>
            <a:endParaRPr/>
          </a:p>
        </p:txBody>
      </p:sp>
      <p:graphicFrame>
        <p:nvGraphicFramePr>
          <p:cNvPr id="140" name="Google Shape;140;p15"/>
          <p:cNvGraphicFramePr/>
          <p:nvPr/>
        </p:nvGraphicFramePr>
        <p:xfrm>
          <a:off x="365760" y="2468880"/>
          <a:ext cx="3000000" cy="3000000"/>
        </p:xfrm>
        <a:graphic>
          <a:graphicData uri="http://schemas.openxmlformats.org/drawingml/2006/table">
            <a:tbl>
              <a:tblPr bandRow="1" firstRow="1">
                <a:noFill/>
                <a:tableStyleId>{626DB2E7-D5CD-46CD-8FBD-676A5DF2763B}</a:tableStyleId>
              </a:tblPr>
              <a:tblGrid>
                <a:gridCol w="1554475"/>
                <a:gridCol w="1280150"/>
                <a:gridCol w="1280150"/>
                <a:gridCol w="1463050"/>
              </a:tblGrid>
              <a:tr h="400050">
                <a:tc>
                  <a:txBody>
                    <a:bodyPr/>
                    <a:lstStyle/>
                    <a:p>
                      <a:pPr indent="0" lvl="0" marL="0" marR="0" rtl="0" algn="l">
                        <a:spcBef>
                          <a:spcPts val="0"/>
                        </a:spcBef>
                        <a:spcAft>
                          <a:spcPts val="0"/>
                        </a:spcAft>
                        <a:buNone/>
                      </a:pPr>
                      <a:r>
                        <a:rPr b="1" lang="en-US" sz="1050" u="none" cap="none" strike="noStrike">
                          <a:solidFill>
                            <a:srgbClr val="FFFFFF"/>
                          </a:solidFill>
                          <a:latin typeface="Calibri"/>
                          <a:ea typeface="Calibri"/>
                          <a:cs typeface="Calibri"/>
                          <a:sym typeface="Calibri"/>
                        </a:rPr>
                        <a:t>Device</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Spend %</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Conv</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CPA</a:t>
                      </a:r>
                      <a:endParaRPr/>
                    </a:p>
                  </a:txBody>
                  <a:tcPr marT="27425" marB="27425" marR="54875" marL="54875" anchor="ctr">
                    <a:solidFill>
                      <a:srgbClr val="1E2761"/>
                    </a:solidFill>
                  </a:tcPr>
                </a:tc>
              </a:tr>
              <a:tr h="4000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Mobile</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81.8%</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a:t>
                      </a:r>
                      <a:endParaRPr/>
                    </a:p>
                  </a:txBody>
                  <a:tcPr marT="27425" marB="27425" marR="54875" marL="54875" anchor="ctr">
                    <a:solidFill>
                      <a:srgbClr val="FFFFFF"/>
                    </a:solidFill>
                  </a:tcPr>
                </a:tc>
              </a:tr>
              <a:tr h="4000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Desktop</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18.0%</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3</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$940</a:t>
                      </a:r>
                      <a:endParaRPr/>
                    </a:p>
                  </a:txBody>
                  <a:tcPr marT="27425" marB="27425" marR="54875" marL="54875" anchor="ctr">
                    <a:solidFill>
                      <a:srgbClr val="F9FAFC"/>
                    </a:solidFill>
                  </a:tcPr>
                </a:tc>
              </a:tr>
              <a:tr h="4000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Tablet</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0.2%</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a:t>
                      </a:r>
                      <a:endParaRPr/>
                    </a:p>
                  </a:txBody>
                  <a:tcPr marT="27425" marB="27425" marR="54875" marL="54875" anchor="ctr">
                    <a:solidFill>
                      <a:srgbClr val="FFFFFF"/>
                    </a:solidFill>
                  </a:tcPr>
                </a:tc>
              </a:tr>
            </a:tbl>
          </a:graphicData>
        </a:graphic>
      </p:graphicFrame>
      <p:sp>
        <p:nvSpPr>
          <p:cNvPr id="141" name="Google Shape;141;p15"/>
          <p:cNvSpPr txBox="1"/>
          <p:nvPr/>
        </p:nvSpPr>
        <p:spPr>
          <a:xfrm>
            <a:off x="6263640" y="2057400"/>
            <a:ext cx="5486400" cy="365760"/>
          </a:xfrm>
          <a:prstGeom prst="rect">
            <a:avLst/>
          </a:prstGeom>
          <a:noFill/>
          <a:ln>
            <a:noFill/>
          </a:ln>
        </p:spPr>
        <p:txBody>
          <a:bodyPr anchorCtr="0" anchor="t" bIns="18275" lIns="0" spcFirstLastPara="1" rIns="0" wrap="square" tIns="18275">
            <a:spAutoFit/>
          </a:bodyPr>
          <a:lstStyle/>
          <a:p>
            <a:pPr indent="0" lvl="0" marL="0" marR="0" rtl="0" algn="l">
              <a:spcBef>
                <a:spcPts val="0"/>
              </a:spcBef>
              <a:spcAft>
                <a:spcPts val="0"/>
              </a:spcAft>
              <a:buNone/>
            </a:pPr>
            <a:r>
              <a:rPr b="1" i="0" lang="en-US" sz="1600" u="none" cap="none" strike="noStrike">
                <a:solidFill>
                  <a:srgbClr val="1E2761"/>
                </a:solidFill>
                <a:latin typeface="Georgia"/>
                <a:ea typeface="Georgia"/>
                <a:cs typeface="Georgia"/>
                <a:sym typeface="Georgia"/>
              </a:rPr>
              <a:t>Keyword concentration</a:t>
            </a:r>
            <a:endParaRPr/>
          </a:p>
        </p:txBody>
      </p:sp>
      <p:graphicFrame>
        <p:nvGraphicFramePr>
          <p:cNvPr id="142" name="Google Shape;142;p15"/>
          <p:cNvGraphicFramePr/>
          <p:nvPr/>
        </p:nvGraphicFramePr>
        <p:xfrm>
          <a:off x="6263640" y="2468880"/>
          <a:ext cx="3000000" cy="3000000"/>
        </p:xfrm>
        <a:graphic>
          <a:graphicData uri="http://schemas.openxmlformats.org/drawingml/2006/table">
            <a:tbl>
              <a:tblPr bandRow="1" firstRow="1">
                <a:noFill/>
                <a:tableStyleId>{626DB2E7-D5CD-46CD-8FBD-676A5DF2763B}</a:tableStyleId>
              </a:tblPr>
              <a:tblGrid>
                <a:gridCol w="1783075"/>
                <a:gridCol w="1097275"/>
                <a:gridCol w="960125"/>
                <a:gridCol w="777250"/>
                <a:gridCol w="960125"/>
              </a:tblGrid>
              <a:tr h="384050">
                <a:tc>
                  <a:txBody>
                    <a:bodyPr/>
                    <a:lstStyle/>
                    <a:p>
                      <a:pPr indent="0" lvl="0" marL="0" marR="0" rtl="0" algn="l">
                        <a:spcBef>
                          <a:spcPts val="0"/>
                        </a:spcBef>
                        <a:spcAft>
                          <a:spcPts val="0"/>
                        </a:spcAft>
                        <a:buNone/>
                      </a:pPr>
                      <a:r>
                        <a:rPr b="1" lang="en-US" sz="1050" u="none" cap="none" strike="noStrike">
                          <a:solidFill>
                            <a:srgbClr val="FFFFFF"/>
                          </a:solidFill>
                          <a:latin typeface="Calibri"/>
                          <a:ea typeface="Calibri"/>
                          <a:cs typeface="Calibri"/>
                          <a:sym typeface="Calibri"/>
                        </a:rPr>
                        <a:t>Category</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Spend</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 Total</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Conv</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CPA</a:t>
                      </a:r>
                      <a:endParaRPr/>
                    </a:p>
                  </a:txBody>
                  <a:tcPr marT="27425" marB="27425" marR="54875" marL="54875" anchor="ctr">
                    <a:solidFill>
                      <a:srgbClr val="1E2761"/>
                    </a:solidFill>
                  </a:tcPr>
                </a:tc>
              </a:tr>
              <a:tr h="3840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Non-converting KWs</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$15,448</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96.4%</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a:t>
                      </a:r>
                      <a:endParaRPr/>
                    </a:p>
                  </a:txBody>
                  <a:tcPr marT="27425" marB="27425" marR="54875" marL="54875" anchor="ctr">
                    <a:solidFill>
                      <a:srgbClr val="FFFFFF"/>
                    </a:solidFill>
                  </a:tcPr>
                </a:tc>
              </a:tr>
              <a:tr h="3840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Converting KWs</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$491</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3.6%</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4</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$123</a:t>
                      </a:r>
                      <a:endParaRPr/>
                    </a:p>
                  </a:txBody>
                  <a:tcPr marT="27425" marB="27425" marR="54875" marL="54875" anchor="ctr">
                    <a:solidFill>
                      <a:srgbClr val="F9FAFC"/>
                    </a:solidFill>
                  </a:tcPr>
                </a:tc>
              </a:tr>
              <a:tr h="3840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Top 2 phrase KWs</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$12,672</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79.5%</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a:t>
                      </a:r>
                      <a:endParaRPr/>
                    </a:p>
                  </a:txBody>
                  <a:tcPr marT="27425" marB="27425" marR="54875" marL="54875" anchor="ctr">
                    <a:solidFill>
                      <a:srgbClr val="FFFFFF"/>
                    </a:solidFill>
                  </a:tcPr>
                </a:tc>
              </a:tr>
              <a:tr h="3840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Brand exact-match</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$93</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0.6%</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3</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$31</a:t>
                      </a:r>
                      <a:endParaRPr/>
                    </a:p>
                  </a:txBody>
                  <a:tcPr marT="27425" marB="27425" marR="54875" marL="54875" anchor="ctr">
                    <a:solidFill>
                      <a:srgbClr val="F9FAFC"/>
                    </a:solidFill>
                  </a:tcPr>
                </a:tc>
              </a:tr>
            </a:tbl>
          </a:graphicData>
        </a:graphic>
      </p:graphicFrame>
      <p:sp>
        <p:nvSpPr>
          <p:cNvPr id="143" name="Google Shape;143;p15"/>
          <p:cNvSpPr/>
          <p:nvPr/>
        </p:nvSpPr>
        <p:spPr>
          <a:xfrm>
            <a:off x="365760" y="4572000"/>
            <a:ext cx="11475720" cy="1920240"/>
          </a:xfrm>
          <a:prstGeom prst="rect">
            <a:avLst/>
          </a:prstGeom>
          <a:solidFill>
            <a:srgbClr val="FFFFFF"/>
          </a:solidFill>
          <a:ln cap="flat" cmpd="sng" w="9525">
            <a:solidFill>
              <a:srgbClr val="D0D4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15"/>
          <p:cNvSpPr/>
          <p:nvPr/>
        </p:nvSpPr>
        <p:spPr>
          <a:xfrm>
            <a:off x="365760" y="4572000"/>
            <a:ext cx="73152" cy="192024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5"/>
          <p:cNvSpPr txBox="1"/>
          <p:nvPr/>
        </p:nvSpPr>
        <p:spPr>
          <a:xfrm>
            <a:off x="566928" y="4645152"/>
            <a:ext cx="11155800" cy="221700"/>
          </a:xfrm>
          <a:prstGeom prst="rect">
            <a:avLst/>
          </a:prstGeom>
          <a:noFill/>
          <a:ln>
            <a:noFill/>
          </a:ln>
        </p:spPr>
        <p:txBody>
          <a:bodyPr anchorCtr="0" anchor="t" bIns="18275" lIns="45700" spcFirstLastPara="1" rIns="45700" wrap="square" tIns="18275">
            <a:spAutoFit/>
          </a:bodyPr>
          <a:lstStyle/>
          <a:p>
            <a:pPr indent="0" lvl="0" marL="0" rtl="0" algn="l">
              <a:spcBef>
                <a:spcPts val="0"/>
              </a:spcBef>
              <a:spcAft>
                <a:spcPts val="0"/>
              </a:spcAft>
              <a:buNone/>
            </a:pPr>
            <a:r>
              <a:rPr b="1" lang="en-US" sz="1200">
                <a:solidFill>
                  <a:srgbClr val="1E2761"/>
                </a:solidFill>
                <a:latin typeface="Georgia"/>
                <a:ea typeface="Georgia"/>
                <a:cs typeface="Georgia"/>
                <a:sym typeface="Georgia"/>
              </a:rPr>
              <a:t>Highlights</a:t>
            </a:r>
            <a:endParaRPr b="1" sz="1200">
              <a:solidFill>
                <a:srgbClr val="1E2761"/>
              </a:solidFill>
              <a:latin typeface="Georgia"/>
              <a:ea typeface="Georgia"/>
              <a:cs typeface="Georgia"/>
              <a:sym typeface="Georgia"/>
            </a:endParaRPr>
          </a:p>
        </p:txBody>
      </p:sp>
      <p:sp>
        <p:nvSpPr>
          <p:cNvPr id="146" name="Google Shape;146;p15"/>
          <p:cNvSpPr txBox="1"/>
          <p:nvPr/>
        </p:nvSpPr>
        <p:spPr>
          <a:xfrm>
            <a:off x="566928" y="4983480"/>
            <a:ext cx="11109900" cy="747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50" u="none" cap="none" strike="noStrike">
                <a:solidFill>
                  <a:srgbClr val="1E2761"/>
                </a:solidFill>
                <a:latin typeface="Calibri"/>
                <a:ea typeface="Calibri"/>
                <a:cs typeface="Calibri"/>
                <a:sym typeface="Calibri"/>
              </a:rPr>
              <a:t>Search delivered healthy inputs: 11.83% CTR and $0.54 CPC are both strong for the category. </a:t>
            </a:r>
            <a:endParaRPr/>
          </a:p>
          <a:p>
            <a:pPr indent="0" lvl="0" marL="0" marR="0" rtl="0" algn="l">
              <a:spcBef>
                <a:spcPts val="500"/>
              </a:spcBef>
              <a:spcAft>
                <a:spcPts val="0"/>
              </a:spcAft>
              <a:buNone/>
            </a:pPr>
            <a:r>
              <a:rPr lang="en-US" sz="1050">
                <a:solidFill>
                  <a:srgbClr val="0F1535"/>
                </a:solidFill>
                <a:latin typeface="Calibri"/>
                <a:ea typeface="Calibri"/>
                <a:cs typeface="Calibri"/>
                <a:sym typeface="Calibri"/>
              </a:rPr>
              <a:t>Bing delivered an 11.83% CTR and $0.54 CPC — both strong for the financial services category. Conversions were concentrated on desktop, with 3 of 4 recorded there at a $940 CPA. The current campaign structure has budget distributed broadly across keyword groups. The optimization round delivered on 03.04 and approved on 03.30 restructures that allocation toward higher-performing segments. Approval and implementation of round 2 is the primary lever for improving Bing efficiency in April.</a:t>
            </a:r>
            <a:endParaRPr/>
          </a:p>
        </p:txBody>
      </p:sp>
      <p:sp>
        <p:nvSpPr>
          <p:cNvPr id="147" name="Google Shape;147;p15"/>
          <p:cNvSpPr/>
          <p:nvPr/>
        </p:nvSpPr>
        <p:spPr>
          <a:xfrm>
            <a:off x="0" y="6583680"/>
            <a:ext cx="12191695" cy="274320"/>
          </a:xfrm>
          <a:prstGeom prst="rect">
            <a:avLst/>
          </a:prstGeom>
          <a:solidFill>
            <a:srgbClr val="F4F6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15"/>
          <p:cNvSpPr txBox="1"/>
          <p:nvPr/>
        </p:nvSpPr>
        <p:spPr>
          <a:xfrm>
            <a:off x="365760" y="6601968"/>
            <a:ext cx="8229600" cy="256032"/>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0" i="0" lang="en-US" sz="900" u="none" cap="none" strike="noStrike">
                <a:solidFill>
                  <a:srgbClr val="5A6072"/>
                </a:solidFill>
                <a:latin typeface="Calibri"/>
                <a:ea typeface="Calibri"/>
                <a:cs typeface="Calibri"/>
                <a:sym typeface="Calibri"/>
              </a:rPr>
              <a:t>GGMI (LATAM / Mexico)  |  March 2026 Performance Review  |  Berelvant</a:t>
            </a:r>
            <a:endParaRPr/>
          </a:p>
        </p:txBody>
      </p:sp>
      <p:sp>
        <p:nvSpPr>
          <p:cNvPr id="149" name="Google Shape;149;p15"/>
          <p:cNvSpPr txBox="1"/>
          <p:nvPr/>
        </p:nvSpPr>
        <p:spPr>
          <a:xfrm>
            <a:off x="11247120" y="6601968"/>
            <a:ext cx="822960" cy="256032"/>
          </a:xfrm>
          <a:prstGeom prst="rect">
            <a:avLst/>
          </a:prstGeom>
          <a:noFill/>
          <a:ln>
            <a:noFill/>
          </a:ln>
        </p:spPr>
        <p:txBody>
          <a:bodyPr anchorCtr="0" anchor="ctr" bIns="18275" lIns="45700" spcFirstLastPara="1" rIns="45700" wrap="square" tIns="18275">
            <a:spAutoFit/>
          </a:bodyPr>
          <a:lstStyle/>
          <a:p>
            <a:pPr indent="0" lvl="0" marL="0" marR="0" rtl="0" algn="r">
              <a:spcBef>
                <a:spcPts val="0"/>
              </a:spcBef>
              <a:spcAft>
                <a:spcPts val="0"/>
              </a:spcAft>
              <a:buNone/>
            </a:pPr>
            <a:r>
              <a:rPr b="0" i="0" lang="en-US" sz="900" u="none" cap="none" strike="noStrike">
                <a:solidFill>
                  <a:srgbClr val="5A6072"/>
                </a:solidFill>
                <a:latin typeface="Calibri"/>
                <a:ea typeface="Calibri"/>
                <a:cs typeface="Calibri"/>
                <a:sym typeface="Calibri"/>
              </a:rPr>
              <a:t>3 / 9</a:t>
            </a:r>
            <a:endParaRPr/>
          </a:p>
        </p:txBody>
      </p:sp>
      <p:pic>
        <p:nvPicPr>
          <p:cNvPr id="150" name="Google Shape;150;p15" title="berelvant-logo.png"/>
          <p:cNvPicPr preferRelativeResize="0"/>
          <p:nvPr/>
        </p:nvPicPr>
        <p:blipFill>
          <a:blip r:embed="rId3">
            <a:alphaModFix/>
          </a:blip>
          <a:stretch>
            <a:fillRect/>
          </a:stretch>
        </p:blipFill>
        <p:spPr>
          <a:xfrm>
            <a:off x="11185838" y="68588"/>
            <a:ext cx="854075" cy="274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p:nvPr/>
        </p:nvSpPr>
        <p:spPr>
          <a:xfrm>
            <a:off x="0" y="0"/>
            <a:ext cx="12191695" cy="64008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16"/>
          <p:cNvSpPr/>
          <p:nvPr/>
        </p:nvSpPr>
        <p:spPr>
          <a:xfrm>
            <a:off x="0" y="640080"/>
            <a:ext cx="12191695" cy="36576"/>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6"/>
          <p:cNvSpPr txBox="1"/>
          <p:nvPr/>
        </p:nvSpPr>
        <p:spPr>
          <a:xfrm>
            <a:off x="365760" y="73152"/>
            <a:ext cx="9144000" cy="548640"/>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2600" u="none" cap="none" strike="noStrike">
                <a:solidFill>
                  <a:srgbClr val="FFFFFF"/>
                </a:solidFill>
                <a:latin typeface="Georgia"/>
                <a:ea typeface="Georgia"/>
                <a:cs typeface="Georgia"/>
                <a:sym typeface="Georgia"/>
              </a:rPr>
              <a:t>Bing Ads: Read and Recommendations</a:t>
            </a:r>
            <a:endParaRPr/>
          </a:p>
        </p:txBody>
      </p:sp>
      <p:sp>
        <p:nvSpPr>
          <p:cNvPr id="158" name="Google Shape;158;p16"/>
          <p:cNvSpPr/>
          <p:nvPr/>
        </p:nvSpPr>
        <p:spPr>
          <a:xfrm>
            <a:off x="365760" y="868680"/>
            <a:ext cx="5577840" cy="3886200"/>
          </a:xfrm>
          <a:prstGeom prst="rect">
            <a:avLst/>
          </a:prstGeom>
          <a:solidFill>
            <a:srgbClr val="FFFFFF"/>
          </a:solidFill>
          <a:ln cap="flat" cmpd="sng" w="9525">
            <a:solidFill>
              <a:srgbClr val="D0D4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6"/>
          <p:cNvSpPr/>
          <p:nvPr/>
        </p:nvSpPr>
        <p:spPr>
          <a:xfrm>
            <a:off x="365760" y="868680"/>
            <a:ext cx="73152" cy="3886200"/>
          </a:xfrm>
          <a:prstGeom prst="rect">
            <a:avLst/>
          </a:prstGeom>
          <a:solidFill>
            <a:srgbClr val="2E7D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6"/>
          <p:cNvSpPr txBox="1"/>
          <p:nvPr/>
        </p:nvSpPr>
        <p:spPr>
          <a:xfrm>
            <a:off x="566928" y="941832"/>
            <a:ext cx="5257800" cy="29260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200" u="none" cap="none" strike="noStrike">
                <a:solidFill>
                  <a:srgbClr val="1E2761"/>
                </a:solidFill>
                <a:latin typeface="Georgia"/>
                <a:ea typeface="Georgia"/>
                <a:cs typeface="Georgia"/>
                <a:sym typeface="Georgia"/>
              </a:rPr>
              <a:t>WHAT THE DATA SHOWS</a:t>
            </a:r>
            <a:endParaRPr/>
          </a:p>
        </p:txBody>
      </p:sp>
      <p:sp>
        <p:nvSpPr>
          <p:cNvPr id="161" name="Google Shape;161;p16"/>
          <p:cNvSpPr txBox="1"/>
          <p:nvPr/>
        </p:nvSpPr>
        <p:spPr>
          <a:xfrm>
            <a:off x="566928" y="1280160"/>
            <a:ext cx="5212200" cy="1807500"/>
          </a:xfrm>
          <a:prstGeom prst="rect">
            <a:avLst/>
          </a:prstGeom>
          <a:noFill/>
          <a:ln>
            <a:noFill/>
          </a:ln>
        </p:spPr>
        <p:txBody>
          <a:bodyPr anchorCtr="0" anchor="t" bIns="18275" lIns="45700" spcFirstLastPara="1" rIns="45700" wrap="square" tIns="18275">
            <a:spAutoFit/>
          </a:bodyPr>
          <a:lstStyle/>
          <a:p>
            <a:pPr indent="0" lvl="0" marL="0" rtl="0" algn="l">
              <a:lnSpc>
                <a:spcPct val="115000"/>
              </a:lnSpc>
              <a:spcBef>
                <a:spcPts val="1200"/>
              </a:spcBef>
              <a:spcAft>
                <a:spcPts val="0"/>
              </a:spcAft>
              <a:buNone/>
            </a:pPr>
            <a:r>
              <a:rPr b="1" lang="en-US" sz="1050">
                <a:solidFill>
                  <a:srgbClr val="1E2761"/>
                </a:solidFill>
                <a:latin typeface="Calibri"/>
                <a:ea typeface="Calibri"/>
                <a:cs typeface="Calibri"/>
                <a:sym typeface="Calibri"/>
              </a:rPr>
              <a:t>'forex' and 'forex.com' generated conversions at $36.65 and $19.71 CPA respectively. Brand_Trading_EXA delivered the strongest unit economics in the period at $87 CPA. These three units are where the account is performing.</a:t>
            </a:r>
            <a:endParaRPr b="1" sz="1050">
              <a:solidFill>
                <a:srgbClr val="1E2761"/>
              </a:solidFill>
              <a:latin typeface="Calibri"/>
              <a:ea typeface="Calibri"/>
              <a:cs typeface="Calibri"/>
              <a:sym typeface="Calibri"/>
            </a:endParaRPr>
          </a:p>
          <a:p>
            <a:pPr indent="0" lvl="0" marL="0" rtl="0" algn="l">
              <a:lnSpc>
                <a:spcPct val="115000"/>
              </a:lnSpc>
              <a:spcBef>
                <a:spcPts val="1200"/>
              </a:spcBef>
              <a:spcAft>
                <a:spcPts val="0"/>
              </a:spcAft>
              <a:buNone/>
            </a:pPr>
            <a:r>
              <a:rPr b="1" lang="en-US" sz="1050">
                <a:solidFill>
                  <a:srgbClr val="1E2761"/>
                </a:solidFill>
                <a:latin typeface="Calibri"/>
                <a:ea typeface="Calibri"/>
                <a:cs typeface="Calibri"/>
                <a:sym typeface="Calibri"/>
              </a:rPr>
              <a:t>Outside brand, conversion volume was low. Desktop drove all recorded conversions. Mobile absorbed the majority of spend with no conversions recorded — a pattern that optimization round 2 is specifically designed to address.</a:t>
            </a:r>
            <a:endParaRPr b="1" sz="1050">
              <a:solidFill>
                <a:srgbClr val="1E2761"/>
              </a:solidFill>
              <a:latin typeface="Calibri"/>
              <a:ea typeface="Calibri"/>
              <a:cs typeface="Calibri"/>
              <a:sym typeface="Calibri"/>
            </a:endParaRPr>
          </a:p>
          <a:p>
            <a:pPr indent="0" lvl="0" marL="0" rtl="0" algn="l">
              <a:lnSpc>
                <a:spcPct val="115000"/>
              </a:lnSpc>
              <a:spcBef>
                <a:spcPts val="1200"/>
              </a:spcBef>
              <a:spcAft>
                <a:spcPts val="1200"/>
              </a:spcAft>
              <a:buNone/>
            </a:pPr>
            <a:r>
              <a:rPr b="1" lang="en-US" sz="1050">
                <a:solidFill>
                  <a:srgbClr val="1E2761"/>
                </a:solidFill>
                <a:latin typeface="Calibri"/>
                <a:ea typeface="Calibri"/>
                <a:cs typeface="Calibri"/>
                <a:sym typeface="Calibri"/>
              </a:rPr>
              <a:t>The Bing auction in LATAM remains cost-efficient. The conditions to scale are in place once the restructure is implemented.</a:t>
            </a:r>
            <a:endParaRPr b="1" sz="1050">
              <a:solidFill>
                <a:srgbClr val="1E2761"/>
              </a:solidFill>
              <a:latin typeface="Calibri"/>
              <a:ea typeface="Calibri"/>
              <a:cs typeface="Calibri"/>
              <a:sym typeface="Calibri"/>
            </a:endParaRPr>
          </a:p>
        </p:txBody>
      </p:sp>
      <p:sp>
        <p:nvSpPr>
          <p:cNvPr id="162" name="Google Shape;162;p16"/>
          <p:cNvSpPr/>
          <p:nvPr/>
        </p:nvSpPr>
        <p:spPr>
          <a:xfrm>
            <a:off x="6263640" y="868680"/>
            <a:ext cx="5577840" cy="3886200"/>
          </a:xfrm>
          <a:prstGeom prst="rect">
            <a:avLst/>
          </a:prstGeom>
          <a:solidFill>
            <a:srgbClr val="FFFFFF"/>
          </a:solidFill>
          <a:ln cap="flat" cmpd="sng" w="9525">
            <a:solidFill>
              <a:srgbClr val="D0D4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6"/>
          <p:cNvSpPr/>
          <p:nvPr/>
        </p:nvSpPr>
        <p:spPr>
          <a:xfrm>
            <a:off x="6263640" y="868680"/>
            <a:ext cx="73152" cy="3886200"/>
          </a:xfrm>
          <a:prstGeom prst="rect">
            <a:avLst/>
          </a:prstGeom>
          <a:solidFill>
            <a:srgbClr val="E9B4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16"/>
          <p:cNvSpPr txBox="1"/>
          <p:nvPr/>
        </p:nvSpPr>
        <p:spPr>
          <a:xfrm>
            <a:off x="6464808" y="941832"/>
            <a:ext cx="5257800" cy="29260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200" u="none" cap="none" strike="noStrike">
                <a:solidFill>
                  <a:srgbClr val="1E2761"/>
                </a:solidFill>
                <a:latin typeface="Georgia"/>
                <a:ea typeface="Georgia"/>
                <a:cs typeface="Georgia"/>
                <a:sym typeface="Georgia"/>
              </a:rPr>
              <a:t>WHAT WE RECOMMEND</a:t>
            </a:r>
            <a:endParaRPr/>
          </a:p>
        </p:txBody>
      </p:sp>
      <p:sp>
        <p:nvSpPr>
          <p:cNvPr id="165" name="Google Shape;165;p16"/>
          <p:cNvSpPr txBox="1"/>
          <p:nvPr/>
        </p:nvSpPr>
        <p:spPr>
          <a:xfrm>
            <a:off x="6464808" y="1280160"/>
            <a:ext cx="5212200" cy="1589700"/>
          </a:xfrm>
          <a:prstGeom prst="rect">
            <a:avLst/>
          </a:prstGeom>
          <a:noFill/>
          <a:ln>
            <a:noFill/>
          </a:ln>
        </p:spPr>
        <p:txBody>
          <a:bodyPr anchorCtr="0" anchor="t" bIns="18275" lIns="45700" spcFirstLastPara="1" rIns="45700" wrap="square" tIns="18275">
            <a:spAutoFit/>
          </a:bodyPr>
          <a:lstStyle/>
          <a:p>
            <a:pPr indent="0" lvl="0" marL="0" marR="0" rtl="0" algn="l">
              <a:lnSpc>
                <a:spcPct val="115000"/>
              </a:lnSpc>
              <a:spcBef>
                <a:spcPts val="1200"/>
              </a:spcBef>
              <a:spcAft>
                <a:spcPts val="0"/>
              </a:spcAft>
              <a:buNone/>
            </a:pPr>
            <a:r>
              <a:rPr b="1" lang="en-US" sz="1050">
                <a:solidFill>
                  <a:srgbClr val="1E2761"/>
                </a:solidFill>
                <a:latin typeface="Calibri"/>
                <a:ea typeface="Calibri"/>
                <a:cs typeface="Calibri"/>
                <a:sym typeface="Calibri"/>
              </a:rPr>
              <a:t>Concentrate spend on proven brand units and implement the round 2 restructure.</a:t>
            </a:r>
            <a:endParaRPr b="1" sz="1050">
              <a:solidFill>
                <a:srgbClr val="1E2761"/>
              </a:solidFill>
              <a:latin typeface="Calibri"/>
              <a:ea typeface="Calibri"/>
              <a:cs typeface="Calibri"/>
              <a:sym typeface="Calibri"/>
            </a:endParaRPr>
          </a:p>
          <a:p>
            <a:pPr indent="0" lvl="0" marL="0" marR="0" rtl="0" algn="l">
              <a:lnSpc>
                <a:spcPct val="115000"/>
              </a:lnSpc>
              <a:spcBef>
                <a:spcPts val="1200"/>
              </a:spcBef>
              <a:spcAft>
                <a:spcPts val="0"/>
              </a:spcAft>
              <a:buNone/>
            </a:pPr>
            <a:r>
              <a:rPr b="1" lang="en-US" sz="1050">
                <a:solidFill>
                  <a:srgbClr val="1E2761"/>
                </a:solidFill>
                <a:latin typeface="Calibri"/>
                <a:ea typeface="Calibri"/>
                <a:cs typeface="Calibri"/>
                <a:sym typeface="Calibri"/>
              </a:rPr>
              <a:t>The second-round optimization build is approved on our end and pending client sign-off. Once cleared, budget reallocates toward the brand and high-intent segments that converted in March, while mobile allocation is adjusted based on performance data.</a:t>
            </a:r>
            <a:endParaRPr b="1" sz="1050">
              <a:solidFill>
                <a:srgbClr val="1E2761"/>
              </a:solidFill>
              <a:latin typeface="Calibri"/>
              <a:ea typeface="Calibri"/>
              <a:cs typeface="Calibri"/>
              <a:sym typeface="Calibri"/>
            </a:endParaRPr>
          </a:p>
          <a:p>
            <a:pPr indent="0" lvl="0" marL="0" marR="0" rtl="0" algn="l">
              <a:lnSpc>
                <a:spcPct val="115000"/>
              </a:lnSpc>
              <a:spcBef>
                <a:spcPts val="1200"/>
              </a:spcBef>
              <a:spcAft>
                <a:spcPts val="0"/>
              </a:spcAft>
              <a:buNone/>
            </a:pPr>
            <a:r>
              <a:rPr b="1" lang="en-US" sz="1050">
                <a:solidFill>
                  <a:srgbClr val="1E2761"/>
                </a:solidFill>
                <a:latin typeface="Calibri"/>
                <a:ea typeface="Calibri"/>
                <a:cs typeface="Calibri"/>
                <a:sym typeface="Calibri"/>
              </a:rPr>
              <a:t>This is the single highest-leverage action available in Bing this month.</a:t>
            </a:r>
            <a:endParaRPr sz="1100">
              <a:solidFill>
                <a:schemeClr val="dk1"/>
              </a:solidFill>
            </a:endParaRPr>
          </a:p>
          <a:p>
            <a:pPr indent="0" lvl="0" marL="0" marR="0" rtl="0" algn="l">
              <a:spcBef>
                <a:spcPts val="1200"/>
              </a:spcBef>
              <a:spcAft>
                <a:spcPts val="0"/>
              </a:spcAft>
              <a:buNone/>
            </a:pPr>
            <a:r>
              <a:t/>
            </a:r>
            <a:endParaRPr b="1" sz="1050">
              <a:solidFill>
                <a:srgbClr val="1E2761"/>
              </a:solidFill>
              <a:latin typeface="Calibri"/>
              <a:ea typeface="Calibri"/>
              <a:cs typeface="Calibri"/>
              <a:sym typeface="Calibri"/>
            </a:endParaRPr>
          </a:p>
        </p:txBody>
      </p:sp>
      <p:sp>
        <p:nvSpPr>
          <p:cNvPr id="166" name="Google Shape;166;p16"/>
          <p:cNvSpPr txBox="1"/>
          <p:nvPr/>
        </p:nvSpPr>
        <p:spPr>
          <a:xfrm>
            <a:off x="365760" y="4892040"/>
            <a:ext cx="10972800" cy="365760"/>
          </a:xfrm>
          <a:prstGeom prst="rect">
            <a:avLst/>
          </a:prstGeom>
          <a:noFill/>
          <a:ln>
            <a:noFill/>
          </a:ln>
        </p:spPr>
        <p:txBody>
          <a:bodyPr anchorCtr="0" anchor="t" bIns="18275" lIns="0" spcFirstLastPara="1" rIns="0" wrap="square" tIns="18275">
            <a:spAutoFit/>
          </a:bodyPr>
          <a:lstStyle/>
          <a:p>
            <a:pPr indent="0" lvl="0" marL="0" marR="0" rtl="0" algn="l">
              <a:spcBef>
                <a:spcPts val="0"/>
              </a:spcBef>
              <a:spcAft>
                <a:spcPts val="0"/>
              </a:spcAft>
              <a:buNone/>
            </a:pPr>
            <a:r>
              <a:rPr b="1" i="0" lang="en-US" sz="1500" u="none" cap="none" strike="noStrike">
                <a:solidFill>
                  <a:srgbClr val="1E2761"/>
                </a:solidFill>
                <a:latin typeface="Georgia"/>
                <a:ea typeface="Georgia"/>
                <a:cs typeface="Georgia"/>
                <a:sym typeface="Georgia"/>
              </a:rPr>
              <a:t>Next steps</a:t>
            </a:r>
            <a:endParaRPr/>
          </a:p>
        </p:txBody>
      </p:sp>
      <p:graphicFrame>
        <p:nvGraphicFramePr>
          <p:cNvPr id="167" name="Google Shape;167;p16"/>
          <p:cNvGraphicFramePr/>
          <p:nvPr/>
        </p:nvGraphicFramePr>
        <p:xfrm>
          <a:off x="365760" y="5257800"/>
          <a:ext cx="3000000" cy="3000000"/>
        </p:xfrm>
        <a:graphic>
          <a:graphicData uri="http://schemas.openxmlformats.org/drawingml/2006/table">
            <a:tbl>
              <a:tblPr bandRow="1" firstRow="1">
                <a:noFill/>
                <a:tableStyleId>{626DB2E7-D5CD-46CD-8FBD-676A5DF2763B}</a:tableStyleId>
              </a:tblPr>
              <a:tblGrid>
                <a:gridCol w="7223750"/>
                <a:gridCol w="2103125"/>
                <a:gridCol w="2103125"/>
              </a:tblGrid>
              <a:tr h="265175">
                <a:tc>
                  <a:txBody>
                    <a:bodyPr/>
                    <a:lstStyle/>
                    <a:p>
                      <a:pPr indent="0" lvl="0" marL="0" marR="0" rtl="0" algn="l">
                        <a:spcBef>
                          <a:spcPts val="0"/>
                        </a:spcBef>
                        <a:spcAft>
                          <a:spcPts val="0"/>
                        </a:spcAft>
                        <a:buNone/>
                      </a:pPr>
                      <a:r>
                        <a:rPr b="1" lang="en-US" sz="1050" u="none" cap="none" strike="noStrike">
                          <a:solidFill>
                            <a:srgbClr val="FFFFFF"/>
                          </a:solidFill>
                          <a:latin typeface="Calibri"/>
                          <a:ea typeface="Calibri"/>
                          <a:cs typeface="Calibri"/>
                          <a:sym typeface="Calibri"/>
                        </a:rPr>
                        <a:t>Action</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Owner</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Due</a:t>
                      </a:r>
                      <a:endParaRPr/>
                    </a:p>
                  </a:txBody>
                  <a:tcPr marT="27425" marB="27425" marR="54875" marL="54875" anchor="ctr">
                    <a:solidFill>
                      <a:srgbClr val="1E2761"/>
                    </a:solidFill>
                  </a:tcPr>
                </a:tc>
              </a:tr>
              <a:tr h="265175">
                <a:tc>
                  <a:txBody>
                    <a:bodyPr/>
                    <a:lstStyle/>
                    <a:p>
                      <a:pPr indent="0" lvl="0" marL="0" marR="0" rtl="0" algn="l">
                        <a:spcBef>
                          <a:spcPts val="0"/>
                        </a:spcBef>
                        <a:spcAft>
                          <a:spcPts val="0"/>
                        </a:spcAft>
                        <a:buNone/>
                      </a:pPr>
                      <a:r>
                        <a:rPr lang="en-US" sz="1000">
                          <a:solidFill>
                            <a:srgbClr val="0F1535"/>
                          </a:solidFill>
                        </a:rPr>
                        <a:t>Mobile bid adjustment + keyword restructure</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Berelvant</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Week of 04.14</a:t>
                      </a:r>
                      <a:endParaRPr/>
                    </a:p>
                  </a:txBody>
                  <a:tcPr marT="27425" marB="27425" marR="54875" marL="54875" anchor="ctr">
                    <a:solidFill>
                      <a:srgbClr val="FFFFFF"/>
                    </a:solidFill>
                  </a:tcPr>
                </a:tc>
              </a:tr>
              <a:tr h="265175">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Second-round optimization build approval</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a:solidFill>
                            <a:srgbClr val="0F1535"/>
                          </a:solidFill>
                        </a:rPr>
                        <a:t>FOREX</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Pending</a:t>
                      </a:r>
                      <a:endParaRPr/>
                    </a:p>
                  </a:txBody>
                  <a:tcPr marT="27425" marB="27425" marR="54875" marL="54875" anchor="ctr">
                    <a:solidFill>
                      <a:srgbClr val="FFFFFF"/>
                    </a:solidFill>
                  </a:tcPr>
                </a:tc>
              </a:tr>
              <a:tr h="265175">
                <a:tc>
                  <a:txBody>
                    <a:bodyPr/>
                    <a:lstStyle/>
                    <a:p>
                      <a:pPr indent="0" lvl="0" marL="0" marR="0" rtl="0" algn="l">
                        <a:spcBef>
                          <a:spcPts val="0"/>
                        </a:spcBef>
                        <a:spcAft>
                          <a:spcPts val="0"/>
                        </a:spcAft>
                        <a:buNone/>
                      </a:pPr>
                      <a:r>
                        <a:rPr lang="en-US" sz="1000">
                          <a:solidFill>
                            <a:srgbClr val="0F1535"/>
                          </a:solidFill>
                        </a:rPr>
                        <a:t>April performance checkpoint</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Berelvant + </a:t>
                      </a:r>
                      <a:r>
                        <a:rPr lang="en-US" sz="1000">
                          <a:solidFill>
                            <a:srgbClr val="0F1535"/>
                          </a:solidFill>
                        </a:rPr>
                        <a:t>FOREX</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04.30</a:t>
                      </a:r>
                      <a:endParaRPr/>
                    </a:p>
                  </a:txBody>
                  <a:tcPr marT="27425" marB="27425" marR="54875" marL="54875" anchor="ctr">
                    <a:solidFill>
                      <a:srgbClr val="F9FAFC"/>
                    </a:solidFill>
                  </a:tcPr>
                </a:tc>
              </a:tr>
            </a:tbl>
          </a:graphicData>
        </a:graphic>
      </p:graphicFrame>
      <p:sp>
        <p:nvSpPr>
          <p:cNvPr id="168" name="Google Shape;168;p16"/>
          <p:cNvSpPr/>
          <p:nvPr/>
        </p:nvSpPr>
        <p:spPr>
          <a:xfrm>
            <a:off x="0" y="6583680"/>
            <a:ext cx="12191695" cy="274320"/>
          </a:xfrm>
          <a:prstGeom prst="rect">
            <a:avLst/>
          </a:prstGeom>
          <a:solidFill>
            <a:srgbClr val="F4F6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6"/>
          <p:cNvSpPr txBox="1"/>
          <p:nvPr/>
        </p:nvSpPr>
        <p:spPr>
          <a:xfrm>
            <a:off x="365760" y="6601968"/>
            <a:ext cx="8229600" cy="256032"/>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0" i="0" lang="en-US" sz="900" u="none" cap="none" strike="noStrike">
                <a:solidFill>
                  <a:srgbClr val="5A6072"/>
                </a:solidFill>
                <a:latin typeface="Calibri"/>
                <a:ea typeface="Calibri"/>
                <a:cs typeface="Calibri"/>
                <a:sym typeface="Calibri"/>
              </a:rPr>
              <a:t>GGMI (LATAM / Mexico)  |  March 2026 Performance Review  |  Berelvant</a:t>
            </a:r>
            <a:endParaRPr/>
          </a:p>
        </p:txBody>
      </p:sp>
      <p:sp>
        <p:nvSpPr>
          <p:cNvPr id="170" name="Google Shape;170;p16"/>
          <p:cNvSpPr txBox="1"/>
          <p:nvPr/>
        </p:nvSpPr>
        <p:spPr>
          <a:xfrm>
            <a:off x="11247120" y="6601968"/>
            <a:ext cx="822960" cy="256032"/>
          </a:xfrm>
          <a:prstGeom prst="rect">
            <a:avLst/>
          </a:prstGeom>
          <a:noFill/>
          <a:ln>
            <a:noFill/>
          </a:ln>
        </p:spPr>
        <p:txBody>
          <a:bodyPr anchorCtr="0" anchor="ctr" bIns="18275" lIns="45700" spcFirstLastPara="1" rIns="45700" wrap="square" tIns="18275">
            <a:spAutoFit/>
          </a:bodyPr>
          <a:lstStyle/>
          <a:p>
            <a:pPr indent="0" lvl="0" marL="0" marR="0" rtl="0" algn="r">
              <a:spcBef>
                <a:spcPts val="0"/>
              </a:spcBef>
              <a:spcAft>
                <a:spcPts val="0"/>
              </a:spcAft>
              <a:buNone/>
            </a:pPr>
            <a:r>
              <a:rPr b="0" i="0" lang="en-US" sz="900" u="none" cap="none" strike="noStrike">
                <a:solidFill>
                  <a:srgbClr val="5A6072"/>
                </a:solidFill>
                <a:latin typeface="Calibri"/>
                <a:ea typeface="Calibri"/>
                <a:cs typeface="Calibri"/>
                <a:sym typeface="Calibri"/>
              </a:rPr>
              <a:t>4 / 9</a:t>
            </a:r>
            <a:endParaRPr/>
          </a:p>
        </p:txBody>
      </p:sp>
      <p:pic>
        <p:nvPicPr>
          <p:cNvPr id="171" name="Google Shape;171;p16" title="berelvant-logo.png"/>
          <p:cNvPicPr preferRelativeResize="0"/>
          <p:nvPr/>
        </p:nvPicPr>
        <p:blipFill>
          <a:blip r:embed="rId3">
            <a:alphaModFix/>
          </a:blip>
          <a:stretch>
            <a:fillRect/>
          </a:stretch>
        </p:blipFill>
        <p:spPr>
          <a:xfrm>
            <a:off x="11185838" y="68588"/>
            <a:ext cx="854075" cy="274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7"/>
          <p:cNvSpPr/>
          <p:nvPr/>
        </p:nvSpPr>
        <p:spPr>
          <a:xfrm>
            <a:off x="0" y="0"/>
            <a:ext cx="12191695" cy="64008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7"/>
          <p:cNvSpPr/>
          <p:nvPr/>
        </p:nvSpPr>
        <p:spPr>
          <a:xfrm>
            <a:off x="0" y="640080"/>
            <a:ext cx="12191695" cy="36576"/>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7"/>
          <p:cNvSpPr txBox="1"/>
          <p:nvPr/>
        </p:nvSpPr>
        <p:spPr>
          <a:xfrm>
            <a:off x="365760" y="73152"/>
            <a:ext cx="9144000" cy="548640"/>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2600" u="none" cap="none" strike="noStrike">
                <a:solidFill>
                  <a:srgbClr val="FFFFFF"/>
                </a:solidFill>
                <a:latin typeface="Georgia"/>
                <a:ea typeface="Georgia"/>
                <a:cs typeface="Georgia"/>
                <a:sym typeface="Georgia"/>
              </a:rPr>
              <a:t>Meta: Performance (Funnel + Trend)</a:t>
            </a:r>
            <a:endParaRPr/>
          </a:p>
        </p:txBody>
      </p:sp>
      <p:sp>
        <p:nvSpPr>
          <p:cNvPr id="179" name="Google Shape;179;p17"/>
          <p:cNvSpPr/>
          <p:nvPr/>
        </p:nvSpPr>
        <p:spPr>
          <a:xfrm>
            <a:off x="365760" y="868680"/>
            <a:ext cx="2761488" cy="960120"/>
          </a:xfrm>
          <a:prstGeom prst="rect">
            <a:avLst/>
          </a:prstGeom>
          <a:solidFill>
            <a:srgbClr val="FFFFFF"/>
          </a:solidFill>
          <a:ln cap="flat" cmpd="sng" w="9525">
            <a:solidFill>
              <a:srgbClr val="D0D4DC"/>
            </a:solidFill>
            <a:prstDash val="solid"/>
            <a:round/>
            <a:headEnd len="sm" w="sm" type="none"/>
            <a:tailEnd len="sm" w="sm" type="none"/>
          </a:ln>
          <a:effectLst>
            <a:outerShdw blurRad="76200" rotWithShape="0" dir="5400000" dist="25400">
              <a:srgbClr val="000000">
                <a:alpha val="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17"/>
          <p:cNvSpPr/>
          <p:nvPr/>
        </p:nvSpPr>
        <p:spPr>
          <a:xfrm>
            <a:off x="365760" y="868680"/>
            <a:ext cx="73152" cy="96012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7"/>
          <p:cNvSpPr txBox="1"/>
          <p:nvPr/>
        </p:nvSpPr>
        <p:spPr>
          <a:xfrm>
            <a:off x="530352" y="941832"/>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00" u="none" cap="none" strike="noStrike">
                <a:solidFill>
                  <a:srgbClr val="5A6072"/>
                </a:solidFill>
                <a:latin typeface="Calibri"/>
                <a:ea typeface="Calibri"/>
                <a:cs typeface="Calibri"/>
                <a:sym typeface="Calibri"/>
              </a:rPr>
              <a:t>Spend</a:t>
            </a:r>
            <a:endParaRPr/>
          </a:p>
        </p:txBody>
      </p:sp>
      <p:sp>
        <p:nvSpPr>
          <p:cNvPr id="182" name="Google Shape;182;p17"/>
          <p:cNvSpPr txBox="1"/>
          <p:nvPr/>
        </p:nvSpPr>
        <p:spPr>
          <a:xfrm>
            <a:off x="530352" y="1170432"/>
            <a:ext cx="2532888"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2200" u="none" cap="none" strike="noStrike">
                <a:solidFill>
                  <a:srgbClr val="1E2761"/>
                </a:solidFill>
                <a:latin typeface="Calibri"/>
                <a:ea typeface="Calibri"/>
                <a:cs typeface="Calibri"/>
                <a:sym typeface="Calibri"/>
              </a:rPr>
              <a:t>$3,631</a:t>
            </a:r>
            <a:endParaRPr/>
          </a:p>
        </p:txBody>
      </p:sp>
      <p:sp>
        <p:nvSpPr>
          <p:cNvPr id="183" name="Google Shape;183;p17"/>
          <p:cNvSpPr txBox="1"/>
          <p:nvPr/>
        </p:nvSpPr>
        <p:spPr>
          <a:xfrm>
            <a:off x="530352" y="1554480"/>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950" u="none" cap="none" strike="noStrike">
                <a:solidFill>
                  <a:srgbClr val="0F1535"/>
                </a:solidFill>
                <a:latin typeface="Calibri"/>
                <a:ea typeface="Calibri"/>
                <a:cs typeface="Calibri"/>
                <a:sym typeface="Calibri"/>
              </a:rPr>
              <a:t>Total</a:t>
            </a:r>
            <a:endParaRPr/>
          </a:p>
        </p:txBody>
      </p:sp>
      <p:sp>
        <p:nvSpPr>
          <p:cNvPr id="184" name="Google Shape;184;p17"/>
          <p:cNvSpPr/>
          <p:nvPr/>
        </p:nvSpPr>
        <p:spPr>
          <a:xfrm>
            <a:off x="3255264" y="868680"/>
            <a:ext cx="2761488" cy="960120"/>
          </a:xfrm>
          <a:prstGeom prst="rect">
            <a:avLst/>
          </a:prstGeom>
          <a:solidFill>
            <a:srgbClr val="FFFFFF"/>
          </a:solidFill>
          <a:ln cap="flat" cmpd="sng" w="9525">
            <a:solidFill>
              <a:srgbClr val="D0D4DC"/>
            </a:solidFill>
            <a:prstDash val="solid"/>
            <a:round/>
            <a:headEnd len="sm" w="sm" type="none"/>
            <a:tailEnd len="sm" w="sm" type="none"/>
          </a:ln>
          <a:effectLst>
            <a:outerShdw blurRad="76200" rotWithShape="0" dir="5400000" dist="25400">
              <a:srgbClr val="000000">
                <a:alpha val="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7"/>
          <p:cNvSpPr/>
          <p:nvPr/>
        </p:nvSpPr>
        <p:spPr>
          <a:xfrm>
            <a:off x="3255264" y="868680"/>
            <a:ext cx="73152" cy="96012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17"/>
          <p:cNvSpPr txBox="1"/>
          <p:nvPr/>
        </p:nvSpPr>
        <p:spPr>
          <a:xfrm>
            <a:off x="3419856" y="941832"/>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00" u="none" cap="none" strike="noStrike">
                <a:solidFill>
                  <a:srgbClr val="5A6072"/>
                </a:solidFill>
                <a:latin typeface="Calibri"/>
                <a:ea typeface="Calibri"/>
                <a:cs typeface="Calibri"/>
                <a:sym typeface="Calibri"/>
              </a:rPr>
              <a:t>Link clicks / CPC</a:t>
            </a:r>
            <a:endParaRPr/>
          </a:p>
        </p:txBody>
      </p:sp>
      <p:sp>
        <p:nvSpPr>
          <p:cNvPr id="187" name="Google Shape;187;p17"/>
          <p:cNvSpPr txBox="1"/>
          <p:nvPr/>
        </p:nvSpPr>
        <p:spPr>
          <a:xfrm>
            <a:off x="3419856" y="1170432"/>
            <a:ext cx="2532888"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800" u="none" cap="none" strike="noStrike">
                <a:solidFill>
                  <a:srgbClr val="1E2761"/>
                </a:solidFill>
                <a:latin typeface="Calibri"/>
                <a:ea typeface="Calibri"/>
                <a:cs typeface="Calibri"/>
                <a:sym typeface="Calibri"/>
              </a:rPr>
              <a:t>36,423 / $0.10</a:t>
            </a:r>
            <a:endParaRPr/>
          </a:p>
        </p:txBody>
      </p:sp>
      <p:sp>
        <p:nvSpPr>
          <p:cNvPr id="188" name="Google Shape;188;p17"/>
          <p:cNvSpPr txBox="1"/>
          <p:nvPr/>
        </p:nvSpPr>
        <p:spPr>
          <a:xfrm>
            <a:off x="3419856" y="1554480"/>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950" u="none" cap="none" strike="noStrike">
                <a:solidFill>
                  <a:srgbClr val="0F1535"/>
                </a:solidFill>
                <a:latin typeface="Calibri"/>
                <a:ea typeface="Calibri"/>
                <a:cs typeface="Calibri"/>
                <a:sym typeface="Calibri"/>
              </a:rPr>
              <a:t>CPM $4.57</a:t>
            </a:r>
            <a:endParaRPr/>
          </a:p>
        </p:txBody>
      </p:sp>
      <p:sp>
        <p:nvSpPr>
          <p:cNvPr id="189" name="Google Shape;189;p17"/>
          <p:cNvSpPr/>
          <p:nvPr/>
        </p:nvSpPr>
        <p:spPr>
          <a:xfrm>
            <a:off x="6144768" y="868680"/>
            <a:ext cx="2761488" cy="960120"/>
          </a:xfrm>
          <a:prstGeom prst="rect">
            <a:avLst/>
          </a:prstGeom>
          <a:solidFill>
            <a:srgbClr val="FFFFFF"/>
          </a:solidFill>
          <a:ln cap="flat" cmpd="sng" w="9525">
            <a:solidFill>
              <a:srgbClr val="D0D4DC"/>
            </a:solidFill>
            <a:prstDash val="solid"/>
            <a:round/>
            <a:headEnd len="sm" w="sm" type="none"/>
            <a:tailEnd len="sm" w="sm" type="none"/>
          </a:ln>
          <a:effectLst>
            <a:outerShdw blurRad="76200" rotWithShape="0" dir="5400000" dist="25400">
              <a:srgbClr val="000000">
                <a:alpha val="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17"/>
          <p:cNvSpPr/>
          <p:nvPr/>
        </p:nvSpPr>
        <p:spPr>
          <a:xfrm>
            <a:off x="6144768" y="868680"/>
            <a:ext cx="73152" cy="96012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7"/>
          <p:cNvSpPr txBox="1"/>
          <p:nvPr/>
        </p:nvSpPr>
        <p:spPr>
          <a:xfrm>
            <a:off x="6309360" y="941832"/>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00" u="none" cap="none" strike="noStrike">
                <a:solidFill>
                  <a:srgbClr val="5A6072"/>
                </a:solidFill>
                <a:latin typeface="Calibri"/>
                <a:ea typeface="Calibri"/>
                <a:cs typeface="Calibri"/>
                <a:sym typeface="Calibri"/>
              </a:rPr>
              <a:t>Start / Submit Apps</a:t>
            </a:r>
            <a:endParaRPr/>
          </a:p>
        </p:txBody>
      </p:sp>
      <p:sp>
        <p:nvSpPr>
          <p:cNvPr id="192" name="Google Shape;192;p17"/>
          <p:cNvSpPr txBox="1"/>
          <p:nvPr/>
        </p:nvSpPr>
        <p:spPr>
          <a:xfrm>
            <a:off x="6309360" y="1170432"/>
            <a:ext cx="2532888"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2200" u="none" cap="none" strike="noStrike">
                <a:solidFill>
                  <a:srgbClr val="1E2761"/>
                </a:solidFill>
                <a:latin typeface="Calibri"/>
                <a:ea typeface="Calibri"/>
                <a:cs typeface="Calibri"/>
                <a:sym typeface="Calibri"/>
              </a:rPr>
              <a:t>912 / 3</a:t>
            </a:r>
            <a:endParaRPr/>
          </a:p>
        </p:txBody>
      </p:sp>
      <p:sp>
        <p:nvSpPr>
          <p:cNvPr id="193" name="Google Shape;193;p17"/>
          <p:cNvSpPr txBox="1"/>
          <p:nvPr/>
        </p:nvSpPr>
        <p:spPr>
          <a:xfrm>
            <a:off x="6309360" y="1554480"/>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950" u="none" cap="none" strike="noStrike">
                <a:solidFill>
                  <a:srgbClr val="0F1535"/>
                </a:solidFill>
                <a:latin typeface="Calibri"/>
                <a:ea typeface="Calibri"/>
                <a:cs typeface="Calibri"/>
                <a:sym typeface="Calibri"/>
              </a:rPr>
              <a:t>$3.98 / $1,210</a:t>
            </a:r>
            <a:endParaRPr/>
          </a:p>
        </p:txBody>
      </p:sp>
      <p:sp>
        <p:nvSpPr>
          <p:cNvPr id="194" name="Google Shape;194;p17"/>
          <p:cNvSpPr/>
          <p:nvPr/>
        </p:nvSpPr>
        <p:spPr>
          <a:xfrm>
            <a:off x="9034272" y="868680"/>
            <a:ext cx="2761488" cy="960120"/>
          </a:xfrm>
          <a:prstGeom prst="rect">
            <a:avLst/>
          </a:prstGeom>
          <a:solidFill>
            <a:srgbClr val="FFFFFF"/>
          </a:solidFill>
          <a:ln cap="flat" cmpd="sng" w="9525">
            <a:solidFill>
              <a:srgbClr val="D0D4DC"/>
            </a:solidFill>
            <a:prstDash val="solid"/>
            <a:round/>
            <a:headEnd len="sm" w="sm" type="none"/>
            <a:tailEnd len="sm" w="sm" type="none"/>
          </a:ln>
          <a:effectLst>
            <a:outerShdw blurRad="76200" rotWithShape="0" dir="5400000" dist="25400">
              <a:srgbClr val="000000">
                <a:alpha val="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17"/>
          <p:cNvSpPr/>
          <p:nvPr/>
        </p:nvSpPr>
        <p:spPr>
          <a:xfrm>
            <a:off x="9034272" y="868680"/>
            <a:ext cx="73152" cy="96012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17"/>
          <p:cNvSpPr txBox="1"/>
          <p:nvPr/>
        </p:nvSpPr>
        <p:spPr>
          <a:xfrm>
            <a:off x="9198864" y="941832"/>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00" u="none" cap="none" strike="noStrike">
                <a:solidFill>
                  <a:srgbClr val="5A6072"/>
                </a:solidFill>
                <a:latin typeface="Calibri"/>
                <a:ea typeface="Calibri"/>
                <a:cs typeface="Calibri"/>
                <a:sym typeface="Calibri"/>
              </a:rPr>
              <a:t>Reach / Freq</a:t>
            </a:r>
            <a:endParaRPr/>
          </a:p>
        </p:txBody>
      </p:sp>
      <p:sp>
        <p:nvSpPr>
          <p:cNvPr id="197" name="Google Shape;197;p17"/>
          <p:cNvSpPr txBox="1"/>
          <p:nvPr/>
        </p:nvSpPr>
        <p:spPr>
          <a:xfrm>
            <a:off x="9198864" y="1170432"/>
            <a:ext cx="2532888"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2000" u="none" cap="none" strike="noStrike">
                <a:solidFill>
                  <a:srgbClr val="1E2761"/>
                </a:solidFill>
                <a:latin typeface="Calibri"/>
                <a:ea typeface="Calibri"/>
                <a:cs typeface="Calibri"/>
                <a:sym typeface="Calibri"/>
              </a:rPr>
              <a:t>304K / 2.61x</a:t>
            </a:r>
            <a:endParaRPr/>
          </a:p>
        </p:txBody>
      </p:sp>
      <p:sp>
        <p:nvSpPr>
          <p:cNvPr id="198" name="Google Shape;198;p17"/>
          <p:cNvSpPr txBox="1"/>
          <p:nvPr/>
        </p:nvSpPr>
        <p:spPr>
          <a:xfrm>
            <a:off x="9198864" y="1554480"/>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950" u="none" cap="none" strike="noStrike">
                <a:solidFill>
                  <a:srgbClr val="0F1535"/>
                </a:solidFill>
                <a:latin typeface="Calibri"/>
                <a:ea typeface="Calibri"/>
                <a:cs typeface="Calibri"/>
                <a:sym typeface="Calibri"/>
              </a:rPr>
              <a:t>Healthy</a:t>
            </a:r>
            <a:endParaRPr/>
          </a:p>
        </p:txBody>
      </p:sp>
      <p:sp>
        <p:nvSpPr>
          <p:cNvPr id="199" name="Google Shape;199;p17"/>
          <p:cNvSpPr txBox="1"/>
          <p:nvPr/>
        </p:nvSpPr>
        <p:spPr>
          <a:xfrm>
            <a:off x="365760" y="1965960"/>
            <a:ext cx="5486400" cy="365760"/>
          </a:xfrm>
          <a:prstGeom prst="rect">
            <a:avLst/>
          </a:prstGeom>
          <a:noFill/>
          <a:ln>
            <a:noFill/>
          </a:ln>
        </p:spPr>
        <p:txBody>
          <a:bodyPr anchorCtr="0" anchor="t" bIns="18275" lIns="0" spcFirstLastPara="1" rIns="0" wrap="square" tIns="18275">
            <a:spAutoFit/>
          </a:bodyPr>
          <a:lstStyle/>
          <a:p>
            <a:pPr indent="0" lvl="0" marL="0" marR="0" rtl="0" algn="l">
              <a:spcBef>
                <a:spcPts val="0"/>
              </a:spcBef>
              <a:spcAft>
                <a:spcPts val="0"/>
              </a:spcAft>
              <a:buNone/>
            </a:pPr>
            <a:r>
              <a:rPr b="1" i="0" lang="en-US" sz="1400" u="none" cap="none" strike="noStrike">
                <a:solidFill>
                  <a:srgbClr val="1E2761"/>
                </a:solidFill>
                <a:latin typeface="Georgia"/>
                <a:ea typeface="Georgia"/>
                <a:cs typeface="Georgia"/>
                <a:sym typeface="Georgia"/>
              </a:rPr>
              <a:t>Funnel: Leads Campaign (paused mid-month)</a:t>
            </a:r>
            <a:endParaRPr/>
          </a:p>
        </p:txBody>
      </p:sp>
      <p:graphicFrame>
        <p:nvGraphicFramePr>
          <p:cNvPr id="200" name="Google Shape;200;p17"/>
          <p:cNvGraphicFramePr/>
          <p:nvPr/>
        </p:nvGraphicFramePr>
        <p:xfrm>
          <a:off x="365760" y="2377440"/>
          <a:ext cx="3000000" cy="3000000"/>
        </p:xfrm>
        <a:graphic>
          <a:graphicData uri="http://schemas.openxmlformats.org/drawingml/2006/table">
            <a:tbl>
              <a:tblPr bandRow="1" firstRow="1">
                <a:noFill/>
                <a:tableStyleId>{626DB2E7-D5CD-46CD-8FBD-676A5DF2763B}</a:tableStyleId>
              </a:tblPr>
              <a:tblGrid>
                <a:gridCol w="1920250"/>
                <a:gridCol w="1645925"/>
                <a:gridCol w="2011675"/>
              </a:tblGrid>
              <a:tr h="396250">
                <a:tc>
                  <a:txBody>
                    <a:bodyPr/>
                    <a:lstStyle/>
                    <a:p>
                      <a:pPr indent="0" lvl="0" marL="0" marR="0" rtl="0" algn="l">
                        <a:spcBef>
                          <a:spcPts val="0"/>
                        </a:spcBef>
                        <a:spcAft>
                          <a:spcPts val="0"/>
                        </a:spcAft>
                        <a:buNone/>
                      </a:pPr>
                      <a:r>
                        <a:rPr b="1" lang="en-US" sz="1050" u="none" cap="none" strike="noStrike">
                          <a:solidFill>
                            <a:srgbClr val="FFFFFF"/>
                          </a:solidFill>
                          <a:latin typeface="Calibri"/>
                          <a:ea typeface="Calibri"/>
                          <a:cs typeface="Calibri"/>
                          <a:sym typeface="Calibri"/>
                        </a:rPr>
                        <a:t>Step</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Value</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Rate</a:t>
                      </a:r>
                      <a:endParaRPr/>
                    </a:p>
                  </a:txBody>
                  <a:tcPr marT="27425" marB="27425" marR="54875" marL="54875" anchor="ctr">
                    <a:solidFill>
                      <a:srgbClr val="1E2761"/>
                    </a:solidFill>
                  </a:tcPr>
                </a:tc>
              </a:tr>
              <a:tr h="3962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Impressions</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36,549</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a:t>
                      </a:r>
                      <a:endParaRPr/>
                    </a:p>
                  </a:txBody>
                  <a:tcPr marT="27425" marB="27425" marR="54875" marL="54875" anchor="ctr">
                    <a:solidFill>
                      <a:srgbClr val="FFFFFF"/>
                    </a:solidFill>
                  </a:tcPr>
                </a:tc>
              </a:tr>
              <a:tr h="3962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Link Clicks</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10,983</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30.05% CTR</a:t>
                      </a:r>
                      <a:endParaRPr/>
                    </a:p>
                  </a:txBody>
                  <a:tcPr marT="27425" marB="27425" marR="54875" marL="54875" anchor="ctr">
                    <a:solidFill>
                      <a:srgbClr val="F9FAFC"/>
                    </a:solidFill>
                  </a:tcPr>
                </a:tc>
              </a:tr>
              <a:tr h="3962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LPV</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2,091</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19.0% LPV/Click</a:t>
                      </a:r>
                      <a:endParaRPr/>
                    </a:p>
                  </a:txBody>
                  <a:tcPr marT="27425" marB="27425" marR="54875" marL="54875" anchor="ctr">
                    <a:solidFill>
                      <a:srgbClr val="FFFFFF"/>
                    </a:solidFill>
                  </a:tcPr>
                </a:tc>
              </a:tr>
              <a:tr h="3962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Start App</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911</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43.6% Start/LPV</a:t>
                      </a:r>
                      <a:endParaRPr/>
                    </a:p>
                  </a:txBody>
                  <a:tcPr marT="27425" marB="27425" marR="54875" marL="54875" anchor="ctr">
                    <a:solidFill>
                      <a:srgbClr val="F9FAFC"/>
                    </a:solidFill>
                  </a:tcPr>
                </a:tc>
              </a:tr>
              <a:tr h="3962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Submitted App</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3</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0.33% Submit/Start</a:t>
                      </a:r>
                      <a:endParaRPr/>
                    </a:p>
                  </a:txBody>
                  <a:tcPr marT="27425" marB="27425" marR="54875" marL="54875" anchor="ctr">
                    <a:solidFill>
                      <a:srgbClr val="FFFFFF"/>
                    </a:solidFill>
                  </a:tcPr>
                </a:tc>
              </a:tr>
            </a:tbl>
          </a:graphicData>
        </a:graphic>
      </p:graphicFrame>
      <p:sp>
        <p:nvSpPr>
          <p:cNvPr id="201" name="Google Shape;201;p17"/>
          <p:cNvSpPr txBox="1"/>
          <p:nvPr/>
        </p:nvSpPr>
        <p:spPr>
          <a:xfrm>
            <a:off x="6263640" y="1965960"/>
            <a:ext cx="5486400" cy="365760"/>
          </a:xfrm>
          <a:prstGeom prst="rect">
            <a:avLst/>
          </a:prstGeom>
          <a:noFill/>
          <a:ln>
            <a:noFill/>
          </a:ln>
        </p:spPr>
        <p:txBody>
          <a:bodyPr anchorCtr="0" anchor="t" bIns="18275" lIns="0" spcFirstLastPara="1" rIns="0" wrap="square" tIns="18275">
            <a:spAutoFit/>
          </a:bodyPr>
          <a:lstStyle/>
          <a:p>
            <a:pPr indent="0" lvl="0" marL="0" marR="0" rtl="0" algn="l">
              <a:spcBef>
                <a:spcPts val="0"/>
              </a:spcBef>
              <a:spcAft>
                <a:spcPts val="0"/>
              </a:spcAft>
              <a:buNone/>
            </a:pPr>
            <a:r>
              <a:rPr b="1" i="0" lang="en-US" sz="1400" u="none" cap="none" strike="noStrike">
                <a:solidFill>
                  <a:srgbClr val="1E2761"/>
                </a:solidFill>
                <a:latin typeface="Georgia"/>
                <a:ea typeface="Georgia"/>
                <a:cs typeface="Georgia"/>
                <a:sym typeface="Georgia"/>
              </a:rPr>
              <a:t>Funnel: CTR Campaign (launched 3/16)</a:t>
            </a:r>
            <a:endParaRPr/>
          </a:p>
        </p:txBody>
      </p:sp>
      <p:graphicFrame>
        <p:nvGraphicFramePr>
          <p:cNvPr id="202" name="Google Shape;202;p17"/>
          <p:cNvGraphicFramePr/>
          <p:nvPr/>
        </p:nvGraphicFramePr>
        <p:xfrm>
          <a:off x="6263640" y="2377440"/>
          <a:ext cx="3000000" cy="3000000"/>
        </p:xfrm>
        <a:graphic>
          <a:graphicData uri="http://schemas.openxmlformats.org/drawingml/2006/table">
            <a:tbl>
              <a:tblPr bandRow="1" firstRow="1">
                <a:noFill/>
                <a:tableStyleId>{626DB2E7-D5CD-46CD-8FBD-676A5DF2763B}</a:tableStyleId>
              </a:tblPr>
              <a:tblGrid>
                <a:gridCol w="1920250"/>
                <a:gridCol w="1645925"/>
                <a:gridCol w="2011675"/>
              </a:tblGrid>
              <a:tr h="396250">
                <a:tc>
                  <a:txBody>
                    <a:bodyPr/>
                    <a:lstStyle/>
                    <a:p>
                      <a:pPr indent="0" lvl="0" marL="0" marR="0" rtl="0" algn="l">
                        <a:spcBef>
                          <a:spcPts val="0"/>
                        </a:spcBef>
                        <a:spcAft>
                          <a:spcPts val="0"/>
                        </a:spcAft>
                        <a:buNone/>
                      </a:pPr>
                      <a:r>
                        <a:rPr b="1" lang="en-US" sz="1050" u="none" cap="none" strike="noStrike">
                          <a:solidFill>
                            <a:srgbClr val="FFFFFF"/>
                          </a:solidFill>
                          <a:latin typeface="Calibri"/>
                          <a:ea typeface="Calibri"/>
                          <a:cs typeface="Calibri"/>
                          <a:sym typeface="Calibri"/>
                        </a:rPr>
                        <a:t>Step</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Value</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Rate</a:t>
                      </a:r>
                      <a:endParaRPr/>
                    </a:p>
                  </a:txBody>
                  <a:tcPr marT="27425" marB="27425" marR="54875" marL="54875" anchor="ctr">
                    <a:solidFill>
                      <a:srgbClr val="1E2761"/>
                    </a:solidFill>
                  </a:tcPr>
                </a:tc>
              </a:tr>
              <a:tr h="3962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Impressions</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757,562</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a:t>
                      </a:r>
                      <a:endParaRPr/>
                    </a:p>
                  </a:txBody>
                  <a:tcPr marT="27425" marB="27425" marR="54875" marL="54875" anchor="ctr">
                    <a:solidFill>
                      <a:srgbClr val="FFFFFF"/>
                    </a:solidFill>
                  </a:tcPr>
                </a:tc>
              </a:tr>
              <a:tr h="3962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Link Clicks</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25,440</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3.36% CTR</a:t>
                      </a:r>
                      <a:endParaRPr/>
                    </a:p>
                  </a:txBody>
                  <a:tcPr marT="27425" marB="27425" marR="54875" marL="54875" anchor="ctr">
                    <a:solidFill>
                      <a:srgbClr val="F9FAFC"/>
                    </a:solidFill>
                  </a:tcPr>
                </a:tc>
              </a:tr>
              <a:tr h="3962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LPV</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12,073</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47.5% LPV/Click</a:t>
                      </a:r>
                      <a:endParaRPr/>
                    </a:p>
                  </a:txBody>
                  <a:tcPr marT="27425" marB="27425" marR="54875" marL="54875" anchor="ctr">
                    <a:solidFill>
                      <a:srgbClr val="FFFFFF"/>
                    </a:solidFill>
                  </a:tcPr>
                </a:tc>
              </a:tr>
              <a:tr h="3962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Start App</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0.01% Start/LPV</a:t>
                      </a:r>
                      <a:endParaRPr/>
                    </a:p>
                  </a:txBody>
                  <a:tcPr marT="27425" marB="27425" marR="54875" marL="54875" anchor="ctr">
                    <a:solidFill>
                      <a:srgbClr val="F9FAFC"/>
                    </a:solidFill>
                  </a:tcPr>
                </a:tc>
              </a:tr>
              <a:tr h="396250">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Submitted App</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a:t>
                      </a:r>
                      <a:endParaRPr/>
                    </a:p>
                  </a:txBody>
                  <a:tcPr marT="27425" marB="27425" marR="54875" marL="54875" anchor="ctr">
                    <a:solidFill>
                      <a:srgbClr val="FFFFFF"/>
                    </a:solidFill>
                  </a:tcPr>
                </a:tc>
              </a:tr>
            </a:tbl>
          </a:graphicData>
        </a:graphic>
      </p:graphicFrame>
      <p:sp>
        <p:nvSpPr>
          <p:cNvPr id="203" name="Google Shape;203;p17"/>
          <p:cNvSpPr/>
          <p:nvPr/>
        </p:nvSpPr>
        <p:spPr>
          <a:xfrm>
            <a:off x="365760" y="4937760"/>
            <a:ext cx="11475720" cy="1600200"/>
          </a:xfrm>
          <a:prstGeom prst="rect">
            <a:avLst/>
          </a:prstGeom>
          <a:solidFill>
            <a:srgbClr val="FFFFFF"/>
          </a:solidFill>
          <a:ln cap="flat" cmpd="sng" w="9525">
            <a:solidFill>
              <a:srgbClr val="D0D4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17"/>
          <p:cNvSpPr/>
          <p:nvPr/>
        </p:nvSpPr>
        <p:spPr>
          <a:xfrm>
            <a:off x="365760" y="4937760"/>
            <a:ext cx="73152" cy="1600200"/>
          </a:xfrm>
          <a:prstGeom prst="rect">
            <a:avLst/>
          </a:prstGeom>
          <a:solidFill>
            <a:srgbClr val="E9B4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17"/>
          <p:cNvSpPr txBox="1"/>
          <p:nvPr/>
        </p:nvSpPr>
        <p:spPr>
          <a:xfrm>
            <a:off x="566928" y="5010912"/>
            <a:ext cx="11155800" cy="2217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1200">
                <a:solidFill>
                  <a:srgbClr val="1E2761"/>
                </a:solidFill>
                <a:latin typeface="Georgia"/>
                <a:ea typeface="Georgia"/>
                <a:cs typeface="Georgia"/>
                <a:sym typeface="Georgia"/>
              </a:rPr>
              <a:t>Highlights</a:t>
            </a:r>
            <a:endParaRPr/>
          </a:p>
        </p:txBody>
      </p:sp>
      <p:sp>
        <p:nvSpPr>
          <p:cNvPr id="206" name="Google Shape;206;p17"/>
          <p:cNvSpPr txBox="1"/>
          <p:nvPr/>
        </p:nvSpPr>
        <p:spPr>
          <a:xfrm>
            <a:off x="566928" y="5349240"/>
            <a:ext cx="11109900" cy="1134900"/>
          </a:xfrm>
          <a:prstGeom prst="rect">
            <a:avLst/>
          </a:prstGeom>
          <a:noFill/>
          <a:ln>
            <a:noFill/>
          </a:ln>
        </p:spPr>
        <p:txBody>
          <a:bodyPr anchorCtr="0" anchor="t" bIns="18275" lIns="45700" spcFirstLastPara="1" rIns="45700" wrap="square" tIns="18275">
            <a:spAutoFit/>
          </a:bodyPr>
          <a:lstStyle/>
          <a:p>
            <a:pPr indent="0" lvl="0" marL="0" rtl="0" algn="l">
              <a:spcBef>
                <a:spcPts val="500"/>
              </a:spcBef>
              <a:spcAft>
                <a:spcPts val="0"/>
              </a:spcAft>
              <a:buClr>
                <a:schemeClr val="dk1"/>
              </a:buClr>
              <a:buSzPts val="1100"/>
              <a:buFont typeface="Arial"/>
              <a:buNone/>
            </a:pPr>
            <a:r>
              <a:rPr b="1" lang="en-US" sz="1050">
                <a:solidFill>
                  <a:srgbClr val="1E2761"/>
                </a:solidFill>
                <a:latin typeface="Calibri"/>
                <a:ea typeface="Calibri"/>
                <a:cs typeface="Calibri"/>
                <a:sym typeface="Calibri"/>
              </a:rPr>
              <a:t>Top-of-funnel is performing. The next optimization focus is the submission step.</a:t>
            </a:r>
            <a:endParaRPr b="1" sz="1050">
              <a:solidFill>
                <a:srgbClr val="1E2761"/>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b="1" lang="en-US" sz="1050">
                <a:solidFill>
                  <a:srgbClr val="1E2761"/>
                </a:solidFill>
                <a:latin typeface="Calibri"/>
                <a:ea typeface="Calibri"/>
                <a:cs typeface="Calibri"/>
                <a:sym typeface="Calibri"/>
              </a:rPr>
              <a:t>The Leads campaign generated 912 Start Applications at $1.16 per start — a competitive cost for financial services. Reach of 304K at 2.61x frequency is within a healthy range. The CTR campaign launched March 16 and shows stronger post-click engagement, with LPV/Click improving from 19% to 47.5%. Conversion data from this campaign reflects a partial month and will be more conclusive in April.</a:t>
            </a:r>
            <a:endParaRPr b="1" sz="1050">
              <a:solidFill>
                <a:srgbClr val="1E2761"/>
              </a:solidFill>
              <a:latin typeface="Calibri"/>
              <a:ea typeface="Calibri"/>
              <a:cs typeface="Calibri"/>
              <a:sym typeface="Calibri"/>
            </a:endParaRPr>
          </a:p>
          <a:p>
            <a:pPr indent="0" lvl="0" marL="0" rtl="0" algn="l">
              <a:spcBef>
                <a:spcPts val="500"/>
              </a:spcBef>
              <a:spcAft>
                <a:spcPts val="0"/>
              </a:spcAft>
              <a:buSzPts val="1100"/>
              <a:buNone/>
            </a:pPr>
            <a:r>
              <a:rPr b="1" lang="en-US" sz="1050">
                <a:solidFill>
                  <a:srgbClr val="1E2761"/>
                </a:solidFill>
                <a:latin typeface="Calibri"/>
                <a:ea typeface="Calibri"/>
                <a:cs typeface="Calibri"/>
                <a:sym typeface="Calibri"/>
              </a:rPr>
              <a:t>Across both campaigns, the submission step is where volume drops. That is the focus for April — isolating whether the gap is messaging, form friction, or landing page alignment. The pending landing pages currently in WebOps are directly relevant to this.</a:t>
            </a:r>
            <a:endParaRPr b="1" sz="1050">
              <a:solidFill>
                <a:srgbClr val="1E2761"/>
              </a:solidFill>
              <a:latin typeface="Calibri"/>
              <a:ea typeface="Calibri"/>
              <a:cs typeface="Calibri"/>
              <a:sym typeface="Calibri"/>
            </a:endParaRPr>
          </a:p>
        </p:txBody>
      </p:sp>
      <p:sp>
        <p:nvSpPr>
          <p:cNvPr id="207" name="Google Shape;207;p17"/>
          <p:cNvSpPr/>
          <p:nvPr/>
        </p:nvSpPr>
        <p:spPr>
          <a:xfrm>
            <a:off x="0" y="6583680"/>
            <a:ext cx="12191695" cy="274320"/>
          </a:xfrm>
          <a:prstGeom prst="rect">
            <a:avLst/>
          </a:prstGeom>
          <a:solidFill>
            <a:srgbClr val="F4F6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17"/>
          <p:cNvSpPr txBox="1"/>
          <p:nvPr/>
        </p:nvSpPr>
        <p:spPr>
          <a:xfrm>
            <a:off x="365760" y="6601968"/>
            <a:ext cx="8229600" cy="256032"/>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0" i="0" lang="en-US" sz="900" u="none" cap="none" strike="noStrike">
                <a:solidFill>
                  <a:srgbClr val="5A6072"/>
                </a:solidFill>
                <a:latin typeface="Calibri"/>
                <a:ea typeface="Calibri"/>
                <a:cs typeface="Calibri"/>
                <a:sym typeface="Calibri"/>
              </a:rPr>
              <a:t>GGMI (LATAM / Mexico)  |  March 2026 Performance Review  |  Berelvant</a:t>
            </a:r>
            <a:endParaRPr/>
          </a:p>
        </p:txBody>
      </p:sp>
      <p:sp>
        <p:nvSpPr>
          <p:cNvPr id="209" name="Google Shape;209;p17"/>
          <p:cNvSpPr txBox="1"/>
          <p:nvPr/>
        </p:nvSpPr>
        <p:spPr>
          <a:xfrm>
            <a:off x="11247120" y="6601968"/>
            <a:ext cx="822960" cy="256032"/>
          </a:xfrm>
          <a:prstGeom prst="rect">
            <a:avLst/>
          </a:prstGeom>
          <a:noFill/>
          <a:ln>
            <a:noFill/>
          </a:ln>
        </p:spPr>
        <p:txBody>
          <a:bodyPr anchorCtr="0" anchor="ctr" bIns="18275" lIns="45700" spcFirstLastPara="1" rIns="45700" wrap="square" tIns="18275">
            <a:spAutoFit/>
          </a:bodyPr>
          <a:lstStyle/>
          <a:p>
            <a:pPr indent="0" lvl="0" marL="0" marR="0" rtl="0" algn="r">
              <a:spcBef>
                <a:spcPts val="0"/>
              </a:spcBef>
              <a:spcAft>
                <a:spcPts val="0"/>
              </a:spcAft>
              <a:buNone/>
            </a:pPr>
            <a:r>
              <a:rPr b="0" i="0" lang="en-US" sz="900" u="none" cap="none" strike="noStrike">
                <a:solidFill>
                  <a:srgbClr val="5A6072"/>
                </a:solidFill>
                <a:latin typeface="Calibri"/>
                <a:ea typeface="Calibri"/>
                <a:cs typeface="Calibri"/>
                <a:sym typeface="Calibri"/>
              </a:rPr>
              <a:t>5 / 9</a:t>
            </a:r>
            <a:endParaRPr/>
          </a:p>
        </p:txBody>
      </p:sp>
      <p:pic>
        <p:nvPicPr>
          <p:cNvPr id="210" name="Google Shape;210;p17" title="berelvant-logo.png"/>
          <p:cNvPicPr preferRelativeResize="0"/>
          <p:nvPr/>
        </p:nvPicPr>
        <p:blipFill>
          <a:blip r:embed="rId3">
            <a:alphaModFix/>
          </a:blip>
          <a:stretch>
            <a:fillRect/>
          </a:stretch>
        </p:blipFill>
        <p:spPr>
          <a:xfrm>
            <a:off x="11185838" y="68588"/>
            <a:ext cx="854075" cy="274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8"/>
          <p:cNvSpPr/>
          <p:nvPr/>
        </p:nvSpPr>
        <p:spPr>
          <a:xfrm>
            <a:off x="0" y="0"/>
            <a:ext cx="12191695" cy="64008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18"/>
          <p:cNvSpPr/>
          <p:nvPr/>
        </p:nvSpPr>
        <p:spPr>
          <a:xfrm>
            <a:off x="0" y="640080"/>
            <a:ext cx="12191695" cy="36576"/>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18"/>
          <p:cNvSpPr txBox="1"/>
          <p:nvPr/>
        </p:nvSpPr>
        <p:spPr>
          <a:xfrm>
            <a:off x="365760" y="73152"/>
            <a:ext cx="9144000" cy="548640"/>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2600" u="none" cap="none" strike="noStrike">
                <a:solidFill>
                  <a:srgbClr val="FFFFFF"/>
                </a:solidFill>
                <a:latin typeface="Georgia"/>
                <a:ea typeface="Georgia"/>
                <a:cs typeface="Georgia"/>
                <a:sym typeface="Georgia"/>
              </a:rPr>
              <a:t>Meta: Read and Recommendations</a:t>
            </a:r>
            <a:endParaRPr/>
          </a:p>
        </p:txBody>
      </p:sp>
      <p:sp>
        <p:nvSpPr>
          <p:cNvPr id="218" name="Google Shape;218;p18"/>
          <p:cNvSpPr/>
          <p:nvPr/>
        </p:nvSpPr>
        <p:spPr>
          <a:xfrm>
            <a:off x="365760" y="868680"/>
            <a:ext cx="5577840" cy="3886200"/>
          </a:xfrm>
          <a:prstGeom prst="rect">
            <a:avLst/>
          </a:prstGeom>
          <a:solidFill>
            <a:srgbClr val="FFFFFF"/>
          </a:solidFill>
          <a:ln cap="flat" cmpd="sng" w="9525">
            <a:solidFill>
              <a:srgbClr val="D0D4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18"/>
          <p:cNvSpPr/>
          <p:nvPr/>
        </p:nvSpPr>
        <p:spPr>
          <a:xfrm>
            <a:off x="365760" y="868680"/>
            <a:ext cx="73152" cy="3886200"/>
          </a:xfrm>
          <a:prstGeom prst="rect">
            <a:avLst/>
          </a:prstGeom>
          <a:solidFill>
            <a:srgbClr val="2E7D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18"/>
          <p:cNvSpPr txBox="1"/>
          <p:nvPr/>
        </p:nvSpPr>
        <p:spPr>
          <a:xfrm>
            <a:off x="566928" y="941832"/>
            <a:ext cx="5257800" cy="29260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200" u="none" cap="none" strike="noStrike">
                <a:solidFill>
                  <a:srgbClr val="1E2761"/>
                </a:solidFill>
                <a:latin typeface="Georgia"/>
                <a:ea typeface="Georgia"/>
                <a:cs typeface="Georgia"/>
                <a:sym typeface="Georgia"/>
              </a:rPr>
              <a:t>WHAT THE DATA SHOWS</a:t>
            </a:r>
            <a:endParaRPr/>
          </a:p>
        </p:txBody>
      </p:sp>
      <p:sp>
        <p:nvSpPr>
          <p:cNvPr id="221" name="Google Shape;221;p18"/>
          <p:cNvSpPr txBox="1"/>
          <p:nvPr/>
        </p:nvSpPr>
        <p:spPr>
          <a:xfrm>
            <a:off x="566928" y="1280160"/>
            <a:ext cx="5212200" cy="1914900"/>
          </a:xfrm>
          <a:prstGeom prst="rect">
            <a:avLst/>
          </a:prstGeom>
          <a:noFill/>
          <a:ln>
            <a:noFill/>
          </a:ln>
        </p:spPr>
        <p:txBody>
          <a:bodyPr anchorCtr="0" anchor="t" bIns="18275" lIns="45700" spcFirstLastPara="1" rIns="45700" wrap="square" tIns="18275">
            <a:spAutoFit/>
          </a:bodyPr>
          <a:lstStyle/>
          <a:p>
            <a:pPr indent="0" lvl="0" marL="0" rtl="0" algn="l">
              <a:lnSpc>
                <a:spcPct val="115000"/>
              </a:lnSpc>
              <a:spcBef>
                <a:spcPts val="1200"/>
              </a:spcBef>
              <a:spcAft>
                <a:spcPts val="0"/>
              </a:spcAft>
              <a:buClr>
                <a:schemeClr val="dk1"/>
              </a:buClr>
              <a:buSzPts val="1100"/>
              <a:buFont typeface="Arial"/>
              <a:buNone/>
            </a:pPr>
            <a:r>
              <a:rPr b="1" lang="en-US" sz="1000">
                <a:solidFill>
                  <a:schemeClr val="dk1"/>
                </a:solidFill>
              </a:rPr>
              <a:t>Top-of-funnel cost efficiency is strong. The submission step is where April optimization is focused.</a:t>
            </a:r>
            <a:endParaRPr b="1"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The Leads campaign delivered 912 Start Applications at $1.16 per start across a reach of 304K at 2.61x frequency. Both metrics are competitive for financial services. The CTR campaign launched mid-month and shows stronger landing page engagement. Bottom-funnel data from that unit will be more meaningful with a full month of delivery.</a:t>
            </a:r>
            <a:endParaRPr sz="1000">
              <a:solidFill>
                <a:schemeClr val="dk1"/>
              </a:solidFill>
            </a:endParaRPr>
          </a:p>
          <a:p>
            <a:pPr indent="0" lvl="0" marL="0" rtl="0" algn="l">
              <a:lnSpc>
                <a:spcPct val="115000"/>
              </a:lnSpc>
              <a:spcBef>
                <a:spcPts val="1200"/>
              </a:spcBef>
              <a:spcAft>
                <a:spcPts val="1200"/>
              </a:spcAft>
              <a:buSzPts val="1100"/>
              <a:buNone/>
            </a:pPr>
            <a:r>
              <a:rPr lang="en-US" sz="1000">
                <a:solidFill>
                  <a:schemeClr val="dk1"/>
                </a:solidFill>
              </a:rPr>
              <a:t>The submission step conversion rate is the primary optimization variable for April. Understanding drop-off there — whether it is messaging, form design, or flow friction — requires landing page deployment and conversion tracking to be fully operational.</a:t>
            </a:r>
            <a:endParaRPr b="1" sz="950">
              <a:solidFill>
                <a:srgbClr val="1E2761"/>
              </a:solidFill>
              <a:latin typeface="Calibri"/>
              <a:ea typeface="Calibri"/>
              <a:cs typeface="Calibri"/>
              <a:sym typeface="Calibri"/>
            </a:endParaRPr>
          </a:p>
        </p:txBody>
      </p:sp>
      <p:sp>
        <p:nvSpPr>
          <p:cNvPr id="222" name="Google Shape;222;p18"/>
          <p:cNvSpPr/>
          <p:nvPr/>
        </p:nvSpPr>
        <p:spPr>
          <a:xfrm>
            <a:off x="6263640" y="868680"/>
            <a:ext cx="5577840" cy="3886200"/>
          </a:xfrm>
          <a:prstGeom prst="rect">
            <a:avLst/>
          </a:prstGeom>
          <a:solidFill>
            <a:srgbClr val="FFFFFF"/>
          </a:solidFill>
          <a:ln cap="flat" cmpd="sng" w="9525">
            <a:solidFill>
              <a:srgbClr val="D0D4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8"/>
          <p:cNvSpPr/>
          <p:nvPr/>
        </p:nvSpPr>
        <p:spPr>
          <a:xfrm>
            <a:off x="6263640" y="868680"/>
            <a:ext cx="73152" cy="3886200"/>
          </a:xfrm>
          <a:prstGeom prst="rect">
            <a:avLst/>
          </a:prstGeom>
          <a:solidFill>
            <a:srgbClr val="E9B4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18"/>
          <p:cNvSpPr txBox="1"/>
          <p:nvPr/>
        </p:nvSpPr>
        <p:spPr>
          <a:xfrm>
            <a:off x="6464808" y="941832"/>
            <a:ext cx="5257800" cy="29260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200" u="none" cap="none" strike="noStrike">
                <a:solidFill>
                  <a:srgbClr val="1E2761"/>
                </a:solidFill>
                <a:latin typeface="Georgia"/>
                <a:ea typeface="Georgia"/>
                <a:cs typeface="Georgia"/>
                <a:sym typeface="Georgia"/>
              </a:rPr>
              <a:t>WHAT WE RECOMMEND</a:t>
            </a:r>
            <a:endParaRPr/>
          </a:p>
        </p:txBody>
      </p:sp>
      <p:sp>
        <p:nvSpPr>
          <p:cNvPr id="225" name="Google Shape;225;p18"/>
          <p:cNvSpPr txBox="1"/>
          <p:nvPr/>
        </p:nvSpPr>
        <p:spPr>
          <a:xfrm>
            <a:off x="6464808" y="1280160"/>
            <a:ext cx="5212200" cy="2238000"/>
          </a:xfrm>
          <a:prstGeom prst="rect">
            <a:avLst/>
          </a:prstGeom>
          <a:noFill/>
          <a:ln>
            <a:noFill/>
          </a:ln>
        </p:spPr>
        <p:txBody>
          <a:bodyPr anchorCtr="0" anchor="t" bIns="18275" lIns="45700" spcFirstLastPara="1" rIns="45700" wrap="square" tIns="18275">
            <a:spAutoFit/>
          </a:bodyPr>
          <a:lstStyle/>
          <a:p>
            <a:pPr indent="0" lvl="0" marL="0" rtl="0" algn="l">
              <a:lnSpc>
                <a:spcPct val="115000"/>
              </a:lnSpc>
              <a:spcBef>
                <a:spcPts val="1200"/>
              </a:spcBef>
              <a:spcAft>
                <a:spcPts val="0"/>
              </a:spcAft>
              <a:buClr>
                <a:schemeClr val="dk1"/>
              </a:buClr>
              <a:buSzPts val="1100"/>
              <a:buFont typeface="Arial"/>
              <a:buNone/>
            </a:pPr>
            <a:r>
              <a:rPr b="1" lang="en-US" sz="1000">
                <a:solidFill>
                  <a:schemeClr val="dk1"/>
                </a:solidFill>
              </a:rPr>
              <a:t>Reactivate the Leads campaign and complete the tracking and landing page setup to enable full-funnel measurement.</a:t>
            </a:r>
            <a:endParaRPr b="1"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The Leads campaign cost per Start App is proven. Reactivating it in April restores conversion signal and gives the account a foundation to optimize from. The CTR campaign continues in parallel with April as its first full measurement month.</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Full-funnel reporting — including submission-to-funded account rate — becomes available once revenue tracking is live and the landing pages are deployed. Both are in progress. Completing those two items is the prerequisite for any meaningful April-to-March comparison.</a:t>
            </a:r>
            <a:endParaRPr sz="1000">
              <a:solidFill>
                <a:schemeClr val="dk1"/>
              </a:solidFill>
            </a:endParaRPr>
          </a:p>
          <a:p>
            <a:pPr indent="0" lvl="0" marL="0" marR="0" rtl="0" algn="l">
              <a:spcBef>
                <a:spcPts val="1200"/>
              </a:spcBef>
              <a:spcAft>
                <a:spcPts val="0"/>
              </a:spcAft>
              <a:buNone/>
            </a:pPr>
            <a:r>
              <a:t/>
            </a:r>
            <a:endParaRPr b="1" sz="950">
              <a:solidFill>
                <a:srgbClr val="1E2761"/>
              </a:solidFill>
              <a:latin typeface="Calibri"/>
              <a:ea typeface="Calibri"/>
              <a:cs typeface="Calibri"/>
              <a:sym typeface="Calibri"/>
            </a:endParaRPr>
          </a:p>
        </p:txBody>
      </p:sp>
      <p:sp>
        <p:nvSpPr>
          <p:cNvPr id="226" name="Google Shape;226;p18"/>
          <p:cNvSpPr txBox="1"/>
          <p:nvPr/>
        </p:nvSpPr>
        <p:spPr>
          <a:xfrm>
            <a:off x="365760" y="4892040"/>
            <a:ext cx="10972800" cy="365760"/>
          </a:xfrm>
          <a:prstGeom prst="rect">
            <a:avLst/>
          </a:prstGeom>
          <a:noFill/>
          <a:ln>
            <a:noFill/>
          </a:ln>
        </p:spPr>
        <p:txBody>
          <a:bodyPr anchorCtr="0" anchor="t" bIns="18275" lIns="0" spcFirstLastPara="1" rIns="0" wrap="square" tIns="18275">
            <a:spAutoFit/>
          </a:bodyPr>
          <a:lstStyle/>
          <a:p>
            <a:pPr indent="0" lvl="0" marL="0" marR="0" rtl="0" algn="l">
              <a:spcBef>
                <a:spcPts val="0"/>
              </a:spcBef>
              <a:spcAft>
                <a:spcPts val="0"/>
              </a:spcAft>
              <a:buNone/>
            </a:pPr>
            <a:r>
              <a:rPr b="1" i="0" lang="en-US" sz="1500" u="none" cap="none" strike="noStrike">
                <a:solidFill>
                  <a:srgbClr val="1E2761"/>
                </a:solidFill>
                <a:latin typeface="Georgia"/>
                <a:ea typeface="Georgia"/>
                <a:cs typeface="Georgia"/>
                <a:sym typeface="Georgia"/>
              </a:rPr>
              <a:t>Next steps</a:t>
            </a:r>
            <a:endParaRPr/>
          </a:p>
        </p:txBody>
      </p:sp>
      <p:graphicFrame>
        <p:nvGraphicFramePr>
          <p:cNvPr id="227" name="Google Shape;227;p18"/>
          <p:cNvGraphicFramePr/>
          <p:nvPr/>
        </p:nvGraphicFramePr>
        <p:xfrm>
          <a:off x="365760" y="5257800"/>
          <a:ext cx="3000000" cy="3000000"/>
        </p:xfrm>
        <a:graphic>
          <a:graphicData uri="http://schemas.openxmlformats.org/drawingml/2006/table">
            <a:tbl>
              <a:tblPr bandRow="1" firstRow="1">
                <a:noFill/>
                <a:tableStyleId>{626DB2E7-D5CD-46CD-8FBD-676A5DF2763B}</a:tableStyleId>
              </a:tblPr>
              <a:tblGrid>
                <a:gridCol w="7223750"/>
                <a:gridCol w="2103125"/>
                <a:gridCol w="2103125"/>
              </a:tblGrid>
              <a:tr h="265175">
                <a:tc>
                  <a:txBody>
                    <a:bodyPr/>
                    <a:lstStyle/>
                    <a:p>
                      <a:pPr indent="0" lvl="0" marL="0" marR="0" rtl="0" algn="l">
                        <a:spcBef>
                          <a:spcPts val="0"/>
                        </a:spcBef>
                        <a:spcAft>
                          <a:spcPts val="0"/>
                        </a:spcAft>
                        <a:buNone/>
                      </a:pPr>
                      <a:r>
                        <a:rPr b="1" lang="en-US" sz="1050" u="none" cap="none" strike="noStrike">
                          <a:solidFill>
                            <a:srgbClr val="FFFFFF"/>
                          </a:solidFill>
                          <a:latin typeface="Calibri"/>
                          <a:ea typeface="Calibri"/>
                          <a:cs typeface="Calibri"/>
                          <a:sym typeface="Calibri"/>
                        </a:rPr>
                        <a:t>Action</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Owner</a:t>
                      </a:r>
                      <a:endParaRPr/>
                    </a:p>
                  </a:txBody>
                  <a:tcPr marT="27425" marB="27425" marR="54875" marL="54875" anchor="ctr">
                    <a:lnB cap="flat" cmpd="sng" w="12700">
                      <a:solidFill>
                        <a:schemeClr val="lt1"/>
                      </a:solidFill>
                      <a:prstDash val="solid"/>
                      <a:round/>
                      <a:headEnd len="sm" w="sm" type="none"/>
                      <a:tailEnd len="sm" w="sm" type="none"/>
                    </a:lnB>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Due</a:t>
                      </a:r>
                      <a:endParaRPr/>
                    </a:p>
                  </a:txBody>
                  <a:tcPr marT="27425" marB="27425" marR="54875" marL="54875" anchor="ctr">
                    <a:solidFill>
                      <a:srgbClr val="1E2761"/>
                    </a:solidFill>
                  </a:tcPr>
                </a:tc>
              </a:tr>
              <a:tr h="265175">
                <a:tc>
                  <a:txBody>
                    <a:bodyPr/>
                    <a:lstStyle/>
                    <a:p>
                      <a:pPr indent="0" lvl="0" marL="0" marR="0" rtl="0" algn="l">
                        <a:spcBef>
                          <a:spcPts val="0"/>
                        </a:spcBef>
                        <a:spcAft>
                          <a:spcPts val="0"/>
                        </a:spcAft>
                        <a:buNone/>
                      </a:pPr>
                      <a:r>
                        <a:rPr lang="en-US" sz="1000">
                          <a:solidFill>
                            <a:srgbClr val="0F1535"/>
                          </a:solidFill>
                        </a:rPr>
                        <a:t>Reactivate Leads campaign + April budget split</a:t>
                      </a:r>
                      <a:endParaRPr/>
                    </a:p>
                  </a:txBody>
                  <a:tcPr marT="27425" marB="27425" marR="54875" marL="54875" anchor="ctr">
                    <a:lnR cap="flat" cmpd="sng" w="12700">
                      <a:solidFill>
                        <a:schemeClr val="lt1"/>
                      </a:solidFill>
                      <a:prstDash val="solid"/>
                      <a:round/>
                      <a:headEnd len="sm" w="sm" type="none"/>
                      <a:tailEnd len="sm" w="sm" type="none"/>
                    </a:ln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Berelvant + </a:t>
                      </a:r>
                      <a:r>
                        <a:rPr lang="en-US" sz="1000">
                          <a:solidFill>
                            <a:srgbClr val="0F1535"/>
                          </a:solidFill>
                        </a:rPr>
                        <a:t>FOREX</a:t>
                      </a:r>
                      <a:endParaRPr/>
                    </a:p>
                  </a:txBody>
                  <a:tcPr marT="27425" marB="27425" marR="54875" marL="548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lang="en-US" sz="1000">
                          <a:solidFill>
                            <a:srgbClr val="0F1535"/>
                          </a:solidFill>
                        </a:rPr>
                        <a:t>Week </a:t>
                      </a:r>
                      <a:r>
                        <a:rPr lang="en-US" sz="1000" u="none" cap="none" strike="noStrike">
                          <a:solidFill>
                            <a:srgbClr val="0F1535"/>
                          </a:solidFill>
                          <a:latin typeface="Calibri"/>
                          <a:ea typeface="Calibri"/>
                          <a:cs typeface="Calibri"/>
                          <a:sym typeface="Calibri"/>
                        </a:rPr>
                        <a:t>04.</a:t>
                      </a:r>
                      <a:r>
                        <a:rPr lang="en-US" sz="1000">
                          <a:solidFill>
                            <a:srgbClr val="0F1535"/>
                          </a:solidFill>
                        </a:rPr>
                        <a:t>20</a:t>
                      </a:r>
                      <a:endParaRPr/>
                    </a:p>
                  </a:txBody>
                  <a:tcPr marT="27425" marB="27425" marR="54875" marL="54875" anchor="ctr">
                    <a:lnL cap="flat" cmpd="sng" w="12700">
                      <a:solidFill>
                        <a:schemeClr val="lt1"/>
                      </a:solidFill>
                      <a:prstDash val="solid"/>
                      <a:round/>
                      <a:headEnd len="sm" w="sm" type="none"/>
                      <a:tailEnd len="sm" w="sm" type="none"/>
                    </a:lnL>
                    <a:solidFill>
                      <a:srgbClr val="FFFFFF"/>
                    </a:solidFill>
                  </a:tcPr>
                </a:tc>
              </a:tr>
              <a:tr h="265175">
                <a:tc>
                  <a:txBody>
                    <a:bodyPr/>
                    <a:lstStyle/>
                    <a:p>
                      <a:pPr indent="0" lvl="0" marL="0" marR="0" rtl="0" algn="l">
                        <a:spcBef>
                          <a:spcPts val="0"/>
                        </a:spcBef>
                        <a:spcAft>
                          <a:spcPts val="0"/>
                        </a:spcAft>
                        <a:buNone/>
                      </a:pPr>
                      <a:r>
                        <a:rPr lang="en-US" sz="1000">
                          <a:solidFill>
                            <a:srgbClr val="0F1535"/>
                          </a:solidFill>
                        </a:rPr>
                        <a:t>Landing page deployment</a:t>
                      </a:r>
                      <a:endParaRPr/>
                    </a:p>
                  </a:txBody>
                  <a:tcPr marT="27425" marB="27425" marR="54875" marL="54875" anchor="ctr">
                    <a:lnR cap="flat" cmpd="sng" w="12700">
                      <a:solidFill>
                        <a:schemeClr val="lt1"/>
                      </a:solidFill>
                      <a:prstDash val="solid"/>
                      <a:round/>
                      <a:headEnd len="sm" w="sm" type="none"/>
                      <a:tailEnd len="sm" w="sm" type="none"/>
                    </a:lnR>
                    <a:solidFill>
                      <a:srgbClr val="F9FAFC"/>
                    </a:solidFill>
                  </a:tcPr>
                </a:tc>
                <a:tc>
                  <a:txBody>
                    <a:bodyPr/>
                    <a:lstStyle/>
                    <a:p>
                      <a:pPr indent="0" lvl="0" marL="0" marR="0" rtl="0" algn="r">
                        <a:spcBef>
                          <a:spcPts val="0"/>
                        </a:spcBef>
                        <a:spcAft>
                          <a:spcPts val="0"/>
                        </a:spcAft>
                        <a:buNone/>
                      </a:pPr>
                      <a:r>
                        <a:rPr lang="en-US" sz="1000">
                          <a:solidFill>
                            <a:srgbClr val="0F1535"/>
                          </a:solidFill>
                        </a:rPr>
                        <a:t>WebOps</a:t>
                      </a:r>
                      <a:endParaRPr/>
                    </a:p>
                  </a:txBody>
                  <a:tcPr marT="27425" marB="27425" marR="54875" marL="548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9FAFC"/>
                    </a:solidFill>
                  </a:tcPr>
                </a:tc>
                <a:tc>
                  <a:txBody>
                    <a:bodyPr/>
                    <a:lstStyle/>
                    <a:p>
                      <a:pPr indent="0" lvl="0" marL="0" marR="0" rtl="0" algn="r">
                        <a:spcBef>
                          <a:spcPts val="0"/>
                        </a:spcBef>
                        <a:spcAft>
                          <a:spcPts val="0"/>
                        </a:spcAft>
                        <a:buNone/>
                      </a:pPr>
                      <a:r>
                        <a:rPr lang="en-US" sz="1000">
                          <a:solidFill>
                            <a:srgbClr val="0F1535"/>
                          </a:solidFill>
                        </a:rPr>
                        <a:t>Pending</a:t>
                      </a:r>
                      <a:endParaRPr/>
                    </a:p>
                  </a:txBody>
                  <a:tcPr marT="27425" marB="27425" marR="54875" marL="54875" anchor="ctr">
                    <a:lnL cap="flat" cmpd="sng" w="12700">
                      <a:solidFill>
                        <a:schemeClr val="lt1"/>
                      </a:solidFill>
                      <a:prstDash val="solid"/>
                      <a:round/>
                      <a:headEnd len="sm" w="sm" type="none"/>
                      <a:tailEnd len="sm" w="sm" type="none"/>
                    </a:lnL>
                    <a:solidFill>
                      <a:srgbClr val="F9FAFC"/>
                    </a:solidFill>
                  </a:tcPr>
                </a:tc>
              </a:tr>
              <a:tr h="265175">
                <a:tc>
                  <a:txBody>
                    <a:bodyPr/>
                    <a:lstStyle/>
                    <a:p>
                      <a:pPr indent="0" lvl="0" marL="0" marR="0" rtl="0" algn="l">
                        <a:spcBef>
                          <a:spcPts val="0"/>
                        </a:spcBef>
                        <a:spcAft>
                          <a:spcPts val="0"/>
                        </a:spcAft>
                        <a:buNone/>
                      </a:pPr>
                      <a:r>
                        <a:rPr lang="en-US" sz="1000">
                          <a:solidFill>
                            <a:srgbClr val="0F1535"/>
                          </a:solidFill>
                        </a:rPr>
                        <a:t>Tracking implementation</a:t>
                      </a:r>
                      <a:endParaRPr/>
                    </a:p>
                  </a:txBody>
                  <a:tcPr marT="27425" marB="27425" marR="54875" marL="54875" anchor="ctr">
                    <a:lnR cap="flat" cmpd="sng" w="12700">
                      <a:solidFill>
                        <a:schemeClr val="lt1"/>
                      </a:solidFill>
                      <a:prstDash val="solid"/>
                      <a:round/>
                      <a:headEnd len="sm" w="sm" type="none"/>
                      <a:tailEnd len="sm" w="sm" type="none"/>
                    </a:lnR>
                    <a:solidFill>
                      <a:srgbClr val="FFFFFF"/>
                    </a:solidFill>
                  </a:tcPr>
                </a:tc>
                <a:tc>
                  <a:txBody>
                    <a:bodyPr/>
                    <a:lstStyle/>
                    <a:p>
                      <a:pPr indent="0" lvl="0" marL="0" marR="0" rtl="0" algn="r">
                        <a:spcBef>
                          <a:spcPts val="0"/>
                        </a:spcBef>
                        <a:spcAft>
                          <a:spcPts val="0"/>
                        </a:spcAft>
                        <a:buNone/>
                      </a:pPr>
                      <a:r>
                        <a:rPr lang="en-US" sz="1000">
                          <a:solidFill>
                            <a:srgbClr val="0F1535"/>
                          </a:solidFill>
                        </a:rPr>
                        <a:t>Central Team</a:t>
                      </a:r>
                      <a:endParaRPr/>
                    </a:p>
                  </a:txBody>
                  <a:tcPr marT="27425" marB="27425" marR="54875" marL="548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000">
                          <a:solidFill>
                            <a:srgbClr val="0F1535"/>
                          </a:solidFill>
                        </a:rPr>
                        <a:t>Pending</a:t>
                      </a:r>
                      <a:endParaRPr sz="1000">
                        <a:solidFill>
                          <a:srgbClr val="0F1535"/>
                        </a:solidFill>
                      </a:endParaRPr>
                    </a:p>
                  </a:txBody>
                  <a:tcPr marT="27425" marB="27425" marR="54875" marL="54875" anchor="ctr">
                    <a:lnL cap="flat" cmpd="sng" w="12700">
                      <a:solidFill>
                        <a:schemeClr val="lt1"/>
                      </a:solidFill>
                      <a:prstDash val="solid"/>
                      <a:round/>
                      <a:headEnd len="sm" w="sm" type="none"/>
                      <a:tailEnd len="sm" w="sm" type="none"/>
                    </a:lnL>
                    <a:solidFill>
                      <a:srgbClr val="FFFFFF"/>
                    </a:solidFill>
                  </a:tcPr>
                </a:tc>
              </a:tr>
              <a:tr h="265175">
                <a:tc>
                  <a:txBody>
                    <a:bodyPr/>
                    <a:lstStyle/>
                    <a:p>
                      <a:pPr indent="0" lvl="0" marL="0" marR="0" rtl="0" algn="l">
                        <a:spcBef>
                          <a:spcPts val="0"/>
                        </a:spcBef>
                        <a:spcAft>
                          <a:spcPts val="0"/>
                        </a:spcAft>
                        <a:buNone/>
                      </a:pPr>
                      <a:r>
                        <a:rPr lang="en-US" sz="1000">
                          <a:solidFill>
                            <a:srgbClr val="0F1535"/>
                          </a:solidFill>
                        </a:rPr>
                        <a:t>April full-funnel performance review</a:t>
                      </a:r>
                      <a:endParaRPr/>
                    </a:p>
                  </a:txBody>
                  <a:tcPr marT="27425" marB="27425" marR="54875" marL="54875" anchor="ctr">
                    <a:lnR cap="flat" cmpd="sng" w="12700">
                      <a:solidFill>
                        <a:schemeClr val="lt1"/>
                      </a:solidFill>
                      <a:prstDash val="solid"/>
                      <a:round/>
                      <a:headEnd len="sm" w="sm" type="none"/>
                      <a:tailEnd len="sm" w="sm" type="none"/>
                    </a:lnR>
                    <a:solidFill>
                      <a:srgbClr val="F9FAFC"/>
                    </a:solidFill>
                  </a:tcPr>
                </a:tc>
                <a:tc>
                  <a:txBody>
                    <a:bodyPr/>
                    <a:lstStyle/>
                    <a:p>
                      <a:pPr indent="0" lvl="0" marL="0" rtl="0" algn="r">
                        <a:spcBef>
                          <a:spcPts val="0"/>
                        </a:spcBef>
                        <a:spcAft>
                          <a:spcPts val="0"/>
                        </a:spcAft>
                        <a:buNone/>
                      </a:pPr>
                      <a:r>
                        <a:rPr lang="en-US" sz="1000">
                          <a:solidFill>
                            <a:srgbClr val="0F1535"/>
                          </a:solidFill>
                        </a:rPr>
                        <a:t>Berelvant + FOREX</a:t>
                      </a:r>
                      <a:endParaRPr/>
                    </a:p>
                    <a:p>
                      <a:pPr indent="0" lvl="0" marL="0" marR="0" rtl="0" algn="r">
                        <a:spcBef>
                          <a:spcPts val="0"/>
                        </a:spcBef>
                        <a:spcAft>
                          <a:spcPts val="0"/>
                        </a:spcAft>
                        <a:buNone/>
                      </a:pPr>
                      <a:r>
                        <a:t/>
                      </a:r>
                      <a:endParaRPr sz="1000">
                        <a:solidFill>
                          <a:srgbClr val="0F1535"/>
                        </a:solidFill>
                      </a:endParaRPr>
                    </a:p>
                  </a:txBody>
                  <a:tcPr marT="27425" marB="27425" marR="54875" marL="548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9FAFC"/>
                    </a:solidFill>
                  </a:tcPr>
                </a:tc>
                <a:tc>
                  <a:txBody>
                    <a:bodyPr/>
                    <a:lstStyle/>
                    <a:p>
                      <a:pPr indent="0" lvl="0" marL="0" marR="0" rtl="0" algn="r">
                        <a:spcBef>
                          <a:spcPts val="0"/>
                        </a:spcBef>
                        <a:spcAft>
                          <a:spcPts val="0"/>
                        </a:spcAft>
                        <a:buNone/>
                      </a:pPr>
                      <a:r>
                        <a:rPr lang="en-US" sz="1000">
                          <a:solidFill>
                            <a:srgbClr val="0F1535"/>
                          </a:solidFill>
                        </a:rPr>
                        <a:t>Week </a:t>
                      </a:r>
                      <a:r>
                        <a:rPr lang="en-US" sz="1000" u="none" cap="none" strike="noStrike">
                          <a:solidFill>
                            <a:srgbClr val="0F1535"/>
                          </a:solidFill>
                          <a:latin typeface="Calibri"/>
                          <a:ea typeface="Calibri"/>
                          <a:cs typeface="Calibri"/>
                          <a:sym typeface="Calibri"/>
                        </a:rPr>
                        <a:t>0</a:t>
                      </a:r>
                      <a:r>
                        <a:rPr lang="en-US" sz="1000">
                          <a:solidFill>
                            <a:srgbClr val="0F1535"/>
                          </a:solidFill>
                        </a:rPr>
                        <a:t>5</a:t>
                      </a:r>
                      <a:r>
                        <a:rPr lang="en-US" sz="1000" u="none" cap="none" strike="noStrike">
                          <a:solidFill>
                            <a:srgbClr val="0F1535"/>
                          </a:solidFill>
                          <a:latin typeface="Calibri"/>
                          <a:ea typeface="Calibri"/>
                          <a:cs typeface="Calibri"/>
                          <a:sym typeface="Calibri"/>
                        </a:rPr>
                        <a:t>.</a:t>
                      </a:r>
                      <a:r>
                        <a:rPr lang="en-US" sz="1000">
                          <a:solidFill>
                            <a:srgbClr val="0F1535"/>
                          </a:solidFill>
                        </a:rPr>
                        <a:t>10</a:t>
                      </a:r>
                      <a:endParaRPr/>
                    </a:p>
                  </a:txBody>
                  <a:tcPr marT="27425" marB="27425" marR="54875" marL="54875" anchor="ctr">
                    <a:lnL cap="flat" cmpd="sng" w="12700">
                      <a:solidFill>
                        <a:schemeClr val="lt1"/>
                      </a:solidFill>
                      <a:prstDash val="solid"/>
                      <a:round/>
                      <a:headEnd len="sm" w="sm" type="none"/>
                      <a:tailEnd len="sm" w="sm" type="none"/>
                    </a:lnL>
                    <a:solidFill>
                      <a:srgbClr val="F9FAFC"/>
                    </a:solidFill>
                  </a:tcPr>
                </a:tc>
              </a:tr>
            </a:tbl>
          </a:graphicData>
        </a:graphic>
      </p:graphicFrame>
      <p:sp>
        <p:nvSpPr>
          <p:cNvPr id="228" name="Google Shape;228;p18"/>
          <p:cNvSpPr/>
          <p:nvPr/>
        </p:nvSpPr>
        <p:spPr>
          <a:xfrm>
            <a:off x="0" y="6583680"/>
            <a:ext cx="12191695" cy="274320"/>
          </a:xfrm>
          <a:prstGeom prst="rect">
            <a:avLst/>
          </a:prstGeom>
          <a:solidFill>
            <a:srgbClr val="F4F6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18"/>
          <p:cNvSpPr txBox="1"/>
          <p:nvPr/>
        </p:nvSpPr>
        <p:spPr>
          <a:xfrm>
            <a:off x="365760" y="6601968"/>
            <a:ext cx="8229600" cy="256032"/>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0" i="0" lang="en-US" sz="900" u="none" cap="none" strike="noStrike">
                <a:solidFill>
                  <a:srgbClr val="5A6072"/>
                </a:solidFill>
                <a:latin typeface="Calibri"/>
                <a:ea typeface="Calibri"/>
                <a:cs typeface="Calibri"/>
                <a:sym typeface="Calibri"/>
              </a:rPr>
              <a:t>GGMI (LATAM / Mexico)  |  March 2026 Performance Review  |  Berelvant</a:t>
            </a:r>
            <a:endParaRPr/>
          </a:p>
        </p:txBody>
      </p:sp>
      <p:sp>
        <p:nvSpPr>
          <p:cNvPr id="230" name="Google Shape;230;p18"/>
          <p:cNvSpPr txBox="1"/>
          <p:nvPr/>
        </p:nvSpPr>
        <p:spPr>
          <a:xfrm>
            <a:off x="11247120" y="6601968"/>
            <a:ext cx="822960" cy="256032"/>
          </a:xfrm>
          <a:prstGeom prst="rect">
            <a:avLst/>
          </a:prstGeom>
          <a:noFill/>
          <a:ln>
            <a:noFill/>
          </a:ln>
        </p:spPr>
        <p:txBody>
          <a:bodyPr anchorCtr="0" anchor="ctr" bIns="18275" lIns="45700" spcFirstLastPara="1" rIns="45700" wrap="square" tIns="18275">
            <a:spAutoFit/>
          </a:bodyPr>
          <a:lstStyle/>
          <a:p>
            <a:pPr indent="0" lvl="0" marL="0" marR="0" rtl="0" algn="r">
              <a:spcBef>
                <a:spcPts val="0"/>
              </a:spcBef>
              <a:spcAft>
                <a:spcPts val="0"/>
              </a:spcAft>
              <a:buNone/>
            </a:pPr>
            <a:r>
              <a:rPr b="0" i="0" lang="en-US" sz="900" u="none" cap="none" strike="noStrike">
                <a:solidFill>
                  <a:srgbClr val="5A6072"/>
                </a:solidFill>
                <a:latin typeface="Calibri"/>
                <a:ea typeface="Calibri"/>
                <a:cs typeface="Calibri"/>
                <a:sym typeface="Calibri"/>
              </a:rPr>
              <a:t>6 / 9</a:t>
            </a:r>
            <a:endParaRPr/>
          </a:p>
        </p:txBody>
      </p:sp>
      <p:pic>
        <p:nvPicPr>
          <p:cNvPr id="231" name="Google Shape;231;p18" title="berelvant-logo.png"/>
          <p:cNvPicPr preferRelativeResize="0"/>
          <p:nvPr/>
        </p:nvPicPr>
        <p:blipFill>
          <a:blip r:embed="rId3">
            <a:alphaModFix/>
          </a:blip>
          <a:stretch>
            <a:fillRect/>
          </a:stretch>
        </p:blipFill>
        <p:spPr>
          <a:xfrm>
            <a:off x="11185838" y="68588"/>
            <a:ext cx="854075" cy="274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9"/>
          <p:cNvSpPr/>
          <p:nvPr/>
        </p:nvSpPr>
        <p:spPr>
          <a:xfrm>
            <a:off x="0" y="0"/>
            <a:ext cx="12191695" cy="64008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19"/>
          <p:cNvSpPr/>
          <p:nvPr/>
        </p:nvSpPr>
        <p:spPr>
          <a:xfrm>
            <a:off x="0" y="640080"/>
            <a:ext cx="12191695" cy="36576"/>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19"/>
          <p:cNvSpPr txBox="1"/>
          <p:nvPr/>
        </p:nvSpPr>
        <p:spPr>
          <a:xfrm>
            <a:off x="365760" y="73152"/>
            <a:ext cx="9144000" cy="548640"/>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2600" u="none" cap="none" strike="noStrike">
                <a:solidFill>
                  <a:srgbClr val="FFFFFF"/>
                </a:solidFill>
                <a:latin typeface="Georgia"/>
                <a:ea typeface="Georgia"/>
                <a:cs typeface="Georgia"/>
                <a:sym typeface="Georgia"/>
              </a:rPr>
              <a:t>Quantcast: Performance + Diagnostics</a:t>
            </a:r>
            <a:endParaRPr/>
          </a:p>
        </p:txBody>
      </p:sp>
      <p:sp>
        <p:nvSpPr>
          <p:cNvPr id="239" name="Google Shape;239;p19"/>
          <p:cNvSpPr/>
          <p:nvPr/>
        </p:nvSpPr>
        <p:spPr>
          <a:xfrm>
            <a:off x="365760" y="868680"/>
            <a:ext cx="2761488" cy="960120"/>
          </a:xfrm>
          <a:prstGeom prst="rect">
            <a:avLst/>
          </a:prstGeom>
          <a:solidFill>
            <a:srgbClr val="FFFFFF"/>
          </a:solidFill>
          <a:ln cap="flat" cmpd="sng" w="9525">
            <a:solidFill>
              <a:srgbClr val="D0D4DC"/>
            </a:solidFill>
            <a:prstDash val="solid"/>
            <a:round/>
            <a:headEnd len="sm" w="sm" type="none"/>
            <a:tailEnd len="sm" w="sm" type="none"/>
          </a:ln>
          <a:effectLst>
            <a:outerShdw blurRad="76200" rotWithShape="0" dir="5400000" dist="25400">
              <a:srgbClr val="000000">
                <a:alpha val="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19"/>
          <p:cNvSpPr/>
          <p:nvPr/>
        </p:nvSpPr>
        <p:spPr>
          <a:xfrm>
            <a:off x="365760" y="868680"/>
            <a:ext cx="73152" cy="96012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19"/>
          <p:cNvSpPr txBox="1"/>
          <p:nvPr/>
        </p:nvSpPr>
        <p:spPr>
          <a:xfrm>
            <a:off x="530352" y="941832"/>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00" u="none" cap="none" strike="noStrike">
                <a:solidFill>
                  <a:srgbClr val="5A6072"/>
                </a:solidFill>
                <a:latin typeface="Calibri"/>
                <a:ea typeface="Calibri"/>
                <a:cs typeface="Calibri"/>
                <a:sym typeface="Calibri"/>
              </a:rPr>
              <a:t>Spend / CPM</a:t>
            </a:r>
            <a:endParaRPr/>
          </a:p>
        </p:txBody>
      </p:sp>
      <p:sp>
        <p:nvSpPr>
          <p:cNvPr id="242" name="Google Shape;242;p19"/>
          <p:cNvSpPr txBox="1"/>
          <p:nvPr/>
        </p:nvSpPr>
        <p:spPr>
          <a:xfrm>
            <a:off x="530352" y="1170432"/>
            <a:ext cx="2532900" cy="2985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700" u="none" cap="none" strike="noStrike">
                <a:solidFill>
                  <a:srgbClr val="1E2761"/>
                </a:solidFill>
                <a:latin typeface="Calibri"/>
                <a:ea typeface="Calibri"/>
                <a:cs typeface="Calibri"/>
                <a:sym typeface="Calibri"/>
              </a:rPr>
              <a:t>$11,</a:t>
            </a:r>
            <a:r>
              <a:rPr b="1" lang="en-US" sz="1700">
                <a:solidFill>
                  <a:srgbClr val="1E2761"/>
                </a:solidFill>
                <a:latin typeface="Calibri"/>
                <a:ea typeface="Calibri"/>
                <a:cs typeface="Calibri"/>
                <a:sym typeface="Calibri"/>
              </a:rPr>
              <a:t>980</a:t>
            </a:r>
            <a:r>
              <a:rPr b="1" i="0" lang="en-US" sz="1700" u="none" cap="none" strike="noStrike">
                <a:solidFill>
                  <a:srgbClr val="1E2761"/>
                </a:solidFill>
                <a:latin typeface="Calibri"/>
                <a:ea typeface="Calibri"/>
                <a:cs typeface="Calibri"/>
                <a:sym typeface="Calibri"/>
              </a:rPr>
              <a:t> / $1.92</a:t>
            </a:r>
            <a:endParaRPr/>
          </a:p>
        </p:txBody>
      </p:sp>
      <p:sp>
        <p:nvSpPr>
          <p:cNvPr id="243" name="Google Shape;243;p19"/>
          <p:cNvSpPr txBox="1"/>
          <p:nvPr/>
        </p:nvSpPr>
        <p:spPr>
          <a:xfrm>
            <a:off x="530352" y="1554480"/>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950" u="none" cap="none" strike="noStrike">
                <a:solidFill>
                  <a:srgbClr val="0F1535"/>
                </a:solidFill>
                <a:latin typeface="Calibri"/>
                <a:ea typeface="Calibri"/>
                <a:cs typeface="Calibri"/>
                <a:sym typeface="Calibri"/>
              </a:rPr>
              <a:t>6.03M impressions</a:t>
            </a:r>
            <a:endParaRPr/>
          </a:p>
        </p:txBody>
      </p:sp>
      <p:sp>
        <p:nvSpPr>
          <p:cNvPr id="244" name="Google Shape;244;p19"/>
          <p:cNvSpPr/>
          <p:nvPr/>
        </p:nvSpPr>
        <p:spPr>
          <a:xfrm>
            <a:off x="3255264" y="868680"/>
            <a:ext cx="2761488" cy="960120"/>
          </a:xfrm>
          <a:prstGeom prst="rect">
            <a:avLst/>
          </a:prstGeom>
          <a:solidFill>
            <a:srgbClr val="FFFFFF"/>
          </a:solidFill>
          <a:ln cap="flat" cmpd="sng" w="9525">
            <a:solidFill>
              <a:srgbClr val="D0D4DC"/>
            </a:solidFill>
            <a:prstDash val="solid"/>
            <a:round/>
            <a:headEnd len="sm" w="sm" type="none"/>
            <a:tailEnd len="sm" w="sm" type="none"/>
          </a:ln>
          <a:effectLst>
            <a:outerShdw blurRad="76200" rotWithShape="0" dir="5400000" dist="25400">
              <a:srgbClr val="000000">
                <a:alpha val="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19"/>
          <p:cNvSpPr/>
          <p:nvPr/>
        </p:nvSpPr>
        <p:spPr>
          <a:xfrm>
            <a:off x="3255264" y="868680"/>
            <a:ext cx="73152" cy="96012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19"/>
          <p:cNvSpPr txBox="1"/>
          <p:nvPr/>
        </p:nvSpPr>
        <p:spPr>
          <a:xfrm>
            <a:off x="3419856" y="941832"/>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00" u="none" cap="none" strike="noStrike">
                <a:solidFill>
                  <a:srgbClr val="5A6072"/>
                </a:solidFill>
                <a:latin typeface="Calibri"/>
                <a:ea typeface="Calibri"/>
                <a:cs typeface="Calibri"/>
                <a:sym typeface="Calibri"/>
              </a:rPr>
              <a:t>CTR / CPC</a:t>
            </a:r>
            <a:endParaRPr/>
          </a:p>
        </p:txBody>
      </p:sp>
      <p:sp>
        <p:nvSpPr>
          <p:cNvPr id="247" name="Google Shape;247;p19"/>
          <p:cNvSpPr txBox="1"/>
          <p:nvPr/>
        </p:nvSpPr>
        <p:spPr>
          <a:xfrm>
            <a:off x="3419856" y="1170432"/>
            <a:ext cx="2532888"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700" u="none" cap="none" strike="noStrike">
                <a:solidFill>
                  <a:srgbClr val="1E2761"/>
                </a:solidFill>
                <a:latin typeface="Calibri"/>
                <a:ea typeface="Calibri"/>
                <a:cs typeface="Calibri"/>
                <a:sym typeface="Calibri"/>
              </a:rPr>
              <a:t>0.045% / $4.29</a:t>
            </a:r>
            <a:endParaRPr/>
          </a:p>
        </p:txBody>
      </p:sp>
      <p:sp>
        <p:nvSpPr>
          <p:cNvPr id="248" name="Google Shape;248;p19"/>
          <p:cNvSpPr txBox="1"/>
          <p:nvPr/>
        </p:nvSpPr>
        <p:spPr>
          <a:xfrm>
            <a:off x="3419856" y="1554480"/>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950" u="none" cap="none" strike="noStrike">
                <a:solidFill>
                  <a:srgbClr val="0F1535"/>
                </a:solidFill>
                <a:latin typeface="Calibri"/>
                <a:ea typeface="Calibri"/>
                <a:cs typeface="Calibri"/>
                <a:sym typeface="Calibri"/>
              </a:rPr>
              <a:t>2,691 clicks</a:t>
            </a:r>
            <a:endParaRPr/>
          </a:p>
        </p:txBody>
      </p:sp>
      <p:sp>
        <p:nvSpPr>
          <p:cNvPr id="249" name="Google Shape;249;p19"/>
          <p:cNvSpPr/>
          <p:nvPr/>
        </p:nvSpPr>
        <p:spPr>
          <a:xfrm>
            <a:off x="6144768" y="868680"/>
            <a:ext cx="2761488" cy="960120"/>
          </a:xfrm>
          <a:prstGeom prst="rect">
            <a:avLst/>
          </a:prstGeom>
          <a:solidFill>
            <a:srgbClr val="FFFFFF"/>
          </a:solidFill>
          <a:ln cap="flat" cmpd="sng" w="9525">
            <a:solidFill>
              <a:srgbClr val="D0D4DC"/>
            </a:solidFill>
            <a:prstDash val="solid"/>
            <a:round/>
            <a:headEnd len="sm" w="sm" type="none"/>
            <a:tailEnd len="sm" w="sm" type="none"/>
          </a:ln>
          <a:effectLst>
            <a:outerShdw blurRad="76200" rotWithShape="0" dir="5400000" dist="25400">
              <a:srgbClr val="000000">
                <a:alpha val="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19"/>
          <p:cNvSpPr/>
          <p:nvPr/>
        </p:nvSpPr>
        <p:spPr>
          <a:xfrm>
            <a:off x="6144768" y="868680"/>
            <a:ext cx="73152" cy="96012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19"/>
          <p:cNvSpPr txBox="1"/>
          <p:nvPr/>
        </p:nvSpPr>
        <p:spPr>
          <a:xfrm>
            <a:off x="6309360" y="941832"/>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00" u="none" cap="none" strike="noStrike">
                <a:solidFill>
                  <a:srgbClr val="5A6072"/>
                </a:solidFill>
                <a:latin typeface="Calibri"/>
                <a:ea typeface="Calibri"/>
                <a:cs typeface="Calibri"/>
                <a:sym typeface="Calibri"/>
              </a:rPr>
              <a:t>Conversions</a:t>
            </a:r>
            <a:endParaRPr/>
          </a:p>
        </p:txBody>
      </p:sp>
      <p:sp>
        <p:nvSpPr>
          <p:cNvPr id="252" name="Google Shape;252;p19"/>
          <p:cNvSpPr txBox="1"/>
          <p:nvPr/>
        </p:nvSpPr>
        <p:spPr>
          <a:xfrm>
            <a:off x="6309360" y="1170432"/>
            <a:ext cx="2532888"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2000" u="none" cap="none" strike="noStrike">
                <a:solidFill>
                  <a:srgbClr val="1E2761"/>
                </a:solidFill>
                <a:latin typeface="Calibri"/>
                <a:ea typeface="Calibri"/>
                <a:cs typeface="Calibri"/>
                <a:sym typeface="Calibri"/>
              </a:rPr>
              <a:t>4 (all VT)</a:t>
            </a:r>
            <a:endParaRPr/>
          </a:p>
        </p:txBody>
      </p:sp>
      <p:sp>
        <p:nvSpPr>
          <p:cNvPr id="253" name="Google Shape;253;p19"/>
          <p:cNvSpPr txBox="1"/>
          <p:nvPr/>
        </p:nvSpPr>
        <p:spPr>
          <a:xfrm>
            <a:off x="6309360" y="1554480"/>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950" u="none" cap="none" strike="noStrike">
                <a:solidFill>
                  <a:srgbClr val="0F1535"/>
                </a:solidFill>
                <a:latin typeface="Calibri"/>
                <a:ea typeface="Calibri"/>
                <a:cs typeface="Calibri"/>
                <a:sym typeface="Calibri"/>
              </a:rPr>
              <a:t>CPA $2,888</a:t>
            </a:r>
            <a:endParaRPr/>
          </a:p>
        </p:txBody>
      </p:sp>
      <p:sp>
        <p:nvSpPr>
          <p:cNvPr id="254" name="Google Shape;254;p19"/>
          <p:cNvSpPr/>
          <p:nvPr/>
        </p:nvSpPr>
        <p:spPr>
          <a:xfrm>
            <a:off x="9034272" y="868680"/>
            <a:ext cx="2761488" cy="960120"/>
          </a:xfrm>
          <a:prstGeom prst="rect">
            <a:avLst/>
          </a:prstGeom>
          <a:solidFill>
            <a:srgbClr val="FFFFFF"/>
          </a:solidFill>
          <a:ln cap="flat" cmpd="sng" w="9525">
            <a:solidFill>
              <a:srgbClr val="D0D4DC"/>
            </a:solidFill>
            <a:prstDash val="solid"/>
            <a:round/>
            <a:headEnd len="sm" w="sm" type="none"/>
            <a:tailEnd len="sm" w="sm" type="none"/>
          </a:ln>
          <a:effectLst>
            <a:outerShdw blurRad="76200" rotWithShape="0" dir="5400000" dist="25400">
              <a:srgbClr val="000000">
                <a:alpha val="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19"/>
          <p:cNvSpPr/>
          <p:nvPr/>
        </p:nvSpPr>
        <p:spPr>
          <a:xfrm>
            <a:off x="9034272" y="868680"/>
            <a:ext cx="73152" cy="96012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19"/>
          <p:cNvSpPr txBox="1"/>
          <p:nvPr/>
        </p:nvSpPr>
        <p:spPr>
          <a:xfrm>
            <a:off x="9198864" y="941832"/>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000" u="none" cap="none" strike="noStrike">
                <a:solidFill>
                  <a:srgbClr val="5A6072"/>
                </a:solidFill>
                <a:latin typeface="Calibri"/>
                <a:ea typeface="Calibri"/>
                <a:cs typeface="Calibri"/>
                <a:sym typeface="Calibri"/>
              </a:rPr>
              <a:t>Viewability</a:t>
            </a:r>
            <a:endParaRPr/>
          </a:p>
        </p:txBody>
      </p:sp>
      <p:sp>
        <p:nvSpPr>
          <p:cNvPr id="257" name="Google Shape;257;p19"/>
          <p:cNvSpPr txBox="1"/>
          <p:nvPr/>
        </p:nvSpPr>
        <p:spPr>
          <a:xfrm>
            <a:off x="9198864" y="1170432"/>
            <a:ext cx="2532888"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2200" u="none" cap="none" strike="noStrike">
                <a:solidFill>
                  <a:srgbClr val="1E2761"/>
                </a:solidFill>
                <a:latin typeface="Calibri"/>
                <a:ea typeface="Calibri"/>
                <a:cs typeface="Calibri"/>
                <a:sym typeface="Calibri"/>
              </a:rPr>
              <a:t>65.3%</a:t>
            </a:r>
            <a:endParaRPr/>
          </a:p>
        </p:txBody>
      </p:sp>
      <p:sp>
        <p:nvSpPr>
          <p:cNvPr id="258" name="Google Shape;258;p19"/>
          <p:cNvSpPr txBox="1"/>
          <p:nvPr/>
        </p:nvSpPr>
        <p:spPr>
          <a:xfrm>
            <a:off x="9198864" y="1554480"/>
            <a:ext cx="2532888"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i="0" lang="en-US" sz="950" u="none" cap="none" strike="noStrike">
                <a:solidFill>
                  <a:srgbClr val="0F1535"/>
                </a:solidFill>
                <a:latin typeface="Calibri"/>
                <a:ea typeface="Calibri"/>
                <a:cs typeface="Calibri"/>
                <a:sym typeface="Calibri"/>
              </a:rPr>
              <a:t>Below 70% IAB</a:t>
            </a:r>
            <a:endParaRPr/>
          </a:p>
        </p:txBody>
      </p:sp>
      <p:sp>
        <p:nvSpPr>
          <p:cNvPr id="259" name="Google Shape;259;p19"/>
          <p:cNvSpPr txBox="1"/>
          <p:nvPr/>
        </p:nvSpPr>
        <p:spPr>
          <a:xfrm>
            <a:off x="365760" y="1965960"/>
            <a:ext cx="5486400" cy="365760"/>
          </a:xfrm>
          <a:prstGeom prst="rect">
            <a:avLst/>
          </a:prstGeom>
          <a:noFill/>
          <a:ln>
            <a:noFill/>
          </a:ln>
        </p:spPr>
        <p:txBody>
          <a:bodyPr anchorCtr="0" anchor="t" bIns="18275" lIns="0" spcFirstLastPara="1" rIns="0" wrap="square" tIns="18275">
            <a:spAutoFit/>
          </a:bodyPr>
          <a:lstStyle/>
          <a:p>
            <a:pPr indent="0" lvl="0" marL="0" marR="0" rtl="0" algn="l">
              <a:spcBef>
                <a:spcPts val="0"/>
              </a:spcBef>
              <a:spcAft>
                <a:spcPts val="0"/>
              </a:spcAft>
              <a:buNone/>
            </a:pPr>
            <a:r>
              <a:rPr b="1" i="0" lang="en-US" sz="1400" u="none" cap="none" strike="noStrike">
                <a:solidFill>
                  <a:srgbClr val="1E2761"/>
                </a:solidFill>
                <a:latin typeface="Georgia"/>
                <a:ea typeface="Georgia"/>
                <a:cs typeface="Georgia"/>
                <a:sym typeface="Georgia"/>
              </a:rPr>
              <a:t>Campaign split</a:t>
            </a:r>
            <a:endParaRPr/>
          </a:p>
        </p:txBody>
      </p:sp>
      <p:graphicFrame>
        <p:nvGraphicFramePr>
          <p:cNvPr id="260" name="Google Shape;260;p19"/>
          <p:cNvGraphicFramePr/>
          <p:nvPr/>
        </p:nvGraphicFramePr>
        <p:xfrm>
          <a:off x="365760" y="2377440"/>
          <a:ext cx="3000000" cy="3000000"/>
        </p:xfrm>
        <a:graphic>
          <a:graphicData uri="http://schemas.openxmlformats.org/drawingml/2006/table">
            <a:tbl>
              <a:tblPr bandRow="1" firstRow="1">
                <a:noFill/>
                <a:tableStyleId>{626DB2E7-D5CD-46CD-8FBD-676A5DF2763B}</a:tableStyleId>
              </a:tblPr>
              <a:tblGrid>
                <a:gridCol w="1691650"/>
                <a:gridCol w="914400"/>
                <a:gridCol w="822950"/>
                <a:gridCol w="777250"/>
                <a:gridCol w="640075"/>
                <a:gridCol w="731525"/>
              </a:tblGrid>
              <a:tr h="445775">
                <a:tc>
                  <a:txBody>
                    <a:bodyPr/>
                    <a:lstStyle/>
                    <a:p>
                      <a:pPr indent="0" lvl="0" marL="0" marR="0" rtl="0" algn="l">
                        <a:spcBef>
                          <a:spcPts val="0"/>
                        </a:spcBef>
                        <a:spcAft>
                          <a:spcPts val="0"/>
                        </a:spcAft>
                        <a:buNone/>
                      </a:pPr>
                      <a:r>
                        <a:rPr b="1" lang="en-US" sz="1050" u="none" cap="none" strike="noStrike">
                          <a:solidFill>
                            <a:srgbClr val="FFFFFF"/>
                          </a:solidFill>
                          <a:latin typeface="Calibri"/>
                          <a:ea typeface="Calibri"/>
                          <a:cs typeface="Calibri"/>
                          <a:sym typeface="Calibri"/>
                        </a:rPr>
                        <a:t>Campaign</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Spend</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Impr</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CTR</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Conv</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VW</a:t>
                      </a:r>
                      <a:endParaRPr/>
                    </a:p>
                  </a:txBody>
                  <a:tcPr marT="27425" marB="27425" marR="54875" marL="54875" anchor="ctr">
                    <a:solidFill>
                      <a:srgbClr val="1E2761"/>
                    </a:solidFill>
                  </a:tcPr>
                </a:tc>
              </a:tr>
              <a:tr h="445775">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Conversion (paused)</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$5,602</a:t>
                      </a:r>
                      <a:endParaRPr sz="1000">
                        <a:solidFill>
                          <a:srgbClr val="0F1535"/>
                        </a:solidFill>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5.03M</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0.028%</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4</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65.3%</a:t>
                      </a:r>
                      <a:endParaRPr/>
                    </a:p>
                  </a:txBody>
                  <a:tcPr marT="27425" marB="27425" marR="54875" marL="54875" anchor="ctr">
                    <a:solidFill>
                      <a:srgbClr val="FFFFFF"/>
                    </a:solidFill>
                  </a:tcPr>
                </a:tc>
              </a:tr>
              <a:tr h="445775">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Clicks (3/26 launch)</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$6,378</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1.00M</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0.126%</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58.8%</a:t>
                      </a:r>
                      <a:endParaRPr/>
                    </a:p>
                  </a:txBody>
                  <a:tcPr marT="27425" marB="27425" marR="54875" marL="54875" anchor="ctr">
                    <a:solidFill>
                      <a:srgbClr val="F9FAFC"/>
                    </a:solidFill>
                  </a:tcPr>
                </a:tc>
              </a:tr>
              <a:tr h="445775">
                <a:tc>
                  <a:txBody>
                    <a:bodyPr/>
                    <a:lstStyle/>
                    <a:p>
                      <a:pPr indent="0" lvl="0" marL="0" marR="0" rtl="0" algn="l">
                        <a:spcBef>
                          <a:spcPts val="0"/>
                        </a:spcBef>
                        <a:spcAft>
                          <a:spcPts val="0"/>
                        </a:spcAft>
                        <a:buNone/>
                      </a:pPr>
                      <a:r>
                        <a:rPr b="1" lang="en-US" sz="1000" u="none" cap="none" strike="noStrike">
                          <a:solidFill>
                            <a:srgbClr val="1E2761"/>
                          </a:solidFill>
                          <a:latin typeface="Calibri"/>
                          <a:ea typeface="Calibri"/>
                          <a:cs typeface="Calibri"/>
                          <a:sym typeface="Calibri"/>
                        </a:rPr>
                        <a:t>Total</a:t>
                      </a:r>
                      <a:endParaRPr/>
                    </a:p>
                  </a:txBody>
                  <a:tcPr marT="27425" marB="27425" marR="54875" marL="54875" anchor="ctr">
                    <a:solidFill>
                      <a:srgbClr val="CADCFC"/>
                    </a:solidFill>
                  </a:tcPr>
                </a:tc>
                <a:tc>
                  <a:txBody>
                    <a:bodyPr/>
                    <a:lstStyle/>
                    <a:p>
                      <a:pPr indent="0" lvl="0" marL="0" marR="0" rtl="0" algn="r">
                        <a:spcBef>
                          <a:spcPts val="0"/>
                        </a:spcBef>
                        <a:spcAft>
                          <a:spcPts val="0"/>
                        </a:spcAft>
                        <a:buNone/>
                      </a:pPr>
                      <a:r>
                        <a:rPr b="1" lang="en-US" sz="1000" u="none" cap="none" strike="noStrike">
                          <a:solidFill>
                            <a:srgbClr val="1E2761"/>
                          </a:solidFill>
                          <a:latin typeface="Calibri"/>
                          <a:ea typeface="Calibri"/>
                          <a:cs typeface="Calibri"/>
                          <a:sym typeface="Calibri"/>
                        </a:rPr>
                        <a:t>$11,</a:t>
                      </a:r>
                      <a:r>
                        <a:rPr b="1" lang="en-US" sz="1000">
                          <a:solidFill>
                            <a:srgbClr val="1E2761"/>
                          </a:solidFill>
                        </a:rPr>
                        <a:t>980</a:t>
                      </a:r>
                      <a:endParaRPr/>
                    </a:p>
                  </a:txBody>
                  <a:tcPr marT="27425" marB="27425" marR="54875" marL="54875" anchor="ctr">
                    <a:solidFill>
                      <a:srgbClr val="CADCFC"/>
                    </a:solidFill>
                  </a:tcPr>
                </a:tc>
                <a:tc>
                  <a:txBody>
                    <a:bodyPr/>
                    <a:lstStyle/>
                    <a:p>
                      <a:pPr indent="0" lvl="0" marL="0" marR="0" rtl="0" algn="r">
                        <a:spcBef>
                          <a:spcPts val="0"/>
                        </a:spcBef>
                        <a:spcAft>
                          <a:spcPts val="0"/>
                        </a:spcAft>
                        <a:buNone/>
                      </a:pPr>
                      <a:r>
                        <a:rPr b="1" lang="en-US" sz="1000" u="none" cap="none" strike="noStrike">
                          <a:solidFill>
                            <a:srgbClr val="1E2761"/>
                          </a:solidFill>
                          <a:latin typeface="Calibri"/>
                          <a:ea typeface="Calibri"/>
                          <a:cs typeface="Calibri"/>
                          <a:sym typeface="Calibri"/>
                        </a:rPr>
                        <a:t>6.03M</a:t>
                      </a:r>
                      <a:endParaRPr/>
                    </a:p>
                  </a:txBody>
                  <a:tcPr marT="27425" marB="27425" marR="54875" marL="54875" anchor="ctr">
                    <a:solidFill>
                      <a:srgbClr val="CADCFC"/>
                    </a:solidFill>
                  </a:tcPr>
                </a:tc>
                <a:tc>
                  <a:txBody>
                    <a:bodyPr/>
                    <a:lstStyle/>
                    <a:p>
                      <a:pPr indent="0" lvl="0" marL="0" marR="0" rtl="0" algn="r">
                        <a:spcBef>
                          <a:spcPts val="0"/>
                        </a:spcBef>
                        <a:spcAft>
                          <a:spcPts val="0"/>
                        </a:spcAft>
                        <a:buNone/>
                      </a:pPr>
                      <a:r>
                        <a:rPr b="1" lang="en-US" sz="1000" u="none" cap="none" strike="noStrike">
                          <a:solidFill>
                            <a:srgbClr val="1E2761"/>
                          </a:solidFill>
                          <a:latin typeface="Calibri"/>
                          <a:ea typeface="Calibri"/>
                          <a:cs typeface="Calibri"/>
                          <a:sym typeface="Calibri"/>
                        </a:rPr>
                        <a:t>0.045%</a:t>
                      </a:r>
                      <a:endParaRPr/>
                    </a:p>
                  </a:txBody>
                  <a:tcPr marT="27425" marB="27425" marR="54875" marL="54875" anchor="ctr">
                    <a:solidFill>
                      <a:srgbClr val="CADCFC"/>
                    </a:solidFill>
                  </a:tcPr>
                </a:tc>
                <a:tc>
                  <a:txBody>
                    <a:bodyPr/>
                    <a:lstStyle/>
                    <a:p>
                      <a:pPr indent="0" lvl="0" marL="0" marR="0" rtl="0" algn="r">
                        <a:spcBef>
                          <a:spcPts val="0"/>
                        </a:spcBef>
                        <a:spcAft>
                          <a:spcPts val="0"/>
                        </a:spcAft>
                        <a:buNone/>
                      </a:pPr>
                      <a:r>
                        <a:rPr b="1" lang="en-US" sz="1000" u="none" cap="none" strike="noStrike">
                          <a:solidFill>
                            <a:srgbClr val="1E2761"/>
                          </a:solidFill>
                          <a:latin typeface="Calibri"/>
                          <a:ea typeface="Calibri"/>
                          <a:cs typeface="Calibri"/>
                          <a:sym typeface="Calibri"/>
                        </a:rPr>
                        <a:t>4</a:t>
                      </a:r>
                      <a:endParaRPr/>
                    </a:p>
                  </a:txBody>
                  <a:tcPr marT="27425" marB="27425" marR="54875" marL="54875" anchor="ctr">
                    <a:solidFill>
                      <a:srgbClr val="CADCFC"/>
                    </a:solidFill>
                  </a:tcPr>
                </a:tc>
                <a:tc>
                  <a:txBody>
                    <a:bodyPr/>
                    <a:lstStyle/>
                    <a:p>
                      <a:pPr indent="0" lvl="0" marL="0" marR="0" rtl="0" algn="r">
                        <a:spcBef>
                          <a:spcPts val="0"/>
                        </a:spcBef>
                        <a:spcAft>
                          <a:spcPts val="0"/>
                        </a:spcAft>
                        <a:buNone/>
                      </a:pPr>
                      <a:r>
                        <a:rPr b="1" lang="en-US" sz="1000" u="none" cap="none" strike="noStrike">
                          <a:solidFill>
                            <a:srgbClr val="1E2761"/>
                          </a:solidFill>
                          <a:latin typeface="Calibri"/>
                          <a:ea typeface="Calibri"/>
                          <a:cs typeface="Calibri"/>
                          <a:sym typeface="Calibri"/>
                        </a:rPr>
                        <a:t>63.3%</a:t>
                      </a:r>
                      <a:endParaRPr/>
                    </a:p>
                  </a:txBody>
                  <a:tcPr marT="27425" marB="27425" marR="54875" marL="54875" anchor="ctr">
                    <a:solidFill>
                      <a:srgbClr val="CADCFC"/>
                    </a:solidFill>
                  </a:tcPr>
                </a:tc>
              </a:tr>
            </a:tbl>
          </a:graphicData>
        </a:graphic>
      </p:graphicFrame>
      <p:sp>
        <p:nvSpPr>
          <p:cNvPr id="261" name="Google Shape;261;p19"/>
          <p:cNvSpPr txBox="1"/>
          <p:nvPr/>
        </p:nvSpPr>
        <p:spPr>
          <a:xfrm>
            <a:off x="6263640" y="1965960"/>
            <a:ext cx="5486400" cy="365760"/>
          </a:xfrm>
          <a:prstGeom prst="rect">
            <a:avLst/>
          </a:prstGeom>
          <a:noFill/>
          <a:ln>
            <a:noFill/>
          </a:ln>
        </p:spPr>
        <p:txBody>
          <a:bodyPr anchorCtr="0" anchor="t" bIns="18275" lIns="0" spcFirstLastPara="1" rIns="0" wrap="square" tIns="18275">
            <a:spAutoFit/>
          </a:bodyPr>
          <a:lstStyle/>
          <a:p>
            <a:pPr indent="0" lvl="0" marL="0" marR="0" rtl="0" algn="l">
              <a:spcBef>
                <a:spcPts val="0"/>
              </a:spcBef>
              <a:spcAft>
                <a:spcPts val="0"/>
              </a:spcAft>
              <a:buNone/>
            </a:pPr>
            <a:r>
              <a:rPr b="1" i="0" lang="en-US" sz="1400" u="none" cap="none" strike="noStrike">
                <a:solidFill>
                  <a:srgbClr val="1E2761"/>
                </a:solidFill>
                <a:latin typeface="Georgia"/>
                <a:ea typeface="Georgia"/>
                <a:cs typeface="Georgia"/>
                <a:sym typeface="Georgia"/>
              </a:rPr>
              <a:t>Device breakdown (Conversion campaign)</a:t>
            </a:r>
            <a:endParaRPr/>
          </a:p>
        </p:txBody>
      </p:sp>
      <p:graphicFrame>
        <p:nvGraphicFramePr>
          <p:cNvPr id="262" name="Google Shape;262;p19"/>
          <p:cNvGraphicFramePr/>
          <p:nvPr/>
        </p:nvGraphicFramePr>
        <p:xfrm>
          <a:off x="6263640" y="2377440"/>
          <a:ext cx="3000000" cy="3000000"/>
        </p:xfrm>
        <a:graphic>
          <a:graphicData uri="http://schemas.openxmlformats.org/drawingml/2006/table">
            <a:tbl>
              <a:tblPr bandRow="1" firstRow="1">
                <a:noFill/>
                <a:tableStyleId>{626DB2E7-D5CD-46CD-8FBD-676A5DF2763B}</a:tableStyleId>
              </a:tblPr>
              <a:tblGrid>
                <a:gridCol w="1554475"/>
                <a:gridCol w="1097275"/>
                <a:gridCol w="1005850"/>
                <a:gridCol w="914400"/>
                <a:gridCol w="1005850"/>
              </a:tblGrid>
              <a:tr h="445775">
                <a:tc>
                  <a:txBody>
                    <a:bodyPr/>
                    <a:lstStyle/>
                    <a:p>
                      <a:pPr indent="0" lvl="0" marL="0" marR="0" rtl="0" algn="l">
                        <a:spcBef>
                          <a:spcPts val="0"/>
                        </a:spcBef>
                        <a:spcAft>
                          <a:spcPts val="0"/>
                        </a:spcAft>
                        <a:buNone/>
                      </a:pPr>
                      <a:r>
                        <a:rPr b="1" lang="en-US" sz="1050" u="none" cap="none" strike="noStrike">
                          <a:solidFill>
                            <a:srgbClr val="FFFFFF"/>
                          </a:solidFill>
                          <a:latin typeface="Calibri"/>
                          <a:ea typeface="Calibri"/>
                          <a:cs typeface="Calibri"/>
                          <a:sym typeface="Calibri"/>
                        </a:rPr>
                        <a:t>Device</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Spend</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Clicks</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Conv</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1050" u="none" cap="none" strike="noStrike">
                          <a:solidFill>
                            <a:srgbClr val="FFFFFF"/>
                          </a:solidFill>
                          <a:latin typeface="Calibri"/>
                          <a:ea typeface="Calibri"/>
                          <a:cs typeface="Calibri"/>
                          <a:sym typeface="Calibri"/>
                        </a:rPr>
                        <a:t>VW</a:t>
                      </a:r>
                      <a:endParaRPr/>
                    </a:p>
                  </a:txBody>
                  <a:tcPr marT="27425" marB="27425" marR="54875" marL="54875" anchor="ctr">
                    <a:solidFill>
                      <a:srgbClr val="1E2761"/>
                    </a:solidFill>
                  </a:tcPr>
                </a:tc>
              </a:tr>
              <a:tr h="445775">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Desktop</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a:latin typeface="Arial"/>
                          <a:ea typeface="Arial"/>
                          <a:cs typeface="Arial"/>
                          <a:sym typeface="Arial"/>
                        </a:rPr>
                        <a:t>$3,990</a:t>
                      </a:r>
                      <a:endParaRPr sz="1000">
                        <a:latin typeface="Arial"/>
                        <a:ea typeface="Arial"/>
                        <a:cs typeface="Arial"/>
                        <a:sym typeface="Arial"/>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a:latin typeface="Arial"/>
                          <a:ea typeface="Arial"/>
                          <a:cs typeface="Arial"/>
                          <a:sym typeface="Arial"/>
                        </a:rPr>
                        <a:t>532</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4</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66.1%</a:t>
                      </a:r>
                      <a:endParaRPr/>
                    </a:p>
                  </a:txBody>
                  <a:tcPr marT="27425" marB="27425" marR="54875" marL="54875" anchor="ctr">
                    <a:solidFill>
                      <a:srgbClr val="FFFFFF"/>
                    </a:solidFill>
                  </a:tcPr>
                </a:tc>
              </a:tr>
              <a:tr h="445775">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Smartphone</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a:latin typeface="Arial"/>
                          <a:ea typeface="Arial"/>
                          <a:cs typeface="Arial"/>
                          <a:sym typeface="Arial"/>
                        </a:rPr>
                        <a:t>$7,679</a:t>
                      </a:r>
                      <a:endParaRPr sz="1000">
                        <a:latin typeface="Arial"/>
                        <a:ea typeface="Arial"/>
                        <a:cs typeface="Arial"/>
                        <a:sym typeface="Arial"/>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a:solidFill>
                            <a:srgbClr val="0F1535"/>
                          </a:solidFill>
                        </a:rPr>
                        <a:t>2085</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64.8%</a:t>
                      </a:r>
                      <a:endParaRPr/>
                    </a:p>
                  </a:txBody>
                  <a:tcPr marT="27425" marB="27425" marR="54875" marL="54875" anchor="ctr">
                    <a:solidFill>
                      <a:srgbClr val="F9FAFC"/>
                    </a:solidFill>
                  </a:tcPr>
                </a:tc>
              </a:tr>
              <a:tr h="445775">
                <a:tc>
                  <a:txBody>
                    <a:bodyPr/>
                    <a:lstStyle/>
                    <a:p>
                      <a:pPr indent="0" lvl="0" marL="0" marR="0" rtl="0" algn="l">
                        <a:spcBef>
                          <a:spcPts val="0"/>
                        </a:spcBef>
                        <a:spcAft>
                          <a:spcPts val="0"/>
                        </a:spcAft>
                        <a:buNone/>
                      </a:pPr>
                      <a:r>
                        <a:rPr lang="en-US" sz="1000" u="none" cap="none" strike="noStrike">
                          <a:solidFill>
                            <a:srgbClr val="0F1535"/>
                          </a:solidFill>
                          <a:latin typeface="Calibri"/>
                          <a:ea typeface="Calibri"/>
                          <a:cs typeface="Calibri"/>
                          <a:sym typeface="Calibri"/>
                        </a:rPr>
                        <a:t>Tablet</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a:solidFill>
                            <a:srgbClr val="0F1535"/>
                          </a:solidFill>
                        </a:rPr>
                        <a:t>309</a:t>
                      </a:r>
                      <a:endParaRPr sz="1000">
                        <a:solidFill>
                          <a:srgbClr val="0F1535"/>
                        </a:solidFill>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a:solidFill>
                            <a:srgbClr val="0F1535"/>
                          </a:solidFill>
                        </a:rPr>
                        <a:t>74</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0</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1000" u="none" cap="none" strike="noStrike">
                          <a:solidFill>
                            <a:srgbClr val="0F1535"/>
                          </a:solidFill>
                          <a:latin typeface="Calibri"/>
                          <a:ea typeface="Calibri"/>
                          <a:cs typeface="Calibri"/>
                          <a:sym typeface="Calibri"/>
                        </a:rPr>
                        <a:t>49.5%</a:t>
                      </a:r>
                      <a:endParaRPr/>
                    </a:p>
                  </a:txBody>
                  <a:tcPr marT="27425" marB="27425" marR="54875" marL="54875" anchor="ctr">
                    <a:solidFill>
                      <a:srgbClr val="FFFFFF"/>
                    </a:solidFill>
                  </a:tcPr>
                </a:tc>
              </a:tr>
            </a:tbl>
          </a:graphicData>
        </a:graphic>
      </p:graphicFrame>
      <p:sp>
        <p:nvSpPr>
          <p:cNvPr id="263" name="Google Shape;263;p19"/>
          <p:cNvSpPr/>
          <p:nvPr/>
        </p:nvSpPr>
        <p:spPr>
          <a:xfrm>
            <a:off x="365760" y="4343400"/>
            <a:ext cx="11475720" cy="2194560"/>
          </a:xfrm>
          <a:prstGeom prst="rect">
            <a:avLst/>
          </a:prstGeom>
          <a:solidFill>
            <a:srgbClr val="FFFFFF"/>
          </a:solidFill>
          <a:ln cap="flat" cmpd="sng" w="9525">
            <a:solidFill>
              <a:srgbClr val="D0D4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19"/>
          <p:cNvSpPr/>
          <p:nvPr/>
        </p:nvSpPr>
        <p:spPr>
          <a:xfrm>
            <a:off x="365760" y="4343400"/>
            <a:ext cx="73152" cy="219456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19"/>
          <p:cNvSpPr txBox="1"/>
          <p:nvPr/>
        </p:nvSpPr>
        <p:spPr>
          <a:xfrm>
            <a:off x="566928" y="4416552"/>
            <a:ext cx="11155800" cy="221700"/>
          </a:xfrm>
          <a:prstGeom prst="rect">
            <a:avLst/>
          </a:prstGeom>
          <a:noFill/>
          <a:ln>
            <a:noFill/>
          </a:ln>
        </p:spPr>
        <p:txBody>
          <a:bodyPr anchorCtr="0" anchor="t" bIns="18275" lIns="45700" spcFirstLastPara="1" rIns="45700" wrap="square" tIns="18275">
            <a:spAutoFit/>
          </a:bodyPr>
          <a:lstStyle/>
          <a:p>
            <a:pPr indent="0" lvl="0" marL="0" rtl="0" algn="l">
              <a:spcBef>
                <a:spcPts val="0"/>
              </a:spcBef>
              <a:spcAft>
                <a:spcPts val="0"/>
              </a:spcAft>
              <a:buNone/>
            </a:pPr>
            <a:r>
              <a:rPr b="1" lang="en-US" sz="1200">
                <a:solidFill>
                  <a:srgbClr val="1E2761"/>
                </a:solidFill>
                <a:latin typeface="Georgia"/>
                <a:ea typeface="Georgia"/>
                <a:cs typeface="Georgia"/>
                <a:sym typeface="Georgia"/>
              </a:rPr>
              <a:t>Highlights</a:t>
            </a:r>
            <a:endParaRPr b="1" sz="1200">
              <a:solidFill>
                <a:srgbClr val="1E2761"/>
              </a:solidFill>
              <a:latin typeface="Georgia"/>
              <a:ea typeface="Georgia"/>
              <a:cs typeface="Georgia"/>
              <a:sym typeface="Georgia"/>
            </a:endParaRPr>
          </a:p>
        </p:txBody>
      </p:sp>
      <p:sp>
        <p:nvSpPr>
          <p:cNvPr id="266" name="Google Shape;266;p19"/>
          <p:cNvSpPr txBox="1"/>
          <p:nvPr/>
        </p:nvSpPr>
        <p:spPr>
          <a:xfrm>
            <a:off x="566928" y="4754880"/>
            <a:ext cx="11109900" cy="1424700"/>
          </a:xfrm>
          <a:prstGeom prst="rect">
            <a:avLst/>
          </a:prstGeom>
          <a:noFill/>
          <a:ln>
            <a:noFill/>
          </a:ln>
        </p:spPr>
        <p:txBody>
          <a:bodyPr anchorCtr="0" anchor="t" bIns="18275" lIns="45700" spcFirstLastPara="1" rIns="45700" wrap="square" tIns="18275">
            <a:spAutoFit/>
          </a:bodyPr>
          <a:lstStyle/>
          <a:p>
            <a:pPr indent="0" lvl="0" marL="0" rtl="0" algn="l">
              <a:spcBef>
                <a:spcPts val="500"/>
              </a:spcBef>
              <a:spcAft>
                <a:spcPts val="0"/>
              </a:spcAft>
              <a:buClr>
                <a:schemeClr val="dk1"/>
              </a:buClr>
              <a:buSzPts val="1100"/>
              <a:buFont typeface="Arial"/>
              <a:buNone/>
            </a:pPr>
            <a:r>
              <a:rPr lang="en-US" sz="1050">
                <a:solidFill>
                  <a:srgbClr val="1E2761"/>
                </a:solidFill>
                <a:latin typeface="Calibri"/>
                <a:ea typeface="Calibri"/>
                <a:cs typeface="Calibri"/>
                <a:sym typeface="Calibri"/>
              </a:rPr>
              <a:t>Delivery is efficient. Desktop is the converting device. April will produce the first full read on both campaigns.</a:t>
            </a:r>
            <a:endParaRPr sz="1050">
              <a:solidFill>
                <a:srgbClr val="1E2761"/>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en-US" sz="1050">
                <a:solidFill>
                  <a:srgbClr val="1E2761"/>
                </a:solidFill>
                <a:latin typeface="Calibri"/>
                <a:ea typeface="Calibri"/>
                <a:cs typeface="Calibri"/>
                <a:sym typeface="Calibri"/>
              </a:rPr>
              <a:t>Quantcast delivered 6M impressions at $1.92 CPM across 3.2M unique devices at 1.87 frequency. Cost and reach efficiency are strong. All 4 recorded conversions came from the Conversion campaign on desktop, where viewability ran at 66.1%.</a:t>
            </a:r>
            <a:endParaRPr sz="1050">
              <a:solidFill>
                <a:srgbClr val="1E2761"/>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en-US" sz="1050">
                <a:solidFill>
                  <a:srgbClr val="1E2761"/>
                </a:solidFill>
                <a:latin typeface="Calibri"/>
                <a:ea typeface="Calibri"/>
                <a:cs typeface="Calibri"/>
                <a:sym typeface="Calibri"/>
              </a:rPr>
              <a:t>All 4 conversions are view-through attributed. Click-through attribution will be validated as part of the broader tracking setup in progress. That validation will clarify the full conversion picture for April reporting.</a:t>
            </a:r>
            <a:endParaRPr sz="1050">
              <a:solidFill>
                <a:srgbClr val="1E2761"/>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en-US" sz="1050">
                <a:solidFill>
                  <a:srgbClr val="1E2761"/>
                </a:solidFill>
                <a:latin typeface="Calibri"/>
                <a:ea typeface="Calibri"/>
                <a:cs typeface="Calibri"/>
                <a:sym typeface="Calibri"/>
              </a:rPr>
              <a:t>The Clicks campaign launched March 26 — six days of data. Performance assessment for that unit carries forward into April as its first complete month.</a:t>
            </a:r>
            <a:endParaRPr sz="1050">
              <a:solidFill>
                <a:srgbClr val="1E2761"/>
              </a:solidFill>
              <a:latin typeface="Calibri"/>
              <a:ea typeface="Calibri"/>
              <a:cs typeface="Calibri"/>
              <a:sym typeface="Calibri"/>
            </a:endParaRPr>
          </a:p>
          <a:p>
            <a:pPr indent="0" lvl="0" marL="0" marR="0" rtl="0" algn="l">
              <a:spcBef>
                <a:spcPts val="500"/>
              </a:spcBef>
              <a:spcAft>
                <a:spcPts val="0"/>
              </a:spcAft>
              <a:buNone/>
            </a:pPr>
            <a:r>
              <a:t/>
            </a:r>
            <a:endParaRPr b="1" sz="1050">
              <a:solidFill>
                <a:srgbClr val="1E2761"/>
              </a:solidFill>
              <a:latin typeface="Calibri"/>
              <a:ea typeface="Calibri"/>
              <a:cs typeface="Calibri"/>
              <a:sym typeface="Calibri"/>
            </a:endParaRPr>
          </a:p>
        </p:txBody>
      </p:sp>
      <p:sp>
        <p:nvSpPr>
          <p:cNvPr id="267" name="Google Shape;267;p19"/>
          <p:cNvSpPr/>
          <p:nvPr/>
        </p:nvSpPr>
        <p:spPr>
          <a:xfrm>
            <a:off x="0" y="6583680"/>
            <a:ext cx="12191695" cy="274320"/>
          </a:xfrm>
          <a:prstGeom prst="rect">
            <a:avLst/>
          </a:prstGeom>
          <a:solidFill>
            <a:srgbClr val="F4F6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19"/>
          <p:cNvSpPr txBox="1"/>
          <p:nvPr/>
        </p:nvSpPr>
        <p:spPr>
          <a:xfrm>
            <a:off x="365760" y="6601968"/>
            <a:ext cx="8229600" cy="256032"/>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0" i="0" lang="en-US" sz="900" u="none" cap="none" strike="noStrike">
                <a:solidFill>
                  <a:srgbClr val="5A6072"/>
                </a:solidFill>
                <a:latin typeface="Calibri"/>
                <a:ea typeface="Calibri"/>
                <a:cs typeface="Calibri"/>
                <a:sym typeface="Calibri"/>
              </a:rPr>
              <a:t>GGMI (LATAM / Mexico)  |  March 2026 Performance Review  |  Berelvant</a:t>
            </a:r>
            <a:endParaRPr/>
          </a:p>
        </p:txBody>
      </p:sp>
      <p:sp>
        <p:nvSpPr>
          <p:cNvPr id="269" name="Google Shape;269;p19"/>
          <p:cNvSpPr txBox="1"/>
          <p:nvPr/>
        </p:nvSpPr>
        <p:spPr>
          <a:xfrm>
            <a:off x="11247120" y="6601968"/>
            <a:ext cx="822960" cy="256032"/>
          </a:xfrm>
          <a:prstGeom prst="rect">
            <a:avLst/>
          </a:prstGeom>
          <a:noFill/>
          <a:ln>
            <a:noFill/>
          </a:ln>
        </p:spPr>
        <p:txBody>
          <a:bodyPr anchorCtr="0" anchor="ctr" bIns="18275" lIns="45700" spcFirstLastPara="1" rIns="45700" wrap="square" tIns="18275">
            <a:spAutoFit/>
          </a:bodyPr>
          <a:lstStyle/>
          <a:p>
            <a:pPr indent="0" lvl="0" marL="0" marR="0" rtl="0" algn="r">
              <a:spcBef>
                <a:spcPts val="0"/>
              </a:spcBef>
              <a:spcAft>
                <a:spcPts val="0"/>
              </a:spcAft>
              <a:buNone/>
            </a:pPr>
            <a:r>
              <a:rPr b="0" i="0" lang="en-US" sz="900" u="none" cap="none" strike="noStrike">
                <a:solidFill>
                  <a:srgbClr val="5A6072"/>
                </a:solidFill>
                <a:latin typeface="Calibri"/>
                <a:ea typeface="Calibri"/>
                <a:cs typeface="Calibri"/>
                <a:sym typeface="Calibri"/>
              </a:rPr>
              <a:t>7 / 9</a:t>
            </a:r>
            <a:endParaRPr/>
          </a:p>
        </p:txBody>
      </p:sp>
      <p:pic>
        <p:nvPicPr>
          <p:cNvPr id="270" name="Google Shape;270;p19" title="berelvant-logo.png"/>
          <p:cNvPicPr preferRelativeResize="0"/>
          <p:nvPr/>
        </p:nvPicPr>
        <p:blipFill>
          <a:blip r:embed="rId3">
            <a:alphaModFix/>
          </a:blip>
          <a:stretch>
            <a:fillRect/>
          </a:stretch>
        </p:blipFill>
        <p:spPr>
          <a:xfrm>
            <a:off x="11185838" y="68588"/>
            <a:ext cx="854075" cy="274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0"/>
          <p:cNvSpPr/>
          <p:nvPr/>
        </p:nvSpPr>
        <p:spPr>
          <a:xfrm>
            <a:off x="0" y="0"/>
            <a:ext cx="12191695" cy="64008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0"/>
          <p:cNvSpPr/>
          <p:nvPr/>
        </p:nvSpPr>
        <p:spPr>
          <a:xfrm>
            <a:off x="0" y="640080"/>
            <a:ext cx="12191695" cy="36576"/>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20"/>
          <p:cNvSpPr txBox="1"/>
          <p:nvPr/>
        </p:nvSpPr>
        <p:spPr>
          <a:xfrm>
            <a:off x="365760" y="73152"/>
            <a:ext cx="9144000" cy="548640"/>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2600" u="none" cap="none" strike="noStrike">
                <a:solidFill>
                  <a:srgbClr val="FFFFFF"/>
                </a:solidFill>
                <a:latin typeface="Georgia"/>
                <a:ea typeface="Georgia"/>
                <a:cs typeface="Georgia"/>
                <a:sym typeface="Georgia"/>
              </a:rPr>
              <a:t>Quantcast + Azerion: Recs and Next Steps</a:t>
            </a:r>
            <a:endParaRPr/>
          </a:p>
        </p:txBody>
      </p:sp>
      <p:sp>
        <p:nvSpPr>
          <p:cNvPr id="278" name="Google Shape;278;p20"/>
          <p:cNvSpPr/>
          <p:nvPr/>
        </p:nvSpPr>
        <p:spPr>
          <a:xfrm>
            <a:off x="365760" y="868680"/>
            <a:ext cx="5577840" cy="36576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0"/>
          <p:cNvSpPr txBox="1"/>
          <p:nvPr/>
        </p:nvSpPr>
        <p:spPr>
          <a:xfrm>
            <a:off x="502920" y="896112"/>
            <a:ext cx="5486400" cy="310896"/>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1300" u="none" cap="none" strike="noStrike">
                <a:solidFill>
                  <a:srgbClr val="FFFFFF"/>
                </a:solidFill>
                <a:latin typeface="Georgia"/>
                <a:ea typeface="Georgia"/>
                <a:cs typeface="Georgia"/>
                <a:sym typeface="Georgia"/>
              </a:rPr>
              <a:t>QUANTCAST</a:t>
            </a:r>
            <a:endParaRPr/>
          </a:p>
        </p:txBody>
      </p:sp>
      <p:sp>
        <p:nvSpPr>
          <p:cNvPr id="280" name="Google Shape;280;p20"/>
          <p:cNvSpPr/>
          <p:nvPr/>
        </p:nvSpPr>
        <p:spPr>
          <a:xfrm>
            <a:off x="6263640" y="868680"/>
            <a:ext cx="5577840" cy="36576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20"/>
          <p:cNvSpPr txBox="1"/>
          <p:nvPr/>
        </p:nvSpPr>
        <p:spPr>
          <a:xfrm>
            <a:off x="6400800" y="896112"/>
            <a:ext cx="2743200" cy="310896"/>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1300" u="none" cap="none" strike="noStrike">
                <a:solidFill>
                  <a:srgbClr val="FFFFFF"/>
                </a:solidFill>
                <a:latin typeface="Georgia"/>
                <a:ea typeface="Georgia"/>
                <a:cs typeface="Georgia"/>
                <a:sym typeface="Georgia"/>
              </a:rPr>
              <a:t>AZERION</a:t>
            </a:r>
            <a:endParaRPr/>
          </a:p>
        </p:txBody>
      </p:sp>
      <p:sp>
        <p:nvSpPr>
          <p:cNvPr id="282" name="Google Shape;282;p20"/>
          <p:cNvSpPr txBox="1"/>
          <p:nvPr/>
        </p:nvSpPr>
        <p:spPr>
          <a:xfrm>
            <a:off x="7589520" y="896112"/>
            <a:ext cx="4160520" cy="310896"/>
          </a:xfrm>
          <a:prstGeom prst="rect">
            <a:avLst/>
          </a:prstGeom>
          <a:noFill/>
          <a:ln>
            <a:noFill/>
          </a:ln>
        </p:spPr>
        <p:txBody>
          <a:bodyPr anchorCtr="0" anchor="ctr" bIns="18275" lIns="45700" spcFirstLastPara="1" rIns="45700" wrap="square" tIns="18275">
            <a:spAutoFit/>
          </a:bodyPr>
          <a:lstStyle/>
          <a:p>
            <a:pPr indent="0" lvl="0" marL="0" marR="0" rtl="0" algn="r">
              <a:spcBef>
                <a:spcPts val="0"/>
              </a:spcBef>
              <a:spcAft>
                <a:spcPts val="0"/>
              </a:spcAft>
              <a:buNone/>
            </a:pPr>
            <a:r>
              <a:rPr b="0" i="0" lang="en-US" sz="950" u="none" cap="none" strike="noStrike">
                <a:solidFill>
                  <a:srgbClr val="FFFFFF"/>
                </a:solidFill>
                <a:latin typeface="Calibri"/>
                <a:ea typeface="Calibri"/>
                <a:cs typeface="Calibri"/>
                <a:sym typeface="Calibri"/>
              </a:rPr>
              <a:t>Spend $10,874  |  Conv 5  |  CPA $2,175  |  VW 74%</a:t>
            </a:r>
            <a:endParaRPr/>
          </a:p>
        </p:txBody>
      </p:sp>
      <p:sp>
        <p:nvSpPr>
          <p:cNvPr id="283" name="Google Shape;283;p20"/>
          <p:cNvSpPr/>
          <p:nvPr/>
        </p:nvSpPr>
        <p:spPr>
          <a:xfrm>
            <a:off x="365760" y="1325880"/>
            <a:ext cx="5577840" cy="2194560"/>
          </a:xfrm>
          <a:prstGeom prst="rect">
            <a:avLst/>
          </a:prstGeom>
          <a:solidFill>
            <a:srgbClr val="FFFFFF"/>
          </a:solidFill>
          <a:ln cap="flat" cmpd="sng" w="9525">
            <a:solidFill>
              <a:srgbClr val="D0D4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0"/>
          <p:cNvSpPr/>
          <p:nvPr/>
        </p:nvSpPr>
        <p:spPr>
          <a:xfrm>
            <a:off x="365760" y="1325880"/>
            <a:ext cx="73152" cy="2194560"/>
          </a:xfrm>
          <a:prstGeom prst="rect">
            <a:avLst/>
          </a:prstGeom>
          <a:solidFill>
            <a:srgbClr val="2E7D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20"/>
          <p:cNvSpPr txBox="1"/>
          <p:nvPr/>
        </p:nvSpPr>
        <p:spPr>
          <a:xfrm>
            <a:off x="566928" y="1399032"/>
            <a:ext cx="5257800" cy="29260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200" u="none" cap="none" strike="noStrike">
                <a:solidFill>
                  <a:srgbClr val="1E2761"/>
                </a:solidFill>
                <a:latin typeface="Georgia"/>
                <a:ea typeface="Georgia"/>
                <a:cs typeface="Georgia"/>
                <a:sym typeface="Georgia"/>
              </a:rPr>
              <a:t>CURRENT STATE</a:t>
            </a:r>
            <a:endParaRPr/>
          </a:p>
        </p:txBody>
      </p:sp>
      <p:sp>
        <p:nvSpPr>
          <p:cNvPr id="286" name="Google Shape;286;p20"/>
          <p:cNvSpPr txBox="1"/>
          <p:nvPr/>
        </p:nvSpPr>
        <p:spPr>
          <a:xfrm>
            <a:off x="566928" y="1737360"/>
            <a:ext cx="5212200" cy="11349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1050">
                <a:solidFill>
                  <a:srgbClr val="1E2761"/>
                </a:solidFill>
                <a:latin typeface="Calibri"/>
                <a:ea typeface="Calibri"/>
                <a:cs typeface="Calibri"/>
                <a:sym typeface="Calibri"/>
              </a:rPr>
              <a:t>Reach is strong. The Clicks campaign shows improved engagement over the Conversion unit</a:t>
            </a:r>
            <a:endParaRPr sz="1050">
              <a:solidFill>
                <a:srgbClr val="0F1535"/>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en-US" sz="1050">
                <a:solidFill>
                  <a:srgbClr val="0F1535"/>
                </a:solidFill>
                <a:latin typeface="Calibri"/>
                <a:ea typeface="Calibri"/>
                <a:cs typeface="Calibri"/>
                <a:sym typeface="Calibri"/>
              </a:rPr>
              <a:t>Quantcast reached 3.2M unique devices at 1.87 frequency. All 4 conversions came through the Conversion campaign. The Clicks campaign launched March 26 and delivered a meaningful CTR improvement ,  0.13% versus 0.03% on the Conversion unit. April is the first full measurement month for that campaign.</a:t>
            </a:r>
            <a:endParaRPr sz="1050">
              <a:solidFill>
                <a:srgbClr val="0F1535"/>
              </a:solidFill>
              <a:latin typeface="Calibri"/>
              <a:ea typeface="Calibri"/>
              <a:cs typeface="Calibri"/>
              <a:sym typeface="Calibri"/>
            </a:endParaRPr>
          </a:p>
          <a:p>
            <a:pPr indent="0" lvl="0" marL="0" marR="0" rtl="0" algn="l">
              <a:spcBef>
                <a:spcPts val="500"/>
              </a:spcBef>
              <a:spcAft>
                <a:spcPts val="0"/>
              </a:spcAft>
              <a:buNone/>
            </a:pPr>
            <a:r>
              <a:t/>
            </a:r>
            <a:endParaRPr sz="1050">
              <a:solidFill>
                <a:srgbClr val="0F1535"/>
              </a:solidFill>
              <a:latin typeface="Calibri"/>
              <a:ea typeface="Calibri"/>
              <a:cs typeface="Calibri"/>
              <a:sym typeface="Calibri"/>
            </a:endParaRPr>
          </a:p>
        </p:txBody>
      </p:sp>
      <p:sp>
        <p:nvSpPr>
          <p:cNvPr id="287" name="Google Shape;287;p20"/>
          <p:cNvSpPr/>
          <p:nvPr/>
        </p:nvSpPr>
        <p:spPr>
          <a:xfrm>
            <a:off x="365760" y="3566160"/>
            <a:ext cx="5577840" cy="1965960"/>
          </a:xfrm>
          <a:prstGeom prst="rect">
            <a:avLst/>
          </a:prstGeom>
          <a:solidFill>
            <a:srgbClr val="FFFFFF"/>
          </a:solidFill>
          <a:ln cap="flat" cmpd="sng" w="9525">
            <a:solidFill>
              <a:srgbClr val="D0D4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p20"/>
          <p:cNvSpPr/>
          <p:nvPr/>
        </p:nvSpPr>
        <p:spPr>
          <a:xfrm>
            <a:off x="365760" y="3566160"/>
            <a:ext cx="73152" cy="1965960"/>
          </a:xfrm>
          <a:prstGeom prst="rect">
            <a:avLst/>
          </a:prstGeom>
          <a:solidFill>
            <a:srgbClr val="E9B4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20"/>
          <p:cNvSpPr txBox="1"/>
          <p:nvPr/>
        </p:nvSpPr>
        <p:spPr>
          <a:xfrm>
            <a:off x="566928" y="3639312"/>
            <a:ext cx="5257800" cy="29260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200" u="none" cap="none" strike="noStrike">
                <a:solidFill>
                  <a:srgbClr val="1E2761"/>
                </a:solidFill>
                <a:latin typeface="Georgia"/>
                <a:ea typeface="Georgia"/>
                <a:cs typeface="Georgia"/>
                <a:sym typeface="Georgia"/>
              </a:rPr>
              <a:t>WHAT WE RECOMMEND</a:t>
            </a:r>
            <a:endParaRPr/>
          </a:p>
        </p:txBody>
      </p:sp>
      <p:sp>
        <p:nvSpPr>
          <p:cNvPr id="290" name="Google Shape;290;p20"/>
          <p:cNvSpPr txBox="1"/>
          <p:nvPr/>
        </p:nvSpPr>
        <p:spPr>
          <a:xfrm>
            <a:off x="566928" y="3977640"/>
            <a:ext cx="5212200" cy="973200"/>
          </a:xfrm>
          <a:prstGeom prst="rect">
            <a:avLst/>
          </a:prstGeom>
          <a:noFill/>
          <a:ln>
            <a:noFill/>
          </a:ln>
        </p:spPr>
        <p:txBody>
          <a:bodyPr anchorCtr="0" anchor="t" bIns="18275" lIns="45700" spcFirstLastPara="1" rIns="45700" wrap="square" tIns="18275">
            <a:spAutoFit/>
          </a:bodyPr>
          <a:lstStyle/>
          <a:p>
            <a:pPr indent="0" lvl="0" marL="0" rtl="0" algn="l">
              <a:spcBef>
                <a:spcPts val="500"/>
              </a:spcBef>
              <a:spcAft>
                <a:spcPts val="0"/>
              </a:spcAft>
              <a:buClr>
                <a:schemeClr val="dk1"/>
              </a:buClr>
              <a:buSzPts val="1100"/>
              <a:buFont typeface="Arial"/>
              <a:buNone/>
            </a:pPr>
            <a:r>
              <a:rPr b="1" lang="en-US" sz="1050">
                <a:solidFill>
                  <a:srgbClr val="1E2761"/>
                </a:solidFill>
                <a:latin typeface="Calibri"/>
                <a:ea typeface="Calibri"/>
                <a:cs typeface="Calibri"/>
                <a:sym typeface="Calibri"/>
              </a:rPr>
              <a:t>Complete attribution validation. Then activate retargeting against the existing device pool.</a:t>
            </a:r>
            <a:endParaRPr b="1" sz="1050">
              <a:solidFill>
                <a:srgbClr val="1E2761"/>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en-US" sz="1050">
                <a:solidFill>
                  <a:srgbClr val="0F1535"/>
                </a:solidFill>
                <a:latin typeface="Calibri"/>
                <a:ea typeface="Calibri"/>
                <a:cs typeface="Calibri"/>
                <a:sym typeface="Calibri"/>
              </a:rPr>
              <a:t>Attribution validation is in progress with the Central Team. Once confirmed, we recommend launching a retargeting brief against the 3.2M device pool built in March. That audience is the most efficient place to drive bottom-funnel action from display.</a:t>
            </a:r>
            <a:endParaRPr sz="1050">
              <a:solidFill>
                <a:srgbClr val="1E2761"/>
              </a:solidFill>
              <a:latin typeface="Calibri"/>
              <a:ea typeface="Calibri"/>
              <a:cs typeface="Calibri"/>
              <a:sym typeface="Calibri"/>
            </a:endParaRPr>
          </a:p>
          <a:p>
            <a:pPr indent="0" lvl="0" marL="0" marR="0" rtl="0" algn="l">
              <a:spcBef>
                <a:spcPts val="500"/>
              </a:spcBef>
              <a:spcAft>
                <a:spcPts val="0"/>
              </a:spcAft>
              <a:buNone/>
            </a:pPr>
            <a:r>
              <a:t/>
            </a:r>
            <a:endParaRPr b="1" sz="1050">
              <a:solidFill>
                <a:srgbClr val="1E2761"/>
              </a:solidFill>
              <a:latin typeface="Calibri"/>
              <a:ea typeface="Calibri"/>
              <a:cs typeface="Calibri"/>
              <a:sym typeface="Calibri"/>
            </a:endParaRPr>
          </a:p>
        </p:txBody>
      </p:sp>
      <p:sp>
        <p:nvSpPr>
          <p:cNvPr id="291" name="Google Shape;291;p20"/>
          <p:cNvSpPr/>
          <p:nvPr/>
        </p:nvSpPr>
        <p:spPr>
          <a:xfrm>
            <a:off x="6263640" y="1325880"/>
            <a:ext cx="5577840" cy="2194560"/>
          </a:xfrm>
          <a:prstGeom prst="rect">
            <a:avLst/>
          </a:prstGeom>
          <a:solidFill>
            <a:srgbClr val="FFFFFF"/>
          </a:solidFill>
          <a:ln cap="flat" cmpd="sng" w="9525">
            <a:solidFill>
              <a:srgbClr val="D0D4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20"/>
          <p:cNvSpPr/>
          <p:nvPr/>
        </p:nvSpPr>
        <p:spPr>
          <a:xfrm>
            <a:off x="6263640" y="1325880"/>
            <a:ext cx="73152" cy="2194560"/>
          </a:xfrm>
          <a:prstGeom prst="rect">
            <a:avLst/>
          </a:prstGeom>
          <a:solidFill>
            <a:srgbClr val="2E7D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20"/>
          <p:cNvSpPr txBox="1"/>
          <p:nvPr/>
        </p:nvSpPr>
        <p:spPr>
          <a:xfrm>
            <a:off x="6464808" y="1399032"/>
            <a:ext cx="5257800" cy="29260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200" u="none" cap="none" strike="noStrike">
                <a:solidFill>
                  <a:srgbClr val="1E2761"/>
                </a:solidFill>
                <a:latin typeface="Georgia"/>
                <a:ea typeface="Georgia"/>
                <a:cs typeface="Georgia"/>
                <a:sym typeface="Georgia"/>
              </a:rPr>
              <a:t>CURRENT STATE</a:t>
            </a:r>
            <a:endParaRPr/>
          </a:p>
        </p:txBody>
      </p:sp>
      <p:sp>
        <p:nvSpPr>
          <p:cNvPr id="294" name="Google Shape;294;p20"/>
          <p:cNvSpPr txBox="1"/>
          <p:nvPr/>
        </p:nvSpPr>
        <p:spPr>
          <a:xfrm>
            <a:off x="6464808" y="1737360"/>
            <a:ext cx="5212200" cy="1621500"/>
          </a:xfrm>
          <a:prstGeom prst="rect">
            <a:avLst/>
          </a:prstGeom>
          <a:noFill/>
          <a:ln>
            <a:noFill/>
          </a:ln>
        </p:spPr>
        <p:txBody>
          <a:bodyPr anchorCtr="0" anchor="t" bIns="18275" lIns="45700" spcFirstLastPara="1" rIns="45700" wrap="square" tIns="18275">
            <a:spAutoFit/>
          </a:bodyPr>
          <a:lstStyle/>
          <a:p>
            <a:pPr indent="0" lvl="0" marL="0" rtl="0" algn="l">
              <a:lnSpc>
                <a:spcPct val="115000"/>
              </a:lnSpc>
              <a:spcBef>
                <a:spcPts val="1200"/>
              </a:spcBef>
              <a:spcAft>
                <a:spcPts val="0"/>
              </a:spcAft>
              <a:buClr>
                <a:schemeClr val="dk1"/>
              </a:buClr>
              <a:buSzPts val="1100"/>
              <a:buFont typeface="Arial"/>
              <a:buNone/>
            </a:pPr>
            <a:r>
              <a:rPr b="1" lang="en-US" sz="1050">
                <a:solidFill>
                  <a:srgbClr val="1E2761"/>
                </a:solidFill>
                <a:latin typeface="Calibri"/>
                <a:ea typeface="Calibri"/>
                <a:cs typeface="Calibri"/>
                <a:sym typeface="Calibri"/>
              </a:rPr>
              <a:t>Above-benchmark delivery across premium inventory. Performance tracking in progress.</a:t>
            </a:r>
            <a:endParaRPr b="1"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50">
                <a:solidFill>
                  <a:srgbClr val="0F1535"/>
                </a:solidFill>
                <a:latin typeface="Calibri"/>
                <a:ea typeface="Calibri"/>
                <a:cs typeface="Calibri"/>
                <a:sym typeface="Calibri"/>
              </a:rPr>
              <a:t>Azerion delivered 2.29M impressions at $4.75 CPM across premium placements including Reuters, CNN, CBS News, NYT, and Trading Economics. Viewability came in at 74%, above the 70% IAB standard. The campaign generated 5 conversions at a $2,175 CPA. Attribution methodology and spend reconciliation details are being confirmed with the vendor for April reporting.</a:t>
            </a:r>
            <a:endParaRPr sz="1000">
              <a:solidFill>
                <a:schemeClr val="dk1"/>
              </a:solidFill>
            </a:endParaRPr>
          </a:p>
          <a:p>
            <a:pPr indent="0" lvl="0" marL="0" marR="0" rtl="0" algn="l">
              <a:spcBef>
                <a:spcPts val="1200"/>
              </a:spcBef>
              <a:spcAft>
                <a:spcPts val="0"/>
              </a:spcAft>
              <a:buNone/>
            </a:pPr>
            <a:r>
              <a:t/>
            </a:r>
            <a:endParaRPr b="1" sz="1050">
              <a:solidFill>
                <a:srgbClr val="1E2761"/>
              </a:solidFill>
              <a:latin typeface="Calibri"/>
              <a:ea typeface="Calibri"/>
              <a:cs typeface="Calibri"/>
              <a:sym typeface="Calibri"/>
            </a:endParaRPr>
          </a:p>
        </p:txBody>
      </p:sp>
      <p:sp>
        <p:nvSpPr>
          <p:cNvPr id="295" name="Google Shape;295;p20"/>
          <p:cNvSpPr/>
          <p:nvPr/>
        </p:nvSpPr>
        <p:spPr>
          <a:xfrm>
            <a:off x="6263640" y="3566160"/>
            <a:ext cx="5577840" cy="1965960"/>
          </a:xfrm>
          <a:prstGeom prst="rect">
            <a:avLst/>
          </a:prstGeom>
          <a:solidFill>
            <a:srgbClr val="FFFFFF"/>
          </a:solidFill>
          <a:ln cap="flat" cmpd="sng" w="9525">
            <a:solidFill>
              <a:srgbClr val="D0D4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20"/>
          <p:cNvSpPr/>
          <p:nvPr/>
        </p:nvSpPr>
        <p:spPr>
          <a:xfrm>
            <a:off x="6263640" y="3566160"/>
            <a:ext cx="73152" cy="1965960"/>
          </a:xfrm>
          <a:prstGeom prst="rect">
            <a:avLst/>
          </a:prstGeom>
          <a:solidFill>
            <a:srgbClr val="E9B4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20"/>
          <p:cNvSpPr txBox="1"/>
          <p:nvPr/>
        </p:nvSpPr>
        <p:spPr>
          <a:xfrm>
            <a:off x="6464808" y="3639312"/>
            <a:ext cx="5257800" cy="29260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200" u="none" cap="none" strike="noStrike">
                <a:solidFill>
                  <a:srgbClr val="1E2761"/>
                </a:solidFill>
                <a:latin typeface="Georgia"/>
                <a:ea typeface="Georgia"/>
                <a:cs typeface="Georgia"/>
                <a:sym typeface="Georgia"/>
              </a:rPr>
              <a:t>WHAT WE RECOMMEND</a:t>
            </a:r>
            <a:endParaRPr/>
          </a:p>
        </p:txBody>
      </p:sp>
      <p:sp>
        <p:nvSpPr>
          <p:cNvPr id="298" name="Google Shape;298;p20"/>
          <p:cNvSpPr txBox="1"/>
          <p:nvPr/>
        </p:nvSpPr>
        <p:spPr>
          <a:xfrm>
            <a:off x="6464808" y="3977640"/>
            <a:ext cx="5212200" cy="909900"/>
          </a:xfrm>
          <a:prstGeom prst="rect">
            <a:avLst/>
          </a:prstGeom>
          <a:noFill/>
          <a:ln>
            <a:noFill/>
          </a:ln>
        </p:spPr>
        <p:txBody>
          <a:bodyPr anchorCtr="0" anchor="t" bIns="18275" lIns="45700" spcFirstLastPara="1" rIns="45700" wrap="square" tIns="18275">
            <a:spAutoFit/>
          </a:bodyPr>
          <a:lstStyle/>
          <a:p>
            <a:pPr indent="0" lvl="0" marL="0" rtl="0" algn="l">
              <a:lnSpc>
                <a:spcPct val="115000"/>
              </a:lnSpc>
              <a:spcBef>
                <a:spcPts val="1200"/>
              </a:spcBef>
              <a:spcAft>
                <a:spcPts val="0"/>
              </a:spcAft>
              <a:buClr>
                <a:schemeClr val="dk1"/>
              </a:buClr>
              <a:buSzPts val="1100"/>
              <a:buFont typeface="Arial"/>
              <a:buNone/>
            </a:pPr>
            <a:r>
              <a:rPr b="1" lang="en-US" sz="1050">
                <a:solidFill>
                  <a:srgbClr val="1E2761"/>
                </a:solidFill>
                <a:latin typeface="Calibri"/>
                <a:ea typeface="Calibri"/>
                <a:cs typeface="Calibri"/>
                <a:sym typeface="Calibri"/>
              </a:rPr>
              <a:t>Scale converting audience segments. Maintain the viewability floor.</a:t>
            </a:r>
            <a:endParaRPr b="1" sz="900">
              <a:solidFill>
                <a:schemeClr val="dk1"/>
              </a:solidFill>
            </a:endParaRPr>
          </a:p>
          <a:p>
            <a:pPr indent="0" lvl="0" marL="0" rtl="0" algn="l">
              <a:lnSpc>
                <a:spcPct val="115000"/>
              </a:lnSpc>
              <a:spcBef>
                <a:spcPts val="1200"/>
              </a:spcBef>
              <a:spcAft>
                <a:spcPts val="1200"/>
              </a:spcAft>
              <a:buSzPts val="1100"/>
              <a:buNone/>
            </a:pPr>
            <a:r>
              <a:rPr lang="en-US" sz="1050">
                <a:solidFill>
                  <a:srgbClr val="0F1535"/>
                </a:solidFill>
                <a:latin typeface="Calibri"/>
                <a:ea typeface="Calibri"/>
                <a:cs typeface="Calibri"/>
                <a:sym typeface="Calibri"/>
              </a:rPr>
              <a:t>Investing, personal finance, and macro news audiences are the top-performing segments. Recommendation is to concentrate April budget there while holding the 74% viewability floor as a placement filter. Full attribution methodology will be confirmed by April 20.</a:t>
            </a:r>
            <a:endParaRPr b="1" sz="850">
              <a:solidFill>
                <a:srgbClr val="1E2761"/>
              </a:solidFill>
              <a:latin typeface="Calibri"/>
              <a:ea typeface="Calibri"/>
              <a:cs typeface="Calibri"/>
              <a:sym typeface="Calibri"/>
            </a:endParaRPr>
          </a:p>
        </p:txBody>
      </p:sp>
      <p:graphicFrame>
        <p:nvGraphicFramePr>
          <p:cNvPr id="299" name="Google Shape;299;p20"/>
          <p:cNvGraphicFramePr/>
          <p:nvPr/>
        </p:nvGraphicFramePr>
        <p:xfrm>
          <a:off x="365760" y="5623560"/>
          <a:ext cx="3000000" cy="3000000"/>
        </p:xfrm>
        <a:graphic>
          <a:graphicData uri="http://schemas.openxmlformats.org/drawingml/2006/table">
            <a:tbl>
              <a:tblPr bandRow="1" firstRow="1">
                <a:noFill/>
                <a:tableStyleId>{626DB2E7-D5CD-46CD-8FBD-676A5DF2763B}</a:tableStyleId>
              </a:tblPr>
              <a:tblGrid>
                <a:gridCol w="5943600"/>
                <a:gridCol w="3200400"/>
                <a:gridCol w="2331725"/>
              </a:tblGrid>
              <a:tr h="228600">
                <a:tc>
                  <a:txBody>
                    <a:bodyPr/>
                    <a:lstStyle/>
                    <a:p>
                      <a:pPr indent="0" lvl="0" marL="0" marR="0" rtl="0" algn="l">
                        <a:spcBef>
                          <a:spcPts val="0"/>
                        </a:spcBef>
                        <a:spcAft>
                          <a:spcPts val="0"/>
                        </a:spcAft>
                        <a:buNone/>
                      </a:pPr>
                      <a:r>
                        <a:rPr b="1" lang="en-US" sz="950" u="none" cap="none" strike="noStrike">
                          <a:solidFill>
                            <a:srgbClr val="FFFFFF"/>
                          </a:solidFill>
                          <a:latin typeface="Calibri"/>
                          <a:ea typeface="Calibri"/>
                          <a:cs typeface="Calibri"/>
                          <a:sym typeface="Calibri"/>
                        </a:rPr>
                        <a:t>Action</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950" u="none" cap="none" strike="noStrike">
                          <a:solidFill>
                            <a:srgbClr val="FFFFFF"/>
                          </a:solidFill>
                          <a:latin typeface="Calibri"/>
                          <a:ea typeface="Calibri"/>
                          <a:cs typeface="Calibri"/>
                          <a:sym typeface="Calibri"/>
                        </a:rPr>
                        <a:t>Owner</a:t>
                      </a:r>
                      <a:endParaRPr/>
                    </a:p>
                  </a:txBody>
                  <a:tcPr marT="27425" marB="27425" marR="54875" marL="54875" anchor="ctr">
                    <a:solidFill>
                      <a:srgbClr val="1E2761"/>
                    </a:solidFill>
                  </a:tcPr>
                </a:tc>
                <a:tc>
                  <a:txBody>
                    <a:bodyPr/>
                    <a:lstStyle/>
                    <a:p>
                      <a:pPr indent="0" lvl="0" marL="0" marR="0" rtl="0" algn="r">
                        <a:spcBef>
                          <a:spcPts val="0"/>
                        </a:spcBef>
                        <a:spcAft>
                          <a:spcPts val="0"/>
                        </a:spcAft>
                        <a:buNone/>
                      </a:pPr>
                      <a:r>
                        <a:rPr b="1" lang="en-US" sz="950" u="none" cap="none" strike="noStrike">
                          <a:solidFill>
                            <a:srgbClr val="FFFFFF"/>
                          </a:solidFill>
                          <a:latin typeface="Calibri"/>
                          <a:ea typeface="Calibri"/>
                          <a:cs typeface="Calibri"/>
                          <a:sym typeface="Calibri"/>
                        </a:rPr>
                        <a:t>Due</a:t>
                      </a:r>
                      <a:endParaRPr/>
                    </a:p>
                  </a:txBody>
                  <a:tcPr marT="27425" marB="27425" marR="54875" marL="54875" anchor="ctr">
                    <a:solidFill>
                      <a:srgbClr val="1E2761"/>
                    </a:solidFill>
                  </a:tcPr>
                </a:tc>
              </a:tr>
              <a:tr h="228600">
                <a:tc>
                  <a:txBody>
                    <a:bodyPr/>
                    <a:lstStyle/>
                    <a:p>
                      <a:pPr indent="0" lvl="0" marL="0" marR="0" rtl="0" algn="l">
                        <a:spcBef>
                          <a:spcPts val="0"/>
                        </a:spcBef>
                        <a:spcAft>
                          <a:spcPts val="0"/>
                        </a:spcAft>
                        <a:buNone/>
                      </a:pPr>
                      <a:r>
                        <a:rPr lang="en-US" sz="950">
                          <a:solidFill>
                            <a:srgbClr val="0F1535"/>
                          </a:solidFill>
                        </a:rPr>
                        <a:t>Attribution validation (Quantcast + Azerion)</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950" u="none" cap="none" strike="noStrike">
                          <a:solidFill>
                            <a:srgbClr val="0F1535"/>
                          </a:solidFill>
                          <a:latin typeface="Calibri"/>
                          <a:ea typeface="Calibri"/>
                          <a:cs typeface="Calibri"/>
                          <a:sym typeface="Calibri"/>
                        </a:rPr>
                        <a:t>Berelvant + Central Team</a:t>
                      </a:r>
                      <a:endParaRPr/>
                    </a:p>
                  </a:txBody>
                  <a:tcPr marT="27425" marB="27425" marR="54875" marL="54875" anchor="ctr">
                    <a:solidFill>
                      <a:srgbClr val="FFFFFF"/>
                    </a:solidFill>
                  </a:tcPr>
                </a:tc>
                <a:tc>
                  <a:txBody>
                    <a:bodyPr/>
                    <a:lstStyle/>
                    <a:p>
                      <a:pPr indent="0" lvl="0" marL="0" marR="0" rtl="0" algn="r">
                        <a:spcBef>
                          <a:spcPts val="0"/>
                        </a:spcBef>
                        <a:spcAft>
                          <a:spcPts val="0"/>
                        </a:spcAft>
                        <a:buNone/>
                      </a:pPr>
                      <a:r>
                        <a:rPr lang="en-US" sz="950" u="none" cap="none" strike="noStrike">
                          <a:solidFill>
                            <a:srgbClr val="0F1535"/>
                          </a:solidFill>
                          <a:latin typeface="Calibri"/>
                          <a:ea typeface="Calibri"/>
                          <a:cs typeface="Calibri"/>
                          <a:sym typeface="Calibri"/>
                        </a:rPr>
                        <a:t>04.22</a:t>
                      </a:r>
                      <a:endParaRPr/>
                    </a:p>
                  </a:txBody>
                  <a:tcPr marT="27425" marB="27425" marR="54875" marL="54875" anchor="ctr">
                    <a:solidFill>
                      <a:srgbClr val="FFFFFF"/>
                    </a:solidFill>
                  </a:tcPr>
                </a:tc>
              </a:tr>
              <a:tr h="228600">
                <a:tc>
                  <a:txBody>
                    <a:bodyPr/>
                    <a:lstStyle/>
                    <a:p>
                      <a:pPr indent="0" lvl="0" marL="0" marR="0" rtl="0" algn="l">
                        <a:spcBef>
                          <a:spcPts val="0"/>
                        </a:spcBef>
                        <a:spcAft>
                          <a:spcPts val="0"/>
                        </a:spcAft>
                        <a:buNone/>
                      </a:pPr>
                      <a:r>
                        <a:rPr lang="en-US" sz="950">
                          <a:solidFill>
                            <a:srgbClr val="0F1535"/>
                          </a:solidFill>
                        </a:rPr>
                        <a:t>Retargeting campaign brief</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950" u="none" cap="none" strike="noStrike">
                          <a:solidFill>
                            <a:srgbClr val="0F1535"/>
                          </a:solidFill>
                          <a:latin typeface="Calibri"/>
                          <a:ea typeface="Calibri"/>
                          <a:cs typeface="Calibri"/>
                          <a:sym typeface="Calibri"/>
                        </a:rPr>
                        <a:t>Berelvant</a:t>
                      </a:r>
                      <a:endParaRPr/>
                    </a:p>
                  </a:txBody>
                  <a:tcPr marT="27425" marB="27425" marR="54875" marL="54875" anchor="ctr">
                    <a:solidFill>
                      <a:srgbClr val="F9FAFC"/>
                    </a:solidFill>
                  </a:tcPr>
                </a:tc>
                <a:tc>
                  <a:txBody>
                    <a:bodyPr/>
                    <a:lstStyle/>
                    <a:p>
                      <a:pPr indent="0" lvl="0" marL="0" marR="0" rtl="0" algn="r">
                        <a:spcBef>
                          <a:spcPts val="0"/>
                        </a:spcBef>
                        <a:spcAft>
                          <a:spcPts val="0"/>
                        </a:spcAft>
                        <a:buNone/>
                      </a:pPr>
                      <a:r>
                        <a:rPr lang="en-US" sz="950" u="none" cap="none" strike="noStrike">
                          <a:solidFill>
                            <a:srgbClr val="0F1535"/>
                          </a:solidFill>
                          <a:latin typeface="Calibri"/>
                          <a:ea typeface="Calibri"/>
                          <a:cs typeface="Calibri"/>
                          <a:sym typeface="Calibri"/>
                        </a:rPr>
                        <a:t>04.22</a:t>
                      </a:r>
                      <a:endParaRPr/>
                    </a:p>
                  </a:txBody>
                  <a:tcPr marT="27425" marB="27425" marR="54875" marL="54875" anchor="ctr">
                    <a:solidFill>
                      <a:srgbClr val="F9FAFC"/>
                    </a:solidFill>
                  </a:tcPr>
                </a:tc>
              </a:tr>
            </a:tbl>
          </a:graphicData>
        </a:graphic>
      </p:graphicFrame>
      <p:sp>
        <p:nvSpPr>
          <p:cNvPr id="300" name="Google Shape;300;p20"/>
          <p:cNvSpPr/>
          <p:nvPr/>
        </p:nvSpPr>
        <p:spPr>
          <a:xfrm>
            <a:off x="0" y="6583680"/>
            <a:ext cx="12191695" cy="274320"/>
          </a:xfrm>
          <a:prstGeom prst="rect">
            <a:avLst/>
          </a:prstGeom>
          <a:solidFill>
            <a:srgbClr val="F4F6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20"/>
          <p:cNvSpPr txBox="1"/>
          <p:nvPr/>
        </p:nvSpPr>
        <p:spPr>
          <a:xfrm>
            <a:off x="365760" y="6601968"/>
            <a:ext cx="8229600" cy="256032"/>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0" i="0" lang="en-US" sz="900" u="none" cap="none" strike="noStrike">
                <a:solidFill>
                  <a:srgbClr val="5A6072"/>
                </a:solidFill>
                <a:latin typeface="Calibri"/>
                <a:ea typeface="Calibri"/>
                <a:cs typeface="Calibri"/>
                <a:sym typeface="Calibri"/>
              </a:rPr>
              <a:t>GGMI (LATAM / Mexico)  |  March 2026 Performance Review  |  Berelvant</a:t>
            </a:r>
            <a:endParaRPr/>
          </a:p>
        </p:txBody>
      </p:sp>
      <p:sp>
        <p:nvSpPr>
          <p:cNvPr id="302" name="Google Shape;302;p20"/>
          <p:cNvSpPr txBox="1"/>
          <p:nvPr/>
        </p:nvSpPr>
        <p:spPr>
          <a:xfrm>
            <a:off x="11247120" y="6601968"/>
            <a:ext cx="822960" cy="256032"/>
          </a:xfrm>
          <a:prstGeom prst="rect">
            <a:avLst/>
          </a:prstGeom>
          <a:noFill/>
          <a:ln>
            <a:noFill/>
          </a:ln>
        </p:spPr>
        <p:txBody>
          <a:bodyPr anchorCtr="0" anchor="ctr" bIns="18275" lIns="45700" spcFirstLastPara="1" rIns="45700" wrap="square" tIns="18275">
            <a:spAutoFit/>
          </a:bodyPr>
          <a:lstStyle/>
          <a:p>
            <a:pPr indent="0" lvl="0" marL="0" marR="0" rtl="0" algn="r">
              <a:spcBef>
                <a:spcPts val="0"/>
              </a:spcBef>
              <a:spcAft>
                <a:spcPts val="0"/>
              </a:spcAft>
              <a:buNone/>
            </a:pPr>
            <a:r>
              <a:rPr b="0" i="0" lang="en-US" sz="900" u="none" cap="none" strike="noStrike">
                <a:solidFill>
                  <a:srgbClr val="5A6072"/>
                </a:solidFill>
                <a:latin typeface="Calibri"/>
                <a:ea typeface="Calibri"/>
                <a:cs typeface="Calibri"/>
                <a:sym typeface="Calibri"/>
              </a:rPr>
              <a:t>8 / 9</a:t>
            </a:r>
            <a:endParaRPr/>
          </a:p>
        </p:txBody>
      </p:sp>
      <p:pic>
        <p:nvPicPr>
          <p:cNvPr id="303" name="Google Shape;303;p20" title="berelvant-logo.png"/>
          <p:cNvPicPr preferRelativeResize="0"/>
          <p:nvPr/>
        </p:nvPicPr>
        <p:blipFill>
          <a:blip r:embed="rId3">
            <a:alphaModFix/>
          </a:blip>
          <a:stretch>
            <a:fillRect/>
          </a:stretch>
        </p:blipFill>
        <p:spPr>
          <a:xfrm>
            <a:off x="11185838" y="68588"/>
            <a:ext cx="854075" cy="274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1"/>
          <p:cNvSpPr/>
          <p:nvPr/>
        </p:nvSpPr>
        <p:spPr>
          <a:xfrm>
            <a:off x="0" y="0"/>
            <a:ext cx="12191695" cy="64008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21"/>
          <p:cNvSpPr/>
          <p:nvPr/>
        </p:nvSpPr>
        <p:spPr>
          <a:xfrm>
            <a:off x="0" y="640080"/>
            <a:ext cx="12191695" cy="36576"/>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1"/>
          <p:cNvSpPr txBox="1"/>
          <p:nvPr/>
        </p:nvSpPr>
        <p:spPr>
          <a:xfrm>
            <a:off x="365760" y="73152"/>
            <a:ext cx="9144000" cy="548640"/>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2600" u="none" cap="none" strike="noStrike">
                <a:solidFill>
                  <a:srgbClr val="FFFFFF"/>
                </a:solidFill>
                <a:latin typeface="Georgia"/>
                <a:ea typeface="Georgia"/>
                <a:cs typeface="Georgia"/>
                <a:sym typeface="Georgia"/>
              </a:rPr>
              <a:t>Cross-Channel Recommendations + Blockers</a:t>
            </a:r>
            <a:endParaRPr/>
          </a:p>
        </p:txBody>
      </p:sp>
      <p:sp>
        <p:nvSpPr>
          <p:cNvPr id="311" name="Google Shape;311;p21"/>
          <p:cNvSpPr txBox="1"/>
          <p:nvPr/>
        </p:nvSpPr>
        <p:spPr>
          <a:xfrm>
            <a:off x="365760" y="804672"/>
            <a:ext cx="11430000" cy="36576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400" u="none" cap="none" strike="noStrike">
                <a:solidFill>
                  <a:srgbClr val="1E2761"/>
                </a:solidFill>
                <a:latin typeface="Georgia"/>
                <a:ea typeface="Georgia"/>
                <a:cs typeface="Georgia"/>
                <a:sym typeface="Georgia"/>
              </a:rPr>
              <a:t>Media is not the constraint. Tracking integrity, landing page deployment, and approval cycle time are.</a:t>
            </a:r>
            <a:endParaRPr/>
          </a:p>
        </p:txBody>
      </p:sp>
      <p:sp>
        <p:nvSpPr>
          <p:cNvPr id="312" name="Google Shape;312;p21"/>
          <p:cNvSpPr/>
          <p:nvPr/>
        </p:nvSpPr>
        <p:spPr>
          <a:xfrm>
            <a:off x="365760" y="1280160"/>
            <a:ext cx="3718560" cy="1965960"/>
          </a:xfrm>
          <a:prstGeom prst="rect">
            <a:avLst/>
          </a:prstGeom>
          <a:solidFill>
            <a:srgbClr val="F4F6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21"/>
          <p:cNvSpPr/>
          <p:nvPr/>
        </p:nvSpPr>
        <p:spPr>
          <a:xfrm>
            <a:off x="365760" y="1280160"/>
            <a:ext cx="3718560" cy="347472"/>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1"/>
          <p:cNvSpPr txBox="1"/>
          <p:nvPr/>
        </p:nvSpPr>
        <p:spPr>
          <a:xfrm>
            <a:off x="530352" y="1298448"/>
            <a:ext cx="3398520" cy="320040"/>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1200" u="none" cap="none" strike="noStrike">
                <a:solidFill>
                  <a:srgbClr val="FFFFFF"/>
                </a:solidFill>
                <a:latin typeface="Georgia"/>
                <a:ea typeface="Georgia"/>
                <a:cs typeface="Georgia"/>
                <a:sym typeface="Georgia"/>
              </a:rPr>
              <a:t>CRITICAL (this week)</a:t>
            </a:r>
            <a:endParaRPr/>
          </a:p>
        </p:txBody>
      </p:sp>
      <p:sp>
        <p:nvSpPr>
          <p:cNvPr id="315" name="Google Shape;315;p21"/>
          <p:cNvSpPr txBox="1"/>
          <p:nvPr/>
        </p:nvSpPr>
        <p:spPr>
          <a:xfrm>
            <a:off x="475488" y="1691640"/>
            <a:ext cx="3499200" cy="960600"/>
          </a:xfrm>
          <a:prstGeom prst="rect">
            <a:avLst/>
          </a:prstGeom>
          <a:noFill/>
          <a:ln>
            <a:noFill/>
          </a:ln>
        </p:spPr>
        <p:txBody>
          <a:bodyPr anchorCtr="0" anchor="t" bIns="18275" lIns="45700" spcFirstLastPara="1" rIns="45700" wrap="square" tIns="18275">
            <a:spAutoFit/>
          </a:bodyPr>
          <a:lstStyle/>
          <a:p>
            <a:pPr indent="-292100" lvl="0" marL="457200" rtl="0" algn="l">
              <a:spcBef>
                <a:spcPts val="400"/>
              </a:spcBef>
              <a:spcAft>
                <a:spcPts val="0"/>
              </a:spcAft>
              <a:buClr>
                <a:srgbClr val="0F1535"/>
              </a:buClr>
              <a:buSzPts val="1000"/>
              <a:buChar char="•"/>
            </a:pPr>
            <a:r>
              <a:rPr lang="en-US" sz="1000">
                <a:solidFill>
                  <a:srgbClr val="0F1535"/>
                </a:solidFill>
                <a:latin typeface="Calibri"/>
                <a:ea typeface="Calibri"/>
                <a:cs typeface="Calibri"/>
                <a:sym typeface="Calibri"/>
              </a:rPr>
              <a:t>Approve Meta Leads campaign reactivation or confirm April budget split.</a:t>
            </a:r>
            <a:endParaRPr sz="1000">
              <a:solidFill>
                <a:srgbClr val="0F1535"/>
              </a:solidFill>
              <a:latin typeface="Calibri"/>
              <a:ea typeface="Calibri"/>
              <a:cs typeface="Calibri"/>
              <a:sym typeface="Calibri"/>
            </a:endParaRPr>
          </a:p>
          <a:p>
            <a:pPr indent="-292100" lvl="0" marL="457200" rtl="0" algn="l">
              <a:spcBef>
                <a:spcPts val="400"/>
              </a:spcBef>
              <a:spcAft>
                <a:spcPts val="0"/>
              </a:spcAft>
              <a:buClr>
                <a:srgbClr val="0F1535"/>
              </a:buClr>
              <a:buSzPts val="1000"/>
              <a:buChar char="•"/>
            </a:pPr>
            <a:r>
              <a:rPr lang="en-US" sz="1000">
                <a:solidFill>
                  <a:srgbClr val="0F1535"/>
                </a:solidFill>
                <a:latin typeface="Calibri"/>
                <a:ea typeface="Calibri"/>
                <a:cs typeface="Calibri"/>
                <a:sym typeface="Calibri"/>
              </a:rPr>
              <a:t>Approve Bing second-round optimization build.</a:t>
            </a:r>
            <a:endParaRPr sz="1000">
              <a:solidFill>
                <a:srgbClr val="0F1535"/>
              </a:solidFill>
              <a:latin typeface="Calibri"/>
              <a:ea typeface="Calibri"/>
              <a:cs typeface="Calibri"/>
              <a:sym typeface="Calibri"/>
            </a:endParaRPr>
          </a:p>
          <a:p>
            <a:pPr indent="-292100" lvl="0" marL="457200" rtl="0" algn="l">
              <a:spcBef>
                <a:spcPts val="400"/>
              </a:spcBef>
              <a:spcAft>
                <a:spcPts val="0"/>
              </a:spcAft>
              <a:buClr>
                <a:srgbClr val="0F1535"/>
              </a:buClr>
              <a:buSzPts val="1000"/>
              <a:buChar char="•"/>
            </a:pPr>
            <a:r>
              <a:rPr lang="en-US" sz="1000">
                <a:solidFill>
                  <a:srgbClr val="0F1535"/>
                </a:solidFill>
                <a:latin typeface="Calibri"/>
                <a:ea typeface="Calibri"/>
                <a:cs typeface="Calibri"/>
                <a:sym typeface="Calibri"/>
              </a:rPr>
              <a:t>Deploy the three landing pages in the WebOps queue.</a:t>
            </a:r>
            <a:endParaRPr sz="1000">
              <a:solidFill>
                <a:srgbClr val="0F1535"/>
              </a:solidFill>
              <a:latin typeface="Calibri"/>
              <a:ea typeface="Calibri"/>
              <a:cs typeface="Calibri"/>
              <a:sym typeface="Calibri"/>
            </a:endParaRPr>
          </a:p>
          <a:p>
            <a:pPr indent="0" lvl="0" marL="0" marR="0" rtl="0" algn="l">
              <a:spcBef>
                <a:spcPts val="400"/>
              </a:spcBef>
              <a:spcAft>
                <a:spcPts val="0"/>
              </a:spcAft>
              <a:buNone/>
            </a:pPr>
            <a:r>
              <a:t/>
            </a:r>
            <a:endParaRPr sz="1000">
              <a:solidFill>
                <a:srgbClr val="0F1535"/>
              </a:solidFill>
              <a:latin typeface="Calibri"/>
              <a:ea typeface="Calibri"/>
              <a:cs typeface="Calibri"/>
              <a:sym typeface="Calibri"/>
            </a:endParaRPr>
          </a:p>
        </p:txBody>
      </p:sp>
      <p:sp>
        <p:nvSpPr>
          <p:cNvPr id="316" name="Google Shape;316;p21"/>
          <p:cNvSpPr/>
          <p:nvPr/>
        </p:nvSpPr>
        <p:spPr>
          <a:xfrm>
            <a:off x="4221480" y="1280160"/>
            <a:ext cx="3718560" cy="1965960"/>
          </a:xfrm>
          <a:prstGeom prst="rect">
            <a:avLst/>
          </a:prstGeom>
          <a:solidFill>
            <a:srgbClr val="F4F6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21"/>
          <p:cNvSpPr/>
          <p:nvPr/>
        </p:nvSpPr>
        <p:spPr>
          <a:xfrm>
            <a:off x="4221480" y="1280160"/>
            <a:ext cx="3718560" cy="347472"/>
          </a:xfrm>
          <a:prstGeom prst="rect">
            <a:avLst/>
          </a:prstGeom>
          <a:solidFill>
            <a:srgbClr val="E9B4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p21"/>
          <p:cNvSpPr txBox="1"/>
          <p:nvPr/>
        </p:nvSpPr>
        <p:spPr>
          <a:xfrm>
            <a:off x="4386072" y="1298448"/>
            <a:ext cx="3398520" cy="320040"/>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1200" u="none" cap="none" strike="noStrike">
                <a:solidFill>
                  <a:srgbClr val="FFFFFF"/>
                </a:solidFill>
                <a:latin typeface="Georgia"/>
                <a:ea typeface="Georgia"/>
                <a:cs typeface="Georgia"/>
                <a:sym typeface="Georgia"/>
              </a:rPr>
              <a:t>HIGH (by 04.30)</a:t>
            </a:r>
            <a:endParaRPr/>
          </a:p>
        </p:txBody>
      </p:sp>
      <p:sp>
        <p:nvSpPr>
          <p:cNvPr id="319" name="Google Shape;319;p21"/>
          <p:cNvSpPr txBox="1"/>
          <p:nvPr/>
        </p:nvSpPr>
        <p:spPr>
          <a:xfrm>
            <a:off x="4331208" y="1691640"/>
            <a:ext cx="3499200" cy="755100"/>
          </a:xfrm>
          <a:prstGeom prst="rect">
            <a:avLst/>
          </a:prstGeom>
          <a:noFill/>
          <a:ln>
            <a:noFill/>
          </a:ln>
        </p:spPr>
        <p:txBody>
          <a:bodyPr anchorCtr="0" anchor="t" bIns="18275" lIns="45700" spcFirstLastPara="1" rIns="45700" wrap="square" tIns="18275">
            <a:spAutoFit/>
          </a:bodyPr>
          <a:lstStyle/>
          <a:p>
            <a:pPr indent="-292100" lvl="0" marL="457200" rtl="0" algn="l">
              <a:spcBef>
                <a:spcPts val="400"/>
              </a:spcBef>
              <a:spcAft>
                <a:spcPts val="0"/>
              </a:spcAft>
              <a:buClr>
                <a:srgbClr val="0F1535"/>
              </a:buClr>
              <a:buSzPts val="1000"/>
              <a:buChar char="•"/>
            </a:pPr>
            <a:r>
              <a:rPr lang="en-US" sz="1000">
                <a:solidFill>
                  <a:srgbClr val="0F1535"/>
                </a:solidFill>
                <a:latin typeface="Calibri"/>
                <a:ea typeface="Calibri"/>
                <a:cs typeface="Calibri"/>
                <a:sym typeface="Calibri"/>
              </a:rPr>
              <a:t>Approve TradingView backup ads.</a:t>
            </a:r>
            <a:endParaRPr sz="1000">
              <a:solidFill>
                <a:srgbClr val="0F1535"/>
              </a:solidFill>
              <a:latin typeface="Calibri"/>
              <a:ea typeface="Calibri"/>
              <a:cs typeface="Calibri"/>
              <a:sym typeface="Calibri"/>
            </a:endParaRPr>
          </a:p>
          <a:p>
            <a:pPr indent="-292100" lvl="0" marL="457200" rtl="0" algn="l">
              <a:spcBef>
                <a:spcPts val="400"/>
              </a:spcBef>
              <a:spcAft>
                <a:spcPts val="0"/>
              </a:spcAft>
              <a:buClr>
                <a:srgbClr val="0F1535"/>
              </a:buClr>
              <a:buSzPts val="1000"/>
              <a:buChar char="•"/>
            </a:pPr>
            <a:r>
              <a:rPr lang="en-US" sz="1000">
                <a:solidFill>
                  <a:srgbClr val="0F1535"/>
                </a:solidFill>
                <a:latin typeface="Calibri"/>
                <a:ea typeface="Calibri"/>
                <a:cs typeface="Calibri"/>
                <a:sym typeface="Calibri"/>
              </a:rPr>
              <a:t>Complete revenue tracking setup with Central Team.</a:t>
            </a:r>
            <a:endParaRPr sz="1000">
              <a:solidFill>
                <a:srgbClr val="0F1535"/>
              </a:solidFill>
              <a:latin typeface="Calibri"/>
              <a:ea typeface="Calibri"/>
              <a:cs typeface="Calibri"/>
              <a:sym typeface="Calibri"/>
            </a:endParaRPr>
          </a:p>
          <a:p>
            <a:pPr indent="-292100" lvl="0" marL="457200" rtl="0" algn="l">
              <a:spcBef>
                <a:spcPts val="400"/>
              </a:spcBef>
              <a:spcAft>
                <a:spcPts val="0"/>
              </a:spcAft>
              <a:buClr>
                <a:srgbClr val="0F1535"/>
              </a:buClr>
              <a:buSzPts val="1000"/>
              <a:buChar char="•"/>
            </a:pPr>
            <a:r>
              <a:rPr lang="en-US" sz="1000">
                <a:solidFill>
                  <a:srgbClr val="0F1535"/>
                </a:solidFill>
                <a:latin typeface="Calibri"/>
                <a:ea typeface="Calibri"/>
                <a:cs typeface="Calibri"/>
                <a:sym typeface="Calibri"/>
              </a:rPr>
              <a:t>Confirm campaign CIDs with Mateus and Laura for cross-channel attribution.</a:t>
            </a:r>
            <a:endParaRPr sz="1000">
              <a:solidFill>
                <a:srgbClr val="0F1535"/>
              </a:solidFill>
              <a:latin typeface="Calibri"/>
              <a:ea typeface="Calibri"/>
              <a:cs typeface="Calibri"/>
              <a:sym typeface="Calibri"/>
            </a:endParaRPr>
          </a:p>
        </p:txBody>
      </p:sp>
      <p:sp>
        <p:nvSpPr>
          <p:cNvPr id="320" name="Google Shape;320;p21"/>
          <p:cNvSpPr/>
          <p:nvPr/>
        </p:nvSpPr>
        <p:spPr>
          <a:xfrm>
            <a:off x="8077200" y="1280160"/>
            <a:ext cx="3718560" cy="1965960"/>
          </a:xfrm>
          <a:prstGeom prst="rect">
            <a:avLst/>
          </a:prstGeom>
          <a:solidFill>
            <a:srgbClr val="F4F6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21"/>
          <p:cNvSpPr/>
          <p:nvPr/>
        </p:nvSpPr>
        <p:spPr>
          <a:xfrm>
            <a:off x="8077200" y="1280160"/>
            <a:ext cx="3718560" cy="347472"/>
          </a:xfrm>
          <a:prstGeom prst="rect">
            <a:avLst/>
          </a:prstGeom>
          <a:solidFill>
            <a:srgbClr val="2E7D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21"/>
          <p:cNvSpPr txBox="1"/>
          <p:nvPr/>
        </p:nvSpPr>
        <p:spPr>
          <a:xfrm>
            <a:off x="8241792" y="1298448"/>
            <a:ext cx="3398520" cy="320040"/>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1200" u="none" cap="none" strike="noStrike">
                <a:solidFill>
                  <a:srgbClr val="FFFFFF"/>
                </a:solidFill>
                <a:latin typeface="Georgia"/>
                <a:ea typeface="Georgia"/>
                <a:cs typeface="Georgia"/>
                <a:sym typeface="Georgia"/>
              </a:rPr>
              <a:t>OPPORTUNITY</a:t>
            </a:r>
            <a:endParaRPr/>
          </a:p>
        </p:txBody>
      </p:sp>
      <p:sp>
        <p:nvSpPr>
          <p:cNvPr id="323" name="Google Shape;323;p21"/>
          <p:cNvSpPr txBox="1"/>
          <p:nvPr/>
        </p:nvSpPr>
        <p:spPr>
          <a:xfrm>
            <a:off x="8186928" y="1691640"/>
            <a:ext cx="3499200" cy="703800"/>
          </a:xfrm>
          <a:prstGeom prst="rect">
            <a:avLst/>
          </a:prstGeom>
          <a:noFill/>
          <a:ln>
            <a:noFill/>
          </a:ln>
        </p:spPr>
        <p:txBody>
          <a:bodyPr anchorCtr="0" anchor="t" bIns="18275" lIns="45700" spcFirstLastPara="1" rIns="45700" wrap="square" tIns="18275">
            <a:spAutoFit/>
          </a:bodyPr>
          <a:lstStyle/>
          <a:p>
            <a:pPr indent="-292100" lvl="0" marL="457200" rtl="0" algn="l">
              <a:spcBef>
                <a:spcPts val="400"/>
              </a:spcBef>
              <a:spcAft>
                <a:spcPts val="0"/>
              </a:spcAft>
              <a:buClr>
                <a:srgbClr val="0F1535"/>
              </a:buClr>
              <a:buSzPts val="1000"/>
              <a:buChar char="•"/>
            </a:pPr>
            <a:r>
              <a:rPr lang="en-US" sz="1000">
                <a:solidFill>
                  <a:srgbClr val="0F1535"/>
                </a:solidFill>
                <a:latin typeface="Calibri"/>
                <a:ea typeface="Calibri"/>
                <a:cs typeface="Calibri"/>
                <a:sym typeface="Calibri"/>
              </a:rPr>
              <a:t>Quantcast retargeting against 3.2M reached devices from March.</a:t>
            </a:r>
            <a:endParaRPr sz="1000">
              <a:solidFill>
                <a:srgbClr val="0F1535"/>
              </a:solidFill>
              <a:latin typeface="Calibri"/>
              <a:ea typeface="Calibri"/>
              <a:cs typeface="Calibri"/>
              <a:sym typeface="Calibri"/>
            </a:endParaRPr>
          </a:p>
          <a:p>
            <a:pPr indent="-292100" lvl="0" marL="457200" rtl="0" algn="l">
              <a:spcBef>
                <a:spcPts val="400"/>
              </a:spcBef>
              <a:spcAft>
                <a:spcPts val="0"/>
              </a:spcAft>
              <a:buClr>
                <a:srgbClr val="0F1535"/>
              </a:buClr>
              <a:buSzPts val="1000"/>
              <a:buChar char="•"/>
            </a:pPr>
            <a:r>
              <a:rPr lang="en-US" sz="1000">
                <a:solidFill>
                  <a:srgbClr val="0F1535"/>
                </a:solidFill>
                <a:latin typeface="Calibri"/>
                <a:ea typeface="Calibri"/>
                <a:cs typeface="Calibri"/>
                <a:sym typeface="Calibri"/>
              </a:rPr>
              <a:t>Scale Azerion investing and macro news audiences on proven viewability floor.</a:t>
            </a:r>
            <a:endParaRPr sz="1000">
              <a:solidFill>
                <a:srgbClr val="0F1535"/>
              </a:solidFill>
              <a:latin typeface="Calibri"/>
              <a:ea typeface="Calibri"/>
              <a:cs typeface="Calibri"/>
              <a:sym typeface="Calibri"/>
            </a:endParaRPr>
          </a:p>
        </p:txBody>
      </p:sp>
      <p:sp>
        <p:nvSpPr>
          <p:cNvPr id="324" name="Google Shape;324;p21"/>
          <p:cNvSpPr/>
          <p:nvPr/>
        </p:nvSpPr>
        <p:spPr>
          <a:xfrm>
            <a:off x="365760" y="3383280"/>
            <a:ext cx="11475720" cy="233172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21"/>
          <p:cNvSpPr/>
          <p:nvPr/>
        </p:nvSpPr>
        <p:spPr>
          <a:xfrm>
            <a:off x="365760" y="3383280"/>
            <a:ext cx="109728" cy="2331720"/>
          </a:xfrm>
          <a:prstGeom prst="rect">
            <a:avLst/>
          </a:prstGeom>
          <a:solidFill>
            <a:srgbClr val="F9616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21"/>
          <p:cNvSpPr txBox="1"/>
          <p:nvPr/>
        </p:nvSpPr>
        <p:spPr>
          <a:xfrm>
            <a:off x="640080" y="3493008"/>
            <a:ext cx="11018520" cy="32004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i="0" lang="en-US" sz="1300" u="none" cap="none" strike="noStrike">
                <a:solidFill>
                  <a:srgbClr val="FFFFFF"/>
                </a:solidFill>
                <a:latin typeface="Georgia"/>
                <a:ea typeface="Georgia"/>
                <a:cs typeface="Georgia"/>
                <a:sym typeface="Georgia"/>
              </a:rPr>
              <a:t>TRACKING AND INFRASTRUCTURE GAPS LIMITING APRIL UPSIDE</a:t>
            </a:r>
            <a:endParaRPr/>
          </a:p>
        </p:txBody>
      </p:sp>
      <p:sp>
        <p:nvSpPr>
          <p:cNvPr id="327" name="Google Shape;327;p21"/>
          <p:cNvSpPr txBox="1"/>
          <p:nvPr/>
        </p:nvSpPr>
        <p:spPr>
          <a:xfrm>
            <a:off x="640080" y="3840480"/>
            <a:ext cx="10927200" cy="811800"/>
          </a:xfrm>
          <a:prstGeom prst="rect">
            <a:avLst/>
          </a:prstGeom>
          <a:noFill/>
          <a:ln>
            <a:noFill/>
          </a:ln>
        </p:spPr>
        <p:txBody>
          <a:bodyPr anchorCtr="0" anchor="t" bIns="18275" lIns="45700" spcFirstLastPara="1" rIns="45700" wrap="square" tIns="18275">
            <a:spAutoFit/>
          </a:bodyPr>
          <a:lstStyle/>
          <a:p>
            <a:pPr indent="0" lvl="0" marL="0" rtl="0" algn="l">
              <a:spcBef>
                <a:spcPts val="500"/>
              </a:spcBef>
              <a:spcAft>
                <a:spcPts val="0"/>
              </a:spcAft>
              <a:buClr>
                <a:schemeClr val="dk1"/>
              </a:buClr>
              <a:buSzPts val="1100"/>
              <a:buFont typeface="Arial"/>
              <a:buNone/>
            </a:pPr>
            <a:r>
              <a:rPr lang="en-US" sz="1050">
                <a:solidFill>
                  <a:srgbClr val="FFFFFF"/>
                </a:solidFill>
                <a:latin typeface="Calibri"/>
                <a:ea typeface="Calibri"/>
                <a:cs typeface="Calibri"/>
                <a:sym typeface="Calibri"/>
              </a:rPr>
              <a:t>Three items control April performance more than any media lever: landing page deployment, tracking completion, and pending approvals. All three are in motion.</a:t>
            </a:r>
            <a:endParaRPr sz="1050">
              <a:solidFill>
                <a:srgbClr val="FFFFFF"/>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en-US" sz="1050">
                <a:solidFill>
                  <a:srgbClr val="FFFFFF"/>
                </a:solidFill>
                <a:latin typeface="Calibri"/>
                <a:ea typeface="Calibri"/>
                <a:cs typeface="Calibri"/>
                <a:sym typeface="Calibri"/>
              </a:rPr>
              <a:t>Landing pages in WebOps unlock proper funnel measurement and give paid traffic a destination built for conversion. Revenue tracking enables full-funnel reporting across all channels. The Bing and TradingView approvals release optimized campaigns that are already built and ready.</a:t>
            </a:r>
            <a:endParaRPr sz="1050">
              <a:solidFill>
                <a:srgbClr val="FFFFFF"/>
              </a:solidFill>
              <a:latin typeface="Calibri"/>
              <a:ea typeface="Calibri"/>
              <a:cs typeface="Calibri"/>
              <a:sym typeface="Calibri"/>
            </a:endParaRPr>
          </a:p>
          <a:p>
            <a:pPr indent="0" lvl="0" marL="0" rtl="0" algn="l">
              <a:spcBef>
                <a:spcPts val="500"/>
              </a:spcBef>
              <a:spcAft>
                <a:spcPts val="0"/>
              </a:spcAft>
              <a:buSzPts val="1100"/>
              <a:buNone/>
            </a:pPr>
            <a:r>
              <a:rPr lang="en-US" sz="1050">
                <a:solidFill>
                  <a:srgbClr val="FFFFFF"/>
                </a:solidFill>
                <a:latin typeface="Calibri"/>
                <a:ea typeface="Calibri"/>
                <a:cs typeface="Calibri"/>
                <a:sym typeface="Calibri"/>
              </a:rPr>
              <a:t>The efficiency improvement comes from completing the infrastructure that is already in progress.</a:t>
            </a:r>
            <a:endParaRPr sz="1050">
              <a:solidFill>
                <a:srgbClr val="FFFFFF"/>
              </a:solidFill>
              <a:latin typeface="Calibri"/>
              <a:ea typeface="Calibri"/>
              <a:cs typeface="Calibri"/>
              <a:sym typeface="Calibri"/>
            </a:endParaRPr>
          </a:p>
        </p:txBody>
      </p:sp>
      <p:sp>
        <p:nvSpPr>
          <p:cNvPr id="328" name="Google Shape;328;p21"/>
          <p:cNvSpPr/>
          <p:nvPr/>
        </p:nvSpPr>
        <p:spPr>
          <a:xfrm>
            <a:off x="365760" y="5852160"/>
            <a:ext cx="11475720" cy="502920"/>
          </a:xfrm>
          <a:prstGeom prst="rect">
            <a:avLst/>
          </a:prstGeom>
          <a:solidFill>
            <a:srgbClr val="0F15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21"/>
          <p:cNvSpPr txBox="1"/>
          <p:nvPr/>
        </p:nvSpPr>
        <p:spPr>
          <a:xfrm>
            <a:off x="502920" y="5852160"/>
            <a:ext cx="11247120" cy="502920"/>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i="0" lang="en-US" sz="1300" u="none" cap="none" strike="noStrike">
                <a:solidFill>
                  <a:srgbClr val="FFFFFF"/>
                </a:solidFill>
                <a:latin typeface="Georgia"/>
                <a:ea typeface="Georgia"/>
                <a:cs typeface="Georgia"/>
                <a:sym typeface="Georgia"/>
              </a:rPr>
              <a:t>Close tracking, landing pages, and approvals. April CPA drops materially without adding spend.</a:t>
            </a:r>
            <a:endParaRPr/>
          </a:p>
        </p:txBody>
      </p:sp>
      <p:sp>
        <p:nvSpPr>
          <p:cNvPr id="330" name="Google Shape;330;p21"/>
          <p:cNvSpPr/>
          <p:nvPr/>
        </p:nvSpPr>
        <p:spPr>
          <a:xfrm>
            <a:off x="0" y="6583680"/>
            <a:ext cx="12191695" cy="274320"/>
          </a:xfrm>
          <a:prstGeom prst="rect">
            <a:avLst/>
          </a:prstGeom>
          <a:solidFill>
            <a:srgbClr val="F4F6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txBox="1"/>
          <p:nvPr/>
        </p:nvSpPr>
        <p:spPr>
          <a:xfrm>
            <a:off x="365760" y="6601968"/>
            <a:ext cx="8229600" cy="256032"/>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0" i="0" lang="en-US" sz="900" u="none" cap="none" strike="noStrike">
                <a:solidFill>
                  <a:srgbClr val="5A6072"/>
                </a:solidFill>
                <a:latin typeface="Calibri"/>
                <a:ea typeface="Calibri"/>
                <a:cs typeface="Calibri"/>
                <a:sym typeface="Calibri"/>
              </a:rPr>
              <a:t>GGMI (LATAM / Mexico)  |  March 2026 Performance Review  |  Berelvant</a:t>
            </a:r>
            <a:endParaRPr/>
          </a:p>
        </p:txBody>
      </p:sp>
      <p:sp>
        <p:nvSpPr>
          <p:cNvPr id="332" name="Google Shape;332;p21"/>
          <p:cNvSpPr txBox="1"/>
          <p:nvPr/>
        </p:nvSpPr>
        <p:spPr>
          <a:xfrm>
            <a:off x="11247120" y="6601968"/>
            <a:ext cx="822960" cy="256032"/>
          </a:xfrm>
          <a:prstGeom prst="rect">
            <a:avLst/>
          </a:prstGeom>
          <a:noFill/>
          <a:ln>
            <a:noFill/>
          </a:ln>
        </p:spPr>
        <p:txBody>
          <a:bodyPr anchorCtr="0" anchor="ctr" bIns="18275" lIns="45700" spcFirstLastPara="1" rIns="45700" wrap="square" tIns="18275">
            <a:spAutoFit/>
          </a:bodyPr>
          <a:lstStyle/>
          <a:p>
            <a:pPr indent="0" lvl="0" marL="0" marR="0" rtl="0" algn="r">
              <a:spcBef>
                <a:spcPts val="0"/>
              </a:spcBef>
              <a:spcAft>
                <a:spcPts val="0"/>
              </a:spcAft>
              <a:buNone/>
            </a:pPr>
            <a:r>
              <a:rPr b="0" i="0" lang="en-US" sz="900" u="none" cap="none" strike="noStrike">
                <a:solidFill>
                  <a:srgbClr val="5A6072"/>
                </a:solidFill>
                <a:latin typeface="Calibri"/>
                <a:ea typeface="Calibri"/>
                <a:cs typeface="Calibri"/>
                <a:sym typeface="Calibri"/>
              </a:rPr>
              <a:t>9 / 9</a:t>
            </a:r>
            <a:endParaRPr/>
          </a:p>
        </p:txBody>
      </p:sp>
      <p:pic>
        <p:nvPicPr>
          <p:cNvPr id="333" name="Google Shape;333;p21" title="berelvant-logo.png"/>
          <p:cNvPicPr preferRelativeResize="0"/>
          <p:nvPr/>
        </p:nvPicPr>
        <p:blipFill>
          <a:blip r:embed="rId3">
            <a:alphaModFix/>
          </a:blip>
          <a:stretch>
            <a:fillRect/>
          </a:stretch>
        </p:blipFill>
        <p:spPr>
          <a:xfrm>
            <a:off x="11185838" y="68588"/>
            <a:ext cx="854075" cy="274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