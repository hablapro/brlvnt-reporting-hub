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91695" cy="100584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109728" cy="210312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g_0_0.5_0.5.png"/>
          <p:cNvPicPr>
            <a:picLocks noChangeAspect="1"/>
          </p:cNvPicPr>
          <p:nvPr/>
        </p:nvPicPr>
        <p:blipFill>
          <a:blip r:embed="rId2"/>
          <a:stretch>
            <a:fillRect/>
          </a:stretch>
        </p:blipFill>
        <p:spPr>
          <a:xfrm>
            <a:off x="457200" y="457200"/>
            <a:ext cx="2240280" cy="640080"/>
          </a:xfrm>
          <a:prstGeom prst="rect">
            <a:avLst/>
          </a:prstGeom>
        </p:spPr>
      </p:pic>
      <p:sp>
        <p:nvSpPr>
          <p:cNvPr id="6" name="TextBox 5"/>
          <p:cNvSpPr txBox="1"/>
          <p:nvPr/>
        </p:nvSpPr>
        <p:spPr>
          <a:xfrm>
            <a:off x="822960" y="2057400"/>
            <a:ext cx="10058400" cy="457200"/>
          </a:xfrm>
          <a:prstGeom prst="rect">
            <a:avLst/>
          </a:prstGeom>
          <a:noFill/>
        </p:spPr>
        <p:txBody>
          <a:bodyPr wrap="square" anchor="t" lIns="25400" rIns="25400" tIns="12700" bIns="12700">
            <a:spAutoFit/>
          </a:bodyPr>
          <a:lstStyle/>
          <a:p>
            <a:pPr algn="l"/>
            <a:r>
              <a:rPr sz="1400" b="1">
                <a:solidFill>
                  <a:srgbClr val="3B5998"/>
                </a:solidFill>
                <a:latin typeface="Arial"/>
              </a:rPr>
              <a:t>MONTHLY PERFORMANCE REVIEW</a:t>
            </a:r>
          </a:p>
        </p:txBody>
      </p:sp>
      <p:sp>
        <p:nvSpPr>
          <p:cNvPr id="7" name="TextBox 6"/>
          <p:cNvSpPr txBox="1"/>
          <p:nvPr/>
        </p:nvSpPr>
        <p:spPr>
          <a:xfrm>
            <a:off x="822960" y="2606040"/>
            <a:ext cx="10972800" cy="914400"/>
          </a:xfrm>
          <a:prstGeom prst="rect">
            <a:avLst/>
          </a:prstGeom>
          <a:noFill/>
        </p:spPr>
        <p:txBody>
          <a:bodyPr wrap="square" anchor="t" lIns="25400" rIns="25400" tIns="12700" bIns="12700">
            <a:spAutoFit/>
          </a:bodyPr>
          <a:lstStyle/>
          <a:p>
            <a:pPr algn="l"/>
            <a:r>
              <a:rPr sz="3200" b="1">
                <a:solidFill>
                  <a:srgbClr val="1A2A3A"/>
                </a:solidFill>
                <a:latin typeface="Arial"/>
              </a:rPr>
              <a:t>GGMI (LATAM) — Paid Media</a:t>
            </a:r>
          </a:p>
        </p:txBody>
      </p:sp>
      <p:sp>
        <p:nvSpPr>
          <p:cNvPr id="8" name="TextBox 7"/>
          <p:cNvSpPr txBox="1"/>
          <p:nvPr/>
        </p:nvSpPr>
        <p:spPr>
          <a:xfrm>
            <a:off x="822960" y="3611880"/>
            <a:ext cx="10972800" cy="548640"/>
          </a:xfrm>
          <a:prstGeom prst="rect">
            <a:avLst/>
          </a:prstGeom>
          <a:noFill/>
        </p:spPr>
        <p:txBody>
          <a:bodyPr wrap="square" anchor="t" lIns="25400" rIns="25400" tIns="12700" bIns="12700">
            <a:spAutoFit/>
          </a:bodyPr>
          <a:lstStyle/>
          <a:p>
            <a:pPr algn="l"/>
            <a:r>
              <a:rPr sz="1600" b="0">
                <a:solidFill>
                  <a:srgbClr val="5A5A5A"/>
                </a:solidFill>
                <a:latin typeface="Arial"/>
              </a:rPr>
              <a:t>May 2026 Performance Review</a:t>
            </a:r>
          </a:p>
        </p:txBody>
      </p:sp>
      <p:sp>
        <p:nvSpPr>
          <p:cNvPr id="9" name="TextBox 8"/>
          <p:cNvSpPr txBox="1"/>
          <p:nvPr/>
        </p:nvSpPr>
        <p:spPr>
          <a:xfrm>
            <a:off x="822960" y="4343400"/>
            <a:ext cx="10972800" cy="365760"/>
          </a:xfrm>
          <a:prstGeom prst="rect">
            <a:avLst/>
          </a:prstGeom>
          <a:noFill/>
        </p:spPr>
        <p:txBody>
          <a:bodyPr wrap="square" anchor="t" lIns="25400" rIns="25400" tIns="12700" bIns="12700">
            <a:spAutoFit/>
          </a:bodyPr>
          <a:lstStyle/>
          <a:p>
            <a:pPr algn="l"/>
            <a:r>
              <a:rPr sz="1200" b="0">
                <a:solidFill>
                  <a:srgbClr val="78828C"/>
                </a:solidFill>
                <a:latin typeface="Arial"/>
              </a:rPr>
              <a:t>Bing Ads · Meta · Azerion · Quantcast</a:t>
            </a:r>
          </a:p>
        </p:txBody>
      </p:sp>
      <p:sp>
        <p:nvSpPr>
          <p:cNvPr id="10" name="TextBox 9"/>
          <p:cNvSpPr txBox="1"/>
          <p:nvPr/>
        </p:nvSpPr>
        <p:spPr>
          <a:xfrm>
            <a:off x="822960" y="6035040"/>
            <a:ext cx="10972800" cy="365760"/>
          </a:xfrm>
          <a:prstGeom prst="rect">
            <a:avLst/>
          </a:prstGeom>
          <a:noFill/>
        </p:spPr>
        <p:txBody>
          <a:bodyPr wrap="square" anchor="t" lIns="25400" rIns="25400" tIns="12700" bIns="12700">
            <a:spAutoFit/>
          </a:bodyPr>
          <a:lstStyle/>
          <a:p>
            <a:pPr algn="l"/>
            <a:r>
              <a:rPr sz="1100" b="0">
                <a:solidFill>
                  <a:srgbClr val="FFFFFF"/>
                </a:solidFill>
                <a:latin typeface="Arial"/>
              </a:rPr>
              <a:t>Prepared by Berelvant   ·   06.02.2026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229600" cy="274320"/>
          </a:xfrm>
          <a:prstGeom prst="rect">
            <a:avLst/>
          </a:prstGeom>
          <a:noFill/>
        </p:spPr>
        <p:txBody>
          <a:bodyPr wrap="square" anchor="ctr" lIns="25400" rIns="25400" tIns="12700" bIns="12700">
            <a:spAutoFit/>
          </a:bodyPr>
          <a:lstStyle/>
          <a:p>
            <a:pPr algn="l"/>
            <a:r>
              <a:rPr sz="900" b="1">
                <a:solidFill>
                  <a:srgbClr val="FFFFFF"/>
                </a:solidFill>
                <a:latin typeface="Arial"/>
              </a:rPr>
              <a:t>FOREX.com  |  GGMI (LATAM)  ·  May 2026</a:t>
            </a:r>
          </a:p>
        </p:txBody>
      </p:sp>
      <p:pic>
        <p:nvPicPr>
          <p:cNvPr id="4" name="Picture 3" descr="img_0_0.5_0.5.png"/>
          <p:cNvPicPr>
            <a:picLocks noChangeAspect="1"/>
          </p:cNvPicPr>
          <p:nvPr/>
        </p:nvPicPr>
        <p:blipFill>
          <a:blip r:embed="rId2"/>
          <a:stretch>
            <a:fillRect/>
          </a:stretch>
        </p:blipFill>
        <p:spPr>
          <a:xfrm>
            <a:off x="11155680" y="109728"/>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25400" rIns="25400" tIns="12700" bIns="12700">
            <a:spAutoFit/>
          </a:bodyPr>
          <a:lstStyle/>
          <a:p>
            <a:pPr algn="l"/>
            <a:r>
              <a:rPr sz="1100" b="1">
                <a:solidFill>
                  <a:srgbClr val="3B5998"/>
                </a:solidFill>
                <a:latin typeface="Arial"/>
              </a:rPr>
              <a:t>EXECUTIVE SUMMARY</a:t>
            </a:r>
          </a:p>
        </p:txBody>
      </p:sp>
      <p:sp>
        <p:nvSpPr>
          <p:cNvPr id="6" name="TextBox 5"/>
          <p:cNvSpPr txBox="1"/>
          <p:nvPr/>
        </p:nvSpPr>
        <p:spPr>
          <a:xfrm>
            <a:off x="457200" y="841248"/>
            <a:ext cx="11247120" cy="731520"/>
          </a:xfrm>
          <a:prstGeom prst="rect">
            <a:avLst/>
          </a:prstGeom>
          <a:noFill/>
        </p:spPr>
        <p:txBody>
          <a:bodyPr wrap="square" anchor="t" lIns="25400" rIns="25400" tIns="12700" bIns="12700">
            <a:spAutoFit/>
          </a:bodyPr>
          <a:lstStyle/>
          <a:p>
            <a:pPr algn="l"/>
            <a:r>
              <a:rPr sz="2000" b="1">
                <a:solidFill>
                  <a:srgbClr val="1A2A3A"/>
                </a:solidFill>
                <a:latin typeface="Arial"/>
              </a:rPr>
              <a:t>Media is strong and cheap. The Mexico funnel is the constraint.</a:t>
            </a:r>
          </a:p>
        </p:txBody>
      </p:sp>
      <p:sp>
        <p:nvSpPr>
          <p:cNvPr id="7" name="Rectangle 6"/>
          <p:cNvSpPr/>
          <p:nvPr/>
        </p:nvSpPr>
        <p:spPr>
          <a:xfrm>
            <a:off x="0" y="6601968"/>
            <a:ext cx="12191695" cy="256032"/>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01968"/>
            <a:ext cx="5486400" cy="228600"/>
          </a:xfrm>
          <a:prstGeom prst="rect">
            <a:avLst/>
          </a:prstGeom>
          <a:noFill/>
        </p:spPr>
        <p:txBody>
          <a:bodyPr wrap="square" anchor="ctr" lIns="25400" rIns="25400" tIns="12700" bIns="12700">
            <a:spAutoFit/>
          </a:bodyPr>
          <a:lstStyle/>
          <a:p>
            <a:pPr algn="l"/>
            <a:r>
              <a:rPr sz="800" b="0">
                <a:solidFill>
                  <a:srgbClr val="78828C"/>
                </a:solidFill>
                <a:latin typeface="Arial"/>
              </a:rPr>
              <a:t>Monthly Performance Review</a:t>
            </a:r>
          </a:p>
        </p:txBody>
      </p:sp>
      <p:sp>
        <p:nvSpPr>
          <p:cNvPr id="9" name="TextBox 8"/>
          <p:cNvSpPr txBox="1"/>
          <p:nvPr/>
        </p:nvSpPr>
        <p:spPr>
          <a:xfrm>
            <a:off x="11155680" y="6601968"/>
            <a:ext cx="731520" cy="228600"/>
          </a:xfrm>
          <a:prstGeom prst="rect">
            <a:avLst/>
          </a:prstGeom>
          <a:noFill/>
        </p:spPr>
        <p:txBody>
          <a:bodyPr wrap="square" anchor="ctr" lIns="25400" rIns="25400" tIns="12700" bIns="12700">
            <a:spAutoFit/>
          </a:bodyPr>
          <a:lstStyle/>
          <a:p>
            <a:pPr algn="r"/>
            <a:r>
              <a:rPr sz="800" b="0">
                <a:solidFill>
                  <a:srgbClr val="78828C"/>
                </a:solidFill>
                <a:latin typeface="Arial"/>
              </a:rPr>
              <a:t>2 / 7</a:t>
            </a:r>
          </a:p>
        </p:txBody>
      </p:sp>
      <p:graphicFrame>
        <p:nvGraphicFramePr>
          <p:cNvPr id="10" name="Table 9"/>
          <p:cNvGraphicFramePr>
            <a:graphicFrameLocks noGrp="1"/>
          </p:cNvGraphicFramePr>
          <p:nvPr/>
        </p:nvGraphicFramePr>
        <p:xfrm>
          <a:off x="457200" y="1691640"/>
          <a:ext cx="6766558" cy="1865376"/>
        </p:xfrm>
        <a:graphic>
          <a:graphicData uri="http://schemas.openxmlformats.org/drawingml/2006/table">
            <a:tbl>
              <a:tblPr>
                <a:tableStyleId>{5C22544A-7EE6-4342-B048-85BDC9FD1C3A}</a:tableStyleId>
              </a:tblPr>
              <a:tblGrid>
                <a:gridCol w="2126633"/>
                <a:gridCol w="966651"/>
                <a:gridCol w="966651"/>
                <a:gridCol w="966651"/>
                <a:gridCol w="773321"/>
                <a:gridCol w="966651"/>
              </a:tblGrid>
              <a:tr h="310896">
                <a:tc>
                  <a:txBody>
                    <a:bodyPr/>
                    <a:lstStyle/>
                    <a:p>
                      <a:pPr algn="l"/>
                      <a:r>
                        <a:rPr sz="850" b="1">
                          <a:solidFill>
                            <a:srgbClr val="FFFFFF"/>
                          </a:solidFill>
                          <a:latin typeface="Arial"/>
                        </a:rPr>
                        <a:t>Channel</a:t>
                      </a:r>
                    </a:p>
                  </a:txBody>
                  <a:tcPr marL="50800" marR="50800" marT="12700" marB="12700" anchor="ctr">
                    <a:solidFill>
                      <a:srgbClr val="3B5998"/>
                    </a:solidFill>
                  </a:tcPr>
                </a:tc>
                <a:tc>
                  <a:txBody>
                    <a:bodyPr/>
                    <a:lstStyle/>
                    <a:p>
                      <a:pPr algn="r"/>
                      <a:r>
                        <a:rPr sz="850" b="1">
                          <a:solidFill>
                            <a:srgbClr val="FFFFFF"/>
                          </a:solidFill>
                          <a:latin typeface="Arial"/>
                        </a:rPr>
                        <a:t>Spend</a:t>
                      </a:r>
                    </a:p>
                  </a:txBody>
                  <a:tcPr marL="50800" marR="50800" marT="12700" marB="12700" anchor="ctr">
                    <a:solidFill>
                      <a:srgbClr val="3B5998"/>
                    </a:solidFill>
                  </a:tcPr>
                </a:tc>
                <a:tc>
                  <a:txBody>
                    <a:bodyPr/>
                    <a:lstStyle/>
                    <a:p>
                      <a:pPr algn="r"/>
                      <a:r>
                        <a:rPr sz="850" b="1">
                          <a:solidFill>
                            <a:srgbClr val="FFFFFF"/>
                          </a:solidFill>
                          <a:latin typeface="Arial"/>
                        </a:rPr>
                        <a:t>Impr</a:t>
                      </a:r>
                    </a:p>
                  </a:txBody>
                  <a:tcPr marL="50800" marR="50800" marT="12700" marB="12700" anchor="ctr">
                    <a:solidFill>
                      <a:srgbClr val="3B5998"/>
                    </a:solidFill>
                  </a:tcPr>
                </a:tc>
                <a:tc>
                  <a:txBody>
                    <a:bodyPr/>
                    <a:lstStyle/>
                    <a:p>
                      <a:pPr algn="r"/>
                      <a:r>
                        <a:rPr sz="850" b="1">
                          <a:solidFill>
                            <a:srgbClr val="FFFFFF"/>
                          </a:solidFill>
                          <a:latin typeface="Arial"/>
                        </a:rPr>
                        <a:t>Clicks</a:t>
                      </a:r>
                    </a:p>
                  </a:txBody>
                  <a:tcPr marL="50800" marR="50800" marT="12700" marB="12700" anchor="ctr">
                    <a:solidFill>
                      <a:srgbClr val="3B5998"/>
                    </a:solidFill>
                  </a:tcPr>
                </a:tc>
                <a:tc>
                  <a:txBody>
                    <a:bodyPr/>
                    <a:lstStyle/>
                    <a:p>
                      <a:pPr algn="r"/>
                      <a:r>
                        <a:rPr sz="850" b="1">
                          <a:solidFill>
                            <a:srgbClr val="FFFFFF"/>
                          </a:solidFill>
                          <a:latin typeface="Arial"/>
                        </a:rPr>
                        <a:t>Conv</a:t>
                      </a:r>
                    </a:p>
                  </a:txBody>
                  <a:tcPr marL="50800" marR="50800" marT="12700" marB="12700" anchor="ctr">
                    <a:solidFill>
                      <a:srgbClr val="3B5998"/>
                    </a:solidFill>
                  </a:tcPr>
                </a:tc>
                <a:tc>
                  <a:txBody>
                    <a:bodyPr/>
                    <a:lstStyle/>
                    <a:p>
                      <a:pPr algn="r"/>
                      <a:r>
                        <a:rPr sz="850" b="1">
                          <a:solidFill>
                            <a:srgbClr val="FFFFFF"/>
                          </a:solidFill>
                          <a:latin typeface="Arial"/>
                        </a:rPr>
                        <a:t>CPA</a:t>
                      </a:r>
                    </a:p>
                  </a:txBody>
                  <a:tcPr marL="50800" marR="50800" marT="12700" marB="12700" anchor="ctr">
                    <a:solidFill>
                      <a:srgbClr val="3B5998"/>
                    </a:solidFill>
                  </a:tcPr>
                </a:tc>
              </a:tr>
              <a:tr h="310896">
                <a:tc>
                  <a:txBody>
                    <a:bodyPr/>
                    <a:lstStyle/>
                    <a:p>
                      <a:pPr algn="l"/>
                      <a:r>
                        <a:rPr sz="850" b="1">
                          <a:solidFill>
                            <a:srgbClr val="1A2A3A"/>
                          </a:solidFill>
                          <a:latin typeface="Arial"/>
                        </a:rPr>
                        <a:t>Bing Ads</a:t>
                      </a:r>
                    </a:p>
                  </a:txBody>
                  <a:tcPr marL="50800" marR="50800" marT="12700" marB="12700" anchor="ctr">
                    <a:solidFill>
                      <a:srgbClr val="FFFFFF"/>
                    </a:solidFill>
                  </a:tcPr>
                </a:tc>
                <a:tc>
                  <a:txBody>
                    <a:bodyPr/>
                    <a:lstStyle/>
                    <a:p>
                      <a:pPr algn="r"/>
                      <a:r>
                        <a:rPr sz="850" b="0">
                          <a:solidFill>
                            <a:srgbClr val="1A2A3A"/>
                          </a:solidFill>
                          <a:latin typeface="Arial"/>
                        </a:rPr>
                        <a:t>$15,972</a:t>
                      </a:r>
                    </a:p>
                  </a:txBody>
                  <a:tcPr marL="50800" marR="50800" marT="12700" marB="12700" anchor="ctr">
                    <a:solidFill>
                      <a:srgbClr val="FFFFFF"/>
                    </a:solidFill>
                  </a:tcPr>
                </a:tc>
                <a:tc>
                  <a:txBody>
                    <a:bodyPr/>
                    <a:lstStyle/>
                    <a:p>
                      <a:pPr algn="r"/>
                      <a:r>
                        <a:rPr sz="850" b="0">
                          <a:solidFill>
                            <a:srgbClr val="1A2A3A"/>
                          </a:solidFill>
                          <a:latin typeface="Arial"/>
                        </a:rPr>
                        <a:t>368,704</a:t>
                      </a:r>
                    </a:p>
                  </a:txBody>
                  <a:tcPr marL="50800" marR="50800" marT="12700" marB="12700" anchor="ctr">
                    <a:solidFill>
                      <a:srgbClr val="FFFFFF"/>
                    </a:solidFill>
                  </a:tcPr>
                </a:tc>
                <a:tc>
                  <a:txBody>
                    <a:bodyPr/>
                    <a:lstStyle/>
                    <a:p>
                      <a:pPr algn="r"/>
                      <a:r>
                        <a:rPr sz="850" b="0">
                          <a:solidFill>
                            <a:srgbClr val="1A2A3A"/>
                          </a:solidFill>
                          <a:latin typeface="Arial"/>
                        </a:rPr>
                        <a:t>29,944</a:t>
                      </a:r>
                    </a:p>
                  </a:txBody>
                  <a:tcPr marL="50800" marR="50800" marT="12700" marB="12700" anchor="ctr">
                    <a:solidFill>
                      <a:srgbClr val="FFFFFF"/>
                    </a:solidFill>
                  </a:tcPr>
                </a:tc>
                <a:tc>
                  <a:txBody>
                    <a:bodyPr/>
                    <a:lstStyle/>
                    <a:p>
                      <a:pPr algn="r"/>
                      <a:r>
                        <a:rPr sz="850" b="0">
                          <a:solidFill>
                            <a:srgbClr val="1A2A3A"/>
                          </a:solidFill>
                          <a:latin typeface="Arial"/>
                        </a:rPr>
                        <a:t>33</a:t>
                      </a:r>
                    </a:p>
                  </a:txBody>
                  <a:tcPr marL="50800" marR="50800" marT="12700" marB="12700" anchor="ctr">
                    <a:solidFill>
                      <a:srgbClr val="FFFFFF"/>
                    </a:solidFill>
                  </a:tcPr>
                </a:tc>
                <a:tc>
                  <a:txBody>
                    <a:bodyPr/>
                    <a:lstStyle/>
                    <a:p>
                      <a:pPr algn="r"/>
                      <a:r>
                        <a:rPr sz="850" b="0">
                          <a:solidFill>
                            <a:srgbClr val="1A2A3A"/>
                          </a:solidFill>
                          <a:latin typeface="Arial"/>
                        </a:rPr>
                        <a:t>$484</a:t>
                      </a:r>
                    </a:p>
                  </a:txBody>
                  <a:tcPr marL="50800" marR="50800" marT="12700" marB="12700" anchor="ctr">
                    <a:solidFill>
                      <a:srgbClr val="FFFFFF"/>
                    </a:solidFill>
                  </a:tcPr>
                </a:tc>
              </a:tr>
              <a:tr h="310896">
                <a:tc>
                  <a:txBody>
                    <a:bodyPr/>
                    <a:lstStyle/>
                    <a:p>
                      <a:pPr algn="l"/>
                      <a:r>
                        <a:rPr sz="850" b="1">
                          <a:solidFill>
                            <a:srgbClr val="1A2A3A"/>
                          </a:solidFill>
                          <a:latin typeface="Arial"/>
                        </a:rPr>
                        <a:t>Meta</a:t>
                      </a:r>
                    </a:p>
                  </a:txBody>
                  <a:tcPr marL="50800" marR="50800" marT="12700" marB="12700" anchor="ctr">
                    <a:solidFill>
                      <a:srgbClr val="F3F3F3"/>
                    </a:solidFill>
                  </a:tcPr>
                </a:tc>
                <a:tc>
                  <a:txBody>
                    <a:bodyPr/>
                    <a:lstStyle/>
                    <a:p>
                      <a:pPr algn="r"/>
                      <a:r>
                        <a:rPr sz="850" b="0">
                          <a:solidFill>
                            <a:srgbClr val="1A2A3A"/>
                          </a:solidFill>
                          <a:latin typeface="Arial"/>
                        </a:rPr>
                        <a:t>$6,626</a:t>
                      </a:r>
                    </a:p>
                  </a:txBody>
                  <a:tcPr marL="50800" marR="50800" marT="12700" marB="12700" anchor="ctr">
                    <a:solidFill>
                      <a:srgbClr val="F3F3F3"/>
                    </a:solidFill>
                  </a:tcPr>
                </a:tc>
                <a:tc>
                  <a:txBody>
                    <a:bodyPr/>
                    <a:lstStyle/>
                    <a:p>
                      <a:pPr algn="r"/>
                      <a:r>
                        <a:rPr sz="850" b="0">
                          <a:solidFill>
                            <a:srgbClr val="1A2A3A"/>
                          </a:solidFill>
                          <a:latin typeface="Arial"/>
                        </a:rPr>
                        <a:t>6.84M</a:t>
                      </a:r>
                    </a:p>
                  </a:txBody>
                  <a:tcPr marL="50800" marR="50800" marT="12700" marB="12700" anchor="ctr">
                    <a:solidFill>
                      <a:srgbClr val="F3F3F3"/>
                    </a:solidFill>
                  </a:tcPr>
                </a:tc>
                <a:tc>
                  <a:txBody>
                    <a:bodyPr/>
                    <a:lstStyle/>
                    <a:p>
                      <a:pPr algn="r"/>
                      <a:r>
                        <a:rPr sz="850" b="0">
                          <a:solidFill>
                            <a:srgbClr val="1A2A3A"/>
                          </a:solidFill>
                          <a:latin typeface="Arial"/>
                        </a:rPr>
                        <a:t>128,231</a:t>
                      </a:r>
                    </a:p>
                  </a:txBody>
                  <a:tcPr marL="50800" marR="50800" marT="12700" marB="12700" anchor="ctr">
                    <a:solidFill>
                      <a:srgbClr val="F3F3F3"/>
                    </a:solidFill>
                  </a:tcPr>
                </a:tc>
                <a:tc>
                  <a:txBody>
                    <a:bodyPr/>
                    <a:lstStyle/>
                    <a:p>
                      <a:pPr algn="r"/>
                      <a:r>
                        <a:rPr sz="850" b="0">
                          <a:solidFill>
                            <a:srgbClr val="1A2A3A"/>
                          </a:solidFill>
                          <a:latin typeface="Arial"/>
                        </a:rPr>
                        <a:t>4</a:t>
                      </a:r>
                    </a:p>
                  </a:txBody>
                  <a:tcPr marL="50800" marR="50800" marT="12700" marB="12700" anchor="ctr">
                    <a:solidFill>
                      <a:srgbClr val="F3F3F3"/>
                    </a:solidFill>
                  </a:tcPr>
                </a:tc>
                <a:tc>
                  <a:txBody>
                    <a:bodyPr/>
                    <a:lstStyle/>
                    <a:p>
                      <a:pPr algn="r"/>
                      <a:r>
                        <a:rPr sz="850" b="0">
                          <a:solidFill>
                            <a:srgbClr val="1A2A3A"/>
                          </a:solidFill>
                          <a:latin typeface="Arial"/>
                        </a:rPr>
                        <a:t>$1,657</a:t>
                      </a:r>
                    </a:p>
                  </a:txBody>
                  <a:tcPr marL="50800" marR="50800" marT="12700" marB="12700" anchor="ctr">
                    <a:solidFill>
                      <a:srgbClr val="F3F3F3"/>
                    </a:solidFill>
                  </a:tcPr>
                </a:tc>
              </a:tr>
              <a:tr h="310896">
                <a:tc>
                  <a:txBody>
                    <a:bodyPr/>
                    <a:lstStyle/>
                    <a:p>
                      <a:pPr algn="l"/>
                      <a:r>
                        <a:rPr sz="850" b="1">
                          <a:solidFill>
                            <a:srgbClr val="1A2A3A"/>
                          </a:solidFill>
                          <a:latin typeface="Arial"/>
                        </a:rPr>
                        <a:t>Azerion</a:t>
                      </a:r>
                    </a:p>
                  </a:txBody>
                  <a:tcPr marL="50800" marR="50800" marT="12700" marB="12700" anchor="ctr">
                    <a:solidFill>
                      <a:srgbClr val="FFFFFF"/>
                    </a:solidFill>
                  </a:tcPr>
                </a:tc>
                <a:tc>
                  <a:txBody>
                    <a:bodyPr/>
                    <a:lstStyle/>
                    <a:p>
                      <a:pPr algn="r"/>
                      <a:r>
                        <a:rPr sz="850" b="0">
                          <a:solidFill>
                            <a:srgbClr val="1A2A3A"/>
                          </a:solidFill>
                          <a:latin typeface="Arial"/>
                        </a:rPr>
                        <a:t>$29,302</a:t>
                      </a:r>
                    </a:p>
                  </a:txBody>
                  <a:tcPr marL="50800" marR="50800" marT="12700" marB="12700" anchor="ctr">
                    <a:solidFill>
                      <a:srgbClr val="FFFFFF"/>
                    </a:solidFill>
                  </a:tcPr>
                </a:tc>
                <a:tc>
                  <a:txBody>
                    <a:bodyPr/>
                    <a:lstStyle/>
                    <a:p>
                      <a:pPr algn="r"/>
                      <a:r>
                        <a:rPr sz="850" b="0">
                          <a:solidFill>
                            <a:srgbClr val="1A2A3A"/>
                          </a:solidFill>
                          <a:latin typeface="Arial"/>
                        </a:rPr>
                        <a:t>6.06M</a:t>
                      </a:r>
                    </a:p>
                  </a:txBody>
                  <a:tcPr marL="50800" marR="50800" marT="12700" marB="12700" anchor="ctr">
                    <a:solidFill>
                      <a:srgbClr val="FFFFFF"/>
                    </a:solidFill>
                  </a:tcPr>
                </a:tc>
                <a:tc>
                  <a:txBody>
                    <a:bodyPr/>
                    <a:lstStyle/>
                    <a:p>
                      <a:pPr algn="r"/>
                      <a:r>
                        <a:rPr sz="850" b="0">
                          <a:solidFill>
                            <a:srgbClr val="1A2A3A"/>
                          </a:solidFill>
                          <a:latin typeface="Arial"/>
                        </a:rPr>
                        <a:t>6,301</a:t>
                      </a:r>
                    </a:p>
                  </a:txBody>
                  <a:tcPr marL="50800" marR="50800" marT="12700" marB="12700" anchor="ctr">
                    <a:solidFill>
                      <a:srgbClr val="FFFFFF"/>
                    </a:solidFill>
                  </a:tcPr>
                </a:tc>
                <a:tc>
                  <a:txBody>
                    <a:bodyPr/>
                    <a:lstStyle/>
                    <a:p>
                      <a:pPr algn="r"/>
                      <a:r>
                        <a:rPr sz="850" b="0">
                          <a:solidFill>
                            <a:srgbClr val="1A2A3A"/>
                          </a:solidFill>
                          <a:latin typeface="Arial"/>
                        </a:rPr>
                        <a:t>37</a:t>
                      </a:r>
                    </a:p>
                  </a:txBody>
                  <a:tcPr marL="50800" marR="50800" marT="12700" marB="12700" anchor="ctr">
                    <a:solidFill>
                      <a:srgbClr val="FFFFFF"/>
                    </a:solidFill>
                  </a:tcPr>
                </a:tc>
                <a:tc>
                  <a:txBody>
                    <a:bodyPr/>
                    <a:lstStyle/>
                    <a:p>
                      <a:pPr algn="r"/>
                      <a:r>
                        <a:rPr sz="850" b="0">
                          <a:solidFill>
                            <a:srgbClr val="1A2A3A"/>
                          </a:solidFill>
                          <a:latin typeface="Arial"/>
                        </a:rPr>
                        <a:t>$791.95</a:t>
                      </a:r>
                    </a:p>
                  </a:txBody>
                  <a:tcPr marL="50800" marR="50800" marT="12700" marB="12700" anchor="ctr">
                    <a:solidFill>
                      <a:srgbClr val="FFFFFF"/>
                    </a:solidFill>
                  </a:tcPr>
                </a:tc>
              </a:tr>
              <a:tr h="310896">
                <a:tc>
                  <a:txBody>
                    <a:bodyPr/>
                    <a:lstStyle/>
                    <a:p>
                      <a:pPr algn="l"/>
                      <a:r>
                        <a:rPr sz="850" b="1">
                          <a:solidFill>
                            <a:srgbClr val="1A2A3A"/>
                          </a:solidFill>
                          <a:latin typeface="Arial"/>
                        </a:rPr>
                        <a:t>Quantcast</a:t>
                      </a:r>
                    </a:p>
                  </a:txBody>
                  <a:tcPr marL="50800" marR="50800" marT="12700" marB="12700" anchor="ctr">
                    <a:solidFill>
                      <a:srgbClr val="F3F3F3"/>
                    </a:solidFill>
                  </a:tcPr>
                </a:tc>
                <a:tc>
                  <a:txBody>
                    <a:bodyPr/>
                    <a:lstStyle/>
                    <a:p>
                      <a:pPr algn="r"/>
                      <a:r>
                        <a:rPr sz="850" b="0">
                          <a:solidFill>
                            <a:srgbClr val="1A2A3A"/>
                          </a:solidFill>
                          <a:latin typeface="Arial"/>
                        </a:rPr>
                        <a:t>$26,890</a:t>
                      </a:r>
                    </a:p>
                  </a:txBody>
                  <a:tcPr marL="50800" marR="50800" marT="12700" marB="12700" anchor="ctr">
                    <a:solidFill>
                      <a:srgbClr val="F3F3F3"/>
                    </a:solidFill>
                  </a:tcPr>
                </a:tc>
                <a:tc>
                  <a:txBody>
                    <a:bodyPr/>
                    <a:lstStyle/>
                    <a:p>
                      <a:pPr algn="r"/>
                      <a:r>
                        <a:rPr sz="850" b="0">
                          <a:solidFill>
                            <a:srgbClr val="1A2A3A"/>
                          </a:solidFill>
                          <a:latin typeface="Arial"/>
                        </a:rPr>
                        <a:t>16.48M</a:t>
                      </a:r>
                    </a:p>
                  </a:txBody>
                  <a:tcPr marL="50800" marR="50800" marT="12700" marB="12700" anchor="ctr">
                    <a:solidFill>
                      <a:srgbClr val="F3F3F3"/>
                    </a:solidFill>
                  </a:tcPr>
                </a:tc>
                <a:tc>
                  <a:txBody>
                    <a:bodyPr/>
                    <a:lstStyle/>
                    <a:p>
                      <a:pPr algn="r"/>
                      <a:r>
                        <a:rPr sz="850" b="0">
                          <a:solidFill>
                            <a:srgbClr val="1A2A3A"/>
                          </a:solidFill>
                          <a:latin typeface="Arial"/>
                        </a:rPr>
                        <a:t>4,807</a:t>
                      </a:r>
                    </a:p>
                  </a:txBody>
                  <a:tcPr marL="50800" marR="50800" marT="12700" marB="12700" anchor="ctr">
                    <a:solidFill>
                      <a:srgbClr val="F3F3F3"/>
                    </a:solidFill>
                  </a:tcPr>
                </a:tc>
                <a:tc>
                  <a:txBody>
                    <a:bodyPr/>
                    <a:lstStyle/>
                    <a:p>
                      <a:pPr algn="r"/>
                      <a:r>
                        <a:rPr sz="850" b="0">
                          <a:solidFill>
                            <a:srgbClr val="1A2A3A"/>
                          </a:solidFill>
                          <a:latin typeface="Arial"/>
                        </a:rPr>
                        <a:t>1</a:t>
                      </a:r>
                    </a:p>
                  </a:txBody>
                  <a:tcPr marL="50800" marR="50800" marT="12700" marB="12700" anchor="ctr">
                    <a:solidFill>
                      <a:srgbClr val="F3F3F3"/>
                    </a:solidFill>
                  </a:tcPr>
                </a:tc>
                <a:tc>
                  <a:txBody>
                    <a:bodyPr/>
                    <a:lstStyle/>
                    <a:p>
                      <a:pPr algn="r"/>
                      <a:r>
                        <a:rPr sz="850" b="0">
                          <a:solidFill>
                            <a:srgbClr val="1A2A3A"/>
                          </a:solidFill>
                          <a:latin typeface="Arial"/>
                        </a:rPr>
                        <a:t>$26,890</a:t>
                      </a:r>
                    </a:p>
                  </a:txBody>
                  <a:tcPr marL="50800" marR="50800" marT="12700" marB="12700" anchor="ctr">
                    <a:solidFill>
                      <a:srgbClr val="F3F3F3"/>
                    </a:solidFill>
                  </a:tcPr>
                </a:tc>
              </a:tr>
              <a:tr h="310896">
                <a:tc>
                  <a:txBody>
                    <a:bodyPr/>
                    <a:lstStyle/>
                    <a:p>
                      <a:pPr algn="l"/>
                      <a:r>
                        <a:rPr sz="850" b="1">
                          <a:solidFill>
                            <a:srgbClr val="1A2A3A"/>
                          </a:solidFill>
                          <a:latin typeface="Arial"/>
                        </a:rPr>
                        <a:t>Total</a:t>
                      </a:r>
                    </a:p>
                  </a:txBody>
                  <a:tcPr marL="50800" marR="50800" marT="12700" marB="12700" anchor="ctr">
                    <a:solidFill>
                      <a:srgbClr val="FFFFFF"/>
                    </a:solidFill>
                  </a:tcPr>
                </a:tc>
                <a:tc>
                  <a:txBody>
                    <a:bodyPr/>
                    <a:lstStyle/>
                    <a:p>
                      <a:pPr algn="r"/>
                      <a:r>
                        <a:rPr sz="850" b="0">
                          <a:solidFill>
                            <a:srgbClr val="1A2A3A"/>
                          </a:solidFill>
                          <a:latin typeface="Arial"/>
                        </a:rPr>
                        <a:t>$78,790</a:t>
                      </a:r>
                    </a:p>
                  </a:txBody>
                  <a:tcPr marL="50800" marR="50800" marT="12700" marB="12700" anchor="ctr">
                    <a:solidFill>
                      <a:srgbClr val="FFFFFF"/>
                    </a:solidFill>
                  </a:tcPr>
                </a:tc>
                <a:tc>
                  <a:txBody>
                    <a:bodyPr/>
                    <a:lstStyle/>
                    <a:p>
                      <a:pPr algn="r"/>
                      <a:r>
                        <a:rPr sz="850" b="0">
                          <a:solidFill>
                            <a:srgbClr val="1A2A3A"/>
                          </a:solidFill>
                          <a:latin typeface="Arial"/>
                        </a:rPr>
                        <a:t>29.75M</a:t>
                      </a:r>
                    </a:p>
                  </a:txBody>
                  <a:tcPr marL="50800" marR="50800" marT="12700" marB="12700" anchor="ctr">
                    <a:solidFill>
                      <a:srgbClr val="FFFFFF"/>
                    </a:solidFill>
                  </a:tcPr>
                </a:tc>
                <a:tc>
                  <a:txBody>
                    <a:bodyPr/>
                    <a:lstStyle/>
                    <a:p>
                      <a:pPr algn="r"/>
                      <a:r>
                        <a:rPr sz="850" b="0">
                          <a:solidFill>
                            <a:srgbClr val="1A2A3A"/>
                          </a:solidFill>
                          <a:latin typeface="Arial"/>
                        </a:rPr>
                        <a:t>169,283</a:t>
                      </a:r>
                    </a:p>
                  </a:txBody>
                  <a:tcPr marL="50800" marR="50800" marT="12700" marB="12700" anchor="ctr">
                    <a:solidFill>
                      <a:srgbClr val="FFFFFF"/>
                    </a:solidFill>
                  </a:tcPr>
                </a:tc>
                <a:tc>
                  <a:txBody>
                    <a:bodyPr/>
                    <a:lstStyle/>
                    <a:p>
                      <a:pPr algn="r"/>
                      <a:r>
                        <a:rPr sz="850" b="0">
                          <a:solidFill>
                            <a:srgbClr val="1A2A3A"/>
                          </a:solidFill>
                          <a:latin typeface="Arial"/>
                        </a:rPr>
                        <a:t>—</a:t>
                      </a:r>
                    </a:p>
                  </a:txBody>
                  <a:tcPr marL="50800" marR="50800" marT="12700" marB="12700" anchor="ctr">
                    <a:solidFill>
                      <a:srgbClr val="FFFFFF"/>
                    </a:solidFill>
                  </a:tcPr>
                </a:tc>
                <a:tc>
                  <a:txBody>
                    <a:bodyPr/>
                    <a:lstStyle/>
                    <a:p>
                      <a:pPr algn="r"/>
                      <a:r>
                        <a:rPr sz="850" b="0">
                          <a:solidFill>
                            <a:srgbClr val="1A2A3A"/>
                          </a:solidFill>
                          <a:latin typeface="Arial"/>
                        </a:rPr>
                        <a:t>—</a:t>
                      </a:r>
                    </a:p>
                  </a:txBody>
                  <a:tcPr marL="50800" marR="50800" marT="12700" marB="12700" anchor="ctr">
                    <a:solidFill>
                      <a:srgbClr val="FFFFFF"/>
                    </a:solidFill>
                  </a:tcPr>
                </a:tc>
              </a:tr>
            </a:tbl>
          </a:graphicData>
        </a:graphic>
      </p:graphicFrame>
      <p:sp>
        <p:nvSpPr>
          <p:cNvPr id="11" name="Rectangle 10"/>
          <p:cNvSpPr/>
          <p:nvPr/>
        </p:nvSpPr>
        <p:spPr>
          <a:xfrm>
            <a:off x="7406640" y="1691640"/>
            <a:ext cx="4297680" cy="21945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06640" y="1691640"/>
            <a:ext cx="429768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19" y="1819656"/>
            <a:ext cx="3931920" cy="274320"/>
          </a:xfrm>
          <a:prstGeom prst="rect">
            <a:avLst/>
          </a:prstGeom>
          <a:noFill/>
        </p:spPr>
        <p:txBody>
          <a:bodyPr wrap="square" anchor="t" lIns="25400" rIns="25400" tIns="12700" bIns="12700">
            <a:spAutoFit/>
          </a:bodyPr>
          <a:lstStyle/>
          <a:p>
            <a:pPr algn="l"/>
            <a:r>
              <a:rPr sz="1000" b="1">
                <a:solidFill>
                  <a:srgbClr val="27AE60"/>
                </a:solidFill>
                <a:latin typeface="Arial"/>
              </a:rPr>
              <a:t>HEADLINES</a:t>
            </a:r>
          </a:p>
        </p:txBody>
      </p:sp>
      <p:sp>
        <p:nvSpPr>
          <p:cNvPr id="14" name="TextBox 13"/>
          <p:cNvSpPr txBox="1"/>
          <p:nvPr/>
        </p:nvSpPr>
        <p:spPr>
          <a:xfrm>
            <a:off x="7589519" y="2148840"/>
            <a:ext cx="3931920" cy="1645919"/>
          </a:xfrm>
          <a:prstGeom prst="rect">
            <a:avLst/>
          </a:prstGeom>
          <a:noFill/>
        </p:spPr>
        <p:txBody>
          <a:bodyPr wrap="square" anchor="t" lIns="25400" rIns="25400" tIns="12700" bIns="12700">
            <a:spAutoFit/>
          </a:bodyPr>
          <a:lstStyle/>
          <a:p>
            <a:pPr algn="l"/>
            <a:r>
              <a:rPr sz="950" b="0">
                <a:solidFill>
                  <a:srgbClr val="32373E"/>
                </a:solidFill>
                <a:latin typeface="Arial"/>
              </a:rPr>
              <a:t>Two channels converted efficiently: Bing drove 33 submitted applications at a $484 CPA, the most efficient in the account, and Azerion produced 37 applications, up 95% on a 167% budget increase.</a:t>
            </a:r>
          </a:p>
        </p:txBody>
      </p:sp>
      <p:sp>
        <p:nvSpPr>
          <p:cNvPr id="15" name="Rectangle 14"/>
          <p:cNvSpPr/>
          <p:nvPr/>
        </p:nvSpPr>
        <p:spPr>
          <a:xfrm>
            <a:off x="457200" y="4114800"/>
            <a:ext cx="6766560" cy="2286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114800"/>
            <a:ext cx="6766560" cy="54864"/>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42816"/>
            <a:ext cx="6400800" cy="274320"/>
          </a:xfrm>
          <a:prstGeom prst="rect">
            <a:avLst/>
          </a:prstGeom>
          <a:noFill/>
        </p:spPr>
        <p:txBody>
          <a:bodyPr wrap="square" anchor="t" lIns="25400" rIns="25400" tIns="12700" bIns="12700">
            <a:spAutoFit/>
          </a:bodyPr>
          <a:lstStyle/>
          <a:p>
            <a:pPr algn="l"/>
            <a:r>
              <a:rPr sz="1000" b="1">
                <a:solidFill>
                  <a:srgbClr val="3B5998"/>
                </a:solidFill>
                <a:latin typeface="Arial"/>
              </a:rPr>
              <a:t>WHAT THE DATA SAYS</a:t>
            </a:r>
          </a:p>
        </p:txBody>
      </p:sp>
      <p:sp>
        <p:nvSpPr>
          <p:cNvPr id="18" name="TextBox 17"/>
          <p:cNvSpPr txBox="1"/>
          <p:nvPr/>
        </p:nvSpPr>
        <p:spPr>
          <a:xfrm>
            <a:off x="640080" y="4572000"/>
            <a:ext cx="6400800" cy="1737360"/>
          </a:xfrm>
          <a:prstGeom prst="rect">
            <a:avLst/>
          </a:prstGeom>
          <a:noFill/>
        </p:spPr>
        <p:txBody>
          <a:bodyPr wrap="square" anchor="t" lIns="25400" rIns="25400" tIns="12700" bIns="12700">
            <a:spAutoFit/>
          </a:bodyPr>
          <a:lstStyle/>
          <a:p>
            <a:pPr algn="l"/>
            <a:r>
              <a:rPr sz="950" b="0">
                <a:solidFill>
                  <a:srgbClr val="32373E"/>
                </a:solidFill>
                <a:latin typeface="Arial"/>
              </a:rPr>
              <a:t>Meta is the exception: 64,264 landing-page views but only 4 applications, a post-click failure on the Mexico landing page. Total spend rose 70% month over month to $78,790, led by Azerion and Quantcast. Bing's conversion tracking is now in place, so its 33 submitted applications at a $484 CPA are visible for the first time.</a:t>
            </a:r>
          </a:p>
        </p:txBody>
      </p:sp>
      <p:sp>
        <p:nvSpPr>
          <p:cNvPr id="19" name="Rectangle 18"/>
          <p:cNvSpPr/>
          <p:nvPr/>
        </p:nvSpPr>
        <p:spPr>
          <a:xfrm>
            <a:off x="7406640" y="4114800"/>
            <a:ext cx="4297680" cy="2286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06640" y="4114800"/>
            <a:ext cx="4297680" cy="5486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19" y="4242816"/>
            <a:ext cx="3931920" cy="274320"/>
          </a:xfrm>
          <a:prstGeom prst="rect">
            <a:avLst/>
          </a:prstGeom>
          <a:noFill/>
        </p:spPr>
        <p:txBody>
          <a:bodyPr wrap="square" anchor="t" lIns="25400" rIns="25400" tIns="12700" bIns="12700">
            <a:spAutoFit/>
          </a:bodyPr>
          <a:lstStyle/>
          <a:p>
            <a:pPr algn="l"/>
            <a:r>
              <a:rPr sz="1000" b="1">
                <a:solidFill>
                  <a:srgbClr val="E74C3C"/>
                </a:solidFill>
                <a:latin typeface="Arial"/>
              </a:rPr>
              <a:t>MAY PRIORITY</a:t>
            </a:r>
          </a:p>
        </p:txBody>
      </p:sp>
      <p:sp>
        <p:nvSpPr>
          <p:cNvPr id="22" name="TextBox 21"/>
          <p:cNvSpPr txBox="1"/>
          <p:nvPr/>
        </p:nvSpPr>
        <p:spPr>
          <a:xfrm>
            <a:off x="7589519" y="4572000"/>
            <a:ext cx="3931920" cy="1737360"/>
          </a:xfrm>
          <a:prstGeom prst="rect">
            <a:avLst/>
          </a:prstGeom>
          <a:noFill/>
        </p:spPr>
        <p:txBody>
          <a:bodyPr wrap="square" anchor="t" lIns="25400" rIns="25400" tIns="12700" bIns="12700">
            <a:spAutoFit/>
          </a:bodyPr>
          <a:lstStyle/>
          <a:p>
            <a:pPr algn="l"/>
            <a:r>
              <a:rPr sz="950" b="0">
                <a:solidFill>
                  <a:srgbClr val="32373E"/>
                </a:solidFill>
                <a:latin typeface="Arial"/>
              </a:rPr>
              <a:t>Scale Bing, the most efficient converter at $484 CPA, on its proven brand and platform terms. Fix the Mexico landing page for Meta and Quantcast.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229600" cy="274320"/>
          </a:xfrm>
          <a:prstGeom prst="rect">
            <a:avLst/>
          </a:prstGeom>
          <a:noFill/>
        </p:spPr>
        <p:txBody>
          <a:bodyPr wrap="square" anchor="ctr" lIns="25400" rIns="25400" tIns="12700" bIns="12700">
            <a:spAutoFit/>
          </a:bodyPr>
          <a:lstStyle/>
          <a:p>
            <a:pPr algn="l"/>
            <a:r>
              <a:rPr sz="900" b="1">
                <a:solidFill>
                  <a:srgbClr val="FFFFFF"/>
                </a:solidFill>
                <a:latin typeface="Arial"/>
              </a:rPr>
              <a:t>FOREX.com  |  GGMI (LATAM)  ·  May 2026</a:t>
            </a:r>
          </a:p>
        </p:txBody>
      </p:sp>
      <p:pic>
        <p:nvPicPr>
          <p:cNvPr id="4" name="Picture 3" descr="img_0_0.5_0.5.png"/>
          <p:cNvPicPr>
            <a:picLocks noChangeAspect="1"/>
          </p:cNvPicPr>
          <p:nvPr/>
        </p:nvPicPr>
        <p:blipFill>
          <a:blip r:embed="rId2"/>
          <a:stretch>
            <a:fillRect/>
          </a:stretch>
        </p:blipFill>
        <p:spPr>
          <a:xfrm>
            <a:off x="11155680" y="109728"/>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25400" rIns="25400" tIns="12700" bIns="12700">
            <a:spAutoFit/>
          </a:bodyPr>
          <a:lstStyle/>
          <a:p>
            <a:pPr algn="l"/>
            <a:r>
              <a:rPr sz="1100" b="1">
                <a:solidFill>
                  <a:srgbClr val="3B5998"/>
                </a:solidFill>
                <a:latin typeface="Arial"/>
              </a:rPr>
              <a:t>BING ADS  ·  PERFORMANCE</a:t>
            </a:r>
          </a:p>
        </p:txBody>
      </p:sp>
      <p:sp>
        <p:nvSpPr>
          <p:cNvPr id="6" name="TextBox 5"/>
          <p:cNvSpPr txBox="1"/>
          <p:nvPr/>
        </p:nvSpPr>
        <p:spPr>
          <a:xfrm>
            <a:off x="457200" y="841248"/>
            <a:ext cx="11247120" cy="731520"/>
          </a:xfrm>
          <a:prstGeom prst="rect">
            <a:avLst/>
          </a:prstGeom>
          <a:noFill/>
        </p:spPr>
        <p:txBody>
          <a:bodyPr wrap="square" anchor="t" lIns="25400" rIns="25400" tIns="12700" bIns="12700">
            <a:spAutoFit/>
          </a:bodyPr>
          <a:lstStyle/>
          <a:p>
            <a:pPr algn="l"/>
            <a:r>
              <a:rPr sz="2000" b="1">
                <a:solidFill>
                  <a:srgbClr val="1A2A3A"/>
                </a:solidFill>
                <a:latin typeface="Arial"/>
              </a:rPr>
              <a:t>Efficient brand capture: 33 submitted applications at $484, the most efficient GGMI converter.</a:t>
            </a:r>
          </a:p>
        </p:txBody>
      </p:sp>
      <p:sp>
        <p:nvSpPr>
          <p:cNvPr id="7" name="Rectangle 6"/>
          <p:cNvSpPr/>
          <p:nvPr/>
        </p:nvSpPr>
        <p:spPr>
          <a:xfrm>
            <a:off x="0" y="6601968"/>
            <a:ext cx="12191695" cy="256032"/>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01968"/>
            <a:ext cx="5486400" cy="228600"/>
          </a:xfrm>
          <a:prstGeom prst="rect">
            <a:avLst/>
          </a:prstGeom>
          <a:noFill/>
        </p:spPr>
        <p:txBody>
          <a:bodyPr wrap="square" anchor="ctr" lIns="25400" rIns="25400" tIns="12700" bIns="12700">
            <a:spAutoFit/>
          </a:bodyPr>
          <a:lstStyle/>
          <a:p>
            <a:pPr algn="l"/>
            <a:r>
              <a:rPr sz="800" b="0">
                <a:solidFill>
                  <a:srgbClr val="78828C"/>
                </a:solidFill>
                <a:latin typeface="Arial"/>
              </a:rPr>
              <a:t>Monthly Performance Review</a:t>
            </a:r>
          </a:p>
        </p:txBody>
      </p:sp>
      <p:sp>
        <p:nvSpPr>
          <p:cNvPr id="9" name="TextBox 8"/>
          <p:cNvSpPr txBox="1"/>
          <p:nvPr/>
        </p:nvSpPr>
        <p:spPr>
          <a:xfrm>
            <a:off x="11155680" y="6601968"/>
            <a:ext cx="731520" cy="228600"/>
          </a:xfrm>
          <a:prstGeom prst="rect">
            <a:avLst/>
          </a:prstGeom>
          <a:noFill/>
        </p:spPr>
        <p:txBody>
          <a:bodyPr wrap="square" anchor="ctr" lIns="25400" rIns="25400" tIns="12700" bIns="12700">
            <a:spAutoFit/>
          </a:bodyPr>
          <a:lstStyle/>
          <a:p>
            <a:pPr algn="r"/>
            <a:r>
              <a:rPr sz="800" b="0">
                <a:solidFill>
                  <a:srgbClr val="78828C"/>
                </a:solidFill>
                <a:latin typeface="Arial"/>
              </a:rPr>
              <a:t>3 / 7</a:t>
            </a:r>
          </a:p>
        </p:txBody>
      </p:sp>
      <p:sp>
        <p:nvSpPr>
          <p:cNvPr id="10" name="Rectangle 9"/>
          <p:cNvSpPr/>
          <p:nvPr/>
        </p:nvSpPr>
        <p:spPr>
          <a:xfrm>
            <a:off x="457200"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SPEND</a:t>
            </a:r>
          </a:p>
        </p:txBody>
      </p:sp>
      <p:sp>
        <p:nvSpPr>
          <p:cNvPr id="13" name="TextBox 12"/>
          <p:cNvSpPr txBox="1"/>
          <p:nvPr/>
        </p:nvSpPr>
        <p:spPr>
          <a:xfrm>
            <a:off x="621792"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$15,972</a:t>
            </a:r>
          </a:p>
        </p:txBody>
      </p:sp>
      <p:sp>
        <p:nvSpPr>
          <p:cNvPr id="14" name="Rectangle 13"/>
          <p:cNvSpPr/>
          <p:nvPr/>
        </p:nvSpPr>
        <p:spPr>
          <a:xfrm>
            <a:off x="2304288"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04288"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IMPRESSIONS</a:t>
            </a:r>
          </a:p>
        </p:txBody>
      </p:sp>
      <p:sp>
        <p:nvSpPr>
          <p:cNvPr id="17" name="TextBox 16"/>
          <p:cNvSpPr txBox="1"/>
          <p:nvPr/>
        </p:nvSpPr>
        <p:spPr>
          <a:xfrm>
            <a:off x="2468880"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368,704</a:t>
            </a:r>
          </a:p>
        </p:txBody>
      </p:sp>
      <p:sp>
        <p:nvSpPr>
          <p:cNvPr id="18" name="Rectangle 17"/>
          <p:cNvSpPr/>
          <p:nvPr/>
        </p:nvSpPr>
        <p:spPr>
          <a:xfrm>
            <a:off x="4151376"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51376"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15968"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CLICKS</a:t>
            </a:r>
          </a:p>
        </p:txBody>
      </p:sp>
      <p:sp>
        <p:nvSpPr>
          <p:cNvPr id="21" name="TextBox 20"/>
          <p:cNvSpPr txBox="1"/>
          <p:nvPr/>
        </p:nvSpPr>
        <p:spPr>
          <a:xfrm>
            <a:off x="4315968"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29,944</a:t>
            </a:r>
          </a:p>
        </p:txBody>
      </p:sp>
      <p:sp>
        <p:nvSpPr>
          <p:cNvPr id="22" name="Rectangle 21"/>
          <p:cNvSpPr/>
          <p:nvPr/>
        </p:nvSpPr>
        <p:spPr>
          <a:xfrm>
            <a:off x="5998464"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98464"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63056"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CTR</a:t>
            </a:r>
          </a:p>
        </p:txBody>
      </p:sp>
      <p:sp>
        <p:nvSpPr>
          <p:cNvPr id="25" name="TextBox 24"/>
          <p:cNvSpPr txBox="1"/>
          <p:nvPr/>
        </p:nvSpPr>
        <p:spPr>
          <a:xfrm>
            <a:off x="6163056"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8.12%</a:t>
            </a:r>
          </a:p>
        </p:txBody>
      </p:sp>
      <p:sp>
        <p:nvSpPr>
          <p:cNvPr id="26" name="Rectangle 25"/>
          <p:cNvSpPr/>
          <p:nvPr/>
        </p:nvSpPr>
        <p:spPr>
          <a:xfrm>
            <a:off x="7845552"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45552"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0144"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AVG CPC</a:t>
            </a:r>
          </a:p>
        </p:txBody>
      </p:sp>
      <p:sp>
        <p:nvSpPr>
          <p:cNvPr id="29" name="TextBox 28"/>
          <p:cNvSpPr txBox="1"/>
          <p:nvPr/>
        </p:nvSpPr>
        <p:spPr>
          <a:xfrm>
            <a:off x="8010144"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$0.53</a:t>
            </a:r>
          </a:p>
        </p:txBody>
      </p:sp>
      <p:sp>
        <p:nvSpPr>
          <p:cNvPr id="30" name="Rectangle 29"/>
          <p:cNvSpPr/>
          <p:nvPr/>
        </p:nvSpPr>
        <p:spPr>
          <a:xfrm>
            <a:off x="9692640" y="1691640"/>
            <a:ext cx="1737360" cy="10515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692640" y="1691640"/>
            <a:ext cx="64008" cy="105156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57232"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SUBMITTED APPS</a:t>
            </a:r>
          </a:p>
        </p:txBody>
      </p:sp>
      <p:sp>
        <p:nvSpPr>
          <p:cNvPr id="33" name="TextBox 32"/>
          <p:cNvSpPr txBox="1"/>
          <p:nvPr/>
        </p:nvSpPr>
        <p:spPr>
          <a:xfrm>
            <a:off x="9857232"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33</a:t>
            </a:r>
          </a:p>
        </p:txBody>
      </p:sp>
      <p:sp>
        <p:nvSpPr>
          <p:cNvPr id="34" name="TextBox 33"/>
          <p:cNvSpPr txBox="1"/>
          <p:nvPr/>
        </p:nvSpPr>
        <p:spPr>
          <a:xfrm>
            <a:off x="9857232" y="2441448"/>
            <a:ext cx="1508760" cy="228600"/>
          </a:xfrm>
          <a:prstGeom prst="rect">
            <a:avLst/>
          </a:prstGeom>
          <a:noFill/>
        </p:spPr>
        <p:txBody>
          <a:bodyPr wrap="square" anchor="t" lIns="25400" rIns="25400" tIns="12700" bIns="12700">
            <a:spAutoFit/>
          </a:bodyPr>
          <a:lstStyle/>
          <a:p>
            <a:pPr algn="l"/>
            <a:r>
              <a:rPr sz="800" b="0">
                <a:solidFill>
                  <a:srgbClr val="5A5A5A"/>
                </a:solidFill>
                <a:latin typeface="Arial"/>
              </a:rPr>
              <a:t>$484 CPA</a:t>
            </a:r>
          </a:p>
        </p:txBody>
      </p:sp>
      <p:sp>
        <p:nvSpPr>
          <p:cNvPr id="35" name="TextBox 34"/>
          <p:cNvSpPr txBox="1"/>
          <p:nvPr/>
        </p:nvSpPr>
        <p:spPr>
          <a:xfrm>
            <a:off x="457200" y="2926080"/>
            <a:ext cx="6400800" cy="274320"/>
          </a:xfrm>
          <a:prstGeom prst="rect">
            <a:avLst/>
          </a:prstGeom>
          <a:noFill/>
        </p:spPr>
        <p:txBody>
          <a:bodyPr wrap="square" anchor="t" lIns="25400" rIns="25400" tIns="12700" bIns="12700">
            <a:spAutoFit/>
          </a:bodyPr>
          <a:lstStyle/>
          <a:p>
            <a:pPr algn="l"/>
            <a:r>
              <a:rPr sz="1100" b="1">
                <a:solidFill>
                  <a:srgbClr val="1A2A3A"/>
                </a:solidFill>
                <a:latin typeface="Arial"/>
              </a:rPr>
              <a:t>Ad Groups</a:t>
            </a:r>
          </a:p>
        </p:txBody>
      </p:sp>
      <p:graphicFrame>
        <p:nvGraphicFramePr>
          <p:cNvPr id="36" name="Table 35"/>
          <p:cNvGraphicFramePr>
            <a:graphicFrameLocks noGrp="1"/>
          </p:cNvGraphicFramePr>
          <p:nvPr/>
        </p:nvGraphicFramePr>
        <p:xfrm>
          <a:off x="457200" y="3246120"/>
          <a:ext cx="6949437" cy="1865376"/>
        </p:xfrm>
        <a:graphic>
          <a:graphicData uri="http://schemas.openxmlformats.org/drawingml/2006/table">
            <a:tbl>
              <a:tblPr>
                <a:tableStyleId>{5C22544A-7EE6-4342-B048-85BDC9FD1C3A}</a:tableStyleId>
              </a:tblPr>
              <a:tblGrid>
                <a:gridCol w="2105890"/>
                <a:gridCol w="947650"/>
                <a:gridCol w="737061"/>
                <a:gridCol w="3158836"/>
              </a:tblGrid>
              <a:tr h="310896">
                <a:tc>
                  <a:txBody>
                    <a:bodyPr/>
                    <a:lstStyle/>
                    <a:p>
                      <a:pPr algn="l"/>
                      <a:r>
                        <a:rPr sz="850" b="1">
                          <a:solidFill>
                            <a:srgbClr val="FFFFFF"/>
                          </a:solidFill>
                          <a:latin typeface="Arial"/>
                        </a:rPr>
                        <a:t>Ad Group</a:t>
                      </a:r>
                    </a:p>
                  </a:txBody>
                  <a:tcPr marL="50800" marR="50800" marT="12700" marB="12700" anchor="ctr">
                    <a:solidFill>
                      <a:srgbClr val="3B5998"/>
                    </a:solidFill>
                  </a:tcPr>
                </a:tc>
                <a:tc>
                  <a:txBody>
                    <a:bodyPr/>
                    <a:lstStyle/>
                    <a:p>
                      <a:pPr algn="r"/>
                      <a:r>
                        <a:rPr sz="850" b="1">
                          <a:solidFill>
                            <a:srgbClr val="FFFFFF"/>
                          </a:solidFill>
                          <a:latin typeface="Arial"/>
                        </a:rPr>
                        <a:t>Spend</a:t>
                      </a:r>
                    </a:p>
                  </a:txBody>
                  <a:tcPr marL="50800" marR="50800" marT="12700" marB="12700" anchor="ctr">
                    <a:solidFill>
                      <a:srgbClr val="3B5998"/>
                    </a:solidFill>
                  </a:tcPr>
                </a:tc>
                <a:tc>
                  <a:txBody>
                    <a:bodyPr/>
                    <a:lstStyle/>
                    <a:p>
                      <a:pPr algn="r"/>
                      <a:r>
                        <a:rPr sz="850" b="1">
                          <a:solidFill>
                            <a:srgbClr val="FFFFFF"/>
                          </a:solidFill>
                          <a:latin typeface="Arial"/>
                        </a:rPr>
                        <a:t>Share</a:t>
                      </a:r>
                    </a:p>
                  </a:txBody>
                  <a:tcPr marL="50800" marR="50800" marT="12700" marB="12700" anchor="ctr">
                    <a:solidFill>
                      <a:srgbClr val="3B5998"/>
                    </a:solidFill>
                  </a:tcPr>
                </a:tc>
                <a:tc>
                  <a:txBody>
                    <a:bodyPr/>
                    <a:lstStyle/>
                    <a:p>
                      <a:pPr algn="r"/>
                      <a:r>
                        <a:rPr sz="850" b="1">
                          <a:solidFill>
                            <a:srgbClr val="FFFFFF"/>
                          </a:solidFill>
                          <a:latin typeface="Arial"/>
                        </a:rPr>
                        <a:t>Top Keyword (QS)</a:t>
                      </a:r>
                    </a:p>
                  </a:txBody>
                  <a:tcPr marL="50800" marR="50800" marT="12700" marB="12700" anchor="ctr">
                    <a:solidFill>
                      <a:srgbClr val="3B5998"/>
                    </a:solidFill>
                  </a:tcPr>
                </a:tc>
              </a:tr>
              <a:tr h="310896">
                <a:tc>
                  <a:txBody>
                    <a:bodyPr/>
                    <a:lstStyle/>
                    <a:p>
                      <a:pPr algn="l"/>
                      <a:r>
                        <a:rPr sz="850" b="1">
                          <a:solidFill>
                            <a:srgbClr val="1A2A3A"/>
                          </a:solidFill>
                          <a:latin typeface="Arial"/>
                        </a:rPr>
                        <a:t>Brand_Discovery_EXA</a:t>
                      </a:r>
                    </a:p>
                  </a:txBody>
                  <a:tcPr marL="50800" marR="50800" marT="12700" marB="12700" anchor="ctr">
                    <a:solidFill>
                      <a:srgbClr val="FFFFFF"/>
                    </a:solidFill>
                  </a:tcPr>
                </a:tc>
                <a:tc>
                  <a:txBody>
                    <a:bodyPr/>
                    <a:lstStyle/>
                    <a:p>
                      <a:pPr algn="r"/>
                      <a:r>
                        <a:rPr sz="850" b="0">
                          <a:solidFill>
                            <a:srgbClr val="1A2A3A"/>
                          </a:solidFill>
                          <a:latin typeface="Arial"/>
                        </a:rPr>
                        <a:t>$6,884</a:t>
                      </a:r>
                    </a:p>
                  </a:txBody>
                  <a:tcPr marL="50800" marR="50800" marT="12700" marB="12700" anchor="ctr">
                    <a:solidFill>
                      <a:srgbClr val="FFFFFF"/>
                    </a:solidFill>
                  </a:tcPr>
                </a:tc>
                <a:tc>
                  <a:txBody>
                    <a:bodyPr/>
                    <a:lstStyle/>
                    <a:p>
                      <a:pPr algn="r"/>
                      <a:r>
                        <a:rPr sz="850" b="0">
                          <a:solidFill>
                            <a:srgbClr val="1A2A3A"/>
                          </a:solidFill>
                          <a:latin typeface="Arial"/>
                        </a:rPr>
                        <a:t>43%</a:t>
                      </a:r>
                    </a:p>
                  </a:txBody>
                  <a:tcPr marL="50800" marR="50800" marT="12700" marB="12700" anchor="ctr">
                    <a:solidFill>
                      <a:srgbClr val="FFFFFF"/>
                    </a:solidFill>
                  </a:tcPr>
                </a:tc>
                <a:tc>
                  <a:txBody>
                    <a:bodyPr/>
                    <a:lstStyle/>
                    <a:p>
                      <a:pPr algn="r"/>
                      <a:r>
                        <a:rPr sz="850" b="0">
                          <a:solidFill>
                            <a:srgbClr val="1A2A3A"/>
                          </a:solidFill>
                          <a:latin typeface="Arial"/>
                        </a:rPr>
                        <a:t>trading online 12.29% CTR (QS8)</a:t>
                      </a:r>
                    </a:p>
                  </a:txBody>
                  <a:tcPr marL="50800" marR="50800" marT="12700" marB="12700" anchor="ctr">
                    <a:solidFill>
                      <a:srgbClr val="FFFFFF"/>
                    </a:solidFill>
                  </a:tcPr>
                </a:tc>
              </a:tr>
              <a:tr h="310896">
                <a:tc>
                  <a:txBody>
                    <a:bodyPr/>
                    <a:lstStyle/>
                    <a:p>
                      <a:pPr algn="l"/>
                      <a:r>
                        <a:rPr sz="850" b="1">
                          <a:solidFill>
                            <a:srgbClr val="1A2A3A"/>
                          </a:solidFill>
                          <a:latin typeface="Arial"/>
                        </a:rPr>
                        <a:t>Brand_Platform_MT_EXA</a:t>
                      </a:r>
                    </a:p>
                  </a:txBody>
                  <a:tcPr marL="50800" marR="50800" marT="12700" marB="12700" anchor="ctr">
                    <a:solidFill>
                      <a:srgbClr val="F3F3F3"/>
                    </a:solidFill>
                  </a:tcPr>
                </a:tc>
                <a:tc>
                  <a:txBody>
                    <a:bodyPr/>
                    <a:lstStyle/>
                    <a:p>
                      <a:pPr algn="r"/>
                      <a:r>
                        <a:rPr sz="850" b="0">
                          <a:solidFill>
                            <a:srgbClr val="1A2A3A"/>
                          </a:solidFill>
                          <a:latin typeface="Arial"/>
                        </a:rPr>
                        <a:t>$4,635</a:t>
                      </a:r>
                    </a:p>
                  </a:txBody>
                  <a:tcPr marL="50800" marR="50800" marT="12700" marB="12700" anchor="ctr">
                    <a:solidFill>
                      <a:srgbClr val="F3F3F3"/>
                    </a:solidFill>
                  </a:tcPr>
                </a:tc>
                <a:tc>
                  <a:txBody>
                    <a:bodyPr/>
                    <a:lstStyle/>
                    <a:p>
                      <a:pPr algn="r"/>
                      <a:r>
                        <a:rPr sz="850" b="0">
                          <a:solidFill>
                            <a:srgbClr val="1A2A3A"/>
                          </a:solidFill>
                          <a:latin typeface="Arial"/>
                        </a:rPr>
                        <a:t>29%</a:t>
                      </a:r>
                    </a:p>
                  </a:txBody>
                  <a:tcPr marL="50800" marR="50800" marT="12700" marB="12700" anchor="ctr">
                    <a:solidFill>
                      <a:srgbClr val="F3F3F3"/>
                    </a:solidFill>
                  </a:tcPr>
                </a:tc>
                <a:tc>
                  <a:txBody>
                    <a:bodyPr/>
                    <a:lstStyle/>
                    <a:p>
                      <a:pPr algn="r"/>
                      <a:r>
                        <a:rPr sz="850" b="0">
                          <a:solidFill>
                            <a:srgbClr val="1A2A3A"/>
                          </a:solidFill>
                          <a:latin typeface="Arial"/>
                        </a:rPr>
                        <a:t>plataforma metatrader $0.31 (QS10)</a:t>
                      </a:r>
                    </a:p>
                  </a:txBody>
                  <a:tcPr marL="50800" marR="50800" marT="12700" marB="12700" anchor="ctr">
                    <a:solidFill>
                      <a:srgbClr val="F3F3F3"/>
                    </a:solidFill>
                  </a:tcPr>
                </a:tc>
              </a:tr>
              <a:tr h="310896">
                <a:tc>
                  <a:txBody>
                    <a:bodyPr/>
                    <a:lstStyle/>
                    <a:p>
                      <a:pPr algn="l"/>
                      <a:r>
                        <a:rPr sz="850" b="1">
                          <a:solidFill>
                            <a:srgbClr val="1A2A3A"/>
                          </a:solidFill>
                          <a:latin typeface="Arial"/>
                        </a:rPr>
                        <a:t>TV_Catch_Phrase</a:t>
                      </a:r>
                    </a:p>
                  </a:txBody>
                  <a:tcPr marL="50800" marR="50800" marT="12700" marB="12700" anchor="ctr">
                    <a:solidFill>
                      <a:srgbClr val="FFFFFF"/>
                    </a:solidFill>
                  </a:tcPr>
                </a:tc>
                <a:tc>
                  <a:txBody>
                    <a:bodyPr/>
                    <a:lstStyle/>
                    <a:p>
                      <a:pPr algn="r"/>
                      <a:r>
                        <a:rPr sz="850" b="0">
                          <a:solidFill>
                            <a:srgbClr val="1A2A3A"/>
                          </a:solidFill>
                          <a:latin typeface="Arial"/>
                        </a:rPr>
                        <a:t>$2,526</a:t>
                      </a:r>
                    </a:p>
                  </a:txBody>
                  <a:tcPr marL="50800" marR="50800" marT="12700" marB="12700" anchor="ctr">
                    <a:solidFill>
                      <a:srgbClr val="FFFFFF"/>
                    </a:solidFill>
                  </a:tcPr>
                </a:tc>
                <a:tc>
                  <a:txBody>
                    <a:bodyPr/>
                    <a:lstStyle/>
                    <a:p>
                      <a:pPr algn="r"/>
                      <a:r>
                        <a:rPr sz="850" b="0">
                          <a:solidFill>
                            <a:srgbClr val="1A2A3A"/>
                          </a:solidFill>
                          <a:latin typeface="Arial"/>
                        </a:rPr>
                        <a:t>16%</a:t>
                      </a:r>
                    </a:p>
                  </a:txBody>
                  <a:tcPr marL="50800" marR="50800" marT="12700" marB="12700" anchor="ctr">
                    <a:solidFill>
                      <a:srgbClr val="FFFFFF"/>
                    </a:solidFill>
                  </a:tcPr>
                </a:tc>
                <a:tc>
                  <a:txBody>
                    <a:bodyPr/>
                    <a:lstStyle/>
                    <a:p>
                      <a:pPr algn="r"/>
                      <a:r>
                        <a:rPr sz="850" b="0">
                          <a:solidFill>
                            <a:srgbClr val="1A2A3A"/>
                          </a:solidFill>
                          <a:latin typeface="Arial"/>
                        </a:rPr>
                        <a:t>tradingview $2.34 CPC (QS8)</a:t>
                      </a:r>
                    </a:p>
                  </a:txBody>
                  <a:tcPr marL="50800" marR="50800" marT="12700" marB="12700" anchor="ctr">
                    <a:solidFill>
                      <a:srgbClr val="FFFFFF"/>
                    </a:solidFill>
                  </a:tcPr>
                </a:tc>
              </a:tr>
              <a:tr h="310896">
                <a:tc>
                  <a:txBody>
                    <a:bodyPr/>
                    <a:lstStyle/>
                    <a:p>
                      <a:pPr algn="l"/>
                      <a:r>
                        <a:rPr sz="850" b="1">
                          <a:solidFill>
                            <a:srgbClr val="1A2A3A"/>
                          </a:solidFill>
                          <a:latin typeface="Arial"/>
                        </a:rPr>
                        <a:t>TV_Core_Exact</a:t>
                      </a:r>
                    </a:p>
                  </a:txBody>
                  <a:tcPr marL="50800" marR="50800" marT="12700" marB="12700" anchor="ctr">
                    <a:solidFill>
                      <a:srgbClr val="F3F3F3"/>
                    </a:solidFill>
                  </a:tcPr>
                </a:tc>
                <a:tc>
                  <a:txBody>
                    <a:bodyPr/>
                    <a:lstStyle/>
                    <a:p>
                      <a:pPr algn="r"/>
                      <a:r>
                        <a:rPr sz="850" b="0">
                          <a:solidFill>
                            <a:srgbClr val="1A2A3A"/>
                          </a:solidFill>
                          <a:latin typeface="Arial"/>
                        </a:rPr>
                        <a:t>$1,353</a:t>
                      </a:r>
                    </a:p>
                  </a:txBody>
                  <a:tcPr marL="50800" marR="50800" marT="12700" marB="12700" anchor="ctr">
                    <a:solidFill>
                      <a:srgbClr val="F3F3F3"/>
                    </a:solidFill>
                  </a:tcPr>
                </a:tc>
                <a:tc>
                  <a:txBody>
                    <a:bodyPr/>
                    <a:lstStyle/>
                    <a:p>
                      <a:pPr algn="r"/>
                      <a:r>
                        <a:rPr sz="850" b="0">
                          <a:solidFill>
                            <a:srgbClr val="1A2A3A"/>
                          </a:solidFill>
                          <a:latin typeface="Arial"/>
                        </a:rPr>
                        <a:t>8%</a:t>
                      </a:r>
                    </a:p>
                  </a:txBody>
                  <a:tcPr marL="50800" marR="50800" marT="12700" marB="12700" anchor="ctr">
                    <a:solidFill>
                      <a:srgbClr val="F3F3F3"/>
                    </a:solidFill>
                  </a:tcPr>
                </a:tc>
                <a:tc>
                  <a:txBody>
                    <a:bodyPr/>
                    <a:lstStyle/>
                    <a:p>
                      <a:pPr algn="r"/>
                      <a:r>
                        <a:rPr sz="850" b="0">
                          <a:solidFill>
                            <a:srgbClr val="1A2A3A"/>
                          </a:solidFill>
                          <a:latin typeface="Arial"/>
                        </a:rPr>
                        <a:t>tradingview signals $4.99 (QS7)</a:t>
                      </a:r>
                    </a:p>
                  </a:txBody>
                  <a:tcPr marL="50800" marR="50800" marT="12700" marB="12700" anchor="ctr">
                    <a:solidFill>
                      <a:srgbClr val="F3F3F3"/>
                    </a:solidFill>
                  </a:tcPr>
                </a:tc>
              </a:tr>
              <a:tr h="310896">
                <a:tc>
                  <a:txBody>
                    <a:bodyPr/>
                    <a:lstStyle/>
                    <a:p>
                      <a:pPr algn="l"/>
                      <a:r>
                        <a:rPr sz="850" b="1">
                          <a:solidFill>
                            <a:srgbClr val="1A2A3A"/>
                          </a:solidFill>
                          <a:latin typeface="Arial"/>
                        </a:rPr>
                        <a:t>Brand_Mexico / Trading</a:t>
                      </a:r>
                    </a:p>
                  </a:txBody>
                  <a:tcPr marL="50800" marR="50800" marT="12700" marB="12700" anchor="ctr">
                    <a:solidFill>
                      <a:srgbClr val="FFFFFF"/>
                    </a:solidFill>
                  </a:tcPr>
                </a:tc>
                <a:tc>
                  <a:txBody>
                    <a:bodyPr/>
                    <a:lstStyle/>
                    <a:p>
                      <a:pPr algn="r"/>
                      <a:r>
                        <a:rPr sz="850" b="0">
                          <a:solidFill>
                            <a:srgbClr val="1A2A3A"/>
                          </a:solidFill>
                          <a:latin typeface="Arial"/>
                        </a:rPr>
                        <a:t>$570</a:t>
                      </a:r>
                    </a:p>
                  </a:txBody>
                  <a:tcPr marL="50800" marR="50800" marT="12700" marB="12700" anchor="ctr">
                    <a:solidFill>
                      <a:srgbClr val="FFFFFF"/>
                    </a:solidFill>
                  </a:tcPr>
                </a:tc>
                <a:tc>
                  <a:txBody>
                    <a:bodyPr/>
                    <a:lstStyle/>
                    <a:p>
                      <a:pPr algn="r"/>
                      <a:r>
                        <a:rPr sz="850" b="0">
                          <a:solidFill>
                            <a:srgbClr val="1A2A3A"/>
                          </a:solidFill>
                          <a:latin typeface="Arial"/>
                        </a:rPr>
                        <a:t>3%</a:t>
                      </a:r>
                    </a:p>
                  </a:txBody>
                  <a:tcPr marL="50800" marR="50800" marT="12700" marB="12700" anchor="ctr">
                    <a:solidFill>
                      <a:srgbClr val="FFFFFF"/>
                    </a:solidFill>
                  </a:tcPr>
                </a:tc>
                <a:tc>
                  <a:txBody>
                    <a:bodyPr/>
                    <a:lstStyle/>
                    <a:p>
                      <a:pPr algn="r"/>
                      <a:r>
                        <a:rPr sz="850" b="0">
                          <a:solidFill>
                            <a:srgbClr val="1A2A3A"/>
                          </a:solidFill>
                          <a:latin typeface="Arial"/>
                        </a:rPr>
                        <a:t>forex.com 41.67% CTR (QS10)</a:t>
                      </a:r>
                    </a:p>
                  </a:txBody>
                  <a:tcPr marL="50800" marR="50800" marT="12700" marB="12700" anchor="ctr">
                    <a:solidFill>
                      <a:srgbClr val="FFFFFF"/>
                    </a:solidFill>
                  </a:tcPr>
                </a:tc>
              </a:tr>
            </a:tbl>
          </a:graphicData>
        </a:graphic>
      </p:graphicFrame>
      <p:sp>
        <p:nvSpPr>
          <p:cNvPr id="37" name="Rectangle 36"/>
          <p:cNvSpPr/>
          <p:nvPr/>
        </p:nvSpPr>
        <p:spPr>
          <a:xfrm>
            <a:off x="7680960" y="1691640"/>
            <a:ext cx="4023360" cy="4572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680960" y="1691640"/>
            <a:ext cx="4023360" cy="54864"/>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1819656"/>
            <a:ext cx="3657600" cy="274320"/>
          </a:xfrm>
          <a:prstGeom prst="rect">
            <a:avLst/>
          </a:prstGeom>
          <a:noFill/>
        </p:spPr>
        <p:txBody>
          <a:bodyPr wrap="square" anchor="t" lIns="25400" rIns="25400" tIns="12700" bIns="12700">
            <a:spAutoFit/>
          </a:bodyPr>
          <a:lstStyle/>
          <a:p>
            <a:pPr algn="l"/>
            <a:r>
              <a:rPr sz="1000" b="1">
                <a:solidFill>
                  <a:srgbClr val="3B5998"/>
                </a:solidFill>
                <a:latin typeface="Arial"/>
              </a:rPr>
              <a:t>READ &amp; TRACKING</a:t>
            </a:r>
          </a:p>
        </p:txBody>
      </p:sp>
      <p:sp>
        <p:nvSpPr>
          <p:cNvPr id="40" name="TextBox 39"/>
          <p:cNvSpPr txBox="1"/>
          <p:nvPr/>
        </p:nvSpPr>
        <p:spPr>
          <a:xfrm>
            <a:off x="7863840" y="2148840"/>
            <a:ext cx="3657600" cy="4023360"/>
          </a:xfrm>
          <a:prstGeom prst="rect">
            <a:avLst/>
          </a:prstGeom>
          <a:noFill/>
        </p:spPr>
        <p:txBody>
          <a:bodyPr wrap="square" anchor="t" lIns="25400" rIns="25400" tIns="12700" bIns="12700">
            <a:spAutoFit/>
          </a:bodyPr>
          <a:lstStyle/>
          <a:p>
            <a:pPr algn="l"/>
            <a:r>
              <a:rPr sz="950" b="0">
                <a:solidFill>
                  <a:srgbClr val="32373E"/>
                </a:solidFill>
                <a:latin typeface="Arial"/>
              </a:rPr>
              <a:t>Brand and brand-adjacent terms drive cheap volume: plataforma metatrader (QS10, $0.31 CPC) and trading online (12.29% CTR).</a:t>
            </a:r>
          </a:p>
          <a:p>
            <a:pPr algn="l"/>
            <a:r>
              <a:rPr sz="950" b="0">
                <a:solidFill>
                  <a:srgbClr val="32373E"/>
                </a:solidFill>
                <a:latin typeface="Arial"/>
              </a:rPr>
              <a:t/>
            </a:r>
          </a:p>
          <a:p>
            <a:pPr algn="l"/>
            <a:r>
              <a:rPr sz="950" b="0">
                <a:solidFill>
                  <a:srgbClr val="32373E"/>
                </a:solidFill>
                <a:latin typeface="Arial"/>
              </a:rPr>
              <a:t>A new TradingView keyword theme (about 24% of spend at $2.34 to $4.99 CPC) is unproven and pulled CTR down (11.66% to 8.12%) and CPC up ($0.46 to $0.53).</a:t>
            </a:r>
          </a:p>
          <a:p>
            <a:pPr algn="l"/>
            <a:r>
              <a:rPr sz="950" b="0">
                <a:solidFill>
                  <a:srgbClr val="32373E"/>
                </a:solidFill>
                <a:latin typeface="Arial"/>
              </a:rPr>
              <a:t/>
            </a:r>
          </a:p>
          <a:p>
            <a:pPr algn="l"/>
            <a:r>
              <a:rPr sz="950" b="0">
                <a:solidFill>
                  <a:srgbClr val="32373E"/>
                </a:solidFill>
                <a:latin typeface="Arial"/>
              </a:rPr>
              <a:t>We put Bing's conversion tracking in place this quarter. Now that the application and confirmation events are tracked, May is the first month we can see Bing's full funnel, from application starts through to 33 submitted applications at a $484 CPA. Earlier months captured little of it. Bing is the most efficient converter in GGMI, so lean into the proven brand and platform terms.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229600" cy="274320"/>
          </a:xfrm>
          <a:prstGeom prst="rect">
            <a:avLst/>
          </a:prstGeom>
          <a:noFill/>
        </p:spPr>
        <p:txBody>
          <a:bodyPr wrap="square" anchor="ctr" lIns="25400" rIns="25400" tIns="12700" bIns="12700">
            <a:spAutoFit/>
          </a:bodyPr>
          <a:lstStyle/>
          <a:p>
            <a:pPr algn="l"/>
            <a:r>
              <a:rPr sz="900" b="1">
                <a:solidFill>
                  <a:srgbClr val="FFFFFF"/>
                </a:solidFill>
                <a:latin typeface="Arial"/>
              </a:rPr>
              <a:t>FOREX.com  |  GGMI (LATAM)  ·  May 2026</a:t>
            </a:r>
          </a:p>
        </p:txBody>
      </p:sp>
      <p:pic>
        <p:nvPicPr>
          <p:cNvPr id="4" name="Picture 3" descr="img_0_0.5_0.5.png"/>
          <p:cNvPicPr>
            <a:picLocks noChangeAspect="1"/>
          </p:cNvPicPr>
          <p:nvPr/>
        </p:nvPicPr>
        <p:blipFill>
          <a:blip r:embed="rId2"/>
          <a:stretch>
            <a:fillRect/>
          </a:stretch>
        </p:blipFill>
        <p:spPr>
          <a:xfrm>
            <a:off x="11155680" y="109728"/>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25400" rIns="25400" tIns="12700" bIns="12700">
            <a:spAutoFit/>
          </a:bodyPr>
          <a:lstStyle/>
          <a:p>
            <a:pPr algn="l"/>
            <a:r>
              <a:rPr sz="1100" b="1">
                <a:solidFill>
                  <a:srgbClr val="3B5998"/>
                </a:solidFill>
                <a:latin typeface="Arial"/>
              </a:rPr>
              <a:t>META  ·  PERFORMANCE</a:t>
            </a:r>
          </a:p>
        </p:txBody>
      </p:sp>
      <p:sp>
        <p:nvSpPr>
          <p:cNvPr id="6" name="TextBox 5"/>
          <p:cNvSpPr txBox="1"/>
          <p:nvPr/>
        </p:nvSpPr>
        <p:spPr>
          <a:xfrm>
            <a:off x="457200" y="841248"/>
            <a:ext cx="11247120" cy="731520"/>
          </a:xfrm>
          <a:prstGeom prst="rect">
            <a:avLst/>
          </a:prstGeom>
          <a:noFill/>
        </p:spPr>
        <p:txBody>
          <a:bodyPr wrap="square" anchor="t" lIns="25400" rIns="25400" tIns="12700" bIns="12700">
            <a:spAutoFit/>
          </a:bodyPr>
          <a:lstStyle/>
          <a:p>
            <a:pPr algn="l"/>
            <a:r>
              <a:rPr sz="2000" b="1">
                <a:solidFill>
                  <a:srgbClr val="1A2A3A"/>
                </a:solidFill>
                <a:latin typeface="Arial"/>
              </a:rPr>
              <a:t>64,264 landing-page views, 4 applications. Funnel, not media.</a:t>
            </a:r>
          </a:p>
        </p:txBody>
      </p:sp>
      <p:sp>
        <p:nvSpPr>
          <p:cNvPr id="7" name="Rectangle 6"/>
          <p:cNvSpPr/>
          <p:nvPr/>
        </p:nvSpPr>
        <p:spPr>
          <a:xfrm>
            <a:off x="0" y="6601968"/>
            <a:ext cx="12191695" cy="256032"/>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01968"/>
            <a:ext cx="5486400" cy="228600"/>
          </a:xfrm>
          <a:prstGeom prst="rect">
            <a:avLst/>
          </a:prstGeom>
          <a:noFill/>
        </p:spPr>
        <p:txBody>
          <a:bodyPr wrap="square" anchor="ctr" lIns="25400" rIns="25400" tIns="12700" bIns="12700">
            <a:spAutoFit/>
          </a:bodyPr>
          <a:lstStyle/>
          <a:p>
            <a:pPr algn="l"/>
            <a:r>
              <a:rPr sz="800" b="0">
                <a:solidFill>
                  <a:srgbClr val="78828C"/>
                </a:solidFill>
                <a:latin typeface="Arial"/>
              </a:rPr>
              <a:t>Monthly Performance Review</a:t>
            </a:r>
          </a:p>
        </p:txBody>
      </p:sp>
      <p:sp>
        <p:nvSpPr>
          <p:cNvPr id="9" name="TextBox 8"/>
          <p:cNvSpPr txBox="1"/>
          <p:nvPr/>
        </p:nvSpPr>
        <p:spPr>
          <a:xfrm>
            <a:off x="11155680" y="6601968"/>
            <a:ext cx="731520" cy="228600"/>
          </a:xfrm>
          <a:prstGeom prst="rect">
            <a:avLst/>
          </a:prstGeom>
          <a:noFill/>
        </p:spPr>
        <p:txBody>
          <a:bodyPr wrap="square" anchor="ctr" lIns="25400" rIns="25400" tIns="12700" bIns="12700">
            <a:spAutoFit/>
          </a:bodyPr>
          <a:lstStyle/>
          <a:p>
            <a:pPr algn="r"/>
            <a:r>
              <a:rPr sz="800" b="0">
                <a:solidFill>
                  <a:srgbClr val="78828C"/>
                </a:solidFill>
                <a:latin typeface="Arial"/>
              </a:rPr>
              <a:t>4 / 7</a:t>
            </a:r>
          </a:p>
        </p:txBody>
      </p:sp>
      <p:sp>
        <p:nvSpPr>
          <p:cNvPr id="10" name="Rectangle 9"/>
          <p:cNvSpPr/>
          <p:nvPr/>
        </p:nvSpPr>
        <p:spPr>
          <a:xfrm>
            <a:off x="457200"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SPEND</a:t>
            </a:r>
          </a:p>
        </p:txBody>
      </p:sp>
      <p:sp>
        <p:nvSpPr>
          <p:cNvPr id="13" name="TextBox 12"/>
          <p:cNvSpPr txBox="1"/>
          <p:nvPr/>
        </p:nvSpPr>
        <p:spPr>
          <a:xfrm>
            <a:off x="621792"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$6,626</a:t>
            </a:r>
          </a:p>
        </p:txBody>
      </p:sp>
      <p:sp>
        <p:nvSpPr>
          <p:cNvPr id="14" name="Rectangle 13"/>
          <p:cNvSpPr/>
          <p:nvPr/>
        </p:nvSpPr>
        <p:spPr>
          <a:xfrm>
            <a:off x="2304288"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04288"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IMPRESSIONS</a:t>
            </a:r>
          </a:p>
        </p:txBody>
      </p:sp>
      <p:sp>
        <p:nvSpPr>
          <p:cNvPr id="17" name="TextBox 16"/>
          <p:cNvSpPr txBox="1"/>
          <p:nvPr/>
        </p:nvSpPr>
        <p:spPr>
          <a:xfrm>
            <a:off x="2468880"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6.84M</a:t>
            </a:r>
          </a:p>
        </p:txBody>
      </p:sp>
      <p:sp>
        <p:nvSpPr>
          <p:cNvPr id="18" name="Rectangle 17"/>
          <p:cNvSpPr/>
          <p:nvPr/>
        </p:nvSpPr>
        <p:spPr>
          <a:xfrm>
            <a:off x="4151376"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51376"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15968"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LINK CLICKS</a:t>
            </a:r>
          </a:p>
        </p:txBody>
      </p:sp>
      <p:sp>
        <p:nvSpPr>
          <p:cNvPr id="21" name="TextBox 20"/>
          <p:cNvSpPr txBox="1"/>
          <p:nvPr/>
        </p:nvSpPr>
        <p:spPr>
          <a:xfrm>
            <a:off x="4315968"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128,231</a:t>
            </a:r>
          </a:p>
        </p:txBody>
      </p:sp>
      <p:sp>
        <p:nvSpPr>
          <p:cNvPr id="22" name="Rectangle 21"/>
          <p:cNvSpPr/>
          <p:nvPr/>
        </p:nvSpPr>
        <p:spPr>
          <a:xfrm>
            <a:off x="5998464"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98464"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63056"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CTR (LINK)</a:t>
            </a:r>
          </a:p>
        </p:txBody>
      </p:sp>
      <p:sp>
        <p:nvSpPr>
          <p:cNvPr id="25" name="TextBox 24"/>
          <p:cNvSpPr txBox="1"/>
          <p:nvPr/>
        </p:nvSpPr>
        <p:spPr>
          <a:xfrm>
            <a:off x="6163056"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1.875%</a:t>
            </a:r>
          </a:p>
        </p:txBody>
      </p:sp>
      <p:sp>
        <p:nvSpPr>
          <p:cNvPr id="26" name="Rectangle 25"/>
          <p:cNvSpPr/>
          <p:nvPr/>
        </p:nvSpPr>
        <p:spPr>
          <a:xfrm>
            <a:off x="7845552"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45552"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0144"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CPM</a:t>
            </a:r>
          </a:p>
        </p:txBody>
      </p:sp>
      <p:sp>
        <p:nvSpPr>
          <p:cNvPr id="29" name="TextBox 28"/>
          <p:cNvSpPr txBox="1"/>
          <p:nvPr/>
        </p:nvSpPr>
        <p:spPr>
          <a:xfrm>
            <a:off x="8010144"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$0.97</a:t>
            </a:r>
          </a:p>
        </p:txBody>
      </p:sp>
      <p:sp>
        <p:nvSpPr>
          <p:cNvPr id="30" name="Rectangle 29"/>
          <p:cNvSpPr/>
          <p:nvPr/>
        </p:nvSpPr>
        <p:spPr>
          <a:xfrm>
            <a:off x="9692640" y="1691640"/>
            <a:ext cx="1737360" cy="10515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692640" y="1691640"/>
            <a:ext cx="64008" cy="105156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57232"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CONVERSIONS</a:t>
            </a:r>
          </a:p>
        </p:txBody>
      </p:sp>
      <p:sp>
        <p:nvSpPr>
          <p:cNvPr id="33" name="TextBox 32"/>
          <p:cNvSpPr txBox="1"/>
          <p:nvPr/>
        </p:nvSpPr>
        <p:spPr>
          <a:xfrm>
            <a:off x="9857232"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4</a:t>
            </a:r>
          </a:p>
        </p:txBody>
      </p:sp>
      <p:sp>
        <p:nvSpPr>
          <p:cNvPr id="34" name="TextBox 33"/>
          <p:cNvSpPr txBox="1"/>
          <p:nvPr/>
        </p:nvSpPr>
        <p:spPr>
          <a:xfrm>
            <a:off x="9857232" y="2441448"/>
            <a:ext cx="1508760" cy="228600"/>
          </a:xfrm>
          <a:prstGeom prst="rect">
            <a:avLst/>
          </a:prstGeom>
          <a:noFill/>
        </p:spPr>
        <p:txBody>
          <a:bodyPr wrap="square" anchor="t" lIns="25400" rIns="25400" tIns="12700" bIns="12700">
            <a:spAutoFit/>
          </a:bodyPr>
          <a:lstStyle/>
          <a:p>
            <a:pPr algn="l"/>
            <a:r>
              <a:rPr sz="800" b="0">
                <a:solidFill>
                  <a:srgbClr val="5A5A5A"/>
                </a:solidFill>
                <a:latin typeface="Arial"/>
              </a:rPr>
              <a:t>$1,657 CPA</a:t>
            </a:r>
          </a:p>
        </p:txBody>
      </p:sp>
      <p:sp>
        <p:nvSpPr>
          <p:cNvPr id="35" name="TextBox 34"/>
          <p:cNvSpPr txBox="1"/>
          <p:nvPr/>
        </p:nvSpPr>
        <p:spPr>
          <a:xfrm>
            <a:off x="457200" y="2926080"/>
            <a:ext cx="5486400" cy="274320"/>
          </a:xfrm>
          <a:prstGeom prst="rect">
            <a:avLst/>
          </a:prstGeom>
          <a:noFill/>
        </p:spPr>
        <p:txBody>
          <a:bodyPr wrap="square" anchor="t" lIns="25400" rIns="25400" tIns="12700" bIns="12700">
            <a:spAutoFit/>
          </a:bodyPr>
          <a:lstStyle/>
          <a:p>
            <a:pPr algn="l"/>
            <a:r>
              <a:rPr sz="1100" b="1">
                <a:solidFill>
                  <a:srgbClr val="1A2A3A"/>
                </a:solidFill>
                <a:latin typeface="Arial"/>
              </a:rPr>
              <a:t>Conversion Funnel</a:t>
            </a:r>
          </a:p>
        </p:txBody>
      </p:sp>
      <p:graphicFrame>
        <p:nvGraphicFramePr>
          <p:cNvPr id="36" name="Table 35"/>
          <p:cNvGraphicFramePr>
            <a:graphicFrameLocks noGrp="1"/>
          </p:cNvGraphicFramePr>
          <p:nvPr/>
        </p:nvGraphicFramePr>
        <p:xfrm>
          <a:off x="457200" y="3246120"/>
          <a:ext cx="5669279" cy="1554480"/>
        </p:xfrm>
        <a:graphic>
          <a:graphicData uri="http://schemas.openxmlformats.org/drawingml/2006/table">
            <a:tbl>
              <a:tblPr>
                <a:tableStyleId>{5C22544A-7EE6-4342-B048-85BDC9FD1C3A}</a:tableStyleId>
              </a:tblPr>
              <a:tblGrid>
                <a:gridCol w="2576945"/>
                <a:gridCol w="1546167"/>
                <a:gridCol w="1546167"/>
              </a:tblGrid>
              <a:tr h="310896">
                <a:tc>
                  <a:txBody>
                    <a:bodyPr/>
                    <a:lstStyle/>
                    <a:p>
                      <a:pPr algn="l"/>
                      <a:r>
                        <a:rPr sz="850" b="1">
                          <a:solidFill>
                            <a:srgbClr val="FFFFFF"/>
                          </a:solidFill>
                          <a:latin typeface="Arial"/>
                        </a:rPr>
                        <a:t>Stage</a:t>
                      </a:r>
                    </a:p>
                  </a:txBody>
                  <a:tcPr marL="50800" marR="50800" marT="12700" marB="12700" anchor="ctr">
                    <a:solidFill>
                      <a:srgbClr val="3B5998"/>
                    </a:solidFill>
                  </a:tcPr>
                </a:tc>
                <a:tc>
                  <a:txBody>
                    <a:bodyPr/>
                    <a:lstStyle/>
                    <a:p>
                      <a:pPr algn="r"/>
                      <a:r>
                        <a:rPr sz="850" b="1">
                          <a:solidFill>
                            <a:srgbClr val="FFFFFF"/>
                          </a:solidFill>
                          <a:latin typeface="Arial"/>
                        </a:rPr>
                        <a:t>Value</a:t>
                      </a:r>
                    </a:p>
                  </a:txBody>
                  <a:tcPr marL="50800" marR="50800" marT="12700" marB="12700" anchor="ctr">
                    <a:solidFill>
                      <a:srgbClr val="3B5998"/>
                    </a:solidFill>
                  </a:tcPr>
                </a:tc>
                <a:tc>
                  <a:txBody>
                    <a:bodyPr/>
                    <a:lstStyle/>
                    <a:p>
                      <a:pPr algn="r"/>
                      <a:r>
                        <a:rPr sz="850" b="1">
                          <a:solidFill>
                            <a:srgbClr val="FFFFFF"/>
                          </a:solidFill>
                          <a:latin typeface="Arial"/>
                        </a:rPr>
                        <a:t>Rate</a:t>
                      </a:r>
                    </a:p>
                  </a:txBody>
                  <a:tcPr marL="50800" marR="50800" marT="12700" marB="12700" anchor="ctr">
                    <a:solidFill>
                      <a:srgbClr val="3B5998"/>
                    </a:solidFill>
                  </a:tcPr>
                </a:tc>
              </a:tr>
              <a:tr h="310896">
                <a:tc>
                  <a:txBody>
                    <a:bodyPr/>
                    <a:lstStyle/>
                    <a:p>
                      <a:pPr algn="l"/>
                      <a:r>
                        <a:rPr sz="850" b="1">
                          <a:solidFill>
                            <a:srgbClr val="1A2A3A"/>
                          </a:solidFill>
                          <a:latin typeface="Arial"/>
                        </a:rPr>
                        <a:t>Impressions</a:t>
                      </a:r>
                    </a:p>
                  </a:txBody>
                  <a:tcPr marL="50800" marR="50800" marT="12700" marB="12700" anchor="ctr">
                    <a:solidFill>
                      <a:srgbClr val="FFFFFF"/>
                    </a:solidFill>
                  </a:tcPr>
                </a:tc>
                <a:tc>
                  <a:txBody>
                    <a:bodyPr/>
                    <a:lstStyle/>
                    <a:p>
                      <a:pPr algn="r"/>
                      <a:r>
                        <a:rPr sz="850" b="0">
                          <a:solidFill>
                            <a:srgbClr val="1A2A3A"/>
                          </a:solidFill>
                          <a:latin typeface="Arial"/>
                        </a:rPr>
                        <a:t>6,838,850</a:t>
                      </a:r>
                    </a:p>
                  </a:txBody>
                  <a:tcPr marL="50800" marR="50800" marT="12700" marB="12700" anchor="ctr">
                    <a:solidFill>
                      <a:srgbClr val="FFFFFF"/>
                    </a:solidFill>
                  </a:tcPr>
                </a:tc>
                <a:tc>
                  <a:txBody>
                    <a:bodyPr/>
                    <a:lstStyle/>
                    <a:p>
                      <a:pPr algn="r"/>
                      <a:r>
                        <a:rPr sz="850" b="0">
                          <a:solidFill>
                            <a:srgbClr val="1A2A3A"/>
                          </a:solidFill>
                          <a:latin typeface="Arial"/>
                        </a:rPr>
                        <a:t>—</a:t>
                      </a:r>
                    </a:p>
                  </a:txBody>
                  <a:tcPr marL="50800" marR="50800" marT="12700" marB="12700" anchor="ctr">
                    <a:solidFill>
                      <a:srgbClr val="FFFFFF"/>
                    </a:solidFill>
                  </a:tcPr>
                </a:tc>
              </a:tr>
              <a:tr h="310896">
                <a:tc>
                  <a:txBody>
                    <a:bodyPr/>
                    <a:lstStyle/>
                    <a:p>
                      <a:pPr algn="l"/>
                      <a:r>
                        <a:rPr sz="850" b="1">
                          <a:solidFill>
                            <a:srgbClr val="1A2A3A"/>
                          </a:solidFill>
                          <a:latin typeface="Arial"/>
                        </a:rPr>
                        <a:t>Link clicks</a:t>
                      </a:r>
                    </a:p>
                  </a:txBody>
                  <a:tcPr marL="50800" marR="50800" marT="12700" marB="12700" anchor="ctr">
                    <a:solidFill>
                      <a:srgbClr val="F3F3F3"/>
                    </a:solidFill>
                  </a:tcPr>
                </a:tc>
                <a:tc>
                  <a:txBody>
                    <a:bodyPr/>
                    <a:lstStyle/>
                    <a:p>
                      <a:pPr algn="r"/>
                      <a:r>
                        <a:rPr sz="850" b="0">
                          <a:solidFill>
                            <a:srgbClr val="1A2A3A"/>
                          </a:solidFill>
                          <a:latin typeface="Arial"/>
                        </a:rPr>
                        <a:t>128,231</a:t>
                      </a:r>
                    </a:p>
                  </a:txBody>
                  <a:tcPr marL="50800" marR="50800" marT="12700" marB="12700" anchor="ctr">
                    <a:solidFill>
                      <a:srgbClr val="F3F3F3"/>
                    </a:solidFill>
                  </a:tcPr>
                </a:tc>
                <a:tc>
                  <a:txBody>
                    <a:bodyPr/>
                    <a:lstStyle/>
                    <a:p>
                      <a:pPr algn="r"/>
                      <a:r>
                        <a:rPr sz="850" b="0">
                          <a:solidFill>
                            <a:srgbClr val="1A2A3A"/>
                          </a:solidFill>
                          <a:latin typeface="Arial"/>
                        </a:rPr>
                        <a:t>1.875%</a:t>
                      </a:r>
                    </a:p>
                  </a:txBody>
                  <a:tcPr marL="50800" marR="50800" marT="12700" marB="12700" anchor="ctr">
                    <a:solidFill>
                      <a:srgbClr val="F3F3F3"/>
                    </a:solidFill>
                  </a:tcPr>
                </a:tc>
              </a:tr>
              <a:tr h="310896">
                <a:tc>
                  <a:txBody>
                    <a:bodyPr/>
                    <a:lstStyle/>
                    <a:p>
                      <a:pPr algn="l"/>
                      <a:r>
                        <a:rPr sz="850" b="1">
                          <a:solidFill>
                            <a:srgbClr val="1A2A3A"/>
                          </a:solidFill>
                          <a:latin typeface="Arial"/>
                        </a:rPr>
                        <a:t>Landing page views</a:t>
                      </a:r>
                    </a:p>
                  </a:txBody>
                  <a:tcPr marL="50800" marR="50800" marT="12700" marB="12700" anchor="ctr">
                    <a:solidFill>
                      <a:srgbClr val="FFFFFF"/>
                    </a:solidFill>
                  </a:tcPr>
                </a:tc>
                <a:tc>
                  <a:txBody>
                    <a:bodyPr/>
                    <a:lstStyle/>
                    <a:p>
                      <a:pPr algn="r"/>
                      <a:r>
                        <a:rPr sz="850" b="0">
                          <a:solidFill>
                            <a:srgbClr val="1A2A3A"/>
                          </a:solidFill>
                          <a:latin typeface="Arial"/>
                        </a:rPr>
                        <a:t>64,264</a:t>
                      </a:r>
                    </a:p>
                  </a:txBody>
                  <a:tcPr marL="50800" marR="50800" marT="12700" marB="12700" anchor="ctr">
                    <a:solidFill>
                      <a:srgbClr val="FFFFFF"/>
                    </a:solidFill>
                  </a:tcPr>
                </a:tc>
                <a:tc>
                  <a:txBody>
                    <a:bodyPr/>
                    <a:lstStyle/>
                    <a:p>
                      <a:pPr algn="r"/>
                      <a:r>
                        <a:rPr sz="850" b="0">
                          <a:solidFill>
                            <a:srgbClr val="1A2A3A"/>
                          </a:solidFill>
                          <a:latin typeface="Arial"/>
                        </a:rPr>
                        <a:t>50.1%</a:t>
                      </a:r>
                    </a:p>
                  </a:txBody>
                  <a:tcPr marL="50800" marR="50800" marT="12700" marB="12700" anchor="ctr">
                    <a:solidFill>
                      <a:srgbClr val="FFFFFF"/>
                    </a:solidFill>
                  </a:tcPr>
                </a:tc>
              </a:tr>
              <a:tr h="310896">
                <a:tc>
                  <a:txBody>
                    <a:bodyPr/>
                    <a:lstStyle/>
                    <a:p>
                      <a:pPr algn="l"/>
                      <a:r>
                        <a:rPr sz="850" b="1">
                          <a:solidFill>
                            <a:srgbClr val="1A2A3A"/>
                          </a:solidFill>
                          <a:latin typeface="Arial"/>
                        </a:rPr>
                        <a:t>Conversions</a:t>
                      </a:r>
                    </a:p>
                  </a:txBody>
                  <a:tcPr marL="50800" marR="50800" marT="12700" marB="12700" anchor="ctr">
                    <a:solidFill>
                      <a:srgbClr val="F3F3F3"/>
                    </a:solidFill>
                  </a:tcPr>
                </a:tc>
                <a:tc>
                  <a:txBody>
                    <a:bodyPr/>
                    <a:lstStyle/>
                    <a:p>
                      <a:pPr algn="r"/>
                      <a:r>
                        <a:rPr sz="850" b="0">
                          <a:solidFill>
                            <a:srgbClr val="1A2A3A"/>
                          </a:solidFill>
                          <a:latin typeface="Arial"/>
                        </a:rPr>
                        <a:t>4</a:t>
                      </a:r>
                    </a:p>
                  </a:txBody>
                  <a:tcPr marL="50800" marR="50800" marT="12700" marB="12700" anchor="ctr">
                    <a:solidFill>
                      <a:srgbClr val="F3F3F3"/>
                    </a:solidFill>
                  </a:tcPr>
                </a:tc>
                <a:tc>
                  <a:txBody>
                    <a:bodyPr/>
                    <a:lstStyle/>
                    <a:p>
                      <a:pPr algn="r"/>
                      <a:r>
                        <a:rPr sz="850" b="0">
                          <a:solidFill>
                            <a:srgbClr val="1A2A3A"/>
                          </a:solidFill>
                          <a:latin typeface="Arial"/>
                        </a:rPr>
                        <a:t>0.006% of LPV</a:t>
                      </a:r>
                    </a:p>
                  </a:txBody>
                  <a:tcPr marL="50800" marR="50800" marT="12700" marB="12700" anchor="ctr">
                    <a:solidFill>
                      <a:srgbClr val="F3F3F3"/>
                    </a:solidFill>
                  </a:tcPr>
                </a:tc>
              </a:tr>
            </a:tbl>
          </a:graphicData>
        </a:graphic>
      </p:graphicFrame>
      <p:sp>
        <p:nvSpPr>
          <p:cNvPr id="37" name="Rectangle 36"/>
          <p:cNvSpPr/>
          <p:nvPr/>
        </p:nvSpPr>
        <p:spPr>
          <a:xfrm>
            <a:off x="6400800" y="1691640"/>
            <a:ext cx="5303520" cy="4572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0" y="1691640"/>
            <a:ext cx="5303520" cy="5486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1819656"/>
            <a:ext cx="4937759" cy="274320"/>
          </a:xfrm>
          <a:prstGeom prst="rect">
            <a:avLst/>
          </a:prstGeom>
          <a:noFill/>
        </p:spPr>
        <p:txBody>
          <a:bodyPr wrap="square" anchor="t" lIns="25400" rIns="25400" tIns="12700" bIns="12700">
            <a:spAutoFit/>
          </a:bodyPr>
          <a:lstStyle/>
          <a:p>
            <a:pPr algn="l"/>
            <a:r>
              <a:rPr sz="1000" b="1">
                <a:solidFill>
                  <a:srgbClr val="E74C3C"/>
                </a:solidFill>
                <a:latin typeface="Arial"/>
              </a:rPr>
              <a:t>READ</a:t>
            </a:r>
          </a:p>
        </p:txBody>
      </p:sp>
      <p:sp>
        <p:nvSpPr>
          <p:cNvPr id="40" name="TextBox 39"/>
          <p:cNvSpPr txBox="1"/>
          <p:nvPr/>
        </p:nvSpPr>
        <p:spPr>
          <a:xfrm>
            <a:off x="6583680" y="2148840"/>
            <a:ext cx="4937759" cy="4023360"/>
          </a:xfrm>
          <a:prstGeom prst="rect">
            <a:avLst/>
          </a:prstGeom>
          <a:noFill/>
        </p:spPr>
        <p:txBody>
          <a:bodyPr wrap="square" anchor="t" lIns="25400" rIns="25400" tIns="12700" bIns="12700">
            <a:spAutoFit/>
          </a:bodyPr>
          <a:lstStyle/>
          <a:p>
            <a:pPr algn="l"/>
            <a:r>
              <a:rPr sz="950" b="0">
                <a:solidFill>
                  <a:srgbClr val="32373E"/>
                </a:solidFill>
                <a:latin typeface="Arial"/>
              </a:rPr>
              <a:t>Top-funnel delivery is excellent and cheap: 6.84M impressions, CPM $0.97, 128,231 link clicks, 64,264 landing-page views.</a:t>
            </a:r>
          </a:p>
          <a:p>
            <a:pPr algn="l"/>
            <a:r>
              <a:rPr sz="950" b="0">
                <a:solidFill>
                  <a:srgbClr val="32373E"/>
                </a:solidFill>
                <a:latin typeface="Arial"/>
              </a:rPr>
              <a:t/>
            </a:r>
          </a:p>
          <a:p>
            <a:pPr algn="l"/>
            <a:r>
              <a:rPr sz="950" b="0">
                <a:solidFill>
                  <a:srgbClr val="32373E"/>
                </a:solidFill>
                <a:latin typeface="Arial"/>
              </a:rPr>
              <a:t>Conversions are near zero: 64,264 landing-page views produced only 4 applications. This is a post-landing-page funnel failure, consistent with April. Media is not the constraint.</a:t>
            </a:r>
          </a:p>
          <a:p>
            <a:pPr algn="l"/>
            <a:r>
              <a:rPr sz="950" b="0">
                <a:solidFill>
                  <a:srgbClr val="32373E"/>
                </a:solidFill>
                <a:latin typeface="Arial"/>
              </a:rPr>
              <a:t/>
            </a:r>
          </a:p>
          <a:p>
            <a:pPr algn="l"/>
            <a:r>
              <a:rPr sz="950" b="0">
                <a:solidFill>
                  <a:srgbClr val="32373E"/>
                </a:solidFill>
                <a:latin typeface="Arial"/>
              </a:rPr>
              <a:t>CPA improved only because the prior base was a single conversion. The priority is the Mexico landing page and application flow, not additional spend.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229600" cy="274320"/>
          </a:xfrm>
          <a:prstGeom prst="rect">
            <a:avLst/>
          </a:prstGeom>
          <a:noFill/>
        </p:spPr>
        <p:txBody>
          <a:bodyPr wrap="square" anchor="ctr" lIns="25400" rIns="25400" tIns="12700" bIns="12700">
            <a:spAutoFit/>
          </a:bodyPr>
          <a:lstStyle/>
          <a:p>
            <a:pPr algn="l"/>
            <a:r>
              <a:rPr sz="900" b="1">
                <a:solidFill>
                  <a:srgbClr val="FFFFFF"/>
                </a:solidFill>
                <a:latin typeface="Arial"/>
              </a:rPr>
              <a:t>FOREX.com  |  GGMI (LATAM)  ·  May 2026</a:t>
            </a:r>
          </a:p>
        </p:txBody>
      </p:sp>
      <p:pic>
        <p:nvPicPr>
          <p:cNvPr id="4" name="Picture 3" descr="img_0_0.5_0.5.png"/>
          <p:cNvPicPr>
            <a:picLocks noChangeAspect="1"/>
          </p:cNvPicPr>
          <p:nvPr/>
        </p:nvPicPr>
        <p:blipFill>
          <a:blip r:embed="rId2"/>
          <a:stretch>
            <a:fillRect/>
          </a:stretch>
        </p:blipFill>
        <p:spPr>
          <a:xfrm>
            <a:off x="11155680" y="109728"/>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25400" rIns="25400" tIns="12700" bIns="12700">
            <a:spAutoFit/>
          </a:bodyPr>
          <a:lstStyle/>
          <a:p>
            <a:pPr algn="l"/>
            <a:r>
              <a:rPr sz="1100" b="1">
                <a:solidFill>
                  <a:srgbClr val="3B5998"/>
                </a:solidFill>
                <a:latin typeface="Arial"/>
              </a:rPr>
              <a:t>AZERION  ·  PERFORMANCE</a:t>
            </a:r>
          </a:p>
        </p:txBody>
      </p:sp>
      <p:sp>
        <p:nvSpPr>
          <p:cNvPr id="6" name="TextBox 5"/>
          <p:cNvSpPr txBox="1"/>
          <p:nvPr/>
        </p:nvSpPr>
        <p:spPr>
          <a:xfrm>
            <a:off x="457200" y="841248"/>
            <a:ext cx="11247120" cy="731520"/>
          </a:xfrm>
          <a:prstGeom prst="rect">
            <a:avLst/>
          </a:prstGeom>
          <a:noFill/>
        </p:spPr>
        <p:txBody>
          <a:bodyPr wrap="square" anchor="t" lIns="25400" rIns="25400" tIns="12700" bIns="12700">
            <a:spAutoFit/>
          </a:bodyPr>
          <a:lstStyle/>
          <a:p>
            <a:pPr algn="l"/>
            <a:r>
              <a:rPr sz="2000" b="1">
                <a:solidFill>
                  <a:srgbClr val="1A2A3A"/>
                </a:solidFill>
                <a:latin typeface="Arial"/>
              </a:rPr>
              <a:t>The only GGMI channel converting at scale: 37 applications.</a:t>
            </a:r>
          </a:p>
        </p:txBody>
      </p:sp>
      <p:sp>
        <p:nvSpPr>
          <p:cNvPr id="7" name="Rectangle 6"/>
          <p:cNvSpPr/>
          <p:nvPr/>
        </p:nvSpPr>
        <p:spPr>
          <a:xfrm>
            <a:off x="0" y="6601968"/>
            <a:ext cx="12191695" cy="256032"/>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01968"/>
            <a:ext cx="5486400" cy="228600"/>
          </a:xfrm>
          <a:prstGeom prst="rect">
            <a:avLst/>
          </a:prstGeom>
          <a:noFill/>
        </p:spPr>
        <p:txBody>
          <a:bodyPr wrap="square" anchor="ctr" lIns="25400" rIns="25400" tIns="12700" bIns="12700">
            <a:spAutoFit/>
          </a:bodyPr>
          <a:lstStyle/>
          <a:p>
            <a:pPr algn="l"/>
            <a:r>
              <a:rPr sz="800" b="0">
                <a:solidFill>
                  <a:srgbClr val="78828C"/>
                </a:solidFill>
                <a:latin typeface="Arial"/>
              </a:rPr>
              <a:t>Monthly Performance Review</a:t>
            </a:r>
          </a:p>
        </p:txBody>
      </p:sp>
      <p:sp>
        <p:nvSpPr>
          <p:cNvPr id="9" name="TextBox 8"/>
          <p:cNvSpPr txBox="1"/>
          <p:nvPr/>
        </p:nvSpPr>
        <p:spPr>
          <a:xfrm>
            <a:off x="11155680" y="6601968"/>
            <a:ext cx="731520" cy="228600"/>
          </a:xfrm>
          <a:prstGeom prst="rect">
            <a:avLst/>
          </a:prstGeom>
          <a:noFill/>
        </p:spPr>
        <p:txBody>
          <a:bodyPr wrap="square" anchor="ctr" lIns="25400" rIns="25400" tIns="12700" bIns="12700">
            <a:spAutoFit/>
          </a:bodyPr>
          <a:lstStyle/>
          <a:p>
            <a:pPr algn="r"/>
            <a:r>
              <a:rPr sz="800" b="0">
                <a:solidFill>
                  <a:srgbClr val="78828C"/>
                </a:solidFill>
                <a:latin typeface="Arial"/>
              </a:rPr>
              <a:t>5 / 7</a:t>
            </a:r>
          </a:p>
        </p:txBody>
      </p:sp>
      <p:sp>
        <p:nvSpPr>
          <p:cNvPr id="10" name="Rectangle 9"/>
          <p:cNvSpPr/>
          <p:nvPr/>
        </p:nvSpPr>
        <p:spPr>
          <a:xfrm>
            <a:off x="457200"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SPEND</a:t>
            </a:r>
          </a:p>
        </p:txBody>
      </p:sp>
      <p:sp>
        <p:nvSpPr>
          <p:cNvPr id="13" name="TextBox 12"/>
          <p:cNvSpPr txBox="1"/>
          <p:nvPr/>
        </p:nvSpPr>
        <p:spPr>
          <a:xfrm>
            <a:off x="621792"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$29,302</a:t>
            </a:r>
          </a:p>
        </p:txBody>
      </p:sp>
      <p:sp>
        <p:nvSpPr>
          <p:cNvPr id="14" name="Rectangle 13"/>
          <p:cNvSpPr/>
          <p:nvPr/>
        </p:nvSpPr>
        <p:spPr>
          <a:xfrm>
            <a:off x="2304288"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04288"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IMPRESSIONS</a:t>
            </a:r>
          </a:p>
        </p:txBody>
      </p:sp>
      <p:sp>
        <p:nvSpPr>
          <p:cNvPr id="17" name="TextBox 16"/>
          <p:cNvSpPr txBox="1"/>
          <p:nvPr/>
        </p:nvSpPr>
        <p:spPr>
          <a:xfrm>
            <a:off x="2468880"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6.06M</a:t>
            </a:r>
          </a:p>
        </p:txBody>
      </p:sp>
      <p:sp>
        <p:nvSpPr>
          <p:cNvPr id="18" name="Rectangle 17"/>
          <p:cNvSpPr/>
          <p:nvPr/>
        </p:nvSpPr>
        <p:spPr>
          <a:xfrm>
            <a:off x="4151376"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51376"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15968"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CLICKS</a:t>
            </a:r>
          </a:p>
        </p:txBody>
      </p:sp>
      <p:sp>
        <p:nvSpPr>
          <p:cNvPr id="21" name="TextBox 20"/>
          <p:cNvSpPr txBox="1"/>
          <p:nvPr/>
        </p:nvSpPr>
        <p:spPr>
          <a:xfrm>
            <a:off x="4315968"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6,301</a:t>
            </a:r>
          </a:p>
        </p:txBody>
      </p:sp>
      <p:sp>
        <p:nvSpPr>
          <p:cNvPr id="22" name="Rectangle 21"/>
          <p:cNvSpPr/>
          <p:nvPr/>
        </p:nvSpPr>
        <p:spPr>
          <a:xfrm>
            <a:off x="5998464" y="1691640"/>
            <a:ext cx="1737360" cy="10515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98464" y="1691640"/>
            <a:ext cx="64008" cy="105156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63056"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STEP 1</a:t>
            </a:r>
          </a:p>
        </p:txBody>
      </p:sp>
      <p:sp>
        <p:nvSpPr>
          <p:cNvPr id="25" name="TextBox 24"/>
          <p:cNvSpPr txBox="1"/>
          <p:nvPr/>
        </p:nvSpPr>
        <p:spPr>
          <a:xfrm>
            <a:off x="6163056"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225</a:t>
            </a:r>
          </a:p>
        </p:txBody>
      </p:sp>
      <p:sp>
        <p:nvSpPr>
          <p:cNvPr id="26" name="TextBox 25"/>
          <p:cNvSpPr txBox="1"/>
          <p:nvPr/>
        </p:nvSpPr>
        <p:spPr>
          <a:xfrm>
            <a:off x="6163056" y="2441448"/>
            <a:ext cx="1508760" cy="228600"/>
          </a:xfrm>
          <a:prstGeom prst="rect">
            <a:avLst/>
          </a:prstGeom>
          <a:noFill/>
        </p:spPr>
        <p:txBody>
          <a:bodyPr wrap="square" anchor="t" lIns="25400" rIns="25400" tIns="12700" bIns="12700">
            <a:spAutoFit/>
          </a:bodyPr>
          <a:lstStyle/>
          <a:p>
            <a:pPr algn="l"/>
            <a:r>
              <a:rPr sz="800" b="0">
                <a:solidFill>
                  <a:srgbClr val="5A5A5A"/>
                </a:solidFill>
                <a:latin typeface="Arial"/>
              </a:rPr>
              <a:t>$130.24 CPA</a:t>
            </a:r>
          </a:p>
        </p:txBody>
      </p:sp>
      <p:sp>
        <p:nvSpPr>
          <p:cNvPr id="27" name="Rectangle 26"/>
          <p:cNvSpPr/>
          <p:nvPr/>
        </p:nvSpPr>
        <p:spPr>
          <a:xfrm>
            <a:off x="7845552" y="1691640"/>
            <a:ext cx="1737360" cy="10515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45552" y="1691640"/>
            <a:ext cx="64008" cy="105156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10144"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APPLICATIONS</a:t>
            </a:r>
          </a:p>
        </p:txBody>
      </p:sp>
      <p:sp>
        <p:nvSpPr>
          <p:cNvPr id="30" name="TextBox 29"/>
          <p:cNvSpPr txBox="1"/>
          <p:nvPr/>
        </p:nvSpPr>
        <p:spPr>
          <a:xfrm>
            <a:off x="8010144"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37</a:t>
            </a:r>
          </a:p>
        </p:txBody>
      </p:sp>
      <p:sp>
        <p:nvSpPr>
          <p:cNvPr id="31" name="TextBox 30"/>
          <p:cNvSpPr txBox="1"/>
          <p:nvPr/>
        </p:nvSpPr>
        <p:spPr>
          <a:xfrm>
            <a:off x="8010144" y="2441448"/>
            <a:ext cx="1508760" cy="228600"/>
          </a:xfrm>
          <a:prstGeom prst="rect">
            <a:avLst/>
          </a:prstGeom>
          <a:noFill/>
        </p:spPr>
        <p:txBody>
          <a:bodyPr wrap="square" anchor="t" lIns="25400" rIns="25400" tIns="12700" bIns="12700">
            <a:spAutoFit/>
          </a:bodyPr>
          <a:lstStyle/>
          <a:p>
            <a:pPr algn="l"/>
            <a:r>
              <a:rPr sz="800" b="0">
                <a:solidFill>
                  <a:srgbClr val="5A5A5A"/>
                </a:solidFill>
                <a:latin typeface="Arial"/>
              </a:rPr>
              <a:t>$791.95 CPA</a:t>
            </a:r>
          </a:p>
        </p:txBody>
      </p:sp>
      <p:sp>
        <p:nvSpPr>
          <p:cNvPr id="32" name="Rectangle 31"/>
          <p:cNvSpPr/>
          <p:nvPr/>
        </p:nvSpPr>
        <p:spPr>
          <a:xfrm>
            <a:off x="9692640"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92640"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57232"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VIEWABILITY</a:t>
            </a:r>
          </a:p>
        </p:txBody>
      </p:sp>
      <p:sp>
        <p:nvSpPr>
          <p:cNvPr id="35" name="TextBox 34"/>
          <p:cNvSpPr txBox="1"/>
          <p:nvPr/>
        </p:nvSpPr>
        <p:spPr>
          <a:xfrm>
            <a:off x="9857232"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71.6%</a:t>
            </a:r>
          </a:p>
        </p:txBody>
      </p:sp>
      <p:sp>
        <p:nvSpPr>
          <p:cNvPr id="36" name="TextBox 35"/>
          <p:cNvSpPr txBox="1"/>
          <p:nvPr/>
        </p:nvSpPr>
        <p:spPr>
          <a:xfrm>
            <a:off x="457200" y="2926080"/>
            <a:ext cx="5486400" cy="274320"/>
          </a:xfrm>
          <a:prstGeom prst="rect">
            <a:avLst/>
          </a:prstGeom>
          <a:noFill/>
        </p:spPr>
        <p:txBody>
          <a:bodyPr wrap="square" anchor="t" lIns="25400" rIns="25400" tIns="12700" bIns="12700">
            <a:spAutoFit/>
          </a:bodyPr>
          <a:lstStyle/>
          <a:p>
            <a:pPr algn="l"/>
            <a:r>
              <a:rPr sz="1100" b="1">
                <a:solidFill>
                  <a:srgbClr val="1A2A3A"/>
                </a:solidFill>
                <a:latin typeface="Arial"/>
              </a:rPr>
              <a:t>Ad Sets (Applications)</a:t>
            </a:r>
          </a:p>
        </p:txBody>
      </p:sp>
      <p:graphicFrame>
        <p:nvGraphicFramePr>
          <p:cNvPr id="37" name="Table 36"/>
          <p:cNvGraphicFramePr>
            <a:graphicFrameLocks noGrp="1"/>
          </p:cNvGraphicFramePr>
          <p:nvPr/>
        </p:nvGraphicFramePr>
        <p:xfrm>
          <a:off x="457200" y="3246120"/>
          <a:ext cx="5486399" cy="2176272"/>
        </p:xfrm>
        <a:graphic>
          <a:graphicData uri="http://schemas.openxmlformats.org/drawingml/2006/table">
            <a:tbl>
              <a:tblPr>
                <a:tableStyleId>{5C22544A-7EE6-4342-B048-85BDC9FD1C3A}</a:tableStyleId>
              </a:tblPr>
              <a:tblGrid>
                <a:gridCol w="3211551"/>
                <a:gridCol w="1338146"/>
                <a:gridCol w="936702"/>
              </a:tblGrid>
              <a:tr h="310896">
                <a:tc>
                  <a:txBody>
                    <a:bodyPr/>
                    <a:lstStyle/>
                    <a:p>
                      <a:pPr algn="l"/>
                      <a:r>
                        <a:rPr sz="850" b="1">
                          <a:solidFill>
                            <a:srgbClr val="FFFFFF"/>
                          </a:solidFill>
                          <a:latin typeface="Arial"/>
                        </a:rPr>
                        <a:t>Ad Set</a:t>
                      </a:r>
                    </a:p>
                  </a:txBody>
                  <a:tcPr marL="50800" marR="50800" marT="12700" marB="12700" anchor="ctr">
                    <a:solidFill>
                      <a:srgbClr val="3B5998"/>
                    </a:solidFill>
                  </a:tcPr>
                </a:tc>
                <a:tc>
                  <a:txBody>
                    <a:bodyPr/>
                    <a:lstStyle/>
                    <a:p>
                      <a:pPr algn="r"/>
                      <a:r>
                        <a:rPr sz="850" b="1">
                          <a:solidFill>
                            <a:srgbClr val="FFFFFF"/>
                          </a:solidFill>
                          <a:latin typeface="Arial"/>
                        </a:rPr>
                        <a:t>Spend</a:t>
                      </a:r>
                    </a:p>
                  </a:txBody>
                  <a:tcPr marL="50800" marR="50800" marT="12700" marB="12700" anchor="ctr">
                    <a:solidFill>
                      <a:srgbClr val="3B5998"/>
                    </a:solidFill>
                  </a:tcPr>
                </a:tc>
                <a:tc>
                  <a:txBody>
                    <a:bodyPr/>
                    <a:lstStyle/>
                    <a:p>
                      <a:pPr algn="r"/>
                      <a:r>
                        <a:rPr sz="850" b="1">
                          <a:solidFill>
                            <a:srgbClr val="FFFFFF"/>
                          </a:solidFill>
                          <a:latin typeface="Arial"/>
                        </a:rPr>
                        <a:t>Apps</a:t>
                      </a:r>
                    </a:p>
                  </a:txBody>
                  <a:tcPr marL="50800" marR="50800" marT="12700" marB="12700" anchor="ctr">
                    <a:solidFill>
                      <a:srgbClr val="3B5998"/>
                    </a:solidFill>
                  </a:tcPr>
                </a:tc>
              </a:tr>
              <a:tr h="310896">
                <a:tc>
                  <a:txBody>
                    <a:bodyPr/>
                    <a:lstStyle/>
                    <a:p>
                      <a:pPr algn="l"/>
                      <a:r>
                        <a:rPr sz="850" b="1">
                          <a:solidFill>
                            <a:srgbClr val="1A2A3A"/>
                          </a:solidFill>
                          <a:latin typeface="Arial"/>
                        </a:rPr>
                        <a:t>Experience</a:t>
                      </a:r>
                    </a:p>
                  </a:txBody>
                  <a:tcPr marL="50800" marR="50800" marT="12700" marB="12700" anchor="ctr">
                    <a:solidFill>
                      <a:srgbClr val="FFFFFF"/>
                    </a:solidFill>
                  </a:tcPr>
                </a:tc>
                <a:tc>
                  <a:txBody>
                    <a:bodyPr/>
                    <a:lstStyle/>
                    <a:p>
                      <a:pPr algn="r"/>
                      <a:r>
                        <a:rPr sz="850" b="0">
                          <a:solidFill>
                            <a:srgbClr val="1A2A3A"/>
                          </a:solidFill>
                          <a:latin typeface="Arial"/>
                        </a:rPr>
                        <a:t>$7,666</a:t>
                      </a:r>
                    </a:p>
                  </a:txBody>
                  <a:tcPr marL="50800" marR="50800" marT="12700" marB="12700" anchor="ctr">
                    <a:solidFill>
                      <a:srgbClr val="FFFFFF"/>
                    </a:solidFill>
                  </a:tcPr>
                </a:tc>
                <a:tc>
                  <a:txBody>
                    <a:bodyPr/>
                    <a:lstStyle/>
                    <a:p>
                      <a:pPr algn="r"/>
                      <a:r>
                        <a:rPr sz="850" b="0">
                          <a:solidFill>
                            <a:srgbClr val="1A2A3A"/>
                          </a:solidFill>
                          <a:latin typeface="Arial"/>
                        </a:rPr>
                        <a:t>10</a:t>
                      </a:r>
                    </a:p>
                  </a:txBody>
                  <a:tcPr marL="50800" marR="50800" marT="12700" marB="12700" anchor="ctr">
                    <a:solidFill>
                      <a:srgbClr val="FFFFFF"/>
                    </a:solidFill>
                  </a:tcPr>
                </a:tc>
              </a:tr>
              <a:tr h="310896">
                <a:tc>
                  <a:txBody>
                    <a:bodyPr/>
                    <a:lstStyle/>
                    <a:p>
                      <a:pPr algn="l"/>
                      <a:r>
                        <a:rPr sz="850" b="1">
                          <a:solidFill>
                            <a:srgbClr val="1A2A3A"/>
                          </a:solidFill>
                          <a:latin typeface="Arial"/>
                        </a:rPr>
                        <a:t>TradeForex</a:t>
                      </a:r>
                    </a:p>
                  </a:txBody>
                  <a:tcPr marL="50800" marR="50800" marT="12700" marB="12700" anchor="ctr">
                    <a:solidFill>
                      <a:srgbClr val="F3F3F3"/>
                    </a:solidFill>
                  </a:tcPr>
                </a:tc>
                <a:tc>
                  <a:txBody>
                    <a:bodyPr/>
                    <a:lstStyle/>
                    <a:p>
                      <a:pPr algn="r"/>
                      <a:r>
                        <a:rPr sz="850" b="0">
                          <a:solidFill>
                            <a:srgbClr val="1A2A3A"/>
                          </a:solidFill>
                          <a:latin typeface="Arial"/>
                        </a:rPr>
                        <a:t>$3,589</a:t>
                      </a:r>
                    </a:p>
                  </a:txBody>
                  <a:tcPr marL="50800" marR="50800" marT="12700" marB="12700" anchor="ctr">
                    <a:solidFill>
                      <a:srgbClr val="F3F3F3"/>
                    </a:solidFill>
                  </a:tcPr>
                </a:tc>
                <a:tc>
                  <a:txBody>
                    <a:bodyPr/>
                    <a:lstStyle/>
                    <a:p>
                      <a:pPr algn="r"/>
                      <a:r>
                        <a:rPr sz="850" b="0">
                          <a:solidFill>
                            <a:srgbClr val="1A2A3A"/>
                          </a:solidFill>
                          <a:latin typeface="Arial"/>
                        </a:rPr>
                        <a:t>8</a:t>
                      </a:r>
                    </a:p>
                  </a:txBody>
                  <a:tcPr marL="50800" marR="50800" marT="12700" marB="12700" anchor="ctr">
                    <a:solidFill>
                      <a:srgbClr val="F3F3F3"/>
                    </a:solidFill>
                  </a:tcPr>
                </a:tc>
              </a:tr>
              <a:tr h="310896">
                <a:tc>
                  <a:txBody>
                    <a:bodyPr/>
                    <a:lstStyle/>
                    <a:p>
                      <a:pPr algn="l"/>
                      <a:r>
                        <a:rPr sz="850" b="1">
                          <a:solidFill>
                            <a:srgbClr val="1A2A3A"/>
                          </a:solidFill>
                          <a:latin typeface="Arial"/>
                        </a:rPr>
                        <a:t>Conversion_Commodities</a:t>
                      </a:r>
                    </a:p>
                  </a:txBody>
                  <a:tcPr marL="50800" marR="50800" marT="12700" marB="12700" anchor="ctr">
                    <a:solidFill>
                      <a:srgbClr val="FFFFFF"/>
                    </a:solidFill>
                  </a:tcPr>
                </a:tc>
                <a:tc>
                  <a:txBody>
                    <a:bodyPr/>
                    <a:lstStyle/>
                    <a:p>
                      <a:pPr algn="r"/>
                      <a:r>
                        <a:rPr sz="850" b="0">
                          <a:solidFill>
                            <a:srgbClr val="1A2A3A"/>
                          </a:solidFill>
                          <a:latin typeface="Arial"/>
                        </a:rPr>
                        <a:t>$3,411</a:t>
                      </a:r>
                    </a:p>
                  </a:txBody>
                  <a:tcPr marL="50800" marR="50800" marT="12700" marB="12700" anchor="ctr">
                    <a:solidFill>
                      <a:srgbClr val="FFFFFF"/>
                    </a:solidFill>
                  </a:tcPr>
                </a:tc>
                <a:tc>
                  <a:txBody>
                    <a:bodyPr/>
                    <a:lstStyle/>
                    <a:p>
                      <a:pPr algn="r"/>
                      <a:r>
                        <a:rPr sz="850" b="0">
                          <a:solidFill>
                            <a:srgbClr val="1A2A3A"/>
                          </a:solidFill>
                          <a:latin typeface="Arial"/>
                        </a:rPr>
                        <a:t>6</a:t>
                      </a:r>
                    </a:p>
                  </a:txBody>
                  <a:tcPr marL="50800" marR="50800" marT="12700" marB="12700" anchor="ctr">
                    <a:solidFill>
                      <a:srgbClr val="FFFFFF"/>
                    </a:solidFill>
                  </a:tcPr>
                </a:tc>
              </a:tr>
              <a:tr h="310896">
                <a:tc>
                  <a:txBody>
                    <a:bodyPr/>
                    <a:lstStyle/>
                    <a:p>
                      <a:pPr algn="l"/>
                      <a:r>
                        <a:rPr sz="850" b="1">
                          <a:solidFill>
                            <a:srgbClr val="1A2A3A"/>
                          </a:solidFill>
                          <a:latin typeface="Arial"/>
                        </a:rPr>
                        <a:t>Conversion_Instruments</a:t>
                      </a:r>
                    </a:p>
                  </a:txBody>
                  <a:tcPr marL="50800" marR="50800" marT="12700" marB="12700" anchor="ctr">
                    <a:solidFill>
                      <a:srgbClr val="F3F3F3"/>
                    </a:solidFill>
                  </a:tcPr>
                </a:tc>
                <a:tc>
                  <a:txBody>
                    <a:bodyPr/>
                    <a:lstStyle/>
                    <a:p>
                      <a:pPr algn="r"/>
                      <a:r>
                        <a:rPr sz="850" b="0">
                          <a:solidFill>
                            <a:srgbClr val="1A2A3A"/>
                          </a:solidFill>
                          <a:latin typeface="Arial"/>
                        </a:rPr>
                        <a:t>$3,320</a:t>
                      </a:r>
                    </a:p>
                  </a:txBody>
                  <a:tcPr marL="50800" marR="50800" marT="12700" marB="12700" anchor="ctr">
                    <a:solidFill>
                      <a:srgbClr val="F3F3F3"/>
                    </a:solidFill>
                  </a:tcPr>
                </a:tc>
                <a:tc>
                  <a:txBody>
                    <a:bodyPr/>
                    <a:lstStyle/>
                    <a:p>
                      <a:pPr algn="r"/>
                      <a:r>
                        <a:rPr sz="850" b="0">
                          <a:solidFill>
                            <a:srgbClr val="1A2A3A"/>
                          </a:solidFill>
                          <a:latin typeface="Arial"/>
                        </a:rPr>
                        <a:t>4</a:t>
                      </a:r>
                    </a:p>
                  </a:txBody>
                  <a:tcPr marL="50800" marR="50800" marT="12700" marB="12700" anchor="ctr">
                    <a:solidFill>
                      <a:srgbClr val="F3F3F3"/>
                    </a:solidFill>
                  </a:tcPr>
                </a:tc>
              </a:tr>
              <a:tr h="310896">
                <a:tc>
                  <a:txBody>
                    <a:bodyPr/>
                    <a:lstStyle/>
                    <a:p>
                      <a:pPr algn="l"/>
                      <a:r>
                        <a:rPr sz="850" b="1">
                          <a:solidFill>
                            <a:srgbClr val="1A2A3A"/>
                          </a:solidFill>
                          <a:latin typeface="Arial"/>
                        </a:rPr>
                        <a:t>Global Market</a:t>
                      </a:r>
                    </a:p>
                  </a:txBody>
                  <a:tcPr marL="50800" marR="50800" marT="12700" marB="12700" anchor="ctr">
                    <a:solidFill>
                      <a:srgbClr val="FFFFFF"/>
                    </a:solidFill>
                  </a:tcPr>
                </a:tc>
                <a:tc>
                  <a:txBody>
                    <a:bodyPr/>
                    <a:lstStyle/>
                    <a:p>
                      <a:pPr algn="r"/>
                      <a:r>
                        <a:rPr sz="850" b="0">
                          <a:solidFill>
                            <a:srgbClr val="1A2A3A"/>
                          </a:solidFill>
                          <a:latin typeface="Arial"/>
                        </a:rPr>
                        <a:t>$3,669</a:t>
                      </a:r>
                    </a:p>
                  </a:txBody>
                  <a:tcPr marL="50800" marR="50800" marT="12700" marB="12700" anchor="ctr">
                    <a:solidFill>
                      <a:srgbClr val="FFFFFF"/>
                    </a:solidFill>
                  </a:tcPr>
                </a:tc>
                <a:tc>
                  <a:txBody>
                    <a:bodyPr/>
                    <a:lstStyle/>
                    <a:p>
                      <a:pPr algn="r"/>
                      <a:r>
                        <a:rPr sz="850" b="0">
                          <a:solidFill>
                            <a:srgbClr val="1A2A3A"/>
                          </a:solidFill>
                          <a:latin typeface="Arial"/>
                        </a:rPr>
                        <a:t>3</a:t>
                      </a:r>
                    </a:p>
                  </a:txBody>
                  <a:tcPr marL="50800" marR="50800" marT="12700" marB="12700" anchor="ctr">
                    <a:solidFill>
                      <a:srgbClr val="FFFFFF"/>
                    </a:solidFill>
                  </a:tcPr>
                </a:tc>
              </a:tr>
              <a:tr h="310896">
                <a:tc>
                  <a:txBody>
                    <a:bodyPr/>
                    <a:lstStyle/>
                    <a:p>
                      <a:pPr algn="l"/>
                      <a:r>
                        <a:rPr sz="850" b="1">
                          <a:solidFill>
                            <a:srgbClr val="1A2A3A"/>
                          </a:solidFill>
                          <a:latin typeface="Arial"/>
                        </a:rPr>
                        <a:t>Language Broker</a:t>
                      </a:r>
                    </a:p>
                  </a:txBody>
                  <a:tcPr marL="50800" marR="50800" marT="12700" marB="12700" anchor="ctr">
                    <a:solidFill>
                      <a:srgbClr val="F3F3F3"/>
                    </a:solidFill>
                  </a:tcPr>
                </a:tc>
                <a:tc>
                  <a:txBody>
                    <a:bodyPr/>
                    <a:lstStyle/>
                    <a:p>
                      <a:pPr algn="r"/>
                      <a:r>
                        <a:rPr sz="850" b="0">
                          <a:solidFill>
                            <a:srgbClr val="1A2A3A"/>
                          </a:solidFill>
                          <a:latin typeface="Arial"/>
                        </a:rPr>
                        <a:t>$3,870</a:t>
                      </a:r>
                    </a:p>
                  </a:txBody>
                  <a:tcPr marL="50800" marR="50800" marT="12700" marB="12700" anchor="ctr">
                    <a:solidFill>
                      <a:srgbClr val="F3F3F3"/>
                    </a:solidFill>
                  </a:tcPr>
                </a:tc>
                <a:tc>
                  <a:txBody>
                    <a:bodyPr/>
                    <a:lstStyle/>
                    <a:p>
                      <a:pPr algn="r"/>
                      <a:r>
                        <a:rPr sz="850" b="0">
                          <a:solidFill>
                            <a:srgbClr val="1A2A3A"/>
                          </a:solidFill>
                          <a:latin typeface="Arial"/>
                        </a:rPr>
                        <a:t>3</a:t>
                      </a:r>
                    </a:p>
                  </a:txBody>
                  <a:tcPr marL="50800" marR="50800" marT="12700" marB="12700" anchor="ctr">
                    <a:solidFill>
                      <a:srgbClr val="F3F3F3"/>
                    </a:solidFill>
                  </a:tcPr>
                </a:tc>
              </a:tr>
            </a:tbl>
          </a:graphicData>
        </a:graphic>
      </p:graphicFrame>
      <p:sp>
        <p:nvSpPr>
          <p:cNvPr id="38" name="Rectangle 37"/>
          <p:cNvSpPr/>
          <p:nvPr/>
        </p:nvSpPr>
        <p:spPr>
          <a:xfrm>
            <a:off x="6217920" y="1691640"/>
            <a:ext cx="5486400" cy="21945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1691640"/>
            <a:ext cx="548640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1819656"/>
            <a:ext cx="5120640" cy="274320"/>
          </a:xfrm>
          <a:prstGeom prst="rect">
            <a:avLst/>
          </a:prstGeom>
          <a:noFill/>
        </p:spPr>
        <p:txBody>
          <a:bodyPr wrap="square" anchor="t" lIns="25400" rIns="25400" tIns="12700" bIns="12700">
            <a:spAutoFit/>
          </a:bodyPr>
          <a:lstStyle/>
          <a:p>
            <a:pPr algn="l"/>
            <a:r>
              <a:rPr sz="1000" b="1">
                <a:solidFill>
                  <a:srgbClr val="27AE60"/>
                </a:solidFill>
                <a:latin typeface="Arial"/>
              </a:rPr>
              <a:t>HIGHLIGHTS</a:t>
            </a:r>
          </a:p>
        </p:txBody>
      </p:sp>
      <p:sp>
        <p:nvSpPr>
          <p:cNvPr id="41" name="TextBox 40"/>
          <p:cNvSpPr txBox="1"/>
          <p:nvPr/>
        </p:nvSpPr>
        <p:spPr>
          <a:xfrm>
            <a:off x="6400800" y="2148840"/>
            <a:ext cx="5120640" cy="1645919"/>
          </a:xfrm>
          <a:prstGeom prst="rect">
            <a:avLst/>
          </a:prstGeom>
          <a:noFill/>
        </p:spPr>
        <p:txBody>
          <a:bodyPr wrap="square" anchor="t" lIns="25400" rIns="25400" tIns="12700" bIns="12700">
            <a:spAutoFit/>
          </a:bodyPr>
          <a:lstStyle/>
          <a:p>
            <a:pPr algn="l"/>
            <a:r>
              <a:rPr sz="950" b="0">
                <a:solidFill>
                  <a:srgbClr val="32373E"/>
                </a:solidFill>
                <a:latin typeface="Arial"/>
              </a:rPr>
              <a:t>Applications grew 95% to 37 on a 167% budget increase, with Experience and TradeForex leading. Conversions strengthened through the month as budget scaled.</a:t>
            </a:r>
          </a:p>
        </p:txBody>
      </p:sp>
      <p:sp>
        <p:nvSpPr>
          <p:cNvPr id="42" name="Rectangle 41"/>
          <p:cNvSpPr/>
          <p:nvPr/>
        </p:nvSpPr>
        <p:spPr>
          <a:xfrm>
            <a:off x="6217920" y="4023360"/>
            <a:ext cx="5486400" cy="21945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4023360"/>
            <a:ext cx="5486400" cy="5486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4151376"/>
            <a:ext cx="5120640" cy="274320"/>
          </a:xfrm>
          <a:prstGeom prst="rect">
            <a:avLst/>
          </a:prstGeom>
          <a:noFill/>
        </p:spPr>
        <p:txBody>
          <a:bodyPr wrap="square" anchor="t" lIns="25400" rIns="25400" tIns="12700" bIns="12700">
            <a:spAutoFit/>
          </a:bodyPr>
          <a:lstStyle/>
          <a:p>
            <a:pPr algn="l"/>
            <a:r>
              <a:rPr sz="1000" b="1">
                <a:solidFill>
                  <a:srgbClr val="E74C3C"/>
                </a:solidFill>
                <a:latin typeface="Arial"/>
              </a:rPr>
              <a:t>RISK &amp; FOCUS</a:t>
            </a:r>
          </a:p>
        </p:txBody>
      </p:sp>
      <p:sp>
        <p:nvSpPr>
          <p:cNvPr id="45" name="TextBox 44"/>
          <p:cNvSpPr txBox="1"/>
          <p:nvPr/>
        </p:nvSpPr>
        <p:spPr>
          <a:xfrm>
            <a:off x="6400800" y="4480560"/>
            <a:ext cx="5120640" cy="1645919"/>
          </a:xfrm>
          <a:prstGeom prst="rect">
            <a:avLst/>
          </a:prstGeom>
          <a:noFill/>
        </p:spPr>
        <p:txBody>
          <a:bodyPr wrap="square" anchor="t" lIns="25400" rIns="25400" tIns="12700" bIns="12700">
            <a:spAutoFit/>
          </a:bodyPr>
          <a:lstStyle/>
          <a:p>
            <a:pPr algn="l"/>
            <a:r>
              <a:rPr sz="950" b="0">
                <a:solidFill>
                  <a:srgbClr val="32373E"/>
                </a:solidFill>
                <a:latin typeface="Arial"/>
              </a:rPr>
              <a:t>Application CPA rose 37% to $792 as budget outpaced conversions. Mexico needs more impactful ad units to drive new prospects to site. Upscale against sites driving the most new visits and move inefficient display budget into upper funnel.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229600" cy="274320"/>
          </a:xfrm>
          <a:prstGeom prst="rect">
            <a:avLst/>
          </a:prstGeom>
          <a:noFill/>
        </p:spPr>
        <p:txBody>
          <a:bodyPr wrap="square" anchor="ctr" lIns="25400" rIns="25400" tIns="12700" bIns="12700">
            <a:spAutoFit/>
          </a:bodyPr>
          <a:lstStyle/>
          <a:p>
            <a:pPr algn="l"/>
            <a:r>
              <a:rPr sz="900" b="1">
                <a:solidFill>
                  <a:srgbClr val="FFFFFF"/>
                </a:solidFill>
                <a:latin typeface="Arial"/>
              </a:rPr>
              <a:t>FOREX.com  |  GGMI (LATAM)  ·  May 2026</a:t>
            </a:r>
          </a:p>
        </p:txBody>
      </p:sp>
      <p:pic>
        <p:nvPicPr>
          <p:cNvPr id="4" name="Picture 3" descr="img_0_0.5_0.5.png"/>
          <p:cNvPicPr>
            <a:picLocks noChangeAspect="1"/>
          </p:cNvPicPr>
          <p:nvPr/>
        </p:nvPicPr>
        <p:blipFill>
          <a:blip r:embed="rId2"/>
          <a:stretch>
            <a:fillRect/>
          </a:stretch>
        </p:blipFill>
        <p:spPr>
          <a:xfrm>
            <a:off x="11155680" y="109728"/>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25400" rIns="25400" tIns="12700" bIns="12700">
            <a:spAutoFit/>
          </a:bodyPr>
          <a:lstStyle/>
          <a:p>
            <a:pPr algn="l"/>
            <a:r>
              <a:rPr sz="1100" b="1">
                <a:solidFill>
                  <a:srgbClr val="3B5998"/>
                </a:solidFill>
                <a:latin typeface="Arial"/>
              </a:rPr>
              <a:t>QUANTCAST  ·  PERFORMANCE</a:t>
            </a:r>
          </a:p>
        </p:txBody>
      </p:sp>
      <p:sp>
        <p:nvSpPr>
          <p:cNvPr id="6" name="TextBox 5"/>
          <p:cNvSpPr txBox="1"/>
          <p:nvPr/>
        </p:nvSpPr>
        <p:spPr>
          <a:xfrm>
            <a:off x="457200" y="841248"/>
            <a:ext cx="11247120" cy="731520"/>
          </a:xfrm>
          <a:prstGeom prst="rect">
            <a:avLst/>
          </a:prstGeom>
          <a:noFill/>
        </p:spPr>
        <p:txBody>
          <a:bodyPr wrap="square" anchor="t" lIns="25400" rIns="25400" tIns="12700" bIns="12700">
            <a:spAutoFit/>
          </a:bodyPr>
          <a:lstStyle/>
          <a:p>
            <a:pPr algn="l"/>
            <a:r>
              <a:rPr sz="2000" b="1">
                <a:solidFill>
                  <a:srgbClr val="1A2A3A"/>
                </a:solidFill>
                <a:latin typeface="Arial"/>
              </a:rPr>
              <a:t>First recorded conversion after the April pixel fix.</a:t>
            </a:r>
          </a:p>
        </p:txBody>
      </p:sp>
      <p:sp>
        <p:nvSpPr>
          <p:cNvPr id="7" name="Rectangle 6"/>
          <p:cNvSpPr/>
          <p:nvPr/>
        </p:nvSpPr>
        <p:spPr>
          <a:xfrm>
            <a:off x="0" y="6601968"/>
            <a:ext cx="12191695" cy="256032"/>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01968"/>
            <a:ext cx="5486400" cy="228600"/>
          </a:xfrm>
          <a:prstGeom prst="rect">
            <a:avLst/>
          </a:prstGeom>
          <a:noFill/>
        </p:spPr>
        <p:txBody>
          <a:bodyPr wrap="square" anchor="ctr" lIns="25400" rIns="25400" tIns="12700" bIns="12700">
            <a:spAutoFit/>
          </a:bodyPr>
          <a:lstStyle/>
          <a:p>
            <a:pPr algn="l"/>
            <a:r>
              <a:rPr sz="800" b="0">
                <a:solidFill>
                  <a:srgbClr val="78828C"/>
                </a:solidFill>
                <a:latin typeface="Arial"/>
              </a:rPr>
              <a:t>Monthly Performance Review</a:t>
            </a:r>
          </a:p>
        </p:txBody>
      </p:sp>
      <p:sp>
        <p:nvSpPr>
          <p:cNvPr id="9" name="TextBox 8"/>
          <p:cNvSpPr txBox="1"/>
          <p:nvPr/>
        </p:nvSpPr>
        <p:spPr>
          <a:xfrm>
            <a:off x="11155680" y="6601968"/>
            <a:ext cx="731520" cy="228600"/>
          </a:xfrm>
          <a:prstGeom prst="rect">
            <a:avLst/>
          </a:prstGeom>
          <a:noFill/>
        </p:spPr>
        <p:txBody>
          <a:bodyPr wrap="square" anchor="ctr" lIns="25400" rIns="25400" tIns="12700" bIns="12700">
            <a:spAutoFit/>
          </a:bodyPr>
          <a:lstStyle/>
          <a:p>
            <a:pPr algn="r"/>
            <a:r>
              <a:rPr sz="800" b="0">
                <a:solidFill>
                  <a:srgbClr val="78828C"/>
                </a:solidFill>
                <a:latin typeface="Arial"/>
              </a:rPr>
              <a:t>6 / 7</a:t>
            </a:r>
          </a:p>
        </p:txBody>
      </p:sp>
      <p:sp>
        <p:nvSpPr>
          <p:cNvPr id="10" name="Rectangle 9"/>
          <p:cNvSpPr/>
          <p:nvPr/>
        </p:nvSpPr>
        <p:spPr>
          <a:xfrm>
            <a:off x="457200"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SPEND</a:t>
            </a:r>
          </a:p>
        </p:txBody>
      </p:sp>
      <p:sp>
        <p:nvSpPr>
          <p:cNvPr id="13" name="TextBox 12"/>
          <p:cNvSpPr txBox="1"/>
          <p:nvPr/>
        </p:nvSpPr>
        <p:spPr>
          <a:xfrm>
            <a:off x="621792"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$26,890</a:t>
            </a:r>
          </a:p>
        </p:txBody>
      </p:sp>
      <p:sp>
        <p:nvSpPr>
          <p:cNvPr id="14" name="Rectangle 13"/>
          <p:cNvSpPr/>
          <p:nvPr/>
        </p:nvSpPr>
        <p:spPr>
          <a:xfrm>
            <a:off x="2304288"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04288"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IMPRESSIONS</a:t>
            </a:r>
          </a:p>
        </p:txBody>
      </p:sp>
      <p:sp>
        <p:nvSpPr>
          <p:cNvPr id="17" name="TextBox 16"/>
          <p:cNvSpPr txBox="1"/>
          <p:nvPr/>
        </p:nvSpPr>
        <p:spPr>
          <a:xfrm>
            <a:off x="2468880"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16.48M</a:t>
            </a:r>
          </a:p>
        </p:txBody>
      </p:sp>
      <p:sp>
        <p:nvSpPr>
          <p:cNvPr id="18" name="Rectangle 17"/>
          <p:cNvSpPr/>
          <p:nvPr/>
        </p:nvSpPr>
        <p:spPr>
          <a:xfrm>
            <a:off x="4151376"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51376"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15968"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CLICKS</a:t>
            </a:r>
          </a:p>
        </p:txBody>
      </p:sp>
      <p:sp>
        <p:nvSpPr>
          <p:cNvPr id="21" name="TextBox 20"/>
          <p:cNvSpPr txBox="1"/>
          <p:nvPr/>
        </p:nvSpPr>
        <p:spPr>
          <a:xfrm>
            <a:off x="4315968"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4,807</a:t>
            </a:r>
          </a:p>
        </p:txBody>
      </p:sp>
      <p:sp>
        <p:nvSpPr>
          <p:cNvPr id="22" name="Rectangle 21"/>
          <p:cNvSpPr/>
          <p:nvPr/>
        </p:nvSpPr>
        <p:spPr>
          <a:xfrm>
            <a:off x="5998464"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98464"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63056"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CPM</a:t>
            </a:r>
          </a:p>
        </p:txBody>
      </p:sp>
      <p:sp>
        <p:nvSpPr>
          <p:cNvPr id="25" name="TextBox 24"/>
          <p:cNvSpPr txBox="1"/>
          <p:nvPr/>
        </p:nvSpPr>
        <p:spPr>
          <a:xfrm>
            <a:off x="6163056"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$1.63</a:t>
            </a:r>
          </a:p>
        </p:txBody>
      </p:sp>
      <p:sp>
        <p:nvSpPr>
          <p:cNvPr id="26" name="Rectangle 25"/>
          <p:cNvSpPr/>
          <p:nvPr/>
        </p:nvSpPr>
        <p:spPr>
          <a:xfrm>
            <a:off x="7845552"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45552"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0144"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AVG CPC</a:t>
            </a:r>
          </a:p>
        </p:txBody>
      </p:sp>
      <p:sp>
        <p:nvSpPr>
          <p:cNvPr id="29" name="TextBox 28"/>
          <p:cNvSpPr txBox="1"/>
          <p:nvPr/>
        </p:nvSpPr>
        <p:spPr>
          <a:xfrm>
            <a:off x="8010144"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$5.59</a:t>
            </a:r>
          </a:p>
        </p:txBody>
      </p:sp>
      <p:sp>
        <p:nvSpPr>
          <p:cNvPr id="30" name="Rectangle 29"/>
          <p:cNvSpPr/>
          <p:nvPr/>
        </p:nvSpPr>
        <p:spPr>
          <a:xfrm>
            <a:off x="9692640" y="1691640"/>
            <a:ext cx="1737360" cy="9144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692640" y="1691640"/>
            <a:ext cx="64008" cy="9144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57232" y="1783080"/>
            <a:ext cx="1508760" cy="274320"/>
          </a:xfrm>
          <a:prstGeom prst="rect">
            <a:avLst/>
          </a:prstGeom>
          <a:noFill/>
        </p:spPr>
        <p:txBody>
          <a:bodyPr wrap="square" anchor="t" lIns="25400" rIns="25400" tIns="12700" bIns="12700">
            <a:spAutoFit/>
          </a:bodyPr>
          <a:lstStyle/>
          <a:p>
            <a:pPr algn="l"/>
            <a:r>
              <a:rPr sz="800" b="1">
                <a:solidFill>
                  <a:srgbClr val="78828C"/>
                </a:solidFill>
                <a:latin typeface="Arial"/>
              </a:rPr>
              <a:t>VIEWABILITY</a:t>
            </a:r>
          </a:p>
        </p:txBody>
      </p:sp>
      <p:sp>
        <p:nvSpPr>
          <p:cNvPr id="33" name="TextBox 32"/>
          <p:cNvSpPr txBox="1"/>
          <p:nvPr/>
        </p:nvSpPr>
        <p:spPr>
          <a:xfrm>
            <a:off x="9857232" y="2039112"/>
            <a:ext cx="1508760" cy="411480"/>
          </a:xfrm>
          <a:prstGeom prst="rect">
            <a:avLst/>
          </a:prstGeom>
          <a:noFill/>
        </p:spPr>
        <p:txBody>
          <a:bodyPr wrap="square" anchor="t" lIns="25400" rIns="25400" tIns="12700" bIns="12700">
            <a:spAutoFit/>
          </a:bodyPr>
          <a:lstStyle/>
          <a:p>
            <a:pPr algn="l"/>
            <a:r>
              <a:rPr sz="1500" b="1">
                <a:solidFill>
                  <a:srgbClr val="1A2A3A"/>
                </a:solidFill>
                <a:latin typeface="Arial"/>
              </a:rPr>
              <a:t>67.1%</a:t>
            </a:r>
          </a:p>
        </p:txBody>
      </p:sp>
      <p:sp>
        <p:nvSpPr>
          <p:cNvPr id="34" name="TextBox 33"/>
          <p:cNvSpPr txBox="1"/>
          <p:nvPr/>
        </p:nvSpPr>
        <p:spPr>
          <a:xfrm>
            <a:off x="457200" y="2926080"/>
            <a:ext cx="5486400" cy="274320"/>
          </a:xfrm>
          <a:prstGeom prst="rect">
            <a:avLst/>
          </a:prstGeom>
          <a:noFill/>
        </p:spPr>
        <p:txBody>
          <a:bodyPr wrap="square" anchor="t" lIns="25400" rIns="25400" tIns="12700" bIns="12700">
            <a:spAutoFit/>
          </a:bodyPr>
          <a:lstStyle/>
          <a:p>
            <a:pPr algn="l"/>
            <a:r>
              <a:rPr sz="1100" b="1">
                <a:solidFill>
                  <a:srgbClr val="1A2A3A"/>
                </a:solidFill>
                <a:latin typeface="Arial"/>
              </a:rPr>
              <a:t>Month over Month</a:t>
            </a:r>
          </a:p>
        </p:txBody>
      </p:sp>
      <p:graphicFrame>
        <p:nvGraphicFramePr>
          <p:cNvPr id="35" name="Table 34"/>
          <p:cNvGraphicFramePr>
            <a:graphicFrameLocks noGrp="1"/>
          </p:cNvGraphicFramePr>
          <p:nvPr/>
        </p:nvGraphicFramePr>
        <p:xfrm>
          <a:off x="457200" y="3246120"/>
          <a:ext cx="5669280" cy="1865376"/>
        </p:xfrm>
        <a:graphic>
          <a:graphicData uri="http://schemas.openxmlformats.org/drawingml/2006/table">
            <a:tbl>
              <a:tblPr>
                <a:tableStyleId>{5C22544A-7EE6-4342-B048-85BDC9FD1C3A}</a:tableStyleId>
              </a:tblPr>
              <a:tblGrid>
                <a:gridCol w="2015744"/>
                <a:gridCol w="1259840"/>
                <a:gridCol w="1259840"/>
                <a:gridCol w="1133856"/>
              </a:tblGrid>
              <a:tr h="310896">
                <a:tc>
                  <a:txBody>
                    <a:bodyPr/>
                    <a:lstStyle/>
                    <a:p>
                      <a:pPr algn="l"/>
                      <a:r>
                        <a:rPr sz="850" b="1">
                          <a:solidFill>
                            <a:srgbClr val="FFFFFF"/>
                          </a:solidFill>
                          <a:latin typeface="Arial"/>
                        </a:rPr>
                        <a:t>Metric</a:t>
                      </a:r>
                    </a:p>
                  </a:txBody>
                  <a:tcPr marL="50800" marR="50800" marT="12700" marB="12700" anchor="ctr">
                    <a:solidFill>
                      <a:srgbClr val="3B5998"/>
                    </a:solidFill>
                  </a:tcPr>
                </a:tc>
                <a:tc>
                  <a:txBody>
                    <a:bodyPr/>
                    <a:lstStyle/>
                    <a:p>
                      <a:pPr algn="r"/>
                      <a:r>
                        <a:rPr sz="850" b="1">
                          <a:solidFill>
                            <a:srgbClr val="FFFFFF"/>
                          </a:solidFill>
                          <a:latin typeface="Arial"/>
                        </a:rPr>
                        <a:t>May</a:t>
                      </a:r>
                    </a:p>
                  </a:txBody>
                  <a:tcPr marL="50800" marR="50800" marT="12700" marB="12700" anchor="ctr">
                    <a:solidFill>
                      <a:srgbClr val="3B5998"/>
                    </a:solidFill>
                  </a:tcPr>
                </a:tc>
                <a:tc>
                  <a:txBody>
                    <a:bodyPr/>
                    <a:lstStyle/>
                    <a:p>
                      <a:pPr algn="r"/>
                      <a:r>
                        <a:rPr sz="850" b="1">
                          <a:solidFill>
                            <a:srgbClr val="FFFFFF"/>
                          </a:solidFill>
                          <a:latin typeface="Arial"/>
                        </a:rPr>
                        <a:t>April</a:t>
                      </a:r>
                    </a:p>
                  </a:txBody>
                  <a:tcPr marL="50800" marR="50800" marT="12700" marB="12700" anchor="ctr">
                    <a:solidFill>
                      <a:srgbClr val="3B5998"/>
                    </a:solidFill>
                  </a:tcPr>
                </a:tc>
                <a:tc>
                  <a:txBody>
                    <a:bodyPr/>
                    <a:lstStyle/>
                    <a:p>
                      <a:pPr algn="r"/>
                      <a:r>
                        <a:rPr sz="850" b="1">
                          <a:solidFill>
                            <a:srgbClr val="FFFFFF"/>
                          </a:solidFill>
                          <a:latin typeface="Arial"/>
                        </a:rPr>
                        <a:t>MoM</a:t>
                      </a:r>
                    </a:p>
                  </a:txBody>
                  <a:tcPr marL="50800" marR="50800" marT="12700" marB="12700" anchor="ctr">
                    <a:solidFill>
                      <a:srgbClr val="3B5998"/>
                    </a:solidFill>
                  </a:tcPr>
                </a:tc>
              </a:tr>
              <a:tr h="310896">
                <a:tc>
                  <a:txBody>
                    <a:bodyPr/>
                    <a:lstStyle/>
                    <a:p>
                      <a:pPr algn="l"/>
                      <a:r>
                        <a:rPr sz="850" b="1">
                          <a:solidFill>
                            <a:srgbClr val="1A2A3A"/>
                          </a:solidFill>
                          <a:latin typeface="Arial"/>
                        </a:rPr>
                        <a:t>Spend</a:t>
                      </a:r>
                    </a:p>
                  </a:txBody>
                  <a:tcPr marL="50800" marR="50800" marT="12700" marB="12700" anchor="ctr">
                    <a:solidFill>
                      <a:srgbClr val="FFFFFF"/>
                    </a:solidFill>
                  </a:tcPr>
                </a:tc>
                <a:tc>
                  <a:txBody>
                    <a:bodyPr/>
                    <a:lstStyle/>
                    <a:p>
                      <a:pPr algn="r"/>
                      <a:r>
                        <a:rPr sz="850" b="0">
                          <a:solidFill>
                            <a:srgbClr val="1A2A3A"/>
                          </a:solidFill>
                          <a:latin typeface="Arial"/>
                        </a:rPr>
                        <a:t>$26,890</a:t>
                      </a:r>
                    </a:p>
                  </a:txBody>
                  <a:tcPr marL="50800" marR="50800" marT="12700" marB="12700" anchor="ctr">
                    <a:solidFill>
                      <a:srgbClr val="FFFFFF"/>
                    </a:solidFill>
                  </a:tcPr>
                </a:tc>
                <a:tc>
                  <a:txBody>
                    <a:bodyPr/>
                    <a:lstStyle/>
                    <a:p>
                      <a:pPr algn="r"/>
                      <a:r>
                        <a:rPr sz="850" b="0">
                          <a:solidFill>
                            <a:srgbClr val="1A2A3A"/>
                          </a:solidFill>
                          <a:latin typeface="Arial"/>
                        </a:rPr>
                        <a:t>$15,005</a:t>
                      </a:r>
                    </a:p>
                  </a:txBody>
                  <a:tcPr marL="50800" marR="50800" marT="12700" marB="12700" anchor="ctr">
                    <a:solidFill>
                      <a:srgbClr val="FFFFFF"/>
                    </a:solidFill>
                  </a:tcPr>
                </a:tc>
                <a:tc>
                  <a:txBody>
                    <a:bodyPr/>
                    <a:lstStyle/>
                    <a:p>
                      <a:pPr algn="r"/>
                      <a:r>
                        <a:rPr sz="850" b="0">
                          <a:solidFill>
                            <a:srgbClr val="1A2A3A"/>
                          </a:solidFill>
                          <a:latin typeface="Arial"/>
                        </a:rPr>
                        <a:t>+79%</a:t>
                      </a:r>
                    </a:p>
                  </a:txBody>
                  <a:tcPr marL="50800" marR="50800" marT="12700" marB="12700" anchor="ctr">
                    <a:solidFill>
                      <a:srgbClr val="FFFFFF"/>
                    </a:solidFill>
                  </a:tcPr>
                </a:tc>
              </a:tr>
              <a:tr h="310896">
                <a:tc>
                  <a:txBody>
                    <a:bodyPr/>
                    <a:lstStyle/>
                    <a:p>
                      <a:pPr algn="l"/>
                      <a:r>
                        <a:rPr sz="850" b="1">
                          <a:solidFill>
                            <a:srgbClr val="1A2A3A"/>
                          </a:solidFill>
                          <a:latin typeface="Arial"/>
                        </a:rPr>
                        <a:t>Impressions</a:t>
                      </a:r>
                    </a:p>
                  </a:txBody>
                  <a:tcPr marL="50800" marR="50800" marT="12700" marB="12700" anchor="ctr">
                    <a:solidFill>
                      <a:srgbClr val="F3F3F3"/>
                    </a:solidFill>
                  </a:tcPr>
                </a:tc>
                <a:tc>
                  <a:txBody>
                    <a:bodyPr/>
                    <a:lstStyle/>
                    <a:p>
                      <a:pPr algn="r"/>
                      <a:r>
                        <a:rPr sz="850" b="0">
                          <a:solidFill>
                            <a:srgbClr val="1A2A3A"/>
                          </a:solidFill>
                          <a:latin typeface="Arial"/>
                        </a:rPr>
                        <a:t>16.48M</a:t>
                      </a:r>
                    </a:p>
                  </a:txBody>
                  <a:tcPr marL="50800" marR="50800" marT="12700" marB="12700" anchor="ctr">
                    <a:solidFill>
                      <a:srgbClr val="F3F3F3"/>
                    </a:solidFill>
                  </a:tcPr>
                </a:tc>
                <a:tc>
                  <a:txBody>
                    <a:bodyPr/>
                    <a:lstStyle/>
                    <a:p>
                      <a:pPr algn="r"/>
                      <a:r>
                        <a:rPr sz="850" b="0">
                          <a:solidFill>
                            <a:srgbClr val="1A2A3A"/>
                          </a:solidFill>
                          <a:latin typeface="Arial"/>
                        </a:rPr>
                        <a:t>7.0M</a:t>
                      </a:r>
                    </a:p>
                  </a:txBody>
                  <a:tcPr marL="50800" marR="50800" marT="12700" marB="12700" anchor="ctr">
                    <a:solidFill>
                      <a:srgbClr val="F3F3F3"/>
                    </a:solidFill>
                  </a:tcPr>
                </a:tc>
                <a:tc>
                  <a:txBody>
                    <a:bodyPr/>
                    <a:lstStyle/>
                    <a:p>
                      <a:pPr algn="r"/>
                      <a:r>
                        <a:rPr sz="850" b="0">
                          <a:solidFill>
                            <a:srgbClr val="1A2A3A"/>
                          </a:solidFill>
                          <a:latin typeface="Arial"/>
                        </a:rPr>
                        <a:t>+135%</a:t>
                      </a:r>
                    </a:p>
                  </a:txBody>
                  <a:tcPr marL="50800" marR="50800" marT="12700" marB="12700" anchor="ctr">
                    <a:solidFill>
                      <a:srgbClr val="F3F3F3"/>
                    </a:solidFill>
                  </a:tcPr>
                </a:tc>
              </a:tr>
              <a:tr h="310896">
                <a:tc>
                  <a:txBody>
                    <a:bodyPr/>
                    <a:lstStyle/>
                    <a:p>
                      <a:pPr algn="l"/>
                      <a:r>
                        <a:rPr sz="850" b="1">
                          <a:solidFill>
                            <a:srgbClr val="1A2A3A"/>
                          </a:solidFill>
                          <a:latin typeface="Arial"/>
                        </a:rPr>
                        <a:t>CPM</a:t>
                      </a:r>
                    </a:p>
                  </a:txBody>
                  <a:tcPr marL="50800" marR="50800" marT="12700" marB="12700" anchor="ctr">
                    <a:solidFill>
                      <a:srgbClr val="FFFFFF"/>
                    </a:solidFill>
                  </a:tcPr>
                </a:tc>
                <a:tc>
                  <a:txBody>
                    <a:bodyPr/>
                    <a:lstStyle/>
                    <a:p>
                      <a:pPr algn="r"/>
                      <a:r>
                        <a:rPr sz="850" b="0">
                          <a:solidFill>
                            <a:srgbClr val="1A2A3A"/>
                          </a:solidFill>
                          <a:latin typeface="Arial"/>
                        </a:rPr>
                        <a:t>$1.63</a:t>
                      </a:r>
                    </a:p>
                  </a:txBody>
                  <a:tcPr marL="50800" marR="50800" marT="12700" marB="12700" anchor="ctr">
                    <a:solidFill>
                      <a:srgbClr val="FFFFFF"/>
                    </a:solidFill>
                  </a:tcPr>
                </a:tc>
                <a:tc>
                  <a:txBody>
                    <a:bodyPr/>
                    <a:lstStyle/>
                    <a:p>
                      <a:pPr algn="r"/>
                      <a:r>
                        <a:rPr sz="850" b="0">
                          <a:solidFill>
                            <a:srgbClr val="1A2A3A"/>
                          </a:solidFill>
                          <a:latin typeface="Arial"/>
                        </a:rPr>
                        <a:t>$2.14</a:t>
                      </a:r>
                    </a:p>
                  </a:txBody>
                  <a:tcPr marL="50800" marR="50800" marT="12700" marB="12700" anchor="ctr">
                    <a:solidFill>
                      <a:srgbClr val="FFFFFF"/>
                    </a:solidFill>
                  </a:tcPr>
                </a:tc>
                <a:tc>
                  <a:txBody>
                    <a:bodyPr/>
                    <a:lstStyle/>
                    <a:p>
                      <a:pPr algn="r"/>
                      <a:r>
                        <a:rPr sz="850" b="0">
                          <a:solidFill>
                            <a:srgbClr val="1A2A3A"/>
                          </a:solidFill>
                          <a:latin typeface="Arial"/>
                        </a:rPr>
                        <a:t>-24%</a:t>
                      </a:r>
                    </a:p>
                  </a:txBody>
                  <a:tcPr marL="50800" marR="50800" marT="12700" marB="12700" anchor="ctr">
                    <a:solidFill>
                      <a:srgbClr val="FFFFFF"/>
                    </a:solidFill>
                  </a:tcPr>
                </a:tc>
              </a:tr>
              <a:tr h="310896">
                <a:tc>
                  <a:txBody>
                    <a:bodyPr/>
                    <a:lstStyle/>
                    <a:p>
                      <a:pPr algn="l"/>
                      <a:r>
                        <a:rPr sz="850" b="1">
                          <a:solidFill>
                            <a:srgbClr val="1A2A3A"/>
                          </a:solidFill>
                          <a:latin typeface="Arial"/>
                        </a:rPr>
                        <a:t>Conversions</a:t>
                      </a:r>
                    </a:p>
                  </a:txBody>
                  <a:tcPr marL="50800" marR="50800" marT="12700" marB="12700" anchor="ctr">
                    <a:solidFill>
                      <a:srgbClr val="F3F3F3"/>
                    </a:solidFill>
                  </a:tcPr>
                </a:tc>
                <a:tc>
                  <a:txBody>
                    <a:bodyPr/>
                    <a:lstStyle/>
                    <a:p>
                      <a:pPr algn="r"/>
                      <a:r>
                        <a:rPr sz="850" b="0">
                          <a:solidFill>
                            <a:srgbClr val="1A2A3A"/>
                          </a:solidFill>
                          <a:latin typeface="Arial"/>
                        </a:rPr>
                        <a:t>1</a:t>
                      </a:r>
                    </a:p>
                  </a:txBody>
                  <a:tcPr marL="50800" marR="50800" marT="12700" marB="12700" anchor="ctr">
                    <a:solidFill>
                      <a:srgbClr val="F3F3F3"/>
                    </a:solidFill>
                  </a:tcPr>
                </a:tc>
                <a:tc>
                  <a:txBody>
                    <a:bodyPr/>
                    <a:lstStyle/>
                    <a:p>
                      <a:pPr algn="r"/>
                      <a:r>
                        <a:rPr sz="850" b="0">
                          <a:solidFill>
                            <a:srgbClr val="1A2A3A"/>
                          </a:solidFill>
                          <a:latin typeface="Arial"/>
                        </a:rPr>
                        <a:t>0</a:t>
                      </a:r>
                    </a:p>
                  </a:txBody>
                  <a:tcPr marL="50800" marR="50800" marT="12700" marB="12700" anchor="ctr">
                    <a:solidFill>
                      <a:srgbClr val="F3F3F3"/>
                    </a:solidFill>
                  </a:tcPr>
                </a:tc>
                <a:tc>
                  <a:txBody>
                    <a:bodyPr/>
                    <a:lstStyle/>
                    <a:p>
                      <a:pPr algn="r"/>
                      <a:r>
                        <a:rPr sz="850" b="0">
                          <a:solidFill>
                            <a:srgbClr val="1A2A3A"/>
                          </a:solidFill>
                          <a:latin typeface="Arial"/>
                        </a:rPr>
                        <a:t>+1</a:t>
                      </a:r>
                    </a:p>
                  </a:txBody>
                  <a:tcPr marL="50800" marR="50800" marT="12700" marB="12700" anchor="ctr">
                    <a:solidFill>
                      <a:srgbClr val="F3F3F3"/>
                    </a:solidFill>
                  </a:tcPr>
                </a:tc>
              </a:tr>
              <a:tr h="310896">
                <a:tc>
                  <a:txBody>
                    <a:bodyPr/>
                    <a:lstStyle/>
                    <a:p>
                      <a:pPr algn="l"/>
                      <a:r>
                        <a:rPr sz="850" b="1">
                          <a:solidFill>
                            <a:srgbClr val="1A2A3A"/>
                          </a:solidFill>
                          <a:latin typeface="Arial"/>
                        </a:rPr>
                        <a:t>Viewability</a:t>
                      </a:r>
                    </a:p>
                  </a:txBody>
                  <a:tcPr marL="50800" marR="50800" marT="12700" marB="12700" anchor="ctr">
                    <a:solidFill>
                      <a:srgbClr val="FFFFFF"/>
                    </a:solidFill>
                  </a:tcPr>
                </a:tc>
                <a:tc>
                  <a:txBody>
                    <a:bodyPr/>
                    <a:lstStyle/>
                    <a:p>
                      <a:pPr algn="r"/>
                      <a:r>
                        <a:rPr sz="850" b="0">
                          <a:solidFill>
                            <a:srgbClr val="1A2A3A"/>
                          </a:solidFill>
                          <a:latin typeface="Arial"/>
                        </a:rPr>
                        <a:t>67.1%</a:t>
                      </a:r>
                    </a:p>
                  </a:txBody>
                  <a:tcPr marL="50800" marR="50800" marT="12700" marB="12700" anchor="ctr">
                    <a:solidFill>
                      <a:srgbClr val="FFFFFF"/>
                    </a:solidFill>
                  </a:tcPr>
                </a:tc>
                <a:tc>
                  <a:txBody>
                    <a:bodyPr/>
                    <a:lstStyle/>
                    <a:p>
                      <a:pPr algn="r"/>
                      <a:r>
                        <a:rPr sz="850" b="0">
                          <a:solidFill>
                            <a:srgbClr val="1A2A3A"/>
                          </a:solidFill>
                          <a:latin typeface="Arial"/>
                        </a:rPr>
                        <a:t>66.2%</a:t>
                      </a:r>
                    </a:p>
                  </a:txBody>
                  <a:tcPr marL="50800" marR="50800" marT="12700" marB="12700" anchor="ctr">
                    <a:solidFill>
                      <a:srgbClr val="FFFFFF"/>
                    </a:solidFill>
                  </a:tcPr>
                </a:tc>
                <a:tc>
                  <a:txBody>
                    <a:bodyPr/>
                    <a:lstStyle/>
                    <a:p>
                      <a:pPr algn="r"/>
                      <a:r>
                        <a:rPr sz="850" b="0">
                          <a:solidFill>
                            <a:srgbClr val="1A2A3A"/>
                          </a:solidFill>
                          <a:latin typeface="Arial"/>
                        </a:rPr>
                        <a:t>+0.9pp</a:t>
                      </a:r>
                    </a:p>
                  </a:txBody>
                  <a:tcPr marL="50800" marR="50800" marT="12700" marB="12700" anchor="ctr">
                    <a:solidFill>
                      <a:srgbClr val="FFFFFF"/>
                    </a:solidFill>
                  </a:tcPr>
                </a:tc>
              </a:tr>
            </a:tbl>
          </a:graphicData>
        </a:graphic>
      </p:graphicFrame>
      <p:sp>
        <p:nvSpPr>
          <p:cNvPr id="36" name="Rectangle 35"/>
          <p:cNvSpPr/>
          <p:nvPr/>
        </p:nvSpPr>
        <p:spPr>
          <a:xfrm>
            <a:off x="6400800" y="1691640"/>
            <a:ext cx="5303520" cy="4572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1691640"/>
            <a:ext cx="5303520" cy="54864"/>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1819656"/>
            <a:ext cx="4937759" cy="274320"/>
          </a:xfrm>
          <a:prstGeom prst="rect">
            <a:avLst/>
          </a:prstGeom>
          <a:noFill/>
        </p:spPr>
        <p:txBody>
          <a:bodyPr wrap="square" anchor="t" lIns="25400" rIns="25400" tIns="12700" bIns="12700">
            <a:spAutoFit/>
          </a:bodyPr>
          <a:lstStyle/>
          <a:p>
            <a:pPr algn="l"/>
            <a:r>
              <a:rPr sz="1000" b="1">
                <a:solidFill>
                  <a:srgbClr val="3B5998"/>
                </a:solidFill>
                <a:latin typeface="Arial"/>
              </a:rPr>
              <a:t>READ</a:t>
            </a:r>
          </a:p>
        </p:txBody>
      </p:sp>
      <p:sp>
        <p:nvSpPr>
          <p:cNvPr id="39" name="TextBox 38"/>
          <p:cNvSpPr txBox="1"/>
          <p:nvPr/>
        </p:nvSpPr>
        <p:spPr>
          <a:xfrm>
            <a:off x="6583680" y="2148840"/>
            <a:ext cx="4937759" cy="4023360"/>
          </a:xfrm>
          <a:prstGeom prst="rect">
            <a:avLst/>
          </a:prstGeom>
          <a:noFill/>
        </p:spPr>
        <p:txBody>
          <a:bodyPr wrap="square" anchor="t" lIns="25400" rIns="25400" tIns="12700" bIns="12700">
            <a:spAutoFit/>
          </a:bodyPr>
          <a:lstStyle/>
          <a:p>
            <a:pPr algn="l"/>
            <a:r>
              <a:rPr sz="950" b="0">
                <a:solidFill>
                  <a:srgbClr val="32373E"/>
                </a:solidFill>
                <a:latin typeface="Arial"/>
              </a:rPr>
              <a:t>Quantcast recorded its first GGMI conversion (one click-through) after the April pixel fix. This is directional confirmation that tracking now fires; the volume is not yet meaningful.</a:t>
            </a:r>
          </a:p>
          <a:p>
            <a:pPr algn="l"/>
            <a:r>
              <a:rPr sz="950" b="0">
                <a:solidFill>
                  <a:srgbClr val="32373E"/>
                </a:solidFill>
                <a:latin typeface="Arial"/>
              </a:rPr>
              <a:t/>
            </a:r>
          </a:p>
          <a:p>
            <a:pPr algn="l"/>
            <a:r>
              <a:rPr sz="950" b="0">
                <a:solidFill>
                  <a:srgbClr val="32373E"/>
                </a:solidFill>
                <a:latin typeface="Arial"/>
              </a:rPr>
              <a:t>Delivery scaled efficiently: impressions up 135% as CPM fell 24% to $1.63.</a:t>
            </a:r>
          </a:p>
          <a:p>
            <a:pPr algn="l"/>
            <a:r>
              <a:rPr sz="950" b="0">
                <a:solidFill>
                  <a:srgbClr val="32373E"/>
                </a:solidFill>
                <a:latin typeface="Arial"/>
              </a:rPr>
              <a:t/>
            </a:r>
          </a:p>
          <a:p>
            <a:pPr algn="l"/>
            <a:r>
              <a:rPr sz="950" b="0">
                <a:solidFill>
                  <a:srgbClr val="32373E"/>
                </a:solidFill>
                <a:latin typeface="Arial"/>
              </a:rPr>
              <a:t>Viewability of 67.1% remains below the 70% IAB standard, consistent with April.</a:t>
            </a:r>
          </a:p>
          <a:p>
            <a:pPr algn="l"/>
            <a:r>
              <a:rPr sz="950" b="0">
                <a:solidFill>
                  <a:srgbClr val="32373E"/>
                </a:solidFill>
                <a:latin typeface="Arial"/>
              </a:rPr>
              <a:t/>
            </a:r>
          </a:p>
          <a:p>
            <a:pPr algn="l"/>
            <a:r>
              <a:rPr sz="950" b="0">
                <a:solidFill>
                  <a:srgbClr val="32373E"/>
                </a:solidFill>
                <a:latin typeface="Arial"/>
              </a:rPr>
              <a:t>The Q+ conversion campaign launched May 19 with no recorded May delivery. Confirm June activation.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229600" cy="274320"/>
          </a:xfrm>
          <a:prstGeom prst="rect">
            <a:avLst/>
          </a:prstGeom>
          <a:noFill/>
        </p:spPr>
        <p:txBody>
          <a:bodyPr wrap="square" anchor="ctr" lIns="25400" rIns="25400" tIns="12700" bIns="12700">
            <a:spAutoFit/>
          </a:bodyPr>
          <a:lstStyle/>
          <a:p>
            <a:pPr algn="l"/>
            <a:r>
              <a:rPr sz="900" b="1">
                <a:solidFill>
                  <a:srgbClr val="FFFFFF"/>
                </a:solidFill>
                <a:latin typeface="Arial"/>
              </a:rPr>
              <a:t>FOREX.com  |  GGMI (LATAM)  ·  May 2026</a:t>
            </a:r>
          </a:p>
        </p:txBody>
      </p:sp>
      <p:pic>
        <p:nvPicPr>
          <p:cNvPr id="4" name="Picture 3" descr="img_0_0.5_0.5.png"/>
          <p:cNvPicPr>
            <a:picLocks noChangeAspect="1"/>
          </p:cNvPicPr>
          <p:nvPr/>
        </p:nvPicPr>
        <p:blipFill>
          <a:blip r:embed="rId2"/>
          <a:stretch>
            <a:fillRect/>
          </a:stretch>
        </p:blipFill>
        <p:spPr>
          <a:xfrm>
            <a:off x="11155680" y="109728"/>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25400" rIns="25400" tIns="12700" bIns="12700">
            <a:spAutoFit/>
          </a:bodyPr>
          <a:lstStyle/>
          <a:p>
            <a:pPr algn="l"/>
            <a:r>
              <a:rPr sz="1100" b="1">
                <a:solidFill>
                  <a:srgbClr val="3B5998"/>
                </a:solidFill>
                <a:latin typeface="Arial"/>
              </a:rPr>
              <a:t>RECOMMENDATIONS &amp; NEXT STEPS</a:t>
            </a:r>
          </a:p>
        </p:txBody>
      </p:sp>
      <p:sp>
        <p:nvSpPr>
          <p:cNvPr id="6" name="TextBox 5"/>
          <p:cNvSpPr txBox="1"/>
          <p:nvPr/>
        </p:nvSpPr>
        <p:spPr>
          <a:xfrm>
            <a:off x="457200" y="841248"/>
            <a:ext cx="11247120" cy="731520"/>
          </a:xfrm>
          <a:prstGeom prst="rect">
            <a:avLst/>
          </a:prstGeom>
          <a:noFill/>
        </p:spPr>
        <p:txBody>
          <a:bodyPr wrap="square" anchor="t" lIns="25400" rIns="25400" tIns="12700" bIns="12700">
            <a:spAutoFit/>
          </a:bodyPr>
          <a:lstStyle/>
          <a:p>
            <a:pPr algn="l"/>
            <a:r>
              <a:rPr sz="2000" b="1">
                <a:solidFill>
                  <a:srgbClr val="1A2A3A"/>
                </a:solidFill>
                <a:latin typeface="Arial"/>
              </a:rPr>
              <a:t>Fix the funnel. Finish the measurement.</a:t>
            </a:r>
          </a:p>
        </p:txBody>
      </p:sp>
      <p:sp>
        <p:nvSpPr>
          <p:cNvPr id="7" name="Rectangle 6"/>
          <p:cNvSpPr/>
          <p:nvPr/>
        </p:nvSpPr>
        <p:spPr>
          <a:xfrm>
            <a:off x="0" y="6601968"/>
            <a:ext cx="12191695" cy="256032"/>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01968"/>
            <a:ext cx="5486400" cy="228600"/>
          </a:xfrm>
          <a:prstGeom prst="rect">
            <a:avLst/>
          </a:prstGeom>
          <a:noFill/>
        </p:spPr>
        <p:txBody>
          <a:bodyPr wrap="square" anchor="ctr" lIns="25400" rIns="25400" tIns="12700" bIns="12700">
            <a:spAutoFit/>
          </a:bodyPr>
          <a:lstStyle/>
          <a:p>
            <a:pPr algn="l"/>
            <a:r>
              <a:rPr sz="800" b="0">
                <a:solidFill>
                  <a:srgbClr val="78828C"/>
                </a:solidFill>
                <a:latin typeface="Arial"/>
              </a:rPr>
              <a:t>Monthly Performance Review</a:t>
            </a:r>
          </a:p>
        </p:txBody>
      </p:sp>
      <p:sp>
        <p:nvSpPr>
          <p:cNvPr id="9" name="TextBox 8"/>
          <p:cNvSpPr txBox="1"/>
          <p:nvPr/>
        </p:nvSpPr>
        <p:spPr>
          <a:xfrm>
            <a:off x="11155680" y="6601968"/>
            <a:ext cx="731520" cy="228600"/>
          </a:xfrm>
          <a:prstGeom prst="rect">
            <a:avLst/>
          </a:prstGeom>
          <a:noFill/>
        </p:spPr>
        <p:txBody>
          <a:bodyPr wrap="square" anchor="ctr" lIns="25400" rIns="25400" tIns="12700" bIns="12700">
            <a:spAutoFit/>
          </a:bodyPr>
          <a:lstStyle/>
          <a:p>
            <a:pPr algn="r"/>
            <a:r>
              <a:rPr sz="800" b="0">
                <a:solidFill>
                  <a:srgbClr val="78828C"/>
                </a:solidFill>
                <a:latin typeface="Arial"/>
              </a:rPr>
              <a:t>7 / 7</a:t>
            </a:r>
          </a:p>
        </p:txBody>
      </p:sp>
      <p:sp>
        <p:nvSpPr>
          <p:cNvPr id="10" name="Rectangle 9"/>
          <p:cNvSpPr/>
          <p:nvPr/>
        </p:nvSpPr>
        <p:spPr>
          <a:xfrm>
            <a:off x="457200" y="1691640"/>
            <a:ext cx="3703320" cy="42062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3703320" cy="5486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819656"/>
            <a:ext cx="3337560" cy="274320"/>
          </a:xfrm>
          <a:prstGeom prst="rect">
            <a:avLst/>
          </a:prstGeom>
          <a:noFill/>
        </p:spPr>
        <p:txBody>
          <a:bodyPr wrap="square" anchor="t" lIns="25400" rIns="25400" tIns="12700" bIns="12700">
            <a:spAutoFit/>
          </a:bodyPr>
          <a:lstStyle/>
          <a:p>
            <a:pPr algn="l"/>
            <a:r>
              <a:rPr sz="1000" b="1">
                <a:solidFill>
                  <a:srgbClr val="E74C3C"/>
                </a:solidFill>
                <a:latin typeface="Arial"/>
              </a:rPr>
              <a:t>CRITICAL</a:t>
            </a:r>
          </a:p>
        </p:txBody>
      </p:sp>
      <p:sp>
        <p:nvSpPr>
          <p:cNvPr id="13" name="TextBox 12"/>
          <p:cNvSpPr txBox="1"/>
          <p:nvPr/>
        </p:nvSpPr>
        <p:spPr>
          <a:xfrm>
            <a:off x="640080" y="2148840"/>
            <a:ext cx="3337560" cy="3657599"/>
          </a:xfrm>
          <a:prstGeom prst="rect">
            <a:avLst/>
          </a:prstGeom>
          <a:noFill/>
        </p:spPr>
        <p:txBody>
          <a:bodyPr wrap="square" anchor="t" lIns="25400" rIns="25400" tIns="12700" bIns="12700">
            <a:spAutoFit/>
          </a:bodyPr>
          <a:lstStyle/>
          <a:p>
            <a:pPr algn="l"/>
            <a:r>
              <a:rPr sz="950" b="0">
                <a:solidFill>
                  <a:srgbClr val="32373E"/>
                </a:solidFill>
                <a:latin typeface="Arial"/>
              </a:rPr>
              <a:t>Prioritize the Mexico landing page and application flow. It is the binding constraint across Meta, Quantcast, and Bing. Until it improves, added media spend will not convert.</a:t>
            </a:r>
          </a:p>
        </p:txBody>
      </p:sp>
      <p:sp>
        <p:nvSpPr>
          <p:cNvPr id="14" name="Rectangle 13"/>
          <p:cNvSpPr/>
          <p:nvPr/>
        </p:nvSpPr>
        <p:spPr>
          <a:xfrm>
            <a:off x="4343400" y="1691640"/>
            <a:ext cx="3703320" cy="42062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691640"/>
            <a:ext cx="3703320" cy="54864"/>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819656"/>
            <a:ext cx="3337560" cy="274320"/>
          </a:xfrm>
          <a:prstGeom prst="rect">
            <a:avLst/>
          </a:prstGeom>
          <a:noFill/>
        </p:spPr>
        <p:txBody>
          <a:bodyPr wrap="square" anchor="t" lIns="25400" rIns="25400" tIns="12700" bIns="12700">
            <a:spAutoFit/>
          </a:bodyPr>
          <a:lstStyle/>
          <a:p>
            <a:pPr algn="l"/>
            <a:r>
              <a:rPr sz="1000" b="1">
                <a:solidFill>
                  <a:srgbClr val="3B5998"/>
                </a:solidFill>
                <a:latin typeface="Arial"/>
              </a:rPr>
              <a:t>HIGH</a:t>
            </a:r>
          </a:p>
        </p:txBody>
      </p:sp>
      <p:sp>
        <p:nvSpPr>
          <p:cNvPr id="17" name="TextBox 16"/>
          <p:cNvSpPr txBox="1"/>
          <p:nvPr/>
        </p:nvSpPr>
        <p:spPr>
          <a:xfrm>
            <a:off x="4526280" y="2148840"/>
            <a:ext cx="3337560" cy="3657599"/>
          </a:xfrm>
          <a:prstGeom prst="rect">
            <a:avLst/>
          </a:prstGeom>
          <a:noFill/>
        </p:spPr>
        <p:txBody>
          <a:bodyPr wrap="square" anchor="t" lIns="25400" rIns="25400" tIns="12700" bIns="12700">
            <a:spAutoFit/>
          </a:bodyPr>
          <a:lstStyle/>
          <a:p>
            <a:pPr algn="l"/>
            <a:r>
              <a:rPr sz="950" b="0">
                <a:solidFill>
                  <a:srgbClr val="32373E"/>
                </a:solidFill>
                <a:latin typeface="Arial"/>
              </a:rPr>
              <a:t>Scale Bing, the most efficient converter (33 submitted applications at $484), on its proven brand and platform terms. Validate the new TradingView keyword theme (24% of spend at higher CPCs) against measured conversions.</a:t>
            </a:r>
          </a:p>
        </p:txBody>
      </p:sp>
      <p:sp>
        <p:nvSpPr>
          <p:cNvPr id="18" name="Rectangle 17"/>
          <p:cNvSpPr/>
          <p:nvPr/>
        </p:nvSpPr>
        <p:spPr>
          <a:xfrm>
            <a:off x="8229600" y="1691640"/>
            <a:ext cx="3703320" cy="42062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691640"/>
            <a:ext cx="370332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819656"/>
            <a:ext cx="3337560" cy="274320"/>
          </a:xfrm>
          <a:prstGeom prst="rect">
            <a:avLst/>
          </a:prstGeom>
          <a:noFill/>
        </p:spPr>
        <p:txBody>
          <a:bodyPr wrap="square" anchor="t" lIns="25400" rIns="25400" tIns="12700" bIns="12700">
            <a:spAutoFit/>
          </a:bodyPr>
          <a:lstStyle/>
          <a:p>
            <a:pPr algn="l"/>
            <a:r>
              <a:rPr sz="1000" b="1">
                <a:solidFill>
                  <a:srgbClr val="27AE60"/>
                </a:solidFill>
                <a:latin typeface="Arial"/>
              </a:rPr>
              <a:t>OPPORTUNITY</a:t>
            </a:r>
          </a:p>
        </p:txBody>
      </p:sp>
      <p:sp>
        <p:nvSpPr>
          <p:cNvPr id="21" name="TextBox 20"/>
          <p:cNvSpPr txBox="1"/>
          <p:nvPr/>
        </p:nvSpPr>
        <p:spPr>
          <a:xfrm>
            <a:off x="8412480" y="2148840"/>
            <a:ext cx="3337560" cy="3657599"/>
          </a:xfrm>
          <a:prstGeom prst="rect">
            <a:avLst/>
          </a:prstGeom>
          <a:noFill/>
        </p:spPr>
        <p:txBody>
          <a:bodyPr wrap="square" anchor="t" lIns="25400" rIns="25400" tIns="12700" bIns="12700">
            <a:spAutoFit/>
          </a:bodyPr>
          <a:lstStyle/>
          <a:p>
            <a:pPr algn="l"/>
            <a:r>
              <a:rPr sz="950" b="0">
                <a:solidFill>
                  <a:srgbClr val="32373E"/>
                </a:solidFill>
                <a:latin typeface="Arial"/>
              </a:rPr>
              <a:t>Hold Azerion budget pace until completion CPA stabilizes, and upscale against sites driving the most new Mexico visits. Lift Quantcast viewability toward the 70% IAB standard.</a:t>
            </a:r>
          </a:p>
        </p:txBody>
      </p:sp>
      <p:sp>
        <p:nvSpPr>
          <p:cNvPr id="22" name="Rectangle 21"/>
          <p:cNvSpPr/>
          <p:nvPr/>
        </p:nvSpPr>
        <p:spPr>
          <a:xfrm>
            <a:off x="457200" y="6035040"/>
            <a:ext cx="11247120" cy="6400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6035040"/>
            <a:ext cx="11247120" cy="54864"/>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163055"/>
            <a:ext cx="10881360" cy="274320"/>
          </a:xfrm>
          <a:prstGeom prst="rect">
            <a:avLst/>
          </a:prstGeom>
          <a:noFill/>
        </p:spPr>
        <p:txBody>
          <a:bodyPr wrap="square" anchor="t" lIns="25400" rIns="25400" tIns="12700" bIns="12700">
            <a:spAutoFit/>
          </a:bodyPr>
          <a:lstStyle/>
          <a:p>
            <a:pPr algn="l"/>
            <a:r>
              <a:rPr sz="1000" b="1">
                <a:solidFill>
                  <a:srgbClr val="3B5998"/>
                </a:solidFill>
                <a:latin typeface="Arial"/>
              </a:rPr>
              <a:t>NEXT MONTH</a:t>
            </a:r>
          </a:p>
        </p:txBody>
      </p:sp>
      <p:sp>
        <p:nvSpPr>
          <p:cNvPr id="25" name="TextBox 24"/>
          <p:cNvSpPr txBox="1"/>
          <p:nvPr/>
        </p:nvSpPr>
        <p:spPr>
          <a:xfrm>
            <a:off x="640080" y="6492240"/>
            <a:ext cx="10881360" cy="91439"/>
          </a:xfrm>
          <a:prstGeom prst="rect">
            <a:avLst/>
          </a:prstGeom>
          <a:noFill/>
        </p:spPr>
        <p:txBody>
          <a:bodyPr wrap="square" anchor="t" lIns="25400" rIns="25400" tIns="12700" bIns="12700">
            <a:spAutoFit/>
          </a:bodyPr>
          <a:lstStyle/>
          <a:p>
            <a:pPr algn="l"/>
            <a:r>
              <a:rPr sz="950" b="0">
                <a:solidFill>
                  <a:srgbClr val="32373E"/>
                </a:solidFill>
                <a:latin typeface="Arial"/>
              </a:rPr>
              <a:t>Scale Bing on its proven terms, and re-baseline once the Mexico landing-page fix lifts Meta and Quantcast.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