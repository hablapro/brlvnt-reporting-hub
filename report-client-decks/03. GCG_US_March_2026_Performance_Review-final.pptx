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442267-745C-49DC-82B0-885F7A3D537B}">
  <a:tblStyle styleId="{B1442267-745C-49DC-82B0-885F7A3D537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F1535"/>
          </a:solidFill>
          <a:ln cap="flat" cmpd="sng" w="12700">
            <a:solidFill>
              <a:srgbClr val="0F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2103120"/>
            <a:ext cx="137160" cy="201168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6060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GCG (US Hispanic) - Paid Media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611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Georgia"/>
              <a:buNone/>
            </a:pPr>
            <a:r>
              <a:rPr b="0" i="1" lang="en-US" sz="2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March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4389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Google Ads · Meta · Quantcast · Azerion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Prepared by Berelvant  ·  04.13.2026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 title="forex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428624"/>
            <a:ext cx="2466525" cy="70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title="berelvant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7474" y="6148599"/>
            <a:ext cx="160018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Total Spend March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" name="Google Shape;35;p4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2103125"/>
                <a:gridCol w="822950"/>
                <a:gridCol w="1188725"/>
                <a:gridCol w="1554475"/>
                <a:gridCol w="1188725"/>
                <a:gridCol w="822950"/>
                <a:gridCol w="1737350"/>
                <a:gridCol w="1828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Impressions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 / Cost-per-event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Ads (Search)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$15,209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122,836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9,711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7.91%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tracked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 - no pixel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(CTR)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$5,946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325,752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11,323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3.46%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 Start / 1 Submit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$112 / Start App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Quantcast (Programmatic)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$12,159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5,856,016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1,241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VT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$5,830 CPA </a:t>
                      </a: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no pixel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Azerion (Programmatic)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$15,793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2,494,890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3,028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$2,256 CPA</a:t>
                      </a: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no pixel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/ BLENDED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</a:t>
                      </a:r>
                      <a:r>
                        <a:rPr b="1"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9,107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8,799,494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25,303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 events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36" name="Google Shape;36;p4"/>
          <p:cNvSpPr/>
          <p:nvPr/>
        </p:nvSpPr>
        <p:spPr>
          <a:xfrm>
            <a:off x="457200" y="4343400"/>
            <a:ext cx="6858000" cy="20574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40080" y="443484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HEADLINES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85800" y="4754880"/>
            <a:ext cx="6446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Google Ads delivered 9,711 clicks at 7.91% CTR. Campaigns ran budget-limited throughout March, indicating strong demand. Conversion tracking setup is in progress with the Central Team.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Meta generated 53 Start Applications at $112 CPA — competitive for the financial services category.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Quantcast delivered 5.9M impressions at $1.99 CPM across the US Hispanic audience.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Azerion launched mid-March and produced 7 conversions at $2,256 CPA in a ramp-up period.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498080" y="4343400"/>
            <a:ext cx="4206240" cy="2057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680960" y="44348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CRITICAL ISSUE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680960" y="47091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APRIL PRIORITY: COMPLETE TRACKING SETUP</a:t>
            </a:r>
            <a:endParaRPr b="1" sz="19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680960" y="5148873"/>
            <a:ext cx="393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Conversion tracking is in progress across Google Ads, Meta, and programmatic channels via the Central Team. Once live, full-funnel CPA and ROAS reporting becomes available. Campaign CIDs from Mateus and Laura are also needed to enable cross-system attribution. These two items are the primary prerequisites for a complete April performance read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4" title="berelvant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GOOGLE ADS  · 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841248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Strong delivery</a:t>
            </a: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from CTR standpoint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5720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2179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2179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$15,209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35458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235458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51917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51917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122,836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25196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25196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41655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41655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9,711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14934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14934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31393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31393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7.91%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04672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04672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21131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AVG CPC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21131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$1.57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94410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994410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010869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10869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108692" y="2350008"/>
            <a:ext cx="153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No pixel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74320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Campaign Breakdown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" name="Google Shape;82;p5"/>
          <p:cNvGraphicFramePr/>
          <p:nvPr/>
        </p:nvGraphicFramePr>
        <p:xfrm>
          <a:off x="45720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2194550"/>
                <a:gridCol w="914400"/>
                <a:gridCol w="914400"/>
                <a:gridCol w="1005850"/>
                <a:gridCol w="1005850"/>
                <a:gridCol w="10972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CPC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 IS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 Lost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TrackA Trust (Non-Brand)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$5,320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10.08%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$1.08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10.6%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TrackB Authority (Non-Brand)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$4,560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7.45%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$1.70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16.9%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71.2%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TrackB Platform (Non-Brand)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$3,040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5.37%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 Search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$2,288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9.29%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$12.64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" name="Google Shape;83;p5"/>
          <p:cNvSpPr/>
          <p:nvPr/>
        </p:nvSpPr>
        <p:spPr>
          <a:xfrm>
            <a:off x="7863840" y="27432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Device Mix (% of spend)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0" y="3017520"/>
            <a:ext cx="4206300" cy="30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5" title="berelvant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365750" y="5133075"/>
            <a:ext cx="7498200" cy="1359300"/>
          </a:xfrm>
          <a:prstGeom prst="rect">
            <a:avLst/>
          </a:prstGeom>
          <a:solidFill>
            <a:srgbClr val="FFFFFF"/>
          </a:solidFill>
          <a:ln cap="flat" cmpd="sng" w="67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65750" y="5133066"/>
            <a:ext cx="51600" cy="13593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08144" y="5184846"/>
            <a:ext cx="78966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25" lIns="32350" spcFirstLastPara="1" rIns="32350" wrap="square" tIns="12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Highlights</a:t>
            </a:r>
            <a:endParaRPr b="1" sz="849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08150" y="5424325"/>
            <a:ext cx="72642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25" lIns="32350" spcFirstLastPara="1" rIns="32350" wrap="square" tIns="129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43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Search is generating high-intent traffic at efficient cost. A 7.91% blended CTR and $1.57 average CPC are strong for financial services in the US Hispanic market. Brand Search captured 69.1% impression share at $12.64 CPC — the highest-efficiency unit in the account.</a:t>
            </a:r>
            <a:endParaRPr b="1" sz="843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43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Non-brand campaigns ran budget-limited throughout March, with impression share ranging from 10-17%. Rank Lost is driven by budget ceiling, not Quality Score. This indicates demand exceeds current allocation — a relevant input for April budget planning.</a:t>
            </a:r>
            <a:endParaRPr b="1" sz="843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843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Conversion tracking setup is in progress with the Central Team. Performance against bottom-funnel KPIs will be available once that is complete.</a:t>
            </a:r>
            <a:endParaRPr b="1" sz="843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 ·  GOOGLE ADS  ·  HIGHLIGHTS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Unlock measurement, then lean into demand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57200" y="1600200"/>
            <a:ext cx="56692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85800" y="2011680"/>
            <a:ext cx="52578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TrackA Trust is top performer: 10.08% CTR at $1.08 CPC.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Non-brand budgets fully utilized (97-99%) - strong demand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Spanish-intent terms hit 11-68% CTR - audience is there.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Mobile = 86% of spend; aligns with US Hispanic behavior.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309360" y="1600200"/>
            <a:ext cx="539496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CHALLENGES / 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537960" y="2011680"/>
            <a:ext cx="49834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Conversion tracking setup in progress. Bottom-funnel data available once complete.</a:t>
            </a:r>
            <a:endParaRPr sz="9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Non-brand impression share is 10-17%. Budget ceiling is the primary constraint — not keyword quality.</a:t>
            </a:r>
            <a:endParaRPr sz="9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Brand Search has room for match type refinement to improve efficiency.</a:t>
            </a:r>
            <a:endParaRPr sz="9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Low-intent English terms identified for exclusion. Ad relevance improvements queued for non-brand campaigns.</a:t>
            </a:r>
            <a:endParaRPr sz="9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57200" y="40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1188725"/>
                <a:gridCol w="4389125"/>
                <a:gridCol w="3840475"/>
                <a:gridCol w="182880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 Step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/ Due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 conversion tracking setup.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 to finalize pixel configuration for /es-us.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</a:t>
                      </a: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Team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Refine Brand Search match types and add competitor exclusions.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Tighten keyword list; raise Brand daily budget from $75 to $125.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Apr 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 non-brand ad relevance and landing page alignment.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Pause low-intent English terms; update ad copy for Spanish-intent groups.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+ WebOps · Apr 22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Switch to tCPA bidding once conversion data is available.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Re-evaluate after 2 weeks of conversion signal.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May 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 Competitor Search — compete or exclude.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Decision: pocket option / oanda / etoro.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+ </a:t>
                      </a: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FOREX</a:t>
                      </a: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· Apr 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6" title="berelvant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META  · 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Reach and engagement at premium US cost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217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217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$5,946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35458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35458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251917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251917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325,752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25196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25196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41655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LINK CLICKS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41655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11,323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14934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14934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31393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CTR (link)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31393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3.46%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04672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04672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21131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21131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$18.25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99441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99441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1086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START APPS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1086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53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108692" y="2350008"/>
            <a:ext cx="15316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$112 each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Conversion Funnel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3063240"/>
            <a:ext cx="54864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94360" y="313639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108960" y="313639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325,752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480560" y="31729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3630168"/>
            <a:ext cx="5486400" cy="502920"/>
          </a:xfrm>
          <a:prstGeom prst="rect">
            <a:avLst/>
          </a:prstGeom>
          <a:solidFill>
            <a:srgbClr val="3A4A7A"/>
          </a:solidFill>
          <a:ln cap="flat" cmpd="sng" w="12700">
            <a:solidFill>
              <a:srgbClr val="3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94360" y="3703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 Clicks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108960" y="3703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11,323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80560" y="373989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3.46% CTR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4197096"/>
            <a:ext cx="5486400" cy="502920"/>
          </a:xfrm>
          <a:prstGeom prst="rect">
            <a:avLst/>
          </a:prstGeom>
          <a:solidFill>
            <a:srgbClr val="5B6AA0"/>
          </a:solidFill>
          <a:ln cap="flat" cmpd="sng" w="12700">
            <a:solidFill>
              <a:srgbClr val="5B6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94360" y="427024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Landing Page 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108960" y="427024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8,874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480560" y="430682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78.4% LPV/Click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4764024"/>
            <a:ext cx="5486400" cy="502920"/>
          </a:xfrm>
          <a:prstGeom prst="rect">
            <a:avLst/>
          </a:prstGeom>
          <a:solidFill>
            <a:srgbClr val="8A96C5"/>
          </a:solidFill>
          <a:ln cap="flat" cmpd="sng" w="12700">
            <a:solidFill>
              <a:srgbClr val="8A96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94360" y="4837176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Applications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108960" y="48371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480560" y="48737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0.60% Start/LPV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5330952"/>
            <a:ext cx="5486400" cy="5029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94360" y="540410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108960" y="54041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480560" y="54406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1.89% Submit/Start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217920" y="2743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Track A vs Track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7"/>
          <p:cNvGraphicFramePr/>
          <p:nvPr/>
        </p:nvGraphicFramePr>
        <p:xfrm>
          <a:off x="621792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2194550"/>
                <a:gridCol w="1645925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 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 B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$3,322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$2,624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 Clicks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6,447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4,876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$16.42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$21.26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Pixel Conv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/ Conv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$89.77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$154.36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7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WEEKLY TREND: </a:t>
            </a:r>
            <a:r>
              <a:rPr b="0" i="0" lang="en-US" sz="10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CTR climbed 3.05% → 3.77% → 3.49%. Spend accelerated into week 2 ($2,798) then tapered week 4 ($1,260). 27 pixel conv in peak week.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7" title="berelvant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META  ·  HIGHLIGHTS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Optimize the submission step. Scale what's working.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57200" y="1600200"/>
            <a:ext cx="56692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85800" y="2011680"/>
            <a:ext cx="52578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211K unique users reached at 1.54 frequency - no oversaturation.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8,874 LPVs at $0.67 - strong post-click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84K video views drive awareness for US Hispanic audience.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Track A produced 2.2x conversions at 42% lower cost/conv.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309360" y="1600200"/>
            <a:ext cx="539496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CHALLENGES / 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537960" y="2011680"/>
            <a:ext cx="49834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The submission step conversion rate is the primary focus for April. Landing page deployment is the most direct lever.</a:t>
            </a:r>
            <a:endParaRPr sz="10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US market CPMs are higher than other geos — efficiency gains come from tightening audience and improving post-click experience, not from reducing spend.</a:t>
            </a:r>
            <a:endParaRPr sz="10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Track A is outperforming Track B by 42% on cost per conversion. Budget reallocation is the immediate action.</a:t>
            </a:r>
            <a:endParaRPr sz="10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 leads-optimized campaign for GCG has not yet run. Launching one in April adds a bottom-funnel signal layer that the current CTR campaign doesn't provide.</a:t>
            </a:r>
            <a:endParaRPr sz="10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8"/>
          <p:cNvGraphicFramePr/>
          <p:nvPr/>
        </p:nvGraphicFramePr>
        <p:xfrm>
          <a:off x="457200" y="40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1188725"/>
                <a:gridCol w="4389125"/>
                <a:gridCol w="3840475"/>
                <a:gridCol w="1828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 Step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/ Due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 Trust &amp; Platform landing pages.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WebOps deployment — Meta and Google both route to current pages until live.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WebOps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Investigate submission step drop-off.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form flow and page behavior on /es-us.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Analytics</a:t>
                      </a: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 WebOps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Shift budget from Track B to Track A.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Reallocate to 60/40 split; re-evaluate after 2 weeks.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Apr 17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Launch leads-optimized campaign for GCG.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Go/no-go decision; audience and creative build to follow.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FOREX</a:t>
                      </a: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 BRLVNT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Tighten audience to improve conv rate (not just CPM).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narrower interest + lookalike seeded on Start Apps.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8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8" title="berelvant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  QUANTCAST  · 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Scale delivered. Conversion Ad Sets above viewability benchmark.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72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572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217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217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</a:t>
            </a:r>
            <a:r>
              <a:rPr b="1" lang="en-US" sz="2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2,159</a:t>
            </a:r>
            <a:endParaRPr b="1" sz="2000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235458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235458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251917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51917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5.86M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25196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25196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41655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41655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1,241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14934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614934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31393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31393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$1.99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04672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804672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821131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 (VT)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21131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9441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99441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101086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01086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</a:t>
            </a:r>
            <a:r>
              <a:rPr b="1" lang="en-US" sz="2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6079</a:t>
            </a:r>
            <a:endParaRPr b="1" sz="2000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0"/>
            <a:ext cx="64008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9"/>
          <p:cNvSpPr/>
          <p:nvPr/>
        </p:nvSpPr>
        <p:spPr>
          <a:xfrm>
            <a:off x="713232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Campaign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9"/>
          <p:cNvGraphicFramePr/>
          <p:nvPr/>
        </p:nvGraphicFramePr>
        <p:xfrm>
          <a:off x="713232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1737350"/>
                <a:gridCol w="640075"/>
                <a:gridCol w="640075"/>
                <a:gridCol w="548650"/>
                <a:gridCol w="548650"/>
                <a:gridCol w="457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Viewab.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 - Ad Set 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</a:t>
                      </a:r>
                      <a:r>
                        <a:rPr lang="en-US" sz="9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373</a:t>
                      </a:r>
                      <a:endParaRPr sz="950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2.33M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74.0%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 - Ad Set B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</a:t>
                      </a:r>
                      <a:r>
                        <a:rPr lang="en-US" sz="9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2.36M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 - Ad Set A (3/26)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$3,754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 - Ad Set B (3/26)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$3,753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9"/>
          <p:cNvSpPr/>
          <p:nvPr/>
        </p:nvSpPr>
        <p:spPr>
          <a:xfrm>
            <a:off x="7132320" y="4892040"/>
            <a:ext cx="4572000" cy="1417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7269480" y="49834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ATTRIBUTION NOTE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269480" y="5212080"/>
            <a:ext cx="4389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Both recorded conversions are view-through attributed, from the Conversion campaigns on smartphone. Click-through attribution is being validated as part of the broader tracking setup in progress with the Central Team. Full conversion picture available once complete.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9" title="berelvant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QUANTCAST  ·  HIGHLIGHTS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Viewability floors set. Attribution validation in progress.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57200" y="1600200"/>
            <a:ext cx="56692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85800" y="2011680"/>
            <a:ext cx="52578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Quantcast delivered 5.86M impressions at $1.99 CPM — efficient reach for the US Hispanic programmatic market. The Conversion campaigns (Ad Sets A and B) ran above the 70% IAB viewability benchmark at 74%, which is the account's strongest inventory quality result this month.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The Clicks campaigns launched March 26. With six days of delivery, performance assessment carries into April as the first complete measurement period. Viewability on those placements will be reviewed once a full month of data is available.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309360" y="1600200"/>
            <a:ext cx="539496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OPTIMIZATION PRIORITIES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537960" y="2011680"/>
            <a:ext cx="49834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Clicks campaign viewability will be reviewed once the 60% placement floor — applied in March — has a full month to affect delivery.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Click-through attribution is being validated with the Central Team. View-through conversions are recorded. Full attribution picture available in April.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US programmatic CPCs reflect market pricing for the Hispanic segment. Efficiency gains come from inventory quality and audience refinement, not from reducing spend.</a:t>
            </a:r>
            <a:endParaRPr sz="11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10"/>
          <p:cNvGraphicFramePr/>
          <p:nvPr/>
        </p:nvGraphicFramePr>
        <p:xfrm>
          <a:off x="457200" y="40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844400"/>
                <a:gridCol w="3117800"/>
                <a:gridCol w="2728075"/>
                <a:gridCol w="272807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 </a:t>
                      </a: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/ Due</a:t>
                      </a:r>
                      <a:endParaRPr b="1" sz="10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60% viewability floor on Clicks campaign.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Placement-level threshold applied.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</a:t>
                      </a:r>
                      <a:endParaRPr sz="1000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 conversion tracking and attribution.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 confirmation in progress.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</a:t>
                      </a:r>
                      <a:endParaRPr sz="1000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Exclude low-quality inventory (tablets, low-viewability domains).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Placement exclusion list built and applied.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</a:t>
                      </a:r>
                      <a:endParaRPr sz="1000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Consolidate Conversion campaign ad sets to improve learning efficiency.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 set merge in progress; budget reallocation to follow.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Apr 17</a:t>
                      </a:r>
                      <a:endParaRPr sz="1000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10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0" title="berelvant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AZERION  ·  PERFORMANCE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Ramp-up month on premium publisher inventory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572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572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217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217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$15,793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35458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235458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251917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51917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2.49M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25196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25196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441655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41655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3,028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14934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614934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631393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31393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0.12%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04672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804672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821131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821131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$6.33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99441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99441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101086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01086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0108692" y="2350008"/>
            <a:ext cx="15316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$2,256 CPA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Delivery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4" name="Google Shape;294;p11"/>
          <p:cNvGraphicFramePr/>
          <p:nvPr/>
        </p:nvGraphicFramePr>
        <p:xfrm>
          <a:off x="45720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2103125"/>
                <a:gridCol w="1554475"/>
                <a:gridCol w="201167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 / Note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Viewability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66.08%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Below 70% IAB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 Reach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1.25M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 frequency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 (reported)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Math discrepancy flagged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disclosed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VT vs CT unknown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/ ROAS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configured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Limits true ROI read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11"/>
          <p:cNvSpPr/>
          <p:nvPr/>
        </p:nvSpPr>
        <p:spPr>
          <a:xfrm>
            <a:off x="6400800" y="2743200"/>
            <a:ext cx="5303520" cy="17830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6583680" y="28346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629400" y="3154680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Premium inventory: Reuters, CNN, CBS News, NYT, Yahoo News, Trading Economics.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Low frequency (1.1) preserved unique reach across 1.25M devices.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Targeted Spanish-speaking US audiences in business/markets/tech.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7 first-month conversions establish initial CPA baseline.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400800" y="4617720"/>
            <a:ext cx="5303520" cy="17830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583680" y="47091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APRIL FOCUS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629400" y="5029200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Viewability optimization: placement exclusions are being applied to push delivery above the 70% IAB floor. Impact will be visible in April data.</a:t>
            </a:r>
            <a:endParaRPr sz="10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CPA of $2,256 reflects a ramp-up period on a new channel. April is the first full measurement month and will establish the working baseline.</a:t>
            </a:r>
            <a:endParaRPr sz="100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57200" y="4617720"/>
            <a:ext cx="5669280" cy="1783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40080" y="46817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RECOMMENDATIONS &amp; NEXT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85800" y="4937760"/>
            <a:ext cx="5440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Apply placement exclusions to improve viewability above 70%; review inventory weekly.</a:t>
            </a:r>
            <a:endParaRPr sz="10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Shift to conversion-optimized line items once March learning data is applied.</a:t>
            </a:r>
            <a:endParaRPr sz="10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Confirm attribution methodology with Azerion; align reporting for April pulls.</a:t>
            </a:r>
            <a:endParaRPr sz="10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1" title="berelvant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RECOMMENDATIONS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Closing the measurement loop in April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457200" y="1600200"/>
            <a:ext cx="24688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457200" y="1600200"/>
            <a:ext cx="2468880" cy="41148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594360" y="16459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CRITICAL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94360" y="210312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8925" lvl="0" marL="45720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Complete Google Ads conversion tracking setup.</a:t>
            </a:r>
            <a:endParaRPr sz="95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Deploy Trust and Platform landing pages via WebOps.</a:t>
            </a:r>
            <a:endParaRPr sz="95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Address submission step drop-off on Meta.</a:t>
            </a:r>
            <a:endParaRPr sz="95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Apply Azerion viewability optimizations for April.</a:t>
            </a:r>
            <a:endParaRPr sz="950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3063240" y="1600200"/>
            <a:ext cx="24688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3063240" y="1600200"/>
            <a:ext cx="2468880" cy="411480"/>
          </a:xfrm>
          <a:prstGeom prst="rect">
            <a:avLst/>
          </a:prstGeom>
          <a:solidFill>
            <a:srgbClr val="E9B44C"/>
          </a:solidFill>
          <a:ln cap="flat" cmpd="sng" w="12700">
            <a:solidFill>
              <a:srgbClr val="E9B4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3200400" y="16459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200400" y="210312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Quantcast viewability floor + exclusions.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Brand search audit (match types, budget).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Shift Meta budget Track B → Track 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Launch Meta leads-optimized campaign.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669280" y="1600200"/>
            <a:ext cx="24688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5669280" y="1600200"/>
            <a:ext cx="2468880" cy="411480"/>
          </a:xfrm>
          <a:prstGeom prst="rect">
            <a:avLst/>
          </a:prstGeom>
          <a:solidFill>
            <a:srgbClr val="2E7D57"/>
          </a:solidFill>
          <a:ln cap="flat" cmpd="sng" w="12700">
            <a:solidFill>
              <a:srgbClr val="2E7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5806440" y="16459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806440" y="210312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Non-brand Google QS lift (76-81% rank lost).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Consolidate Quantcast A/B Conversion ad sets.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Spanish-intent keyword expansion.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CTV brief before more creative spend.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12"/>
          <p:cNvGraphicFramePr/>
          <p:nvPr/>
        </p:nvGraphicFramePr>
        <p:xfrm>
          <a:off x="457200" y="40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{B1442267-745C-49DC-82B0-885F7A3D537B}</a:tableStyleId>
              </a:tblPr>
              <a:tblGrid>
                <a:gridCol w="7315200"/>
                <a:gridCol w="25603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Ads conversion tracking setup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 CIDs for reporting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Mateus / Laura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Landing pages (Trust, Platform) go-live date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WebOps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Quantcast viewability floor + placement exclusions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leads-optimized campaign launch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Pixel</a:t>
                      </a:r>
                      <a:r>
                        <a:rPr lang="en-US" sz="10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review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 + BRLVNT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TikTok / Sprout restart path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CTV / creative brief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FOREX + BRLVNT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0" name="Google Shape;330;p12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2" title="berelvant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