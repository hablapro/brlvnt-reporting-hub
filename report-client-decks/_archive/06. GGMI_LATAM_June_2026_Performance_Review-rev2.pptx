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DD99DC-525D-49F5-A1B7-C944E4BD81EE}">
  <a:tblStyle styleId="{76DD99DC-525D-49F5-A1B7-C944E4BD81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a1f2a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f54a1f2ada_1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f54a1f2ada_1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4a1f2ad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f54a1f2ada_1_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54a1f2ada_1_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www.cboe.com/tradable_products/vix/" TargetMode="External"/><Relationship Id="rId5" Type="http://schemas.openxmlformats.org/officeDocument/2006/relationships/hyperlink" Target="https://www.sectorspdrs.com/sectorspdr/sector/gold/trade/gl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QUARTERLY BUSINESS REVIEW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GGMI (LATAM) — Paid Media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ADCFC"/>
                </a:solidFill>
                <a:latin typeface="Georgia"/>
                <a:ea typeface="Arial"/>
                <a:cs typeface="Arial"/>
                <a:sym typeface="Arial"/>
              </a:rPr>
              <a:t>Q3 FY2026 Business Review  ·  June 2026 Performance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Bing Ads · Meta · Azerion · Quantcast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Reporting period: June 1–30, 2026   |   Currency: USD   |   Prepared by Berelvant · 07.16.2026</a:t>
            </a:r>
            <a:endParaRPr/>
          </a:p>
        </p:txBody>
      </p:sp>
      <p:pic>
        <p:nvPicPr>
          <p:cNvPr id="95" name="Picture 94" descr="berelvan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75" y="5989320"/>
            <a:ext cx="1828800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00" name="Google Shape;100;p1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SUMMARY  ·  BLENDED VIEW (ORGANIC + PAID)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Paid-driven applications grew through Q3 while the blended base softened.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2 / 22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June submitted applications came in at 684, down 7% MoM; the H1 peak was February (1,036).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approved rose 7% to 209 and the approval rate recovered to 31%, the best since February.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funded dipped 11% to 32 and the fund rate to 15%. The application-to-funding step is the funnel constraint.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traded closed at 29; trading volume held at $1.1B.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Working media reached $120,393 in June (+53% MoM), the biggest month of 2026, while paid-driven applications grew every month of Q3.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5661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9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GGMI — blended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Working Media 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$1,717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$20,578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$42,424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+53%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Applications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Approval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+4pp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Fund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Funded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$349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$673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$3,762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+72%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Traded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$744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+90%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$2.5B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flat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A6072"/>
                </a:solidFill>
                <a:latin typeface="Calibri"/>
              </a:rPr>
              <a:t>Funnel metrics are blended organic + paid. Working media per the budget tracker. MoM = June vs May. January cost figures reflect a near-zero media base ($1,717); the scaled-media baseline starts in March.</a:t>
            </a:r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15" name="Google Shape;115;p1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SPEND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 rose from $46K in April to $120K in June.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3 / 22</a:t>
            </a:r>
            <a:endParaRPr/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457200" y="1737360"/>
          <a:ext cx="6035000" cy="219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$15,289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$15,972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$56,920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$5,224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$6,626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$37,774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$15,005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$75,678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$10,777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$29,302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$75,105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$245,477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Google Shape;122;p16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Month-over-month growth: +70% into May, +53% into June. June ran at 2.6x the April level.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Q3 closed at $245,477 in working media, approximately 24% of the FY2026 budget.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mix rebalanced as the program scaled. April leaned on search and display; June is a balanced four-channel program with no channel above 29% of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Every channel grew while holding or improving its efficiency where we can measure it, which is what earns the next stage of scale.</a:t>
            </a: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FOREX.com (GGMI) performance tracks market volatility</a:t>
            </a:r>
            <a:endParaRPr sz="24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Dec 2025 – Jul 2026  ·  Budget vs Actual (Reforecast GGMI)  ·  all series indexed to Dec 2025 = 100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 descr="/home/user/workspace/correlation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40"/>
            <a:ext cx="7955070" cy="391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8503693" y="1234440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95131" y="127101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9900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19900"/>
                </a:solidFill>
                <a:latin typeface="Georgia"/>
                <a:ea typeface="Trebuchet MS"/>
                <a:cs typeface="Trebuchet MS"/>
                <a:sym typeface="Trebuchet MS"/>
              </a:rPr>
              <a:t>0.91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40850" y="174650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646663" y="1362456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Live Apps vs Gold (GLD)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646663" y="169164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03693" y="2221992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8595131" y="225856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A7101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A7101"/>
                </a:solidFill>
                <a:latin typeface="Georgia"/>
                <a:ea typeface="Trebuchet MS"/>
                <a:cs typeface="Trebuchet MS"/>
                <a:sym typeface="Trebuchet MS"/>
              </a:rPr>
              <a:t>0.94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640850" y="2734056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646663" y="2350008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Actives vs VIX (Dec–Jun)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46663" y="2679192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503693" y="3209544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595131" y="3246120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A84B2F"/>
                </a:solidFill>
                <a:latin typeface="Georgia"/>
                <a:ea typeface="Trebuchet MS"/>
                <a:cs typeface="Trebuchet MS"/>
                <a:sym typeface="Trebuchet MS"/>
              </a:rPr>
              <a:t>0.62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40850" y="3721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46663" y="333756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Trading Volume vs Gold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46663" y="366674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03693" y="4197096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595131" y="4233672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20808D"/>
                </a:solidFill>
                <a:latin typeface="Georgia"/>
                <a:ea typeface="Trebuchet MS"/>
                <a:cs typeface="Trebuchet MS"/>
                <a:sym typeface="Trebuchet MS"/>
              </a:rPr>
              <a:t>0.67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0850" y="470916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646663" y="43251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New Funded vs VIX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6663" y="4654296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5750" y="5285232"/>
            <a:ext cx="11384100" cy="960000"/>
          </a:xfrm>
          <a:prstGeom prst="roundRect">
            <a:avLst>
              <a:gd name="adj" fmla="val 5714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94344" y="5394960"/>
            <a:ext cx="10972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GGMI's acquisition funnel and active base are highly correlated with market volatility — gold drives applications (r=0.91), VIX drives actives (r=0.94). The Apr–Jun miss vs budget is largely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the volatility tailwind reversing more than media performance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 January's $5.1B volume spike was gold-driven; as gold and VIX faded,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volume fell 78% from the January peak to $1.1B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CBOE VIX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SPDR Gold Shares (GLD)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300"/>
              <a:buFont typeface="Trebuchet MS"/>
              <a:buNone/>
            </a:pPr>
            <a:r>
              <a:rPr lang="en-US" sz="23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Acquisition funnel falls below budget as volatility fades</a:t>
            </a:r>
            <a:endParaRPr sz="2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Live Apps Submitted: Actual vs Budget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 descr="/home/user/workspace/funnel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50"/>
            <a:ext cx="7772201" cy="32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20818" y="1234440"/>
            <a:ext cx="3520500" cy="46176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 cap="flat" cmpd="sng">
            <a:solidFill>
              <a:srgbClr val="D0D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503693" y="137160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C343D"/>
                </a:solidFill>
                <a:latin typeface="Calibri"/>
                <a:ea typeface="Trebuchet MS"/>
                <a:cs typeface="Trebuchet MS"/>
                <a:sym typeface="Trebuchet MS"/>
              </a:rPr>
              <a:t>What it means for the strategy</a:t>
            </a:r>
            <a:endParaRPr sz="1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503693" y="17830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Volatility = the acquisition dial.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503693" y="2075688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Time spend to VIX &gt; 20–25 spikes; in calm periods (VIX ~17 now) shift budget to activation &amp; retention.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503693" y="280720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Gold is the #1 acquisition driver.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503693" y="3099816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Apps track gold at r=0.91. Lead Mexico creative with gold dip-buying (banks still see $4,900–6,000 by year-end).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503693" y="3831336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July stays soft.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503693" y="4123944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Low-vol regime → funnel remains under budget unless Fed/CPI/Sept hike reignites VIX.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503693" y="4855464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Media plan: intent + reactivation.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03693" y="5148072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Bing Ads search on gold/CFD keywords to capture gold-intent (r=0.91); programmatic display to reactivate Jan–Mar sign-ups during VIX&gt;20 bursts.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5750" y="4617720"/>
            <a:ext cx="7772100" cy="1234500"/>
          </a:xfrm>
          <a:prstGeom prst="roundRect">
            <a:avLst>
              <a:gd name="adj" fmla="val 4444"/>
            </a:avLst>
          </a:prstGeom>
          <a:solidFill>
            <a:srgbClr val="FBFBF9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8625" y="4736592"/>
            <a:ext cx="7406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C343D"/>
                </a:solidFill>
                <a:latin typeface="Calibri"/>
                <a:ea typeface="Calibri"/>
                <a:cs typeface="Calibri"/>
                <a:sym typeface="Calibri"/>
              </a:rPr>
              <a:t>The real story: </a:t>
            </a:r>
            <a:r>
              <a:rPr lang="en-US" sz="1150" b="1" i="0" u="none" strike="noStrike" cap="none">
                <a:solidFill>
                  <a:srgbClr val="01696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Downstream outcomes (traded, actives, volume) beat budget through March on the volatility wave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(Jan volume +176% vs budget).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Applications ran about 22% under budget even then, and the gap widened as gold/VIX normalized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July apps (forecast) at 586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vs 1,328 budget (−56%). Re-engage aggressive acquisition only when VIX pushes back above ~20–25.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VIX/GLD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85" name="Google Shape;185;p1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APPLICATIONS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103 blended applications in June at $1,169 per application.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6 / 22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applications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cost / application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$2,315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$1,169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$1,265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" name="Google Shape;192;p19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Search tracking went live in May; display lines count submitted applications, the reach line counts view-through, and paid-social conversions are under validation.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delivered 5x the application volume of April on 2.6x the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cost per application fell from $2,315 in April to $1,169 in June and held near that level through a 53% spend increase, so the growth was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bought at improving efficiency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and programmatic carried the measured volume: 181 submitted applications at a cost per submitted application near $650, held through the June scale-up. Paid social contributed reach and site traffic while its conversion validation completes.</a:t>
            </a:r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03" name="Google Shape;203;p2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BLENDED OUTCOMES VS PLAN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gap to plan sits in the non-paid base.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7 / 22</a:t>
            </a:r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 (organic + paid)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Actual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Budget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vs Plan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Live Apps Submitted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2,167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3,984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Approved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Actives (monthly avg)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399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$6.7B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Source: Budget vs Actual dashboard (non-cohort reforecast), GGMI, organic and paid blended. July excluded (full-month forecast).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submissions ran about 45% under plan and declined through the half-year (1,029 in January to 684 in June) while paid-driven applications grew every month of Q3.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The shortfall sits in the non-paid base, where two forces overlap: the volatility tailwind that carried the early-year baseline reversed (previous slides), and the site's organic capture declined (next two slides).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funded stage shows the second constraint: -56% to plan, the application-to-funded step the onboarding roadmap is built to fix.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Trading volume tracked the softer funnel at $4.3B against a $6.7B plan.</a:t>
            </a:r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21" name="Google Shape;221;p2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SITE TRAFFIC  ·  SIX-MONTH VIEW (GA4, MEXICO)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June sessions rose 61% on the media scale-up. Organic sat at its low.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8 / 22</a:t>
            </a:r>
            <a:endParaRPr/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783080"/>
            <a:ext cx="64008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HONEST READ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IT MEANS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Media is doing its job. June proves it can move traffic on demand.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Unique visitors are up 26% January to June, the legitimate bright spot in the half-year.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organic foundation needs its own workstream. Until it recovers, total site traffic will track media spend rather than compound on top of it.</a:t>
            </a:r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42" name="Google Shape;242;p2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ORGANIC SEARCH  ·  THE STRUCTURAL ISSUE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Organic search fell 75% in six months. Media cannot buy it back.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9 / 22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3147"/>
                </a:solidFill>
                <a:latin typeface="Calibri"/>
              </a:rPr>
              <a:t>Organic Search sessions · GA4, Mexico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011680"/>
            <a:ext cx="6035040" cy="21031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457200" y="4343400"/>
          <a:ext cx="6035025" cy="155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Search Console (Mexico)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January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Organic 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4,811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Demo account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academy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Homepage, brand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DRIVING IT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workstream: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65" name="Google Shape;265;p23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$120K deployed in June. Search and display held their CPAs through the scale-up.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10 / 22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57200" y="1737360"/>
          <a:ext cx="6784900" cy="18288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13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466,582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21,480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19.78M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407,136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7.68M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9,910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$834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11,284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69.9M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449,810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2" name="Google Shape;272;p23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* Paid-social conversions are held pending on-site measurement validation. Programmatic view-through is directional only. Conversions use different events per channel and are never summed.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HEADLINES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SAYS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Site traffic recovered with the spend: 9,236 Mexico sessions, up 61% from May, and 5,838 unique visitors, up 125%. The recovery is real but bought.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Media drove the June gain while organic search sat at its low.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approximately 31% into the annual GGMI budget, so H2 has room to scale once the quality fixes land.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JUNE PRIORITY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Confirm the now-applied Mexico-only search targeting in July delivery, audit paid-social placements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before reinstating its conversion reporting, and open the SEO workstream for the organic decline.</a:t>
            </a:r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91" name="Google Shape;291;p2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CONT' EXECUTIVE SUMMARY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Three findings shape the July plan.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11 / 22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STILL FORMING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 scaled spend 291% with Facebook-native, feed-led delivery. Its conversion reporting stays on hold until on-site conversion measurement is validated.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Search geo, as reviewed together: $8,612 of June delivery served outside Mexico. Mexico-only targeting is now applied, and July delivery confirms the correction.</a:t>
            </a:r>
          </a:p>
        </p:txBody>
      </p:sp>
      <p:sp>
        <p:nvSpPr>
          <p:cNvPr id="301" name="Google Shape;301;p24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Verify the corrected Mexico-only search targeting in July delivery; roughly $8.6K per month is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scaling it further; judge the channel on measured site sessions until then.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 for the Spanish site. It is the structural fix for traffic that tracks media spend instead of compounding on top of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Apply the 49-site programmatic blocklist and set a campaign-level viewability floor.</a:t>
            </a:r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11" name="Google Shape;311;p2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PERFORMANCE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 submitted applications at $513, up from 33 at $484 in May.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12 / 22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$25,659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+61% MoM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466,582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3 campaigns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21,480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4.60%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$1.19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$0.53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SUBMITTED APPS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33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CPA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$513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$484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graphicFrame>
        <p:nvGraphicFramePr>
          <p:cNvPr id="348" name="Google Shape;348;p25"/>
          <p:cNvGraphicFramePr/>
          <p:nvPr/>
        </p:nvGraphicFramePr>
        <p:xfrm>
          <a:off x="457200" y="3337560"/>
          <a:ext cx="6949425" cy="12802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Campaign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AO Generic (policy test)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$13,508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11,020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Brand + Generic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$8,154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7,559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Platform Intercept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$3,996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2,901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9" name="Google Shape;349;p25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Conversions rose 52% (33 to 50) while spend rose 61%, so the CPA moved only $484 to $513 through the scale-up.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account expanded from 1 campaign to 3. Platform Intercept is the efficiency leader at a $285 CPA.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CPC rose $0.53 to $1.19 with the shift into the new campaign themes.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Geo delivery, as reviewed together: $8,612 of June delivery served outside Mexico, led by Spain, Venezuela, and the US. Mexico-only targeting (people in Mexico) is now in place, and July reports on the corrected setup.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60" name="Google Shape;360;p2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READ &amp; RECOMMENDATIONS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every search dollar in Mexico.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13 / 22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remains the most efficient measured converter in the account, and it held that efficiency while scaling 61%.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June was the last month on the old geo setup, with $8,612 delivered outside Mexico. With Mexico-only targeting now in place, that spend concentrates in-market, which should improve effective Mexico CPA immediately.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new campaign themes raised CPC ($0.53 to $1.19). Platform Intercept converts at $285, so the mix has room to rebalance toward what works.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 presence-only targeting is applied; the July report confirms 100% in-market delivery, with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budget toward the proven converters, led by Platform Intercept at $285, while the newer themes prove out.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 so July reporting attributes paid search fully (detail on the measurement slide).</a:t>
            </a:r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80" name="Google Shape;380;p27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PERFORMANCE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457200" y="868680"/>
            <a:ext cx="112471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solidFill>
                  <a:srgbClr val="1E2761"/>
                </a:solidFill>
                <a:highlight>
                  <a:srgbClr val="FF0000"/>
                </a:highlight>
                <a:latin typeface="Georgia"/>
              </a:rPr>
              <a:t>Meta ran a traffic objective in June: 249,972 landing-page visits. </a:t>
            </a:r>
            <a:r>
              <a:rPr sz="2000" b="1" dirty="0">
                <a:solidFill>
                  <a:srgbClr val="1E2761"/>
                </a:solidFill>
                <a:latin typeface="Georgia"/>
              </a:rPr>
              <a:t>Conversion measurement is the open item.</a:t>
            </a:r>
            <a:endParaRPr dirty="0"/>
          </a:p>
        </p:txBody>
      </p:sp>
      <p:sp>
        <p:nvSpPr>
          <p:cNvPr id="383" name="Google Shape;383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14 / 22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$25,924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+291% MoM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19.78M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CPM $1.31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LINK CLICKS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407,136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2.06%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6.3M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3.0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LP VIEWS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249,972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platform-reported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Held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validation open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57200" y="4315968"/>
            <a:ext cx="55778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57200" y="4315968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40080" y="4462272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640080" y="4736592"/>
            <a:ext cx="5212079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June spend ran against a traffic objective, optimized to landing-page views: 249,972 views from the $25.3K prospecting campaign, all in Mexico, with Facebook feed carrying about 65% as the efficient core.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 separate $579 engagement campaign drove Instagram followers, the only awareness objective in the mix. Impressions and CPM here are the cost of buying that traffic, not the performance goal.</a:t>
            </a:r>
          </a:p>
        </p:txBody>
      </p:sp>
      <p:sp>
        <p:nvSpPr>
          <p:cNvPr id="420" name="Google Shape;420;p27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WHY CONVERSIONS ARE HELD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platform reports 86 conversions for June. 67 of them come from one retargeting campaign with only 126 landing-page views, which is not a credible application rate.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are holding conversion reporting until on-site conversion measurement is validated. Delivery metrics (reach, clicks, CPM) are unaffected.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25" name="Table 424"/>
          <p:cNvGraphicFramePr>
            <a:graphicFrameLocks noGrp="1"/>
          </p:cNvGraphicFramePr>
          <p:nvPr/>
        </p:nvGraphicFramePr>
        <p:xfrm>
          <a:off x="457200" y="3108960"/>
          <a:ext cx="5577840" cy="960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Meta program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Link clicks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Prospecting / traffic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$25,345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19.34M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397,406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Engagement (Followers)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$579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0.44M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9,730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30" name="Google Shape;430;p28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READ &amp; RECOMMENDATIONS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Refine the audience and validate the measurement.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15 / 22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feed-led, with 63% of spend serving users 55 and older; refining the audience to 25+ concentrates it.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Meta's platform-reported landing-page views run well above the sessions measured on-site, a known gap between Meta's landing-page-view metric and completed site sessions. Conversions are held until on-site measurement is validated.</a:t>
            </a:r>
          </a:p>
        </p:txBody>
      </p:sp>
      <p:sp>
        <p:nvSpPr>
          <p:cNvPr id="440" name="Google Shape;440;p28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Refine the audience to 25+ to move off the 55+ skew. This is the highest-value targeting action for July.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Validate on-site conversion measurement, then reinstate conversion reporting. Judge the channel on measured site sessions until that validation completes.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Trim the weakest placements (reels overlay, Audience Network) as housekeeping.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50" name="Google Shape;450;p2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PERFORMANCE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 submitted applications at $834, from 37 at $792 in May.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16 / 22</a:t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$35,026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+20% MoM</a:t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7.68M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2.18M devices</a:t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9,910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+57% MoM</a:t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440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225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79" name="Google Shape;479;p29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$834 CPA</a:t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68.5%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70% standard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Ad Sets (Applications)</a:t>
            </a:r>
            <a:endParaRPr/>
          </a:p>
        </p:txBody>
      </p:sp>
      <p:graphicFrame>
        <p:nvGraphicFramePr>
          <p:cNvPr id="487" name="Google Shape;487;p29"/>
          <p:cNvGraphicFramePr/>
          <p:nvPr/>
        </p:nvGraphicFramePr>
        <p:xfrm>
          <a:off x="457200" y="3337560"/>
          <a:ext cx="5486400" cy="23774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Ad Set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Experience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$9,118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Global Market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Trade (platform)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$603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Language Broker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$4,994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Conversion_Instruments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$1,053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Spanish Platform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$1,410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Conversion_Commodities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8" name="Google Shape;488;p29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Applications rose 14% (37 to 42) on a 20% budget increase. The CPA moved $792 to $834, so efficiency roughly held at higher volume.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 starts nearly doubled (225 to 440), keeping the upper funnel active.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Global Market converted at $412 and Experience carried the most volume. Conversion_Commodities spent $4,128 with no applications and is the first reallocation candidate.</a:t>
            </a:r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98" name="Google Shape;498;p3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READ &amp; RECOMMENDATIONS</a:t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Hold the pace. Confirm the delivery detail.</a:t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03" name="Google Shape;503;p3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17 / 22</a:t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Second consecutive month of scaled application volume, with efficiency holding within 6% while budget grew 20%.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Viewability is 68.5%, just under the 70% standard.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pace until the delivery breakdowns arrive.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Concentrate budget on the converting ad sets, led by Global Market ($412) and Experience, and reallocate away from Conversion_Commodities ($4,128, zero applications).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Push viewability over the 70% standard.</a:t>
            </a:r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18" name="Google Shape;518;p3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QUANTCAST  ·  PERFORMANCE &amp; READ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 reach month at a $0.81 CPM. Viewability is the bill to manage.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18 / 22</a:t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$33,784</a:t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+26% MoM</a:t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41.96M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+155% MoM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537" name="Google Shape;537;p31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$0.81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$1.63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18.2M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2.3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51.3%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67.1%</a:t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view-through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 over Month</a:t>
            </a:r>
            <a:endParaRPr/>
          </a:p>
        </p:txBody>
      </p:sp>
      <p:graphicFrame>
        <p:nvGraphicFramePr>
          <p:cNvPr id="555" name="Google Shape;555;p31"/>
          <p:cNvGraphicFramePr/>
          <p:nvPr/>
        </p:nvGraphicFramePr>
        <p:xfrm>
          <a:off x="457200" y="3337560"/>
          <a:ext cx="5669250" cy="201165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+26%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Impressions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16.48M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+155%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$0.81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Viewability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51.3%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-15.8pp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" name="Google Shape;556;p3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We scaled reach on purpose: 42M impressions and 18.2M devices reached at a $0.81 CPM. Viewability came in at 51% against the 70% standard.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delivered a 49-site blocklist covering 32% of June spend on this line and recommend a campaign-level viewability floor to hold quality as reach scales.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All 11 June conversions are view-through. Treat them as directional support, not proven response.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66" name="Google Shape;566;p3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CROSS-CHANNEL PRIORITIES + NEXT STEPS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in-market. Finish the measurement. Start the SEO workstream.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19 / 22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Mexico-only search targeting is applied; July delivery confirms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reinstating its conversion reporting.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SCALING &amp; OPPORTUNITY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mix pending the measurement fixes, then revisit allocation with clean July attribution.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efficiency held at $513 and earns the first incremental dollar once spend is concentrated in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the SEO workstream for the Spanish site and apply the programmatic blocklist with a viewability floor.</a:t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MEASUREMENT TO CLOSE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Complete the on-site measurement validation and pixel-event review, then reinstate paid-social conversions.</a:t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Concentrate spend on measurable, in-market delivery while the quality fixes land.</a:t>
            </a:r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FUNNEL VIEW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June funnel: media delivery above, client outcomes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MEDIA  ·  MEASURED PER CHANNEL (PLATFORM + SOURCE OF RECORD)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37943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1051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69.9M impressions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37943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Quantcast 42.0M   ·   Meta 19.8M   ·   Azerion 7.7M   ·   Bing 0.5M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359152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SITE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41401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9,236 Mexico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414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GA4-measured  ·  449K platform clicks  ·  led by Meta and Bing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04495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SUBMITTED APPS  (paid, sourced)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01752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Bing 50 (SA360)   ·   Azerion 42 (vendor)   ·   Meta held  ·  Quantcast view-through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5887"/>
            <a:ext cx="11274552" cy="18288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  <a:latin typeface="Georgia"/>
              </a:rPr>
              <a:t>Attribution break.  </a:t>
            </a:r>
            <a:r>
              <a:rPr sz="1000" b="0" i="1">
                <a:solidFill>
                  <a:srgbClr val="5A6072"/>
                </a:solidFill>
                <a:latin typeface="Calibri"/>
              </a:rPr>
              <a:t>The funnel below is blended across paid and organic (client dashboard). It is not attributed per channel; connecting the two requires cross-channel attribution.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CLIENT FUNNEL  ·  BLENDED (ORGANIC + PAID), CLIENT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2487168" cy="123444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6328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6328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6328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328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31%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3496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5456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5456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FUNDED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456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456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15% fund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44584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TRADED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REPORTING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How we structure the funnel: awareness, consideration,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383280" cy="8412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1848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Reach a market with little brand demand and make FOREX.com 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8424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42.0M impressions   ·   18.2M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Quantcast  ·  Meta (followers 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834640" cy="841248"/>
          </a:xfrm>
          <a:prstGeom prst="roundRect">
            <a:avLst/>
          </a:prstGeom>
          <a:solidFill>
            <a:srgbClr val="6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834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7004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Move interested users to the site to explore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417K clicks   ·   9,236 site visits   ·   250K LP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5526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Meta  ·  Azerion  ·  programmatic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2286000" cy="8412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21607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Capture intent and drive submitted applications.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8736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92 submitted apps   ·   Bing $513 CPA   ·   Azerion $834 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0682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Bing (search)  ·  Azerion (performing as acquisition)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1672" cy="82296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Prospecting and retargeting are targeting modes applied within a stage, not stages of their own.  </a:t>
            </a:r>
            <a:r>
              <a:rPr sz="1050" b="0" i="0">
                <a:solidFill>
                  <a:srgbClr val="2B3147"/>
                </a:solidFill>
                <a:latin typeface="Calibri"/>
              </a:rPr>
              <a:t>Modern platforms optimize across the funnel, so channels span stages; each is shown here by its primary role.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TRAFFIC BY GEOGRAPHY &amp; SOURCE (GA4, JUNE)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Georgia"/>
              </a:rPr>
              <a:t>Where June sessions came from: Mexico paid and unpaid, rest of LATAM.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Unpaid / organic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Mexico (target market)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9,236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~4,770   (51%)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~4,510   (49%)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3147"/>
                          </a:solidFill>
                          <a:latin typeface="Calibri"/>
                        </a:rPr>
                        <a:t>Rest of LATAM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~13,800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geo-leak only (~5%)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~85%+ organic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Venezuela — flagged anomaly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14,552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under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United States 8,060 excluded (GCG, a separate entity). Non-LATAM sessions (Spain, Germany, etc.) excluded as out-of-market.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74552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READ AS DIRECTIONAL — THESE ARE SESSIONS, NOT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0520"/>
            <a:ext cx="10789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Conversions are a separate, broken layer. </a:t>
            </a:r>
            <a:r>
              <a:rPr sz="1000">
                <a:solidFill>
                  <a:srgbClr val="2B3147"/>
                </a:solidFill>
                <a:latin typeface="Calibri"/>
              </a:rPr>
              <a:t>GA4 is not capturing applications, so an application-level split by geography is not available here. That requires the client funnel dashboard segmented by geo.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Bing paid is not cleanly separated. </a:t>
            </a:r>
            <a:r>
              <a:rPr sz="1000">
                <a:solidFill>
                  <a:srgbClr val="2B3147"/>
                </a:solidFill>
                <a:latin typeface="Calibri"/>
              </a:rPr>
              <a:t>~2,850 of Mexico's paid sessions sit in an “Unassigned” bucket until SA360 is linked to GA4, so the paid figure is directional, not exact.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Direct is counted as unpaid </a:t>
            </a:r>
            <a:r>
              <a:rPr sz="1000">
                <a:solidFill>
                  <a:srgbClr val="2B3147"/>
                </a:solidFill>
                <a:latin typeface="Calibri"/>
              </a:rPr>
              <a:t>but includes some paid traffic that lost its tag, so “unpaid” is slightly overstated.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Venezuela is quarantined. </a:t>
            </a:r>
            <a:r>
              <a:rPr sz="1000">
                <a:solidFill>
                  <a:srgbClr val="2B3147"/>
                </a:solidFill>
                <a:latin typeface="Calibri"/>
              </a:rPr>
              <a:t>Its 14,552 sessions (13,571 “unassigned”) is an anomaly under investigation and is excluded from the Mexico and LATAM figures above.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4504</Words>
  <Application>Microsoft Macintosh PowerPoint</Application>
  <PresentationFormat>Widescreen</PresentationFormat>
  <Paragraphs>697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Renzo Proano</cp:lastModifiedBy>
  <cp:revision>1</cp:revision>
  <dcterms:modified xsi:type="dcterms:W3CDTF">2026-07-21T21:02:52Z</dcterms:modified>
</cp:coreProperties>
</file>