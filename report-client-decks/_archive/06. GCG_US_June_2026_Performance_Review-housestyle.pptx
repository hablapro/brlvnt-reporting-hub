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Sessions</c:v>
                </c:pt>
              </c:strCache>
            </c:strRef>
          </c:tx>
          <c:spPr>
            <a:ln w="28575">
              <a:solidFill>
                <a:srgbClr val="3B5998"/>
              </a:solidFill>
            </a:ln>
          </c:spPr>
          <c:marker>
            <c:symbol val="circle"/>
            <c:size val="6"/>
            <c:spPr>
              <a:solidFill>
                <a:srgbClr val="3B5998"/>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69895</c:v>
                </c:pt>
                <c:pt idx="1">
                  <c:v>58481</c:v>
                </c:pt>
                <c:pt idx="2">
                  <c:v>74971</c:v>
                </c:pt>
                <c:pt idx="3">
                  <c:v>69553</c:v>
                </c:pt>
                <c:pt idx="4">
                  <c:v>69927</c:v>
                </c:pt>
                <c:pt idx="5">
                  <c:v>80231</c:v>
                </c:pt>
              </c:numCache>
            </c:numRef>
          </c:val>
          <c:smooth val="0"/>
        </c:ser>
        <c:ser>
          <c:idx val="1"/>
          <c:order val="1"/>
          <c:tx>
            <c:strRef>
              <c:f>Sheet1!$C$1</c:f>
              <c:strCache>
                <c:ptCount val="1"/>
                <c:pt idx="0">
                  <c:v>Unique visitors</c:v>
                </c:pt>
              </c:strCache>
            </c:strRef>
          </c:tx>
          <c:spPr>
            <a:ln w="28575">
              <a:solidFill>
                <a:srgbClr val="27AE60"/>
              </a:solidFill>
            </a:ln>
          </c:spPr>
          <c:marker>
            <c:symbol val="circle"/>
            <c:size val="6"/>
            <c:spPr>
              <a:solidFill>
                <a:srgbClr val="27AE60"/>
              </a:solidFill>
              <a:ln>
                <a:solidFill>
                  <a:srgbClr val="FFFFFF"/>
                </a:solidFill>
              </a:ln>
            </c:spPr>
          </c:marker>
          <c:dLbls>
            <c:numFmt formatCode="#,##0" sourceLinked="0"/>
            <c:txPr>
              <a:bodyPr/>
              <a:lstStyle/>
              <a:p>
                <a:pPr>
                  <a:defRPr sz="750">
                    <a:solidFill>
                      <a:srgbClr val="32373E"/>
                    </a:solidFill>
                  </a:defRPr>
                </a:pPr>
              </a:p>
            </c:txPr>
            <c:dLblPos val="t"/>
            <c:showLegendKey val="0"/>
            <c:showVal val="1"/>
            <c:showCatName val="0"/>
            <c:showSerName val="0"/>
            <c:showPercent val="0"/>
            <c:showBubbleSize val="0"/>
            <c:showLeaderLines val="1"/>
          </c:dLbls>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24928</c:v>
                </c:pt>
                <c:pt idx="1">
                  <c:v>20841</c:v>
                </c:pt>
                <c:pt idx="2">
                  <c:v>29355</c:v>
                </c:pt>
                <c:pt idx="3">
                  <c:v>30251</c:v>
                </c:pt>
                <c:pt idx="4">
                  <c:v>29808</c:v>
                </c:pt>
                <c:pt idx="5">
                  <c:v>41795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32373E"/>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9144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1_fd6b9b.png"/>
          <p:cNvPicPr>
            <a:picLocks noChangeAspect="1"/>
          </p:cNvPicPr>
          <p:nvPr/>
        </p:nvPicPr>
        <p:blipFill>
          <a:blip r:embed="rId2"/>
          <a:stretch>
            <a:fillRect/>
          </a:stretch>
        </p:blipFill>
        <p:spPr>
          <a:xfrm>
            <a:off x="457200" y="457200"/>
            <a:ext cx="2286000" cy="649224"/>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F96167"/>
                </a:solidFill>
                <a:latin typeface="Georgia"/>
              </a:rPr>
              <a:t>QUARTERLY BUSINESS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FFFFFF"/>
                </a:solidFill>
                <a:latin typeface="Georgia"/>
              </a:rPr>
              <a:t>GCG (US Hispanic)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CADCFC"/>
                </a:solidFill>
                <a:latin typeface="Georgia"/>
              </a:rPr>
              <a:t>Q3 FY2026 Business Review  ·  June 2026 Performance</a:t>
            </a:r>
          </a:p>
        </p:txBody>
      </p:sp>
      <p:sp>
        <p:nvSpPr>
          <p:cNvPr id="9" name="TextBox 8"/>
          <p:cNvSpPr txBox="1"/>
          <p:nvPr/>
        </p:nvSpPr>
        <p:spPr>
          <a:xfrm>
            <a:off x="822960" y="4114800"/>
            <a:ext cx="10972800" cy="365760"/>
          </a:xfrm>
          <a:prstGeom prst="rect">
            <a:avLst/>
          </a:prstGeom>
          <a:noFill/>
        </p:spPr>
        <p:txBody>
          <a:bodyPr wrap="square" anchor="t" lIns="0" rIns="0" tIns="0" bIns="0">
            <a:spAutoFit/>
          </a:bodyPr>
          <a:lstStyle/>
          <a:p>
            <a:pPr algn="l"/>
            <a:r>
              <a:rPr sz="1200" b="0">
                <a:solidFill>
                  <a:srgbClr val="CADCFC"/>
                </a:solidFill>
                <a:latin typeface="Calibri"/>
              </a:rPr>
              <a:t>Google Ads · Meta · Azerion · Quantcast · Native</a:t>
            </a:r>
          </a:p>
        </p:txBody>
      </p:sp>
      <p:sp>
        <p:nvSpPr>
          <p:cNvPr id="10" name="TextBox 9"/>
          <p:cNvSpPr txBox="1"/>
          <p:nvPr/>
        </p:nvSpPr>
        <p:spPr>
          <a:xfrm>
            <a:off x="822960" y="6080760"/>
            <a:ext cx="10972800" cy="365760"/>
          </a:xfrm>
          <a:prstGeom prst="rect">
            <a:avLst/>
          </a:prstGeom>
          <a:noFill/>
        </p:spPr>
        <p:txBody>
          <a:bodyPr wrap="square" anchor="t" lIns="0" rIns="0" tIns="0" bIns="0">
            <a:spAutoFit/>
          </a:bodyPr>
          <a:lstStyle/>
          <a:p>
            <a:pPr algn="l"/>
            <a:r>
              <a:rPr sz="1000" b="0">
                <a:solidFill>
                  <a:srgbClr val="CADCFC"/>
                </a:solidFill>
                <a:latin typeface="Calibri"/>
              </a:rPr>
              <a:t>Reporting period: June 1–30, 2026   |   Currency: USD   |   Prepared by Berelvant · 07.17.2026</a:t>
            </a:r>
          </a:p>
        </p:txBody>
      </p:sp>
      <p:pic>
        <p:nvPicPr>
          <p:cNvPr id="12" name="Picture 11" descr="berelvant_logo.png"/>
          <p:cNvPicPr>
            <a:picLocks noChangeAspect="1"/>
          </p:cNvPicPr>
          <p:nvPr/>
        </p:nvPicPr>
        <p:blipFill>
          <a:blip r:embed="rId3"/>
          <a:stretch>
            <a:fillRect/>
          </a:stretch>
        </p:blipFill>
        <p:spPr>
          <a:xfrm>
            <a:off x="9905695" y="5989320"/>
            <a:ext cx="1828800" cy="52120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SUMMARY  ·  BLENDED VIEW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Sessions rose 30% in June. The start-to-submit step is the constraint.</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2 / 15</a:t>
            </a:r>
          </a:p>
        </p:txBody>
      </p:sp>
      <p:sp>
        <p:nvSpPr>
          <p:cNvPr id="10" name="TextBox 9"/>
          <p:cNvSpPr txBox="1"/>
          <p:nvPr/>
        </p:nvSpPr>
        <p:spPr>
          <a:xfrm>
            <a:off x="457200" y="1828800"/>
            <a:ext cx="2834640" cy="4389120"/>
          </a:xfrm>
          <a:prstGeom prst="rect">
            <a:avLst/>
          </a:prstGeom>
          <a:noFill/>
        </p:spPr>
        <p:txBody>
          <a:bodyPr wrap="square" anchor="t" lIns="0" rIns="0" tIns="0" bIns="0">
            <a:spAutoFit/>
          </a:bodyPr>
          <a:lstStyle/>
          <a:p>
            <a:pPr algn="l"/>
            <a:r>
              <a:rPr sz="950" b="0">
                <a:solidFill>
                  <a:srgbClr val="2B3147"/>
                </a:solidFill>
                <a:latin typeface="Calibri"/>
              </a:rPr>
              <a:t>•  June live applications rose 6% to 306 and submissions 7% to 322; the approval rate held at 45%.</a:t>
            </a:r>
          </a:p>
          <a:p>
            <a:pPr algn="l">
              <a:spcBef>
                <a:spcPts val="600"/>
              </a:spcBef>
            </a:pPr>
            <a:r>
              <a:rPr sz="950" b="0">
                <a:solidFill>
                  <a:srgbClr val="2B3147"/>
                </a:solidFill>
                <a:latin typeface="Calibri"/>
              </a:rPr>
              <a:t>•  New funded held at 41 and new traded closed at 30. The fund step (28%) remains the gate to account growth.</a:t>
            </a:r>
          </a:p>
          <a:p>
            <a:pPr algn="l">
              <a:spcBef>
                <a:spcPts val="600"/>
              </a:spcBef>
            </a:pPr>
            <a:r>
              <a:rPr sz="950" b="0">
                <a:solidFill>
                  <a:srgbClr val="2B3147"/>
                </a:solidFill>
                <a:latin typeface="Calibri"/>
              </a:rPr>
              <a:t>•  Working media reached $117,024 in June (+53% MoM), the biggest GCG month of 2026, with the Native pilot adding a fifth channel.</a:t>
            </a:r>
          </a:p>
          <a:p>
            <a:pPr algn="l">
              <a:spcBef>
                <a:spcPts val="600"/>
              </a:spcBef>
            </a:pPr>
            <a:r>
              <a:rPr sz="950" b="0">
                <a:solidFill>
                  <a:srgbClr val="2B3147"/>
                </a:solidFill>
                <a:latin typeface="Calibri"/>
              </a:rPr>
              <a:t>•  Sessions grew 30% MoM on the paid scale-up while application starts stayed flat, so conversion, not volume, is the constraint.</a:t>
            </a:r>
          </a:p>
          <a:p>
            <a:pPr algn="l">
              <a:spcBef>
                <a:spcPts val="600"/>
              </a:spcBef>
            </a:pPr>
            <a:r>
              <a:rPr sz="950" b="0">
                <a:solidFill>
                  <a:srgbClr val="2B3147"/>
                </a:solidFill>
                <a:latin typeface="Calibri"/>
              </a:rPr>
              <a:t>•  Q2 closed 14% below Q1 on blended applications while media scaled 5x: the dilution sits in the start-to-submit step, which the July funnel workstream targets jointly with the client team.</a:t>
            </a:r>
          </a:p>
        </p:txBody>
      </p:sp>
      <p:graphicFrame>
        <p:nvGraphicFramePr>
          <p:cNvPr id="11" name="Table 10"/>
          <p:cNvGraphicFramePr>
            <a:graphicFrameLocks noGrp="1"/>
          </p:cNvGraphicFramePr>
          <p:nvPr/>
        </p:nvGraphicFramePr>
        <p:xfrm>
          <a:off x="3566160" y="1828800"/>
          <a:ext cx="8129016" cy="3200400"/>
        </p:xfrm>
        <a:graphic>
          <a:graphicData uri="http://schemas.openxmlformats.org/drawingml/2006/table">
            <a:tbl>
              <a:tblPr>
                <a:tableStyleId>{5C22544A-7EE6-4342-B048-85BDC9FD1C3A}</a:tableStyleId>
              </a:tblPr>
              <a:tblGrid>
                <a:gridCol w="1965960"/>
                <a:gridCol w="886968"/>
                <a:gridCol w="886968"/>
                <a:gridCol w="886968"/>
                <a:gridCol w="886968"/>
                <a:gridCol w="886968"/>
                <a:gridCol w="886968"/>
                <a:gridCol w="841248"/>
              </a:tblGrid>
              <a:tr h="266700">
                <a:tc>
                  <a:txBody>
                    <a:bodyPr/>
                    <a:lstStyle/>
                    <a:p>
                      <a:r>
                        <a:rPr sz="850" b="1">
                          <a:solidFill>
                            <a:srgbClr val="FFFFFF"/>
                          </a:solidFill>
                          <a:latin typeface="Calibri"/>
                        </a:rPr>
                        <a:t>GCG — blended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Jan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Feb</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MoM</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Working Media Spend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$2,237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$49,106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$58,324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$76,274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$117,024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Unique Sessions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4,187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5,075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31,785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43,192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52,137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67,542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 Starts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2,306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1,871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2,820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2,617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2,590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Live Apps Submitted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344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Approved Clients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202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Approval Rate</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0pp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New Funded Clients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Fund Rate</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Cost per Funded Client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$1,116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$897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$1,907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$2,854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New Traded Clients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266700">
                <a:tc>
                  <a:txBody>
                    <a:bodyPr/>
                    <a:lstStyle/>
                    <a:p>
                      <a:r>
                        <a:rPr sz="850" b="1">
                          <a:solidFill>
                            <a:srgbClr val="2B3147"/>
                          </a:solidFill>
                          <a:latin typeface="Calibri"/>
                        </a:rPr>
                        <a:t>Cost per Traded Client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$1,100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$2,460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$3,901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2" name="TextBox 11"/>
          <p:cNvSpPr txBox="1"/>
          <p:nvPr/>
        </p:nvSpPr>
        <p:spPr>
          <a:xfrm>
            <a:off x="3566160" y="5212080"/>
            <a:ext cx="8138160" cy="457200"/>
          </a:xfrm>
          <a:prstGeom prst="rect">
            <a:avLst/>
          </a:prstGeom>
          <a:noFill/>
        </p:spPr>
        <p:txBody>
          <a:bodyPr wrap="square" anchor="t" lIns="0" rIns="0" tIns="0" bIns="0">
            <a:spAutoFit/>
          </a:bodyPr>
          <a:lstStyle/>
          <a:p>
            <a:pPr algn="l"/>
            <a:r>
              <a:rPr sz="750" b="0">
                <a:solidFill>
                  <a:srgbClr val="5A6072"/>
                </a:solidFill>
                <a:latin typeface="Calibri"/>
              </a:rPr>
              <a:t>Funnel metrics are blended organic + paid (client dashboard). Working media per the budget tracker. MoM = June vs May. January-February cost rows reflect a near-zero media base; the paid-era baseline starts in March.</a:t>
            </a:r>
          </a:p>
        </p:txBody>
      </p:sp>
      <p:sp>
        <p:nvSpPr>
          <p:cNvPr id="13" name="Rectangle 12"/>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Q3 FY2026 IN REVIEW  ·  SPEND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Spend rose from $58K in April to $117K in June, with a fifth channel added.</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3 / 15</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1737360"/>
                <a:gridCol w="1051560"/>
                <a:gridCol w="1051560"/>
                <a:gridCol w="1097280"/>
                <a:gridCol w="1097280"/>
              </a:tblGrid>
              <a:tr h="352697">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Q3</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$15,120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$15,201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$52,845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Meta</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$12,167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$12,243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$30,711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$55,121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$15,015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$22,359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$30,559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$16,021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$26,472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$29,586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$72,079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Native</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8">
                <a:tc>
                  <a:txBody>
                    <a:bodyPr/>
                    <a:lstStyle/>
                    <a:p>
                      <a:r>
                        <a:rPr sz="850" b="1">
                          <a:solidFill>
                            <a:srgbClr val="1E2761"/>
                          </a:solidFill>
                          <a:latin typeface="Calibri"/>
                        </a:rPr>
                        <a:t>Total</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$58,324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$76,274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$117,024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$251,621</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389120"/>
            <a:ext cx="6035040" cy="822960"/>
          </a:xfrm>
          <a:prstGeom prst="rect">
            <a:avLst/>
          </a:prstGeom>
          <a:noFill/>
        </p:spPr>
        <p:txBody>
          <a:bodyPr wrap="square" anchor="t" lIns="0" rIns="0" tIns="0" bIns="0">
            <a:spAutoFit/>
          </a:bodyPr>
          <a:lstStyle/>
          <a:p>
            <a:pPr algn="l"/>
            <a:r>
              <a:rPr sz="950" b="0">
                <a:solidFill>
                  <a:srgbClr val="2B3147"/>
                </a:solidFill>
                <a:latin typeface="Calibri"/>
              </a:rPr>
              <a:t>Month-over-month growth: +31% into May, +53% into June. June ran at 2x the April level.</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Q3 closed at $251,621 in working media, roughly 16% of the FY2026 budget; the program is at 19.35% of budget year to date.</a:t>
            </a:r>
          </a:p>
          <a:p>
            <a:pPr algn="l">
              <a:spcBef>
                <a:spcPts val="600"/>
              </a:spcBef>
            </a:pPr>
            <a:r>
              <a:rPr sz="950" b="0">
                <a:solidFill>
                  <a:srgbClr val="2B3147"/>
                </a:solidFill>
                <a:latin typeface="Calibri"/>
              </a:rPr>
              <a:t>The mix stayed balanced as it scaled: no channel above 27% of June spend, with search, social, and two programmatic lines all growing and the Native pilot launching as the fifth channel.</a:t>
            </a:r>
          </a:p>
          <a:p>
            <a:pPr algn="l">
              <a:spcBef>
                <a:spcPts val="600"/>
              </a:spcBef>
            </a:pPr>
            <a:r>
              <a:rPr sz="950" b="0">
                <a:solidFill>
                  <a:srgbClr val="2B3147"/>
                </a:solidFill>
                <a:latin typeface="Calibri"/>
              </a:rPr>
              <a:t>Paid social led June growth (+151%), followed by search (+48%) and the reach line (+37%).</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Q3 FY2026 IN REVIEW  ·  APPLICATIONS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Search and display carried the measured volume.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4 / 15</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2377440"/>
                <a:gridCol w="868680"/>
                <a:gridCol w="868680"/>
                <a:gridCol w="914400"/>
                <a:gridCol w="1005840"/>
              </a:tblGrid>
              <a:tr h="352697">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May</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Q3</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Meta (pixel events)*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7">
                <a:tc>
                  <a:txBody>
                    <a:bodyPr/>
                    <a:lstStyle/>
                    <a:p>
                      <a:r>
                        <a:rPr sz="850" b="1">
                          <a:solidFill>
                            <a:srgbClr val="2B3147"/>
                          </a:solidFill>
                          <a:latin typeface="Calibri"/>
                        </a:rPr>
                        <a:t>Measured submitted apps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2698">
                <a:tc>
                  <a:txBody>
                    <a:bodyPr/>
                    <a:lstStyle/>
                    <a:p>
                      <a:r>
                        <a:rPr sz="850" b="1">
                          <a:solidFill>
                            <a:srgbClr val="2B3147"/>
                          </a:solidFill>
                          <a:latin typeface="Calibri"/>
                        </a:rPr>
                        <a:t>Cost / measured submitted app</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$354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$350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$417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2B3147"/>
                          </a:solidFill>
                          <a:latin typeface="Calibri"/>
                        </a:rPr>
                        <a:t>$376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434840"/>
            <a:ext cx="6035040" cy="822960"/>
          </a:xfrm>
          <a:prstGeom prst="rect">
            <a:avLst/>
          </a:prstGeom>
          <a:noFill/>
        </p:spPr>
        <p:txBody>
          <a:bodyPr wrap="square" anchor="t" lIns="0" rIns="0" tIns="0" bIns="0">
            <a:spAutoFit/>
          </a:bodyPr>
          <a:lstStyle/>
          <a:p>
            <a:pPr algn="l"/>
            <a:r>
              <a:rPr sz="750" b="0">
                <a:solidFill>
                  <a:srgbClr val="5A6072"/>
                </a:solidFill>
                <a:latin typeface="Calibri"/>
              </a:rPr>
              <a:t>* Meta counts pixel application events, mostly application starts, on a traffic objective; not comparable to submitted applications. Quantcast is view-through, directional only. Measured submitted apps = Google + Azerion. Cost per measured submitted app = those channels' spend over their applications.</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The quarter delivered 332 measured submitted applications, June its best month (125), at a cost per submitted application that held in the $350-$420 band through a 2x scale-up. That efficiency hold is the core result of the quarter.</a:t>
            </a:r>
          </a:p>
          <a:p>
            <a:pPr algn="l">
              <a:spcBef>
                <a:spcPts val="600"/>
              </a:spcBef>
            </a:pPr>
            <a:r>
              <a:rPr sz="950" b="0">
                <a:solidFill>
                  <a:srgbClr val="2B3147"/>
                </a:solidFill>
                <a:latin typeface="Calibri"/>
              </a:rPr>
              <a:t>Azerion returned to form in June: 58 applications, up 35% on a 12% budget increase, at a $510 CPA (down 17%).</a:t>
            </a:r>
          </a:p>
          <a:p>
            <a:pPr algn="l">
              <a:spcBef>
                <a:spcPts val="600"/>
              </a:spcBef>
            </a:pPr>
            <a:r>
              <a:rPr sz="950" b="0">
                <a:solidFill>
                  <a:srgbClr val="2B3147"/>
                </a:solidFill>
                <a:latin typeface="Calibri"/>
              </a:rPr>
              <a:t>June's planned search scale-up surfaced the account's rank ceiling: 64-76% of available impressions are lost to ad rank against 9-13% to budget. The auction data now points the next dollar at bids, quality, and ad strength rather than budget.</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Q1 VS Q2  ·  BLENDED FUNNEL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Four times the traffic, the same funded accounts.</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5 / 15</a:t>
            </a:r>
          </a:p>
        </p:txBody>
      </p:sp>
      <p:graphicFrame>
        <p:nvGraphicFramePr>
          <p:cNvPr id="10" name="Table 9"/>
          <p:cNvGraphicFramePr>
            <a:graphicFrameLocks noGrp="1"/>
          </p:cNvGraphicFramePr>
          <p:nvPr/>
        </p:nvGraphicFramePr>
        <p:xfrm>
          <a:off x="457200" y="1737360"/>
          <a:ext cx="5852160" cy="2834640"/>
        </p:xfrm>
        <a:graphic>
          <a:graphicData uri="http://schemas.openxmlformats.org/drawingml/2006/table">
            <a:tbl>
              <a:tblPr>
                <a:tableStyleId>{5C22544A-7EE6-4342-B048-85BDC9FD1C3A}</a:tableStyleId>
              </a:tblPr>
              <a:tblGrid>
                <a:gridCol w="2194560"/>
                <a:gridCol w="1280160"/>
                <a:gridCol w="1280160"/>
                <a:gridCol w="1097280"/>
              </a:tblGrid>
              <a:tr h="354330">
                <a:tc>
                  <a:txBody>
                    <a:bodyPr/>
                    <a:lstStyle/>
                    <a:p>
                      <a:r>
                        <a:rPr sz="850" b="1">
                          <a:solidFill>
                            <a:srgbClr val="FFFFFF"/>
                          </a:solidFill>
                          <a:latin typeface="Calibri"/>
                        </a:rPr>
                        <a:t>Metric</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Q1 (Jan-Mar)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Q2 (Apr-Jun)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Change</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Unique Sessions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41,047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162,871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App Starts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6,997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7,974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Submitted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1,203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Live Apps Submitted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1,165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993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Approved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465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New Funded</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54330">
                <a:tc>
                  <a:txBody>
                    <a:bodyPr/>
                    <a:lstStyle/>
                    <a:p>
                      <a:r>
                        <a:rPr sz="850" b="1">
                          <a:solidFill>
                            <a:srgbClr val="2B3147"/>
                          </a:solidFill>
                          <a:latin typeface="Calibri"/>
                        </a:rPr>
                        <a:t>New Traded</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4800600"/>
            <a:ext cx="6035040" cy="457200"/>
          </a:xfrm>
          <a:prstGeom prst="rect">
            <a:avLst/>
          </a:prstGeom>
          <a:noFill/>
        </p:spPr>
        <p:txBody>
          <a:bodyPr wrap="square" anchor="t" lIns="0" rIns="0" tIns="0" bIns="0">
            <a:spAutoFit/>
          </a:bodyPr>
          <a:lstStyle/>
          <a:p>
            <a:pPr algn="l"/>
            <a:r>
              <a:rPr sz="750" b="0">
                <a:solidFill>
                  <a:srgbClr val="5A6072"/>
                </a:solidFill>
                <a:latin typeface="Calibri"/>
              </a:rPr>
              <a:t>Client dashboard, calendar quarters, blended organic + paid.</a:t>
            </a:r>
          </a:p>
        </p:txBody>
      </p:sp>
      <p:sp>
        <p:nvSpPr>
          <p:cNvPr id="12" name="Rectangle 11"/>
          <p:cNvSpPr/>
          <p:nvPr/>
        </p:nvSpPr>
        <p:spPr>
          <a:xfrm>
            <a:off x="6858000" y="1737360"/>
            <a:ext cx="4846320" cy="45720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2B3147"/>
                </a:solidFill>
                <a:latin typeface="Calibri"/>
              </a:rPr>
              <a:t>Traffic quadrupled quarter over quarter while application starts grew 14% and submissions fell 14%. Each funnel stage dampened the volume the media bought: the start rate diluted from 17% to 5% and the submit rate from 17% to 13%.</a:t>
            </a:r>
          </a:p>
          <a:p>
            <a:pPr algn="l">
              <a:spcBef>
                <a:spcPts val="600"/>
              </a:spcBef>
            </a:pPr>
            <a:r>
              <a:rPr sz="950" b="0">
                <a:solidFill>
                  <a:srgbClr val="2B3147"/>
                </a:solidFill>
                <a:latin typeface="Calibri"/>
              </a:rPr>
              <a:t>Approval, funding, and activation held steady through the scale-up; those stages run on the application-review and account-activation journey downstream of media.</a:t>
            </a:r>
          </a:p>
          <a:p>
            <a:pPr algn="l">
              <a:spcBef>
                <a:spcPts val="600"/>
              </a:spcBef>
            </a:pPr>
            <a:r>
              <a:rPr sz="950" b="0">
                <a:solidFill>
                  <a:srgbClr val="2B3147"/>
                </a:solidFill>
                <a:latin typeface="Calibri"/>
              </a:rPr>
              <a:t>The media mandate is qualified traffic and submitted applications at controlled unit cost. Converting starts into submissions is the joint funnel work on the July roadmap, and it is where the next accounts come from.</a:t>
            </a:r>
          </a:p>
        </p:txBody>
      </p:sp>
      <p:sp>
        <p:nvSpPr>
          <p:cNvPr id="16" name="Rectangle 15"/>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4"/>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SITE TRAFFIC  ·  SPANISH-LANGUAGE AUDIENCE (GA4, US)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The Spanish-language base held near 70K sessions and rose 15% in June.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6 / 15</a:t>
            </a:r>
          </a:p>
        </p:txBody>
      </p:sp>
      <p:graphicFrame>
        <p:nvGraphicFramePr>
          <p:cNvPr id="10" name="Chart 9"/>
          <p:cNvGraphicFramePr>
            <a:graphicFrameLocks noGrp="1"/>
          </p:cNvGraphicFramePr>
          <p:nvPr/>
        </p:nvGraphicFramePr>
        <p:xfrm>
          <a:off x="457200" y="1783080"/>
          <a:ext cx="6400800" cy="2606040"/>
        </p:xfrm>
        <a:graphic>
          <a:graphicData uri="http://schemas.openxmlformats.org/drawingml/2006/chart">
            <c:chart xmlns:c="http://schemas.openxmlformats.org/drawingml/2006/chart" r:id="rId3"/>
          </a:graphicData>
        </a:graphic>
      </p:graphicFrame>
      <p:sp>
        <p:nvSpPr>
          <p:cNvPr id="11" name="Rectangle 10"/>
          <p:cNvSpPr/>
          <p:nvPr/>
        </p:nvSpPr>
        <p:spPr>
          <a:xfrm>
            <a:off x="457200" y="4572000"/>
            <a:ext cx="6400800" cy="173736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572000"/>
            <a:ext cx="64008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54880"/>
            <a:ext cx="6035040" cy="274320"/>
          </a:xfrm>
          <a:prstGeom prst="rect">
            <a:avLst/>
          </a:prstGeom>
          <a:noFill/>
        </p:spPr>
        <p:txBody>
          <a:bodyPr wrap="square" anchor="t" lIns="0" rIns="0" tIns="0" bIns="0">
            <a:spAutoFit/>
          </a:bodyPr>
          <a:lstStyle/>
          <a:p>
            <a:pPr algn="l"/>
            <a:r>
              <a:rPr sz="1000" b="1">
                <a:solidFill>
                  <a:srgbClr val="1E2761"/>
                </a:solidFill>
                <a:latin typeface="Georgia"/>
              </a:rPr>
              <a:t>THE READ</a:t>
            </a:r>
          </a:p>
        </p:txBody>
      </p:sp>
      <p:sp>
        <p:nvSpPr>
          <p:cNvPr id="14" name="TextBox 13"/>
          <p:cNvSpPr txBox="1"/>
          <p:nvPr/>
        </p:nvSpPr>
        <p:spPr>
          <a:xfrm>
            <a:off x="640080" y="5074920"/>
            <a:ext cx="6035040" cy="1051560"/>
          </a:xfrm>
          <a:prstGeom prst="rect">
            <a:avLst/>
          </a:prstGeom>
          <a:noFill/>
        </p:spPr>
        <p:txBody>
          <a:bodyPr wrap="square" anchor="t" lIns="0" rIns="0" tIns="0" bIns="0">
            <a:spAutoFit/>
          </a:bodyPr>
          <a:lstStyle/>
          <a:p>
            <a:pPr algn="l"/>
            <a:r>
              <a:rPr sz="950" b="0">
                <a:solidFill>
                  <a:srgbClr val="2B3147"/>
                </a:solidFill>
                <a:latin typeface="Calibri"/>
              </a:rPr>
              <a:t>Spanish-language sessions on the US property held near 70K from January through May and rose 15% in June with the media scale-up; unique visitors rose 40% to 41,795. The traffic base under GCG is healthy and growing.</a:t>
            </a:r>
          </a:p>
        </p:txBody>
      </p:sp>
      <p:sp>
        <p:nvSpPr>
          <p:cNvPr id="15" name="Rectangle 14"/>
          <p:cNvSpPr/>
          <p:nvPr/>
        </p:nvSpPr>
        <p:spPr>
          <a:xfrm>
            <a:off x="7223760" y="1783080"/>
            <a:ext cx="4480560" cy="45262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0" y="1783080"/>
            <a:ext cx="44805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965960"/>
            <a:ext cx="4114800" cy="274320"/>
          </a:xfrm>
          <a:prstGeom prst="rect">
            <a:avLst/>
          </a:prstGeom>
          <a:noFill/>
        </p:spPr>
        <p:txBody>
          <a:bodyPr wrap="square" anchor="t" lIns="0" rIns="0" tIns="0" bIns="0">
            <a:spAutoFit/>
          </a:bodyPr>
          <a:lstStyle/>
          <a:p>
            <a:pPr algn="l"/>
            <a:r>
              <a:rPr sz="1000" b="1">
                <a:solidFill>
                  <a:srgbClr val="2E7D57"/>
                </a:solidFill>
                <a:latin typeface="Georgia"/>
              </a:rPr>
              <a:t>WHAT IT MEANS</a:t>
            </a:r>
          </a:p>
        </p:txBody>
      </p:sp>
      <p:sp>
        <p:nvSpPr>
          <p:cNvPr id="18" name="TextBox 17"/>
          <p:cNvSpPr txBox="1"/>
          <p:nvPr/>
        </p:nvSpPr>
        <p:spPr>
          <a:xfrm>
            <a:off x="7406640" y="2286000"/>
            <a:ext cx="4114800" cy="3840480"/>
          </a:xfrm>
          <a:prstGeom prst="rect">
            <a:avLst/>
          </a:prstGeom>
          <a:noFill/>
        </p:spPr>
        <p:txBody>
          <a:bodyPr wrap="square" anchor="t" lIns="0" rIns="0" tIns="0" bIns="0">
            <a:spAutoFit/>
          </a:bodyPr>
          <a:lstStyle/>
          <a:p>
            <a:pPr algn="l"/>
            <a:r>
              <a:rPr sz="950" b="0">
                <a:solidFill>
                  <a:srgbClr val="2B3147"/>
                </a:solidFill>
                <a:latin typeface="Calibri"/>
              </a:rPr>
              <a:t>Media is expanding the audience: June brought the highest Spanish-language visitor count of the year.</a:t>
            </a:r>
          </a:p>
          <a:p>
            <a:pPr algn="l">
              <a:spcBef>
                <a:spcPts val="600"/>
              </a:spcBef>
            </a:pPr>
            <a:r>
              <a:rPr sz="950" b="0">
                <a:solidFill>
                  <a:srgbClr val="2B3147"/>
                </a:solidFill>
                <a:latin typeface="Calibri"/>
              </a:rPr>
              <a:t>Measurement is working: site analytics capture roughly 57% of paid social clicks as sessions, and search reconciles exactly.</a:t>
            </a:r>
          </a:p>
          <a:p>
            <a:pPr algn="l">
              <a:spcBef>
                <a:spcPts val="600"/>
              </a:spcBef>
            </a:pPr>
            <a:r>
              <a:rPr sz="950" b="0">
                <a:solidFill>
                  <a:srgbClr val="2B3147"/>
                </a:solidFill>
                <a:latin typeface="Calibri"/>
              </a:rPr>
              <a:t>The gap between traffic growth and application growth is a conversion problem, not a traffic or measurement problem, which is why the funnel work on the previous slide leads the recommendations.</a:t>
            </a:r>
          </a:p>
        </p:txBody>
      </p:sp>
      <p:sp>
        <p:nvSpPr>
          <p:cNvPr id="19" name="Rectangle 18"/>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JUNE 2026  ·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$117K deployed across five channels in June.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7 / 15</a:t>
            </a:r>
          </a:p>
        </p:txBody>
      </p:sp>
      <p:graphicFrame>
        <p:nvGraphicFramePr>
          <p:cNvPr id="10" name="Table 9"/>
          <p:cNvGraphicFramePr>
            <a:graphicFrameLocks noGrp="1"/>
          </p:cNvGraphicFramePr>
          <p:nvPr/>
        </p:nvGraphicFramePr>
        <p:xfrm>
          <a:off x="457200" y="1737360"/>
          <a:ext cx="6784848" cy="2103120"/>
        </p:xfrm>
        <a:graphic>
          <a:graphicData uri="http://schemas.openxmlformats.org/drawingml/2006/table">
            <a:tbl>
              <a:tblPr>
                <a:tableStyleId>{5C22544A-7EE6-4342-B048-85BDC9FD1C3A}</a:tableStyleId>
              </a:tblPr>
              <a:tblGrid>
                <a:gridCol w="2130552"/>
                <a:gridCol w="969264"/>
                <a:gridCol w="969264"/>
                <a:gridCol w="969264"/>
                <a:gridCol w="777240"/>
                <a:gridCol w="969264"/>
              </a:tblGrid>
              <a:tr h="300445">
                <a:tc>
                  <a:txBody>
                    <a:bodyPr/>
                    <a:lstStyle/>
                    <a:p>
                      <a:r>
                        <a:rPr sz="850" b="1">
                          <a:solidFill>
                            <a:srgbClr val="FFFFFF"/>
                          </a:solidFill>
                          <a:latin typeface="Calibri"/>
                        </a:rPr>
                        <a:t>Channel</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Impr</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Conv</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Google Ads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$22,524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181,470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12,888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$336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Meta</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$30,711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3.06M</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74,572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Quantcast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$30,559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37.2M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2,942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15 VT*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Azerion</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$29,586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4.52M</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19,653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$510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Native</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$3,645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pilot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50">
                <a:tc>
                  <a:txBody>
                    <a:bodyPr/>
                    <a:lstStyle/>
                    <a:p>
                      <a:r>
                        <a:rPr sz="850" b="1">
                          <a:solidFill>
                            <a:srgbClr val="1E2761"/>
                          </a:solidFill>
                          <a:latin typeface="Calibri"/>
                        </a:rPr>
                        <a:t>Total</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$117,024</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1E2761"/>
                          </a:solidFill>
                          <a:latin typeface="Calibri"/>
                        </a:rPr>
                        <a:t>—</a:t>
                      </a:r>
                    </a:p>
                  </a:txBody>
                  <a:tcPr marL="54864" marR="54864" marT="27432" marB="27432">
                    <a:solidFill>
                      <a:srgbClr val="CADC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11" name="TextBox 10"/>
          <p:cNvSpPr txBox="1"/>
          <p:nvPr/>
        </p:nvSpPr>
        <p:spPr>
          <a:xfrm>
            <a:off x="457200" y="3977639"/>
            <a:ext cx="6766560" cy="411480"/>
          </a:xfrm>
          <a:prstGeom prst="rect">
            <a:avLst/>
          </a:prstGeom>
          <a:noFill/>
        </p:spPr>
        <p:txBody>
          <a:bodyPr wrap="square" anchor="t" lIns="0" rIns="0" tIns="0" bIns="0">
            <a:spAutoFit/>
          </a:bodyPr>
          <a:lstStyle/>
          <a:p>
            <a:pPr algn="l"/>
            <a:r>
              <a:rPr sz="750" b="0">
                <a:solidFill>
                  <a:srgbClr val="5A6072"/>
                </a:solidFill>
                <a:latin typeface="Calibri"/>
              </a:rPr>
              <a:t>* Meta counts pixel application events (mostly starts) on a traffic objective. Programmatic view-through is directional only. Conversions use different events per channel and are never summed.</a:t>
            </a:r>
          </a:p>
        </p:txBody>
      </p:sp>
      <p:sp>
        <p:nvSpPr>
          <p:cNvPr id="12" name="Rectangle 11"/>
          <p:cNvSpPr/>
          <p:nvPr/>
        </p:nvSpPr>
        <p:spPr>
          <a:xfrm>
            <a:off x="7406640" y="1737360"/>
            <a:ext cx="4297680" cy="21945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429768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920240"/>
            <a:ext cx="3931920" cy="274320"/>
          </a:xfrm>
          <a:prstGeom prst="rect">
            <a:avLst/>
          </a:prstGeom>
          <a:noFill/>
        </p:spPr>
        <p:txBody>
          <a:bodyPr wrap="square" anchor="t" lIns="0" rIns="0" tIns="0" bIns="0">
            <a:spAutoFit/>
          </a:bodyPr>
          <a:lstStyle/>
          <a:p>
            <a:pPr algn="l"/>
            <a:r>
              <a:rPr sz="1000" b="1">
                <a:solidFill>
                  <a:srgbClr val="1E2761"/>
                </a:solidFill>
                <a:latin typeface="Georgia"/>
              </a:rPr>
              <a:t>HEADLINES</a:t>
            </a:r>
          </a:p>
        </p:txBody>
      </p:sp>
      <p:sp>
        <p:nvSpPr>
          <p:cNvPr id="15" name="TextBox 14"/>
          <p:cNvSpPr txBox="1"/>
          <p:nvPr/>
        </p:nvSpPr>
        <p:spPr>
          <a:xfrm>
            <a:off x="7589519" y="2240280"/>
            <a:ext cx="3931920" cy="1508760"/>
          </a:xfrm>
          <a:prstGeom prst="rect">
            <a:avLst/>
          </a:prstGeom>
          <a:noFill/>
        </p:spPr>
        <p:txBody>
          <a:bodyPr wrap="square" anchor="t" lIns="0" rIns="0" tIns="0" bIns="0">
            <a:spAutoFit/>
          </a:bodyPr>
          <a:lstStyle/>
          <a:p>
            <a:pPr algn="l"/>
            <a:r>
              <a:rPr sz="950" b="0">
                <a:solidFill>
                  <a:srgbClr val="2B3147"/>
                </a:solidFill>
                <a:latin typeface="Calibri"/>
              </a:rPr>
              <a:t>June was the biggest GCG media month of 2026: $117,024 across five lines, up 53% from May. Azerion led conversion with 58 applications at $510 (+35%), search added 67 at $336, and the Native pilot entered the market.</a:t>
            </a:r>
          </a:p>
        </p:txBody>
      </p:sp>
      <p:sp>
        <p:nvSpPr>
          <p:cNvPr id="16" name="Rectangle 15"/>
          <p:cNvSpPr/>
          <p:nvPr/>
        </p:nvSpPr>
        <p:spPr>
          <a:xfrm>
            <a:off x="457200" y="4526280"/>
            <a:ext cx="6766560" cy="18288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26280"/>
            <a:ext cx="67665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09160"/>
            <a:ext cx="6400800" cy="274320"/>
          </a:xfrm>
          <a:prstGeom prst="rect">
            <a:avLst/>
          </a:prstGeom>
          <a:noFill/>
        </p:spPr>
        <p:txBody>
          <a:bodyPr wrap="square" anchor="t" lIns="0" rIns="0" tIns="0" bIns="0">
            <a:spAutoFit/>
          </a:bodyPr>
          <a:lstStyle/>
          <a:p>
            <a:pPr algn="l"/>
            <a:r>
              <a:rPr sz="1000" b="1">
                <a:solidFill>
                  <a:srgbClr val="2E7D57"/>
                </a:solidFill>
                <a:latin typeface="Georgia"/>
              </a:rPr>
              <a:t>WHAT THE DATA SAYS</a:t>
            </a:r>
          </a:p>
        </p:txBody>
      </p:sp>
      <p:sp>
        <p:nvSpPr>
          <p:cNvPr id="19" name="TextBox 18"/>
          <p:cNvSpPr txBox="1"/>
          <p:nvPr/>
        </p:nvSpPr>
        <p:spPr>
          <a:xfrm>
            <a:off x="640080" y="5029200"/>
            <a:ext cx="6400800" cy="1143000"/>
          </a:xfrm>
          <a:prstGeom prst="rect">
            <a:avLst/>
          </a:prstGeom>
          <a:noFill/>
        </p:spPr>
        <p:txBody>
          <a:bodyPr wrap="square" anchor="t" lIns="0" rIns="0" tIns="0" bIns="0">
            <a:spAutoFit/>
          </a:bodyPr>
          <a:lstStyle/>
          <a:p>
            <a:pPr algn="l"/>
            <a:r>
              <a:rPr sz="950" b="0">
                <a:solidFill>
                  <a:srgbClr val="2B3147"/>
                </a:solidFill>
                <a:latin typeface="Calibri"/>
              </a:rPr>
              <a:t>The search scale-up surfaced the account's rank ceiling (67 applications at $336); the fix is ad-rank work, already scoped. Paid social scaled 151% with healthy delivery (71% of clicks became landing-page views). The reach line scaled 37% and its viewability fell to 46.9%, which the blocklist addresses.</a:t>
            </a:r>
          </a:p>
        </p:txBody>
      </p:sp>
      <p:sp>
        <p:nvSpPr>
          <p:cNvPr id="20" name="Rectangle 19"/>
          <p:cNvSpPr/>
          <p:nvPr/>
        </p:nvSpPr>
        <p:spPr>
          <a:xfrm>
            <a:off x="7406640" y="4526280"/>
            <a:ext cx="4297680" cy="18288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526280"/>
            <a:ext cx="429768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4709160"/>
            <a:ext cx="3931920" cy="274320"/>
          </a:xfrm>
          <a:prstGeom prst="rect">
            <a:avLst/>
          </a:prstGeom>
          <a:noFill/>
        </p:spPr>
        <p:txBody>
          <a:bodyPr wrap="square" anchor="t" lIns="0" rIns="0" tIns="0" bIns="0">
            <a:spAutoFit/>
          </a:bodyPr>
          <a:lstStyle/>
          <a:p>
            <a:pPr algn="l"/>
            <a:r>
              <a:rPr sz="1000" b="1">
                <a:solidFill>
                  <a:srgbClr val="F96167"/>
                </a:solidFill>
                <a:latin typeface="Georgia"/>
              </a:rPr>
              <a:t>JUNE PRIORITY</a:t>
            </a:r>
          </a:p>
        </p:txBody>
      </p:sp>
      <p:sp>
        <p:nvSpPr>
          <p:cNvPr id="23" name="TextBox 22"/>
          <p:cNvSpPr txBox="1"/>
          <p:nvPr/>
        </p:nvSpPr>
        <p:spPr>
          <a:xfrm>
            <a:off x="7589519" y="5029200"/>
            <a:ext cx="3931920" cy="1143000"/>
          </a:xfrm>
          <a:prstGeom prst="rect">
            <a:avLst/>
          </a:prstGeom>
          <a:noFill/>
        </p:spPr>
        <p:txBody>
          <a:bodyPr wrap="square" anchor="t" lIns="0" rIns="0" tIns="0" bIns="0">
            <a:spAutoFit/>
          </a:bodyPr>
          <a:lstStyle/>
          <a:p>
            <a:pPr algn="l"/>
            <a:r>
              <a:rPr sz="950" b="0">
                <a:solidFill>
                  <a:srgbClr val="2B3147"/>
                </a:solidFill>
                <a:latin typeface="Calibri"/>
              </a:rPr>
              <a:t>Shift paid social to the conversion objective, run the search ad-rank program before adding budget, and apply the programmatic blocklist with a viewability floor.</a:t>
            </a:r>
          </a:p>
        </p:txBody>
      </p:sp>
      <p:sp>
        <p:nvSpPr>
          <p:cNvPr id="24" name="Rectangle 23"/>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CONT'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Three moves shape July.</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8 / 15</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1E2761"/>
                </a:solidFill>
                <a:latin typeface="Georgia"/>
              </a:rPr>
              <a:t>WHAT IS STILL FORMING</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Search efficiency at scale. June proved the account is rank-limited: every campaign loses 64-76% of available impressions to ad rank and only 9-13% to budget. More budget at current ad rank buys worse auctions.</a:t>
            </a:r>
          </a:p>
          <a:p>
            <a:pPr algn="l">
              <a:spcBef>
                <a:spcPts val="600"/>
              </a:spcBef>
            </a:pPr>
            <a:r>
              <a:rPr sz="950" b="0">
                <a:solidFill>
                  <a:srgbClr val="2B3147"/>
                </a:solidFill>
                <a:latin typeface="Calibri"/>
              </a:rPr>
              <a:t>Paid social conversion measurement. Delivery and site capture are healthy, but the campaign still runs a traffic objective, so its 136 pixel events are mostly application starts rather than submitted applications.</a:t>
            </a:r>
          </a:p>
          <a:p>
            <a:pPr algn="l">
              <a:spcBef>
                <a:spcPts val="600"/>
              </a:spcBef>
            </a:pPr>
            <a:r>
              <a:rPr sz="950" b="0">
                <a:solidFill>
                  <a:srgbClr val="2B3147"/>
                </a:solidFill>
                <a:latin typeface="Calibri"/>
              </a:rPr>
              <a:t>The Native pilot. The June flight ($3,645) was an intentionally small first burn, below the volume for a meaningful cost-per-application read. The full pilot reports with July.</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Complete the paid-social shift to a conversion objective and judge the channel on submitted applications from July.</a:t>
            </a:r>
          </a:p>
          <a:p>
            <a:pPr algn="l">
              <a:spcBef>
                <a:spcPts val="600"/>
              </a:spcBef>
            </a:pPr>
            <a:r>
              <a:rPr sz="950" b="0">
                <a:solidFill>
                  <a:srgbClr val="2B3147"/>
                </a:solidFill>
                <a:latin typeface="Calibri"/>
              </a:rPr>
              <a:t>Run the search ad-rank program on the proven TrackB terms: bid and quality work plus an RSA refresh, then scale into the recovered impression share.</a:t>
            </a:r>
          </a:p>
          <a:p>
            <a:pPr algn="l">
              <a:spcBef>
                <a:spcPts val="600"/>
              </a:spcBef>
            </a:pPr>
            <a:r>
              <a:rPr sz="950" b="0">
                <a:solidFill>
                  <a:srgbClr val="2B3147"/>
                </a:solidFill>
                <a:latin typeface="Calibri"/>
              </a:rPr>
              <a:t>Apply the 18-site programmatic blocklist (32% of June spend on that line) and set a campaign-level viewability floor.</a:t>
            </a:r>
          </a:p>
          <a:p>
            <a:pPr algn="l">
              <a:spcBef>
                <a:spcPts val="600"/>
              </a:spcBef>
            </a:pPr>
            <a:r>
              <a:rPr sz="950" b="0">
                <a:solidFill>
                  <a:srgbClr val="2B3147"/>
                </a:solidFill>
                <a:latin typeface="Calibri"/>
              </a:rPr>
              <a:t>Put the start-to-submit funnel step on the joint roadmap with the client; media is filling the top of the funnel.</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GOOGLE ADS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67 submitted applications at $336. The scale-up mapped the rank ceiling.</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9 / 15</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$22,524</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+48%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181,470</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4 campaigns</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12,888</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7.10%</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AVG CPC</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$1.75</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$1.53</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SUBMITTED APPS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67</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76</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CPA</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$200</a:t>
            </a:r>
          </a:p>
        </p:txBody>
      </p:sp>
      <p:sp>
        <p:nvSpPr>
          <p:cNvPr id="40" name="TextBox 39"/>
          <p:cNvSpPr txBox="1"/>
          <p:nvPr/>
        </p:nvSpPr>
        <p:spPr>
          <a:xfrm>
            <a:off x="457200" y="3063240"/>
            <a:ext cx="6400800" cy="274320"/>
          </a:xfrm>
          <a:prstGeom prst="rect">
            <a:avLst/>
          </a:prstGeom>
          <a:noFill/>
        </p:spPr>
        <p:txBody>
          <a:bodyPr wrap="square" anchor="t" lIns="0" rIns="0" tIns="0" bIns="0">
            <a:spAutoFit/>
          </a:bodyPr>
          <a:lstStyle/>
          <a:p>
            <a:pPr algn="l"/>
            <a:r>
              <a:rPr sz="1100" b="1">
                <a:solidFill>
                  <a:srgbClr val="2B3147"/>
                </a:solidFill>
                <a:latin typeface="Calibri"/>
              </a:rPr>
              <a:t>Campaigns</a:t>
            </a:r>
          </a:p>
        </p:txBody>
      </p:sp>
      <p:graphicFrame>
        <p:nvGraphicFramePr>
          <p:cNvPr id="41" name="Table 40"/>
          <p:cNvGraphicFramePr>
            <a:graphicFrameLocks noGrp="1"/>
          </p:cNvGraphicFramePr>
          <p:nvPr/>
        </p:nvGraphicFramePr>
        <p:xfrm>
          <a:off x="457200" y="3337560"/>
          <a:ext cx="6949440" cy="1554480"/>
        </p:xfrm>
        <a:graphic>
          <a:graphicData uri="http://schemas.openxmlformats.org/drawingml/2006/table">
            <a:tbl>
              <a:tblPr>
                <a:tableStyleId>{5C22544A-7EE6-4342-B048-85BDC9FD1C3A}</a:tableStyleId>
              </a:tblPr>
              <a:tblGrid>
                <a:gridCol w="2194560"/>
                <a:gridCol w="1005840"/>
                <a:gridCol w="1005840"/>
                <a:gridCol w="731520"/>
                <a:gridCol w="914400"/>
                <a:gridCol w="1097280"/>
              </a:tblGrid>
              <a:tr h="310896">
                <a:tc>
                  <a:txBody>
                    <a:bodyPr/>
                    <a:lstStyle/>
                    <a:p>
                      <a:r>
                        <a:rPr sz="850" b="1">
                          <a:solidFill>
                            <a:srgbClr val="FFFFFF"/>
                          </a:solidFill>
                          <a:latin typeface="Calibri"/>
                        </a:rPr>
                        <a:t>Campaign</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Apps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Search IS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TrackA Trust</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$7,796</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5,712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TrackB Authority</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$6,826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3,198</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$297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TrackB Platform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$4,489</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2,568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$264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10896">
                <a:tc>
                  <a:txBody>
                    <a:bodyPr/>
                    <a:lstStyle/>
                    <a:p>
                      <a:r>
                        <a:rPr sz="850" b="1">
                          <a:solidFill>
                            <a:srgbClr val="2B3147"/>
                          </a:solidFill>
                          <a:latin typeface="Calibri"/>
                        </a:rPr>
                        <a:t>Brand Search</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$3,413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1,410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$379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7680960" y="3063240"/>
            <a:ext cx="402336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80960" y="3063240"/>
            <a:ext cx="402336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246120"/>
            <a:ext cx="3657600" cy="274320"/>
          </a:xfrm>
          <a:prstGeom prst="rect">
            <a:avLst/>
          </a:prstGeom>
          <a:noFill/>
        </p:spPr>
        <p:txBody>
          <a:bodyPr wrap="square" anchor="t" lIns="0" rIns="0" tIns="0" bIns="0">
            <a:spAutoFit/>
          </a:bodyPr>
          <a:lstStyle/>
          <a:p>
            <a:pPr algn="l"/>
            <a:r>
              <a:rPr sz="1000" b="1">
                <a:solidFill>
                  <a:srgbClr val="2E7D57"/>
                </a:solidFill>
                <a:latin typeface="Georgia"/>
              </a:rPr>
              <a:t>HIGHLIGHTS</a:t>
            </a:r>
          </a:p>
        </p:txBody>
      </p:sp>
      <p:sp>
        <p:nvSpPr>
          <p:cNvPr id="45" name="TextBox 44"/>
          <p:cNvSpPr txBox="1"/>
          <p:nvPr/>
        </p:nvSpPr>
        <p:spPr>
          <a:xfrm>
            <a:off x="7863840" y="3566160"/>
            <a:ext cx="3657600" cy="2560320"/>
          </a:xfrm>
          <a:prstGeom prst="rect">
            <a:avLst/>
          </a:prstGeom>
          <a:noFill/>
        </p:spPr>
        <p:txBody>
          <a:bodyPr wrap="square" anchor="t" lIns="0" rIns="0" tIns="0" bIns="0">
            <a:spAutoFit/>
          </a:bodyPr>
          <a:lstStyle/>
          <a:p>
            <a:pPr algn="l"/>
            <a:r>
              <a:rPr sz="950" b="0">
                <a:solidFill>
                  <a:srgbClr val="2B3147"/>
                </a:solidFill>
                <a:latin typeface="Calibri"/>
              </a:rPr>
              <a:t>All 67 conversions are submitted applications (Step 5 goal, definition unchanged from May).</a:t>
            </a:r>
          </a:p>
          <a:p>
            <a:pPr algn="l">
              <a:spcBef>
                <a:spcPts val="600"/>
              </a:spcBef>
            </a:pPr>
            <a:r>
              <a:rPr sz="950" b="0">
                <a:solidFill>
                  <a:srgbClr val="2B3147"/>
                </a:solidFill>
                <a:latin typeface="Calibri"/>
              </a:rPr>
              <a:t>TrackB stayed the efficiency core: Platform $264 and Authority $297. TrackA Trust converted at $433.</a:t>
            </a:r>
          </a:p>
          <a:p>
            <a:pPr algn="l">
              <a:spcBef>
                <a:spcPts val="600"/>
              </a:spcBef>
            </a:pPr>
            <a:r>
              <a:rPr sz="950" b="0">
                <a:solidFill>
                  <a:srgbClr val="2B3147"/>
                </a:solidFill>
                <a:latin typeface="Calibri"/>
              </a:rPr>
              <a:t>The 48% scale-up surfaced the ceiling: at current ad rank, incremental budget reaches lower-quality auctions. The auction data now maps exactly where rank work unlocks volume.</a:t>
            </a:r>
          </a:p>
        </p:txBody>
      </p:sp>
      <p:sp>
        <p:nvSpPr>
          <p:cNvPr id="46" name="TextBox 45"/>
          <p:cNvSpPr txBox="1"/>
          <p:nvPr/>
        </p:nvSpPr>
        <p:spPr>
          <a:xfrm>
            <a:off x="457200" y="5074920"/>
            <a:ext cx="6949440" cy="1188720"/>
          </a:xfrm>
          <a:prstGeom prst="rect">
            <a:avLst/>
          </a:prstGeom>
          <a:noFill/>
        </p:spPr>
        <p:txBody>
          <a:bodyPr wrap="square" anchor="t" lIns="0" rIns="0" tIns="0" bIns="0">
            <a:spAutoFit/>
          </a:bodyPr>
          <a:lstStyle/>
          <a:p>
            <a:pPr algn="l"/>
            <a:r>
              <a:rPr sz="950" b="0">
                <a:solidFill>
                  <a:srgbClr val="2B3147"/>
                </a:solidFill>
                <a:latin typeface="Calibri"/>
              </a:rPr>
              <a:t>Impression share tells the story: campaigns lose 64-76% of available impressions to ad rank and only 9-13% to budget. Brand holds just 11% of its own auctions. The account has a large runway that budget alone cannot buy.</a:t>
            </a:r>
          </a:p>
        </p:txBody>
      </p:sp>
      <p:sp>
        <p:nvSpPr>
          <p:cNvPr id="47" name="Rectangle 46"/>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GOOGLE ADS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Ad-rank work comes before added budget.</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10 / 15</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2E7D57"/>
                </a:solidFill>
                <a:latin typeface="Georgia"/>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May was the efficiency peak: 76 applications at $200. June's larger budget could not push past the auction ceiling: 67 applications at $336, with the data isolating ad rank, not budget, as the limiter.</a:t>
            </a:r>
          </a:p>
          <a:p>
            <a:pPr algn="l">
              <a:spcBef>
                <a:spcPts val="600"/>
              </a:spcBef>
            </a:pPr>
            <a:r>
              <a:rPr sz="950" b="0">
                <a:solidFill>
                  <a:srgbClr val="2B3147"/>
                </a:solidFill>
                <a:latin typeface="Calibri"/>
              </a:rPr>
              <a:t>Lost impression share is rank-driven everywhere (64-76%), not budget-driven (9-13%). The account cannot buy its way past ad rank at current bids, quality, and ad strength.</a:t>
            </a:r>
          </a:p>
          <a:p>
            <a:pPr algn="l">
              <a:spcBef>
                <a:spcPts val="600"/>
              </a:spcBef>
            </a:pPr>
            <a:r>
              <a:rPr sz="950" b="0">
                <a:solidFill>
                  <a:srgbClr val="2B3147"/>
                </a:solidFill>
                <a:latin typeface="Calibri"/>
              </a:rPr>
              <a:t>TrackB remains the proven converter set ($264-$297); Brand at 11% impression share is under-defended.</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Run the ad-rank program before adding budget: bid up the proven TrackB terms, refresh RSAs to lift ad strength, and rebuild quality score on the Trust track.</a:t>
            </a:r>
          </a:p>
          <a:p>
            <a:pPr algn="l">
              <a:spcBef>
                <a:spcPts val="600"/>
              </a:spcBef>
            </a:pPr>
            <a:r>
              <a:rPr sz="950" b="0">
                <a:solidFill>
                  <a:srgbClr val="2B3147"/>
                </a:solidFill>
                <a:latin typeface="Calibri"/>
              </a:rPr>
              <a:t>Defend Brand: 11% impression share on brand terms leaves the highest-intent auctions to competitors.</a:t>
            </a:r>
          </a:p>
          <a:p>
            <a:pPr algn="l">
              <a:spcBef>
                <a:spcPts val="600"/>
              </a:spcBef>
            </a:pPr>
            <a:r>
              <a:rPr sz="950" b="0">
                <a:solidFill>
                  <a:srgbClr val="2B3147"/>
                </a:solidFill>
                <a:latin typeface="Calibri"/>
              </a:rPr>
              <a:t>Hold June budget levels while rank recovers, then scale into the impression share the rank work opens.</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META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Spend scaled 2.5x with clean delivery. The conversion objective is the July change.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11 / 15</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$30,711</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+151%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3.06M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CPM $10.04</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REACH</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1.53M</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freq 2.0</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LINK CLICKS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74,572</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2.44%</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LP VIEWS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52,639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70.6% of clicks</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PIXEL EVENTS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starts rollup</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2B3147"/>
                </a:solidFill>
                <a:latin typeface="Calibri"/>
              </a:rPr>
              <a:t>Ad Sets</a:t>
            </a:r>
          </a:p>
        </p:txBody>
      </p:sp>
      <p:graphicFrame>
        <p:nvGraphicFramePr>
          <p:cNvPr id="41" name="Table 40"/>
          <p:cNvGraphicFramePr>
            <a:graphicFrameLocks noGrp="1"/>
          </p:cNvGraphicFramePr>
          <p:nvPr/>
        </p:nvGraphicFramePr>
        <p:xfrm>
          <a:off x="457200" y="3337560"/>
          <a:ext cx="6126480" cy="1280160"/>
        </p:xfrm>
        <a:graphic>
          <a:graphicData uri="http://schemas.openxmlformats.org/drawingml/2006/table">
            <a:tbl>
              <a:tblPr>
                <a:tableStyleId>{5C22544A-7EE6-4342-B048-85BDC9FD1C3A}</a:tableStyleId>
              </a:tblPr>
              <a:tblGrid>
                <a:gridCol w="2011680"/>
                <a:gridCol w="1005840"/>
                <a:gridCol w="1097280"/>
                <a:gridCol w="914400"/>
                <a:gridCol w="1097280"/>
              </a:tblGrid>
              <a:tr h="426720">
                <a:tc>
                  <a:txBody>
                    <a:bodyPr/>
                    <a:lstStyle/>
                    <a:p>
                      <a:r>
                        <a:rPr sz="850" b="1">
                          <a:solidFill>
                            <a:srgbClr val="FFFFFF"/>
                          </a:solidFill>
                          <a:latin typeface="Calibri"/>
                        </a:rPr>
                        <a:t>Ad set</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Link clicks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LPV</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Pixel events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426720">
                <a:tc>
                  <a:txBody>
                    <a:bodyPr/>
                    <a:lstStyle/>
                    <a:p>
                      <a:r>
                        <a:rPr sz="850" b="1">
                          <a:solidFill>
                            <a:srgbClr val="2B3147"/>
                          </a:solidFill>
                          <a:latin typeface="Calibri"/>
                        </a:rPr>
                        <a:t>trackA_pros_us_es</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$16,924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35,710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25,078</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84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426720">
                <a:tc>
                  <a:txBody>
                    <a:bodyPr/>
                    <a:lstStyle/>
                    <a:p>
                      <a:r>
                        <a:rPr sz="850" b="1">
                          <a:solidFill>
                            <a:srgbClr val="2B3147"/>
                          </a:solidFill>
                          <a:latin typeface="Calibri"/>
                        </a:rPr>
                        <a:t>trackB_pros_us_es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$17,787</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38,862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27,561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6583680" y="3063240"/>
            <a:ext cx="512064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0" y="3063240"/>
            <a:ext cx="51206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246120"/>
            <a:ext cx="4754879" cy="274320"/>
          </a:xfrm>
          <a:prstGeom prst="rect">
            <a:avLst/>
          </a:prstGeom>
          <a:noFill/>
        </p:spPr>
        <p:txBody>
          <a:bodyPr wrap="square" anchor="t" lIns="0" rIns="0" tIns="0" bIns="0">
            <a:spAutoFit/>
          </a:bodyPr>
          <a:lstStyle/>
          <a:p>
            <a:pPr algn="l"/>
            <a:r>
              <a:rPr sz="1000" b="1">
                <a:solidFill>
                  <a:srgbClr val="2E7D57"/>
                </a:solidFill>
                <a:latin typeface="Georgia"/>
              </a:rPr>
              <a:t>HIGHLIGHTS</a:t>
            </a:r>
          </a:p>
        </p:txBody>
      </p:sp>
      <p:sp>
        <p:nvSpPr>
          <p:cNvPr id="45" name="TextBox 44"/>
          <p:cNvSpPr txBox="1"/>
          <p:nvPr/>
        </p:nvSpPr>
        <p:spPr>
          <a:xfrm>
            <a:off x="6766560" y="3566160"/>
            <a:ext cx="4754879" cy="2560320"/>
          </a:xfrm>
          <a:prstGeom prst="rect">
            <a:avLst/>
          </a:prstGeom>
          <a:noFill/>
        </p:spPr>
        <p:txBody>
          <a:bodyPr wrap="square" anchor="t" lIns="0" rIns="0" tIns="0" bIns="0">
            <a:spAutoFit/>
          </a:bodyPr>
          <a:lstStyle/>
          <a:p>
            <a:pPr algn="l"/>
            <a:r>
              <a:rPr sz="950" b="0">
                <a:solidFill>
                  <a:srgbClr val="2B3147"/>
                </a:solidFill>
                <a:latin typeface="Calibri"/>
              </a:rPr>
              <a:t>Delivery held through a 2.5x scale-up: landing-page views ran at 70.6% of link clicks (May: 65.9%) and site analytics capture roughly 57% of clicks as sessions. Site analytics independently records 89 application starts from paid social in June.</a:t>
            </a:r>
          </a:p>
          <a:p>
            <a:pPr algn="l">
              <a:spcBef>
                <a:spcPts val="600"/>
              </a:spcBef>
            </a:pPr>
            <a:r>
              <a:rPr sz="950" b="0">
                <a:solidFill>
                  <a:srgbClr val="2B3147"/>
                </a:solidFill>
                <a:latin typeface="Calibri"/>
              </a:rPr>
              <a:t>The campaign still runs the Q2 traffic objective, so its 136 pixel events are mostly application starts. The conversion-objective shift is the unlock for judging this channel on submitted applications.</a:t>
            </a:r>
          </a:p>
        </p:txBody>
      </p:sp>
      <p:sp>
        <p:nvSpPr>
          <p:cNvPr id="46" name="TextBox 45"/>
          <p:cNvSpPr txBox="1"/>
          <p:nvPr/>
        </p:nvSpPr>
        <p:spPr>
          <a:xfrm>
            <a:off x="457200" y="4892040"/>
            <a:ext cx="5852160" cy="1188720"/>
          </a:xfrm>
          <a:prstGeom prst="rect">
            <a:avLst/>
          </a:prstGeom>
          <a:noFill/>
        </p:spPr>
        <p:txBody>
          <a:bodyPr wrap="square" anchor="t" lIns="0" rIns="0" tIns="0" bIns="0">
            <a:spAutoFit/>
          </a:bodyPr>
          <a:lstStyle/>
          <a:p>
            <a:pPr algn="l"/>
            <a:r>
              <a:rPr sz="950" b="0">
                <a:solidFill>
                  <a:srgbClr val="2B3147"/>
                </a:solidFill>
                <a:latin typeface="Calibri"/>
              </a:rPr>
              <a:t>June audience delivery reached 1.53M people at 2.0 frequency, the largest Spanish-language reach of any GCG channel with verified site arrival.</a:t>
            </a:r>
          </a:p>
        </p:txBody>
      </p:sp>
      <p:sp>
        <p:nvSpPr>
          <p:cNvPr id="47" name="Rectangle 46"/>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META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Make the objective match the goal.</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12 / 15</a:t>
            </a:r>
          </a:p>
        </p:txBody>
      </p:sp>
      <p:sp>
        <p:nvSpPr>
          <p:cNvPr id="10" name="Rectangle 9"/>
          <p:cNvSpPr/>
          <p:nvPr/>
        </p:nvSpPr>
        <p:spPr>
          <a:xfrm>
            <a:off x="457200" y="1737360"/>
            <a:ext cx="557784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2E7D57"/>
                </a:solidFill>
                <a:latin typeface="Georgia"/>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2B3147"/>
                </a:solidFill>
                <a:latin typeface="Calibri"/>
              </a:rPr>
              <a:t>The channel does what a traffic objective asks: low-cost, verified site visitors at scale, with 89 site-measured application starts in June. What it does not do yet is optimize toward applications, because the objective never asked it to. As an upper-funnel channel, its submitted applications largely credit to the search and direct visits that close them.</a:t>
            </a:r>
          </a:p>
          <a:p>
            <a:pPr algn="l">
              <a:spcBef>
                <a:spcPts val="600"/>
              </a:spcBef>
            </a:pPr>
            <a:r>
              <a:rPr sz="950" b="0">
                <a:solidFill>
                  <a:srgbClr val="2B3147"/>
                </a:solidFill>
                <a:latin typeface="Calibri"/>
              </a:rPr>
              <a:t>Every delivery signal supports the shift: stable CPM through the scale-up, improving click-to-LPV rate, healthy analytics capture, and a growing retargeting pool from four months of traffic.</a:t>
            </a:r>
          </a:p>
        </p:txBody>
      </p:sp>
      <p:sp>
        <p:nvSpPr>
          <p:cNvPr id="14" name="Rectangle 13"/>
          <p:cNvSpPr/>
          <p:nvPr/>
        </p:nvSpPr>
        <p:spPr>
          <a:xfrm>
            <a:off x="6309360" y="1737360"/>
            <a:ext cx="5394960" cy="46634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E9B44C"/>
                </a:solidFill>
                <a:latin typeface="Georgia"/>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2B3147"/>
                </a:solidFill>
                <a:latin typeface="Calibri"/>
              </a:rPr>
              <a:t>Complete the shift to a conversion objective in July and judge the channel on submitted applications.</a:t>
            </a:r>
          </a:p>
          <a:p>
            <a:pPr algn="l">
              <a:spcBef>
                <a:spcPts val="600"/>
              </a:spcBef>
            </a:pPr>
            <a:r>
              <a:rPr sz="950" b="0">
                <a:solidFill>
                  <a:srgbClr val="2B3147"/>
                </a:solidFill>
                <a:latin typeface="Calibri"/>
              </a:rPr>
              <a:t>Seed the conversion campaigns with the pixel and the four-month retargeting pool before scaling prospecting.</a:t>
            </a:r>
          </a:p>
          <a:p>
            <a:pPr algn="l">
              <a:spcBef>
                <a:spcPts val="600"/>
              </a:spcBef>
            </a:pPr>
            <a:r>
              <a:rPr sz="950" b="0">
                <a:solidFill>
                  <a:srgbClr val="2B3147"/>
                </a:solidFill>
                <a:latin typeface="Calibri"/>
              </a:rPr>
              <a:t>Keep the trackA/trackB split so creative learnings carry over from the search program.</a:t>
            </a:r>
          </a:p>
        </p:txBody>
      </p:sp>
      <p:sp>
        <p:nvSpPr>
          <p:cNvPr id="18" name="Rectangle 1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QUANTCAST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 deliberate reach month, with the same quality bill to manage.</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13 / 15</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$30,559</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+37%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37.2M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+38% MoM</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CPM</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$0.82</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$0.83</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DEVICE REACH</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23.2M</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freq 1.6</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VIEWABILITY</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46.9%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 standard</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RESULTS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15</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13 view-through</a:t>
            </a:r>
          </a:p>
        </p:txBody>
      </p:sp>
      <p:sp>
        <p:nvSpPr>
          <p:cNvPr id="40" name="Rectangle 39"/>
          <p:cNvSpPr/>
          <p:nvPr/>
        </p:nvSpPr>
        <p:spPr>
          <a:xfrm>
            <a:off x="457200" y="3063240"/>
            <a:ext cx="5577840" cy="324612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63240"/>
            <a:ext cx="557784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246120"/>
            <a:ext cx="5212079"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43" name="TextBox 42"/>
          <p:cNvSpPr txBox="1"/>
          <p:nvPr/>
        </p:nvSpPr>
        <p:spPr>
          <a:xfrm>
            <a:off x="640080" y="3566160"/>
            <a:ext cx="5212079" cy="2560320"/>
          </a:xfrm>
          <a:prstGeom prst="rect">
            <a:avLst/>
          </a:prstGeom>
          <a:noFill/>
        </p:spPr>
        <p:txBody>
          <a:bodyPr wrap="square" anchor="t" lIns="0" rIns="0" tIns="0" bIns="0">
            <a:spAutoFit/>
          </a:bodyPr>
          <a:lstStyle/>
          <a:p>
            <a:pPr algn="l"/>
            <a:r>
              <a:rPr sz="950" b="0">
                <a:solidFill>
                  <a:srgbClr val="2B3147"/>
                </a:solidFill>
                <a:latin typeface="Calibri"/>
              </a:rPr>
              <a:t>The reach line scaled on purpose: 37.2M impressions to 23.2M devices at a flat $0.82 CPM.</a:t>
            </a:r>
          </a:p>
          <a:p>
            <a:pPr algn="l">
              <a:spcBef>
                <a:spcPts val="600"/>
              </a:spcBef>
            </a:pPr>
            <a:r>
              <a:rPr sz="950" b="0">
                <a:solidFill>
                  <a:srgbClr val="2B3147"/>
                </a:solidFill>
                <a:latin typeface="Calibri"/>
              </a:rPr>
              <a:t>Viewability fell to 46.9%, well under the 70% standard. We delivered an 18-site blocklist covering $9,752 (32%) of June spend on this line and recommend a campaign-level viewability floor to hold quality as reach scales.</a:t>
            </a:r>
          </a:p>
          <a:p>
            <a:pPr algn="l">
              <a:spcBef>
                <a:spcPts val="600"/>
              </a:spcBef>
            </a:pPr>
            <a:r>
              <a:rPr sz="950" b="0">
                <a:solidFill>
                  <a:srgbClr val="2B3147"/>
                </a:solidFill>
                <a:latin typeface="Calibri"/>
              </a:rPr>
              <a:t>Results rose 8 to 15, but 13 of 15 are view-through: directional support, not proven response.</a:t>
            </a:r>
          </a:p>
        </p:txBody>
      </p:sp>
      <p:sp>
        <p:nvSpPr>
          <p:cNvPr id="44" name="Rectangle 43"/>
          <p:cNvSpPr/>
          <p:nvPr/>
        </p:nvSpPr>
        <p:spPr>
          <a:xfrm>
            <a:off x="6309360" y="3063240"/>
            <a:ext cx="5394960" cy="32461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63240"/>
            <a:ext cx="539496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246120"/>
            <a:ext cx="5029200" cy="274320"/>
          </a:xfrm>
          <a:prstGeom prst="rect">
            <a:avLst/>
          </a:prstGeom>
          <a:noFill/>
        </p:spPr>
        <p:txBody>
          <a:bodyPr wrap="square" anchor="t" lIns="0" rIns="0" tIns="0" bIns="0">
            <a:spAutoFit/>
          </a:bodyPr>
          <a:lstStyle/>
          <a:p>
            <a:pPr algn="l"/>
            <a:r>
              <a:rPr sz="1000" b="1">
                <a:solidFill>
                  <a:srgbClr val="1E2761"/>
                </a:solidFill>
                <a:latin typeface="Georgia"/>
              </a:rPr>
              <a:t>TOP BLOCKLIST ENTRIES</a:t>
            </a:r>
          </a:p>
        </p:txBody>
      </p:sp>
      <p:sp>
        <p:nvSpPr>
          <p:cNvPr id="47" name="TextBox 46"/>
          <p:cNvSpPr txBox="1"/>
          <p:nvPr/>
        </p:nvSpPr>
        <p:spPr>
          <a:xfrm>
            <a:off x="6492240" y="3566160"/>
            <a:ext cx="5029200" cy="2560320"/>
          </a:xfrm>
          <a:prstGeom prst="rect">
            <a:avLst/>
          </a:prstGeom>
          <a:noFill/>
        </p:spPr>
        <p:txBody>
          <a:bodyPr wrap="square" anchor="t" lIns="0" rIns="0" tIns="0" bIns="0">
            <a:spAutoFit/>
          </a:bodyPr>
          <a:lstStyle/>
          <a:p>
            <a:pPr algn="l"/>
            <a:r>
              <a:rPr sz="950" b="0">
                <a:solidFill>
                  <a:srgbClr val="2B3147"/>
                </a:solidFill>
                <a:latin typeface="Calibri"/>
              </a:rPr>
              <a:t>yahoo.com $2,270 at 15.7% viewability; clarin.com $1,315 at 26%; weather.com $1,278 at 17.7%; genius.com $771 at 0.9%; zillow.com $685 at 5.6%.</a:t>
            </a:r>
          </a:p>
          <a:p>
            <a:pPr algn="l">
              <a:spcBef>
                <a:spcPts val="600"/>
              </a:spcBef>
            </a:pPr>
            <a:r>
              <a:rPr sz="950" b="0">
                <a:solidFill>
                  <a:srgbClr val="2B3147"/>
                </a:solidFill>
                <a:latin typeface="Calibri"/>
              </a:rPr>
              <a:t>The list ships with this report; applying it plus a viewability floor moves the line toward the standard without giving up the reach efficiency.</a:t>
            </a:r>
          </a:p>
        </p:txBody>
      </p:sp>
      <p:sp>
        <p:nvSpPr>
          <p:cNvPr id="48" name="Rectangle 47"/>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AZERION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58 applications, up 35% on a 12% budget increase. Fewer starts, better starts.</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14 / 15</a:t>
            </a:r>
          </a:p>
        </p:txBody>
      </p:sp>
      <p:sp>
        <p:nvSpPr>
          <p:cNvPr id="10" name="Rectangle 9"/>
          <p:cNvSpPr/>
          <p:nvPr/>
        </p:nvSpPr>
        <p:spPr>
          <a:xfrm>
            <a:off x="457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$29,586</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+12% MoM</a:t>
            </a:r>
          </a:p>
        </p:txBody>
      </p:sp>
      <p:sp>
        <p:nvSpPr>
          <p:cNvPr id="15" name="Rectangle 14"/>
          <p:cNvSpPr/>
          <p:nvPr/>
        </p:nvSpPr>
        <p:spPr>
          <a:xfrm>
            <a:off x="22860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4.52M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CPM $6.55</a:t>
            </a:r>
          </a:p>
        </p:txBody>
      </p:sp>
      <p:sp>
        <p:nvSpPr>
          <p:cNvPr id="20" name="Rectangle 19"/>
          <p:cNvSpPr/>
          <p:nvPr/>
        </p:nvSpPr>
        <p:spPr>
          <a:xfrm>
            <a:off x="41148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19,653</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CTR 0.44%</a:t>
            </a:r>
          </a:p>
        </p:txBody>
      </p:sp>
      <p:sp>
        <p:nvSpPr>
          <p:cNvPr id="25" name="Rectangle 24"/>
          <p:cNvSpPr/>
          <p:nvPr/>
        </p:nvSpPr>
        <p:spPr>
          <a:xfrm>
            <a:off x="59436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APP STARTS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447</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May: 1,398</a:t>
            </a:r>
          </a:p>
        </p:txBody>
      </p:sp>
      <p:sp>
        <p:nvSpPr>
          <p:cNvPr id="30" name="Rectangle 29"/>
          <p:cNvSpPr/>
          <p:nvPr/>
        </p:nvSpPr>
        <p:spPr>
          <a:xfrm>
            <a:off x="77724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APPLICATIONS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58</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$510 CPA</a:t>
            </a:r>
          </a:p>
        </p:txBody>
      </p:sp>
      <p:sp>
        <p:nvSpPr>
          <p:cNvPr id="35" name="Rectangle 34"/>
          <p:cNvSpPr/>
          <p:nvPr/>
        </p:nvSpPr>
        <p:spPr>
          <a:xfrm>
            <a:off x="9601200" y="1737360"/>
            <a:ext cx="173736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1E2761"/>
                </a:solidFill>
                <a:latin typeface="Georgia"/>
              </a:rPr>
              <a:t>VIEWABILITY</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E2761"/>
                </a:solidFill>
                <a:latin typeface="Georgia"/>
              </a:rPr>
              <a:t>58.8%</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6072"/>
                </a:solidFill>
                <a:latin typeface="Calibri"/>
              </a:rPr>
              <a:t>70% standard</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2B3147"/>
                </a:solidFill>
                <a:latin typeface="Calibri"/>
              </a:rPr>
              <a:t>Ad Sets (Applications)</a:t>
            </a:r>
          </a:p>
        </p:txBody>
      </p:sp>
      <p:graphicFrame>
        <p:nvGraphicFramePr>
          <p:cNvPr id="41" name="Table 40"/>
          <p:cNvGraphicFramePr>
            <a:graphicFrameLocks noGrp="1"/>
          </p:cNvGraphicFramePr>
          <p:nvPr/>
        </p:nvGraphicFramePr>
        <p:xfrm>
          <a:off x="457200" y="3337560"/>
          <a:ext cx="5303520" cy="2103120"/>
        </p:xfrm>
        <a:graphic>
          <a:graphicData uri="http://schemas.openxmlformats.org/drawingml/2006/table">
            <a:tbl>
              <a:tblPr>
                <a:tableStyleId>{5C22544A-7EE6-4342-B048-85BDC9FD1C3A}</a:tableStyleId>
              </a:tblPr>
              <a:tblGrid>
                <a:gridCol w="2377440"/>
                <a:gridCol w="1005840"/>
                <a:gridCol w="822960"/>
                <a:gridCol w="1097280"/>
              </a:tblGrid>
              <a:tr h="300445">
                <a:tc>
                  <a:txBody>
                    <a:bodyPr/>
                    <a:lstStyle/>
                    <a:p>
                      <a:r>
                        <a:rPr sz="850" b="1">
                          <a:solidFill>
                            <a:srgbClr val="FFFFFF"/>
                          </a:solidFill>
                          <a:latin typeface="Calibri"/>
                        </a:rPr>
                        <a:t>Ad Set</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Spend</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Apps</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1">
                          <a:solidFill>
                            <a:srgbClr val="FFFFFF"/>
                          </a:solidFill>
                          <a:latin typeface="Calibri"/>
                        </a:rPr>
                        <a:t>CPA</a:t>
                      </a:r>
                    </a:p>
                  </a:txBody>
                  <a:tcPr marL="54864" marR="54864" marT="27432" marB="27432">
                    <a:solidFill>
                      <a:srgbClr val="1E2761"/>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Trusted Broker</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14</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$352</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Broker 1</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$4,964</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$382</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Language Broker</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$4,900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10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$490</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Professional Tools</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$4,940</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$549</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45">
                <a:tc>
                  <a:txBody>
                    <a:bodyPr/>
                    <a:lstStyle/>
                    <a:p>
                      <a:r>
                        <a:rPr sz="850" b="1">
                          <a:solidFill>
                            <a:srgbClr val="2B3147"/>
                          </a:solidFill>
                          <a:latin typeface="Calibri"/>
                        </a:rPr>
                        <a:t>Spanish Platform</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$4,933</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$705</a:t>
                      </a:r>
                    </a:p>
                  </a:txBody>
                  <a:tcPr marL="54864" marR="54864" marT="27432" marB="27432">
                    <a:solidFill>
                      <a:srgbClr val="FFFFFF"/>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r h="300450">
                <a:tc>
                  <a:txBody>
                    <a:bodyPr/>
                    <a:lstStyle/>
                    <a:p>
                      <a:r>
                        <a:rPr sz="850" b="1">
                          <a:solidFill>
                            <a:srgbClr val="2B3147"/>
                          </a:solidFill>
                          <a:latin typeface="Calibri"/>
                        </a:rPr>
                        <a:t>Trust HTML</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$4,916</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5</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c>
                  <a:txBody>
                    <a:bodyPr/>
                    <a:lstStyle/>
                    <a:p>
                      <a:pPr algn="r"/>
                      <a:r>
                        <a:rPr sz="850" b="0">
                          <a:solidFill>
                            <a:srgbClr val="2B3147"/>
                          </a:solidFill>
                          <a:latin typeface="Calibri"/>
                        </a:rPr>
                        <a:t>$983</a:t>
                      </a:r>
                    </a:p>
                  </a:txBody>
                  <a:tcPr marL="54864" marR="54864" marT="27432" marB="27432">
                    <a:solidFill>
                      <a:srgbClr val="F9FAFC"/>
                    </a:solidFill>
                    <a:lnL w="6350" cap="flat">
                      <a:solidFill>
                        <a:srgbClr val="D0D4DC"/>
                      </a:solidFill>
                    </a:lnL>
                    <a:lnR w="6350" cap="flat">
                      <a:solidFill>
                        <a:srgbClr val="D0D4DC"/>
                      </a:solidFill>
                    </a:lnR>
                    <a:lnT w="6350" cap="flat">
                      <a:solidFill>
                        <a:srgbClr val="D0D4DC"/>
                      </a:solidFill>
                    </a:lnT>
                    <a:lnB w="6350" cap="flat">
                      <a:solidFill>
                        <a:srgbClr val="D0D4DC"/>
                      </a:solidFill>
                    </a:lnB>
                  </a:tcPr>
                </a:tc>
              </a:tr>
            </a:tbl>
          </a:graphicData>
        </a:graphic>
      </p:graphicFrame>
      <p:sp>
        <p:nvSpPr>
          <p:cNvPr id="42" name="Rectangle 41"/>
          <p:cNvSpPr/>
          <p:nvPr/>
        </p:nvSpPr>
        <p:spPr>
          <a:xfrm>
            <a:off x="6217920" y="3063240"/>
            <a:ext cx="5486400" cy="2743200"/>
          </a:xfrm>
          <a:prstGeom prst="rect">
            <a:avLst/>
          </a:prstGeom>
          <a:solidFill>
            <a:srgbClr val="FFFFFF"/>
          </a:solidFill>
          <a:ln w="1587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063240"/>
            <a:ext cx="54864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246120"/>
            <a:ext cx="5120640" cy="274320"/>
          </a:xfrm>
          <a:prstGeom prst="rect">
            <a:avLst/>
          </a:prstGeom>
          <a:noFill/>
        </p:spPr>
        <p:txBody>
          <a:bodyPr wrap="square" anchor="t" lIns="0" rIns="0" tIns="0" bIns="0">
            <a:spAutoFit/>
          </a:bodyPr>
          <a:lstStyle/>
          <a:p>
            <a:pPr algn="l"/>
            <a:r>
              <a:rPr sz="1000" b="1">
                <a:solidFill>
                  <a:srgbClr val="1E2761"/>
                </a:solidFill>
                <a:latin typeface="Georgia"/>
              </a:rPr>
              <a:t>READ</a:t>
            </a:r>
          </a:p>
        </p:txBody>
      </p:sp>
      <p:sp>
        <p:nvSpPr>
          <p:cNvPr id="45" name="TextBox 44"/>
          <p:cNvSpPr txBox="1"/>
          <p:nvPr/>
        </p:nvSpPr>
        <p:spPr>
          <a:xfrm>
            <a:off x="6400800" y="3566160"/>
            <a:ext cx="5120640" cy="2057400"/>
          </a:xfrm>
          <a:prstGeom prst="rect">
            <a:avLst/>
          </a:prstGeom>
          <a:noFill/>
        </p:spPr>
        <p:txBody>
          <a:bodyPr wrap="square" anchor="t" lIns="0" rIns="0" tIns="0" bIns="0">
            <a:spAutoFit/>
          </a:bodyPr>
          <a:lstStyle/>
          <a:p>
            <a:pPr algn="l"/>
            <a:r>
              <a:rPr sz="950" b="0">
                <a:solidFill>
                  <a:srgbClr val="2B3147"/>
                </a:solidFill>
                <a:latin typeface="Calibri"/>
              </a:rPr>
              <a:t>Applications rose 35% (43 to 58) at a $510 CPA, down 17%: the strongest converter of the June program.</a:t>
            </a:r>
          </a:p>
          <a:p>
            <a:pPr algn="l">
              <a:spcBef>
                <a:spcPts val="600"/>
              </a:spcBef>
            </a:pPr>
            <a:r>
              <a:rPr sz="950" b="0">
                <a:solidFill>
                  <a:srgbClr val="2B3147"/>
                </a:solidFill>
                <a:latin typeface="Calibri"/>
              </a:rPr>
              <a:t>Application starts fell 1,398 to 447 while completion improved from 3.1% to 13.0%, which is the start-to-submit fix May called for: fewer, better-qualified starts.</a:t>
            </a:r>
          </a:p>
          <a:p>
            <a:pPr algn="l">
              <a:spcBef>
                <a:spcPts val="600"/>
              </a:spcBef>
            </a:pPr>
            <a:r>
              <a:rPr sz="950" b="0">
                <a:solidFill>
                  <a:srgbClr val="2B3147"/>
                </a:solidFill>
                <a:latin typeface="Calibri"/>
              </a:rPr>
              <a:t>Delivery is confirmed US-only (state-level geo report). Viewability at 58.8% sits under the 70% standard; the 300x600 format converts best ($124 vendor-basis) and 728x90 worst.</a:t>
            </a:r>
          </a:p>
        </p:txBody>
      </p:sp>
      <p:sp>
        <p:nvSpPr>
          <p:cNvPr id="46" name="Rectangle 45"/>
          <p:cNvSpPr/>
          <p:nvPr/>
        </p:nvSpPr>
        <p:spPr>
          <a:xfrm>
            <a:off x="6217920" y="5943600"/>
            <a:ext cx="5486400" cy="5029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5943600"/>
            <a:ext cx="54864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6053328"/>
            <a:ext cx="5120640" cy="320040"/>
          </a:xfrm>
          <a:prstGeom prst="rect">
            <a:avLst/>
          </a:prstGeom>
          <a:noFill/>
        </p:spPr>
        <p:txBody>
          <a:bodyPr wrap="square" anchor="t" lIns="0" rIns="0" tIns="0" bIns="0">
            <a:spAutoFit/>
          </a:bodyPr>
          <a:lstStyle/>
          <a:p>
            <a:pPr algn="l"/>
            <a:r>
              <a:rPr sz="900" b="0">
                <a:solidFill>
                  <a:srgbClr val="2B3147"/>
                </a:solidFill>
                <a:latin typeface="Calibri"/>
              </a:rPr>
              <a:t>Native pilot: $3,645 intentionally small first flight; full pilot read reports with July.</a:t>
            </a:r>
          </a:p>
        </p:txBody>
      </p:sp>
      <p:sp>
        <p:nvSpPr>
          <p:cNvPr id="49" name="Rectangle 48"/>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Calibri"/>
              </a:rPr>
              <a:t>FOREX.com  |  GCG (US Hispanic)  ·  June 2026</a:t>
            </a:r>
          </a:p>
        </p:txBody>
      </p:sp>
      <p:pic>
        <p:nvPicPr>
          <p:cNvPr id="4" name="Picture 3" descr="logo_1_fd6b9b.png"/>
          <p:cNvPicPr>
            <a:picLocks noChangeAspect="1"/>
          </p:cNvPicPr>
          <p:nvPr/>
        </p:nvPicPr>
        <p:blipFill>
          <a:blip r:embed="rId3"/>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1E2761"/>
                </a:solidFill>
                <a:latin typeface="Calibri"/>
              </a:rPr>
              <a:t>CROSS-CHANNEL PRIORITIES + NEXT STEPS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Convert the traffic. Earn the rank. Guard the quality.</a:t>
            </a:r>
          </a:p>
        </p:txBody>
      </p:sp>
      <p:sp>
        <p:nvSpPr>
          <p:cNvPr id="7" name="Rectangle 6"/>
          <p:cNvSpPr/>
          <p:nvPr/>
        </p:nvSpPr>
        <p:spPr>
          <a:xfrm>
            <a:off x="0" y="6583680"/>
            <a:ext cx="12191695" cy="274320"/>
          </a:xfrm>
          <a:prstGeom prst="rect">
            <a:avLst/>
          </a:prstGeom>
          <a:solidFill>
            <a:srgbClr val="F9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5A6072"/>
                </a:solidFill>
                <a:latin typeface="Calibri"/>
              </a:rPr>
              <a:t>GCG (US Hispanic)   |   June 2026 Performance Review   |   Berelvant</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5A6072"/>
                </a:solidFill>
                <a:latin typeface="Calibri"/>
              </a:rPr>
              <a:t>15 / 15</a:t>
            </a:r>
          </a:p>
        </p:txBody>
      </p:sp>
      <p:sp>
        <p:nvSpPr>
          <p:cNvPr id="10" name="Rectangle 9"/>
          <p:cNvSpPr/>
          <p:nvPr/>
        </p:nvSpPr>
        <p:spPr>
          <a:xfrm>
            <a:off x="457200" y="1737360"/>
            <a:ext cx="365760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65760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291840" cy="274320"/>
          </a:xfrm>
          <a:prstGeom prst="rect">
            <a:avLst/>
          </a:prstGeom>
          <a:noFill/>
        </p:spPr>
        <p:txBody>
          <a:bodyPr wrap="square" anchor="t" lIns="0" rIns="0" tIns="0" bIns="0">
            <a:spAutoFit/>
          </a:bodyPr>
          <a:lstStyle/>
          <a:p>
            <a:pPr algn="l"/>
            <a:r>
              <a:rPr sz="1000" b="1">
                <a:solidFill>
                  <a:srgbClr val="F96167"/>
                </a:solidFill>
                <a:latin typeface="Georgia"/>
              </a:rPr>
              <a:t>PRIORITY</a:t>
            </a:r>
          </a:p>
        </p:txBody>
      </p:sp>
      <p:sp>
        <p:nvSpPr>
          <p:cNvPr id="13" name="TextBox 12"/>
          <p:cNvSpPr txBox="1"/>
          <p:nvPr/>
        </p:nvSpPr>
        <p:spPr>
          <a:xfrm>
            <a:off x="640080" y="2240280"/>
            <a:ext cx="3291840" cy="3337560"/>
          </a:xfrm>
          <a:prstGeom prst="rect">
            <a:avLst/>
          </a:prstGeom>
          <a:noFill/>
        </p:spPr>
        <p:txBody>
          <a:bodyPr wrap="square" anchor="t" lIns="0" rIns="0" tIns="0" bIns="0">
            <a:spAutoFit/>
          </a:bodyPr>
          <a:lstStyle/>
          <a:p>
            <a:pPr algn="l"/>
            <a:r>
              <a:rPr sz="950" b="0">
                <a:solidFill>
                  <a:srgbClr val="2B3147"/>
                </a:solidFill>
                <a:latin typeface="Calibri"/>
              </a:rPr>
              <a:t>Shift paid social to the conversion objective and judge it on submitted applications.</a:t>
            </a:r>
          </a:p>
          <a:p>
            <a:pPr algn="l">
              <a:spcBef>
                <a:spcPts val="600"/>
              </a:spcBef>
            </a:pPr>
            <a:r>
              <a:rPr sz="950" b="0">
                <a:solidFill>
                  <a:srgbClr val="2B3147"/>
                </a:solidFill>
                <a:latin typeface="Calibri"/>
              </a:rPr>
              <a:t>Put the start-to-submit funnel step on the joint roadmap; media is filling the top of the funnel and conversion is the constraint.</a:t>
            </a:r>
          </a:p>
        </p:txBody>
      </p:sp>
      <p:sp>
        <p:nvSpPr>
          <p:cNvPr id="14" name="Rectangle 13"/>
          <p:cNvSpPr/>
          <p:nvPr/>
        </p:nvSpPr>
        <p:spPr>
          <a:xfrm>
            <a:off x="4389120" y="1737360"/>
            <a:ext cx="365760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37360"/>
            <a:ext cx="3657600" cy="9144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20240"/>
            <a:ext cx="3291840" cy="274320"/>
          </a:xfrm>
          <a:prstGeom prst="rect">
            <a:avLst/>
          </a:prstGeom>
          <a:noFill/>
        </p:spPr>
        <p:txBody>
          <a:bodyPr wrap="square" anchor="t" lIns="0" rIns="0" tIns="0" bIns="0">
            <a:spAutoFit/>
          </a:bodyPr>
          <a:lstStyle/>
          <a:p>
            <a:pPr algn="l"/>
            <a:r>
              <a:rPr sz="1000" b="1">
                <a:solidFill>
                  <a:srgbClr val="E9B44C"/>
                </a:solidFill>
                <a:latin typeface="Georgia"/>
              </a:rPr>
              <a:t>SCALING &amp; OPPORTUNITY</a:t>
            </a:r>
          </a:p>
        </p:txBody>
      </p:sp>
      <p:sp>
        <p:nvSpPr>
          <p:cNvPr id="17" name="TextBox 16"/>
          <p:cNvSpPr txBox="1"/>
          <p:nvPr/>
        </p:nvSpPr>
        <p:spPr>
          <a:xfrm>
            <a:off x="4572000" y="2240280"/>
            <a:ext cx="3291840" cy="3337560"/>
          </a:xfrm>
          <a:prstGeom prst="rect">
            <a:avLst/>
          </a:prstGeom>
          <a:noFill/>
        </p:spPr>
        <p:txBody>
          <a:bodyPr wrap="square" anchor="t" lIns="0" rIns="0" tIns="0" bIns="0">
            <a:spAutoFit/>
          </a:bodyPr>
          <a:lstStyle/>
          <a:p>
            <a:pPr algn="l"/>
            <a:r>
              <a:rPr sz="950" b="0">
                <a:solidFill>
                  <a:srgbClr val="2B3147"/>
                </a:solidFill>
                <a:latin typeface="Calibri"/>
              </a:rPr>
              <a:t>Run the search ad-rank program (bids, quality, RSA refresh) on TrackB terms, defend Brand, then scale into the recovered impression share.</a:t>
            </a:r>
          </a:p>
          <a:p>
            <a:pPr algn="l">
              <a:spcBef>
                <a:spcPts val="600"/>
              </a:spcBef>
            </a:pPr>
            <a:r>
              <a:rPr sz="950" b="0">
                <a:solidFill>
                  <a:srgbClr val="2B3147"/>
                </a:solidFill>
                <a:latin typeface="Calibri"/>
              </a:rPr>
              <a:t>Hold the reach line at pace once the blocklist and viewability floor land.</a:t>
            </a:r>
          </a:p>
        </p:txBody>
      </p:sp>
      <p:sp>
        <p:nvSpPr>
          <p:cNvPr id="18" name="Rectangle 17"/>
          <p:cNvSpPr/>
          <p:nvPr/>
        </p:nvSpPr>
        <p:spPr>
          <a:xfrm>
            <a:off x="8229600" y="1737360"/>
            <a:ext cx="347472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737360"/>
            <a:ext cx="347472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920240"/>
            <a:ext cx="3108960" cy="274320"/>
          </a:xfrm>
          <a:prstGeom prst="rect">
            <a:avLst/>
          </a:prstGeom>
          <a:noFill/>
        </p:spPr>
        <p:txBody>
          <a:bodyPr wrap="square" anchor="t" lIns="0" rIns="0" tIns="0" bIns="0">
            <a:spAutoFit/>
          </a:bodyPr>
          <a:lstStyle/>
          <a:p>
            <a:pPr algn="l"/>
            <a:r>
              <a:rPr sz="1000" b="1">
                <a:solidFill>
                  <a:srgbClr val="1E2761"/>
                </a:solidFill>
                <a:latin typeface="Georgia"/>
              </a:rPr>
              <a:t>TO CLOSE THE QUARTER</a:t>
            </a:r>
          </a:p>
        </p:txBody>
      </p:sp>
      <p:sp>
        <p:nvSpPr>
          <p:cNvPr id="21" name="TextBox 20"/>
          <p:cNvSpPr txBox="1"/>
          <p:nvPr/>
        </p:nvSpPr>
        <p:spPr>
          <a:xfrm>
            <a:off x="8412480" y="2240280"/>
            <a:ext cx="3108960" cy="3337560"/>
          </a:xfrm>
          <a:prstGeom prst="rect">
            <a:avLst/>
          </a:prstGeom>
          <a:noFill/>
        </p:spPr>
        <p:txBody>
          <a:bodyPr wrap="square" anchor="t" lIns="0" rIns="0" tIns="0" bIns="0">
            <a:spAutoFit/>
          </a:bodyPr>
          <a:lstStyle/>
          <a:p>
            <a:pPr algn="l"/>
            <a:r>
              <a:rPr sz="950" b="0">
                <a:solidFill>
                  <a:srgbClr val="2B3147"/>
                </a:solidFill>
                <a:latin typeface="Calibri"/>
              </a:rPr>
              <a:t>Carry the Azerion start-quality fix forward: completion tripled to 13% in June; concentrate budget on Trusted Broker and Broker 1 and push viewability over the standard.</a:t>
            </a:r>
          </a:p>
          <a:p>
            <a:pPr algn="l">
              <a:spcBef>
                <a:spcPts val="600"/>
              </a:spcBef>
            </a:pPr>
            <a:r>
              <a:rPr sz="950" b="0">
                <a:solidFill>
                  <a:srgbClr val="2B3147"/>
                </a:solidFill>
                <a:latin typeface="Calibri"/>
              </a:rPr>
              <a:t>The Native pilot reports in full with July: the June flight was an intentionally small first burn, judged then on cost per submitted application.</a:t>
            </a:r>
          </a:p>
        </p:txBody>
      </p:sp>
      <p:sp>
        <p:nvSpPr>
          <p:cNvPr id="22" name="Rectangle 21"/>
          <p:cNvSpPr/>
          <p:nvPr/>
        </p:nvSpPr>
        <p:spPr>
          <a:xfrm>
            <a:off x="457200" y="5943600"/>
            <a:ext cx="11247120" cy="50292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943600"/>
            <a:ext cx="11247120" cy="7315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062472"/>
            <a:ext cx="10881360" cy="320040"/>
          </a:xfrm>
          <a:prstGeom prst="rect">
            <a:avLst/>
          </a:prstGeom>
          <a:noFill/>
        </p:spPr>
        <p:txBody>
          <a:bodyPr wrap="square" anchor="t" lIns="0" rIns="0" tIns="0" bIns="0">
            <a:spAutoFit/>
          </a:bodyPr>
          <a:lstStyle/>
          <a:p>
            <a:pPr algn="l"/>
            <a:r>
              <a:rPr sz="1000" b="1">
                <a:solidFill>
                  <a:srgbClr val="FFFFFF"/>
                </a:solidFill>
                <a:latin typeface="Georgia"/>
              </a:rPr>
              <a:t>July priorities: the conversion objective on social, ad-rank work on search, the viewability floor on display.</a:t>
            </a:r>
          </a:p>
        </p:txBody>
      </p:sp>
      <p:sp>
        <p:nvSpPr>
          <p:cNvPr id="25" name="Rectangle 24"/>
          <p:cNvSpPr/>
          <p:nvPr/>
        </p:nvSpPr>
        <p:spPr>
          <a:xfrm>
            <a:off x="0" y="457200"/>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