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AD8929A-4F0C-4FC3-BD51-C49356DA4B96}">
  <a:tblStyle styleId="{DAD8929A-4F0C-4FC3-BD51-C49356DA4B96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" name="Google Shape;9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8" name="Google Shape;17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8" name="Google Shape;19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0" name="Google Shape;3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276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0F1535"/>
          </a:solidFill>
          <a:ln cap="flat" cmpd="sng" w="12700">
            <a:solidFill>
              <a:srgbClr val="0F15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2103120"/>
            <a:ext cx="137160" cy="201168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22960" y="210312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22960" y="2606040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Georgia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GCG (US Hispanic) - Paid Media</a:t>
            </a:r>
            <a:endParaRPr b="0" i="0" sz="4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22960" y="361188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2800"/>
              <a:buFont typeface="Georgia"/>
              <a:buNone/>
            </a:pPr>
            <a:r>
              <a:rPr b="0" i="1" lang="en-US" sz="2800" u="none" cap="none" strike="noStrike">
                <a:solidFill>
                  <a:srgbClr val="CADCFC"/>
                </a:solidFill>
                <a:latin typeface="Georgia"/>
                <a:ea typeface="Georgia"/>
                <a:cs typeface="Georgia"/>
                <a:sym typeface="Georgia"/>
              </a:rPr>
              <a:t>April 2026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822960" y="438912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Google Ads · Meta · Quantcast · Azerion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Prepared by Berelvant  ·  05.24.2026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" name="Google Shape;23;p3" title="forex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428624"/>
            <a:ext cx="2466525" cy="704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 title="berelvant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07474" y="6148599"/>
            <a:ext cx="1600188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EXECUTIVE SUMMARY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Total Spend April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" name="Google Shape;35;p4"/>
          <p:cNvGraphicFramePr/>
          <p:nvPr/>
        </p:nvGraphicFramePr>
        <p:xfrm>
          <a:off x="45720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2103125"/>
                <a:gridCol w="822950"/>
                <a:gridCol w="1188725"/>
                <a:gridCol w="1554475"/>
                <a:gridCol w="1188725"/>
                <a:gridCol w="822950"/>
                <a:gridCol w="1737350"/>
                <a:gridCol w="1828800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Channel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Status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Impressions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CPA / Cost-per-event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Ads (Search)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$15,120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128,581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9,153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7.12%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tracked*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$1,260*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(CTR)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$12,167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1,257,518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32,565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2.74%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73 conversions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$166.68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Quantcast (Programmatic)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$15,015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7.2M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1,622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0.022%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VT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$7,508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Azerion (Programmatic)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Live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$16,325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2,531,064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3,965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0.16%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$214.81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/ BLENDED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-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$58,627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~11.1M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~47K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163 events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blended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ADCFC"/>
                    </a:solidFill>
                  </a:tcPr>
                </a:tc>
              </a:tr>
            </a:tbl>
          </a:graphicData>
        </a:graphic>
      </p:graphicFrame>
      <p:sp>
        <p:nvSpPr>
          <p:cNvPr id="36" name="Google Shape;36;p4"/>
          <p:cNvSpPr/>
          <p:nvPr/>
        </p:nvSpPr>
        <p:spPr>
          <a:xfrm>
            <a:off x="457200" y="4343400"/>
            <a:ext cx="6858000" cy="20574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640080" y="4434840"/>
            <a:ext cx="6492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HEADLINES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685800" y="4754880"/>
            <a:ext cx="644652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Google Ads delivered 9,153 clicks at 7.12% CTR. TrackB Authority is the top-converting campaign with 7 conversions at $651 CPA. ⚠ Tracking anomaly: all 12 conversions recorded in week 5 only — verify pixel.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Meta generated 73 conversions at $166.68 CPA — the account's strongest monthly result. 0426_GCG outperformed 0326_GCG: $157.60 vs. $178.30 CPA.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Quantcast delivered 7.2M impressions across 4 ad sets full month (Apr 1–30): Conversion campaign (Apr 16–30) generated 2 view-through results at $3,602 CPA each; Clicks campaign (Apr 1–15) ended with 0 conversions.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Azerion delivered 76 full application conversions at $214.81 CPA — best monthly result to date. CPA improved from $2,256 (March) to $214.81 (+11× improvement).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498080" y="4343400"/>
            <a:ext cx="4206240" cy="205740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7680960" y="443484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CRITICAL ISSUE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680960" y="470916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MAY PRIORITY: SCALE AND VALIDATE</a:t>
            </a:r>
            <a:endParaRPr b="1" i="0" sz="1900" u="none" cap="none" strike="noStrike">
              <a:solidFill>
                <a:schemeClr val="lt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7680960" y="5148873"/>
            <a:ext cx="3931800" cy="118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conversion infrastructure is working. TrackB Authority (Google Ads) and Azerion Professional Tools/Spanish Platform are the clearest scale candidates. Meta 0426_GCG at $157 CPA should receive full May budget. Validate click-through pixel for both Azerion and Quantcast before scaling decisions.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2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" name="Google Shape;45;p4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GOOGLE ADS  · 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57200" y="841248"/>
            <a:ext cx="11247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TrackB converting. TrackA 0 conversions on $5,265 spend.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720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720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2179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62179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$15,120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235458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235458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251917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251917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128,581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25196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425196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441655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41655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9,153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614934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614934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31393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31393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7.12%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04672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04672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21131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AVG CPC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21131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$1.65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944100" y="1600200"/>
            <a:ext cx="1760100" cy="960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9944100" y="1600200"/>
            <a:ext cx="63900" cy="96000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10108692" y="1691640"/>
            <a:ext cx="15315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10108692" y="1947672"/>
            <a:ext cx="15315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10108692" y="2350008"/>
            <a:ext cx="1531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$1,260 CPA*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457200" y="274320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Campaign Breakdown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82" name="Google Shape;82;p5"/>
          <p:cNvGraphicFramePr/>
          <p:nvPr/>
        </p:nvGraphicFramePr>
        <p:xfrm>
          <a:off x="45720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2194550"/>
                <a:gridCol w="914400"/>
                <a:gridCol w="914400"/>
                <a:gridCol w="1005850"/>
                <a:gridCol w="1005850"/>
                <a:gridCol w="1097275"/>
              </a:tblGrid>
              <a:tr h="384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Campaign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CTR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Avg CPC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Search IS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Rank Lost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NB TrackA Trust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$5,265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8.17%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$1.17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— (0 conv)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NB TrackB Authority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$4,559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7.33%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$1.76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19.1%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 conv / $651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NB TrackB Platform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$3,040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5.20%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$1.59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10.0%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conv / $760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84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 Search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$2,256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11.22%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$13.76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61.5%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conv / $2,256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3" name="Google Shape;83;p5"/>
          <p:cNvSpPr/>
          <p:nvPr/>
        </p:nvSpPr>
        <p:spPr>
          <a:xfrm>
            <a:off x="7863840" y="2743200"/>
            <a:ext cx="411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Device Mix (% of spend)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4" name="Google Shape;8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80960" y="3017520"/>
            <a:ext cx="4206300" cy="30174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5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3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5" title="berelvant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365750" y="5133075"/>
            <a:ext cx="7498200" cy="13593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D0D4D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4"/>
              <a:buFont typeface="Arial"/>
              <a:buNone/>
            </a:pPr>
            <a:r>
              <a:t/>
            </a:r>
            <a:endParaRPr b="0" i="0" sz="1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365750" y="5133066"/>
            <a:ext cx="51600" cy="1359300"/>
          </a:xfrm>
          <a:prstGeom prst="rect">
            <a:avLst/>
          </a:prstGeom>
          <a:solidFill>
            <a:srgbClr val="F96167"/>
          </a:solidFill>
          <a:ln>
            <a:noFill/>
          </a:ln>
        </p:spPr>
        <p:txBody>
          <a:bodyPr anchorCtr="0" anchor="ctr" bIns="32350" lIns="64725" spcFirstLastPara="1" rIns="64725" wrap="square" tIns="323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74"/>
              <a:buFont typeface="Arial"/>
              <a:buNone/>
            </a:pPr>
            <a:r>
              <a:t/>
            </a:r>
            <a:endParaRPr b="0" i="0" sz="1274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5"/>
          <p:cNvSpPr txBox="1"/>
          <p:nvPr/>
        </p:nvSpPr>
        <p:spPr>
          <a:xfrm>
            <a:off x="508144" y="5184846"/>
            <a:ext cx="7896600" cy="1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25" lIns="32350" spcFirstLastPara="1" rIns="32350" wrap="square" tIns="129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49"/>
              <a:buFont typeface="Arial"/>
              <a:buNone/>
            </a:pPr>
            <a:r>
              <a:rPr b="1" i="0" lang="en-US" sz="849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Highlights</a:t>
            </a:r>
            <a:endParaRPr b="1" i="0" sz="849" u="none" cap="none" strike="noStrike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91" name="Google Shape;91;p5"/>
          <p:cNvSpPr txBox="1"/>
          <p:nvPr/>
        </p:nvSpPr>
        <p:spPr>
          <a:xfrm>
            <a:off x="508150" y="5424325"/>
            <a:ext cx="72642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925" lIns="32350" spcFirstLastPara="1" rIns="32350" wrap="square" tIns="129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4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1" i="0" sz="843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84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Search generated 9,153 clicks at 7.12% CTR — strong engagement maintained. TrackB Authority is the conversion leader: 7 of 12 total conversions at $651 CPA on $4,559 spend.</a:t>
            </a:r>
            <a:endParaRPr b="1" i="0" sz="843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843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TrackA Trust: $5,265 spent, 4,494 clicks, 0 conversions. Zero conversion performance on the account's largest-spend campaign requires immediate action — landing page audit or budget shift.</a:t>
            </a:r>
            <a:endParaRPr b="1" i="0" sz="843" u="none" cap="none" strike="noStrike">
              <a:solidFill>
                <a:srgbClr val="1E276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6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 ·  GOOGLE ADS  ·  HIGHLIGHTS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TrackB is the conversion engine. TrackA needs a fix or reallocation.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457200" y="1600200"/>
            <a:ext cx="56692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685800" y="2011680"/>
            <a:ext cx="52578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TrackB Authority: 7 conversions at $651 CPA — account's top-converting campaign.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TrackB Platform: 4 conversions at $760 CPA — performing, room to scale.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Brand Search: 61.5% Impression Share — healthy coverage. $2,256 CPA on brand is above benchmark; validate brand keyword structure.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Desktop CPA ($812) is 33% better than Mobile ($1,228) despite less spend — desktop bid adjustment opportunity.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CHALLENGES /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537960" y="2011680"/>
            <a:ext cx="49834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57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TrackA Trust: $5,265 spend, 0 conversions across 4,494 clicks. Either landing page or audience is broken. Pause and reallocate budget to TrackB.</a:t>
            </a:r>
            <a:endParaRPr b="0" i="0" sz="9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Conversion tracking anomaly: 12 of 12 conversions in week 5 only. Resolve before May budget decisions — actual CPA may differ materially.</a:t>
            </a:r>
            <a:endParaRPr b="0" i="0" sz="9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Search IS at 12.1% weighted average — significant uncaptured volume, especially on TrackB Authority (19.1% IS).</a:t>
            </a:r>
            <a:endParaRPr b="0" i="0" sz="9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00"/>
              <a:buFont typeface="Calibri"/>
              <a:buChar char="●"/>
            </a:pPr>
            <a:r>
              <a:rPr b="0" i="0" lang="en-US" sz="9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Brand Search CPA ($2,256) is inflated by small sample (1 conversion). Monitor but don't over-react.</a:t>
            </a:r>
            <a:endParaRPr b="0" i="0" sz="9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08" name="Google Shape;108;p6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1188725"/>
                <a:gridCol w="4389125"/>
                <a:gridCol w="3840475"/>
                <a:gridCol w="1828800"/>
              </a:tblGrid>
              <a:tr h="403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Step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/ Due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Resolve conversion tracking anomaly (all convs in wk5).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Google Tag Manager + conversion action history. Confirm no new conv actions added after Apr 20.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 + BRLVNT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Pause TrackA Trust or rebuild landing page.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A/B test TrackA landing page vs. TrackB. If no improvement in 2 weeks, shift $2,000/month to TrackB Authority.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Jun 2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Scale TrackB Authority — 19.1% IS has room to grow.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 TrackB Authority budget by $500/month. Set tCPA bid once tracking is confirmed.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Jun 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Apply positive desktop bid adjustment (+20–30%).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Desktop CPA $812 vs Mobile $1,228. Test bid modifier on TrackB campaigns.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Jun 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03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Consolidate Brand Search — review match types.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Shift to exact match for core brand terms; reduce phrase match waste.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Jun 15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09" name="Google Shape;109;p6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4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6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META  · 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73 conversions at $166.68 CPA — account's best Meta month.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4572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4572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217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6217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$12,167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235458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235458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251917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251917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1,257,518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25196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425196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441655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LINK 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441655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32,565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614934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614934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31393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 (link)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631393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2.74%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7"/>
          <p:cNvSpPr/>
          <p:nvPr/>
        </p:nvSpPr>
        <p:spPr>
          <a:xfrm>
            <a:off x="804672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7"/>
          <p:cNvSpPr/>
          <p:nvPr/>
        </p:nvSpPr>
        <p:spPr>
          <a:xfrm>
            <a:off x="804672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/>
          <p:nvPr/>
        </p:nvSpPr>
        <p:spPr>
          <a:xfrm>
            <a:off x="821131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7"/>
          <p:cNvSpPr/>
          <p:nvPr/>
        </p:nvSpPr>
        <p:spPr>
          <a:xfrm>
            <a:off x="821131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$9.68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99441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99441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101086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101086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10108692" y="2350008"/>
            <a:ext cx="15316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$166.68 CPA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Conversion Funnel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457200" y="3063240"/>
            <a:ext cx="5486400" cy="50292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594360" y="3136392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108960" y="3136392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1,257,518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4480560" y="3172968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457200" y="3630168"/>
            <a:ext cx="5486400" cy="502920"/>
          </a:xfrm>
          <a:prstGeom prst="rect">
            <a:avLst/>
          </a:prstGeom>
          <a:solidFill>
            <a:srgbClr val="3A4A7A"/>
          </a:solidFill>
          <a:ln cap="flat" cmpd="sng" w="12700">
            <a:solidFill>
              <a:srgbClr val="3A4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94360" y="370332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Link Clicks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3108960" y="3703320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32,565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4480560" y="3739896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2.74% CTR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457200" y="4197096"/>
            <a:ext cx="5486400" cy="502920"/>
          </a:xfrm>
          <a:prstGeom prst="rect">
            <a:avLst/>
          </a:prstGeom>
          <a:solidFill>
            <a:srgbClr val="5B6AA0"/>
          </a:solidFill>
          <a:ln cap="flat" cmpd="sng" w="12700">
            <a:solidFill>
              <a:srgbClr val="5B6A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594360" y="4270248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Landing Page Views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7"/>
          <p:cNvSpPr/>
          <p:nvPr/>
        </p:nvSpPr>
        <p:spPr>
          <a:xfrm>
            <a:off x="3108960" y="4270248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22,629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4480560" y="4306824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69.5% LPV/Click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457200" y="4764024"/>
            <a:ext cx="5486400" cy="502920"/>
          </a:xfrm>
          <a:prstGeom prst="rect">
            <a:avLst/>
          </a:prstGeom>
          <a:solidFill>
            <a:srgbClr val="8A96C5"/>
          </a:solidFill>
          <a:ln cap="flat" cmpd="sng" w="12700">
            <a:solidFill>
              <a:srgbClr val="8A96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594360" y="4837176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Conversions (Custom)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/>
          <p:nvPr/>
        </p:nvSpPr>
        <p:spPr>
          <a:xfrm>
            <a:off x="3108960" y="4837176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4480560" y="4873752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0" i="1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0.32% Conv/LPV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457200" y="5330952"/>
            <a:ext cx="5486400" cy="5029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7"/>
          <p:cNvSpPr/>
          <p:nvPr/>
        </p:nvSpPr>
        <p:spPr>
          <a:xfrm>
            <a:off x="594360" y="5404104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7"/>
          <p:cNvSpPr/>
          <p:nvPr/>
        </p:nvSpPr>
        <p:spPr>
          <a:xfrm>
            <a:off x="3108960" y="5404104"/>
            <a:ext cx="1280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7"/>
          <p:cNvSpPr/>
          <p:nvPr/>
        </p:nvSpPr>
        <p:spPr>
          <a:xfrm>
            <a:off x="4480560" y="5440680"/>
            <a:ext cx="1371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7"/>
          <p:cNvSpPr/>
          <p:nvPr/>
        </p:nvSpPr>
        <p:spPr>
          <a:xfrm>
            <a:off x="6217920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Track A vs Track B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9" name="Google Shape;169;p7"/>
          <p:cNvGraphicFramePr/>
          <p:nvPr/>
        </p:nvGraphicFramePr>
        <p:xfrm>
          <a:off x="621792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2194550"/>
                <a:gridCol w="1645925"/>
                <a:gridCol w="1645925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 A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 B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$6,908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$5,259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Link Clicks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19,819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14,654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CPM (blended)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$11.52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$16.77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Conversions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38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35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 / Conv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$181.79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$150.26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7"/>
          <p:cNvSpPr/>
          <p:nvPr/>
        </p:nvSpPr>
        <p:spPr>
          <a:xfrm>
            <a:off x="457200" y="5989320"/>
            <a:ext cx="11247120" cy="4114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/>
          <p:nvPr/>
        </p:nvSpPr>
        <p:spPr>
          <a:xfrm>
            <a:off x="640080" y="605332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WEEKLY TREND: CPA improved from $200 (wk1) → $153 (wk2) → $466 (wk3, learning phase) → $121 (wk4) → $81 (wk5). 0426_GCG exiting learning phase and accelerating. TrackB outperforms TrackA by 17% on CPA.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5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7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8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META  ·  HIGHLIGHTS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Scale 0426_GCG. Validate pixel attribution.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8"/>
          <p:cNvSpPr/>
          <p:nvPr/>
        </p:nvSpPr>
        <p:spPr>
          <a:xfrm>
            <a:off x="457200" y="1600200"/>
            <a:ext cx="56692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/>
          <p:nvPr/>
        </p:nvSpPr>
        <p:spPr>
          <a:xfrm>
            <a:off x="685800" y="2011680"/>
            <a:ext cx="52578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73 conversions at $166.68 CPA — 11× improvement vs. March (53 apps, different funnel step).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0426_GCG outperformed 0326_GCG: $157.60 vs. $178.30 CPA — new campaign optimized faster.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TrackB consistently outperforms TrackA: $150 vs. $182 blended CPA. Budget should favor TrackB.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Week 5 (Apr 29–30): $81 CPA — strongest signal of the month. 0426_GCG fully optimized.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8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CHALLENGES / RISKS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6537960" y="2011680"/>
            <a:ext cx="49834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CPA spike in week 3 (Apr 15–21): $466 due to 0426_GCG learning phase. Expected, but inflates monthly blended average.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Click-through pixel unconfirmed — all 73 conversions are offsite_conversion.fb_pixel_custom. Validate event type.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Revenue / ROAS not tracked. Cannot calculate downstream account value from paid social.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TrackA CTR anomaly in 0326_GCG (5.06% vs 2.72% for TrackA) — root cause not identified.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91" name="Google Shape;191;p8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1188725"/>
                <a:gridCol w="4389125"/>
                <a:gridCol w="3840475"/>
                <a:gridCol w="18288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Step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/ Due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CRITICAL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 Meta pixel event type (fb_pixel_custom).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Confirm the custom event maps to the correct conversion action.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 + BRLVNT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Allocate full May budget to 0426_GCG.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Fully pause 0326_GCG. All May budget to the April campaign.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Jun 1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Increase TrackB allocation within 0426_GCG.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Shift to 40/60 TrackA/TrackB split based on $150 vs $182 CPA.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Jun 8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 revenue tracking pixel.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Enable ROAS measurement and full-funnel reporting for May.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Monitor weekly CPA — target &lt;$150 for May.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If week 1 CPA &gt;$200, review creative and audience freshness.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· weekly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192" name="Google Shape;192;p8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6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8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QUANTCAST  ·  PERFORMANCE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Full month. Conversion campaign Apr 16–30 (2 results); Clicks campaign Apr 1–15 (0 results).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4572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4572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6217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6217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$15,015</a:t>
            </a:r>
            <a:endParaRPr b="1" i="0" sz="2000" u="none" cap="none" strike="noStrike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35458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35458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51917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51917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7.2M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425196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425196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441655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441655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1,622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614934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614934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631393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631393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$2.08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804672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804672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821131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 (VT)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821131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99441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99441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101086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101086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$7,508</a:t>
            </a:r>
            <a:endParaRPr b="1" i="0" sz="2000" u="none" cap="none" strike="noStrike">
              <a:solidFill>
                <a:srgbClr val="1E276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  <p:pic>
        <p:nvPicPr>
          <p:cNvPr id="229" name="Google Shape;2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2743200"/>
            <a:ext cx="6400800" cy="3566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9"/>
          <p:cNvSpPr/>
          <p:nvPr/>
        </p:nvSpPr>
        <p:spPr>
          <a:xfrm>
            <a:off x="7132320" y="2743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Campaign Split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1" name="Google Shape;231;p9"/>
          <p:cNvGraphicFramePr/>
          <p:nvPr/>
        </p:nvGraphicFramePr>
        <p:xfrm>
          <a:off x="713232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1737350"/>
                <a:gridCol w="640075"/>
                <a:gridCol w="640075"/>
                <a:gridCol w="548650"/>
                <a:gridCol w="548650"/>
                <a:gridCol w="457200"/>
              </a:tblGrid>
              <a:tr h="365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 Set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Impr.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Viewab.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 mscl A (Apr 16–30)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$3,602</a:t>
                      </a:r>
                      <a:endParaRPr sz="950" u="none" cap="none" strike="noStrike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308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67.3%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Conv mscl B (Apr 16–30)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$3,602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3.0M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271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67.2%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Clicks A+B (Apr 1–15)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$7,811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1.23M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1,043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48.5%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3657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 (Apr 1–30)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$15,015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7.2M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1,622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64.1%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950"/>
                        <a:buFont typeface="Calibri"/>
                        <a:buNone/>
                      </a:pPr>
                      <a:r>
                        <a:rPr lang="en-US" sz="9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9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2" name="Google Shape;232;p9"/>
          <p:cNvSpPr/>
          <p:nvPr/>
        </p:nvSpPr>
        <p:spPr>
          <a:xfrm>
            <a:off x="7132320" y="4892040"/>
            <a:ext cx="4572000" cy="1417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7269480" y="4983480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ATTRIBUTION NOTE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7269480" y="5212080"/>
            <a:ext cx="438912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2 view-through results from smartphone (Apr 20–30). Clicks campaign ended Apr 15 with 0 conversions. Both Conv ad sets performed near-identically: A at 67.3% VW vs. B at 67.2% VW, 1 result each. CTR across all campaigns: 0.02%. Consolidating A+B into one ad set recommended for May.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7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9" title="berelvant-log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QUANTCAST  ·  HIGHLIGHTS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Full month. 2 view-through conversions. Clicks campaign ended; Conversion campaign ramping.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457200" y="1600200"/>
            <a:ext cx="56692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/>
          <p:nvPr/>
        </p:nvSpPr>
        <p:spPr>
          <a:xfrm>
            <a:off x="640080" y="169164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7.2M impressions in April at $2.08 combined CPM. Conversion (Apr 16–30): 6.0M impr at $1.21 CPM. Clicks (Apr 1–15): 1.23M impr at $6.36 CPM.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685800" y="2011680"/>
            <a:ext cx="525780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Quantcast delivered 7.2M impressions in April at $2.08 CPM across 3.0M unique devices.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Conversion campaign (Apr 16–30, Ad Sets A and B): 6.0M impressions at $1.21 CPM, 67.3% viewability (slightly below 70% IAB benchmark), 2 view-through conversions at $3,602 CPA each — both from smartphone.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Clicks campaign (Apr 1–15, 2 ad sets): 1.23M impressions at $6.36 CPM, 48.5% viewability and 0 conversions — expected for clicks objective; campaign has ended.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Total spend: $15,015. May will be the first full month on conversion objective only.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/>
          <p:nvPr/>
        </p:nvSpPr>
        <p:spPr>
          <a:xfrm>
            <a:off x="6309360" y="1600200"/>
            <a:ext cx="539496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10"/>
          <p:cNvSpPr/>
          <p:nvPr/>
        </p:nvSpPr>
        <p:spPr>
          <a:xfrm>
            <a:off x="6492240" y="1691640"/>
            <a:ext cx="5029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OPTIMIZATION PRIORITIES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0"/>
          <p:cNvSpPr/>
          <p:nvPr/>
        </p:nvSpPr>
        <p:spPr>
          <a:xfrm>
            <a:off x="6537960" y="2011680"/>
            <a:ext cx="4983480" cy="1783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Consolidate Ad Sets A and B into a single conversion ad set — performance was near-identical in April (67.3% vs. 67.2% VW, both 1 conversion).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Improve conversion campaign viewability: currently 67.3%, target ≥70%. Review placement list.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Verify conversion pixel attribution: 2 view-through results, 0 click-through. Validate tracking on GCG landing pages.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Scale May budget — April was the first full month and efficiency is strong at $1.21 CPM for the conversion objective.</a:t>
            </a:r>
            <a:endParaRPr b="0" i="0" sz="11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4" name="Google Shape;254;p10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844400"/>
                <a:gridCol w="3117800"/>
                <a:gridCol w="2728075"/>
                <a:gridCol w="2728075"/>
              </a:tblGrid>
              <a:tr h="438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Priority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Recommendation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50"/>
                        <a:buFont typeface="Calibri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Next Step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50"/>
                        <a:buFont typeface="Arial"/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 / Due</a:t>
                      </a:r>
                      <a:endParaRPr b="1" sz="1050" u="none" cap="none" strike="noStrike">
                        <a:solidFill>
                          <a:srgbClr val="FFFFFF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Validate view-through pixel on GCG landing pages (2 VT results, 0 CT results).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 2</a:t>
                      </a:r>
                      <a:endParaRPr sz="1000" u="none" cap="none" strike="noStrike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Run full May flight with single consolidated ad set (A+B merged).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(auto)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May ongoing</a:t>
                      </a:r>
                      <a:endParaRPr sz="1000" u="none" cap="none" strike="noStrike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Build domain exclusion list (weather.com, ebay.com).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 1</a:t>
                      </a:r>
                      <a:endParaRPr sz="1000" u="none" cap="none" strike="noStrike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438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MEDIUM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Request Quantcast audience segment breakdown for US Hispanic sub-segments.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Jun 8</a:t>
                      </a:r>
                      <a:endParaRPr sz="1000" u="none" cap="none" strike="noStrike">
                        <a:solidFill>
                          <a:srgbClr val="0F1535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5" name="Google Shape;255;p10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8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0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7" name="Google Shape;257;p10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AZERION  ·  PERFORMANCE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Conversion breakthrough: 76 results at $214.81 CPA.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/>
          <p:nvPr/>
        </p:nvSpPr>
        <p:spPr>
          <a:xfrm>
            <a:off x="4572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11"/>
          <p:cNvSpPr/>
          <p:nvPr/>
        </p:nvSpPr>
        <p:spPr>
          <a:xfrm>
            <a:off x="4572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1"/>
          <p:cNvSpPr/>
          <p:nvPr/>
        </p:nvSpPr>
        <p:spPr>
          <a:xfrm>
            <a:off x="6217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SPEND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1"/>
          <p:cNvSpPr/>
          <p:nvPr/>
        </p:nvSpPr>
        <p:spPr>
          <a:xfrm>
            <a:off x="6217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$16,325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235458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1"/>
          <p:cNvSpPr/>
          <p:nvPr/>
        </p:nvSpPr>
        <p:spPr>
          <a:xfrm>
            <a:off x="235458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251917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IMPRESSIONS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251917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2.53M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1"/>
          <p:cNvSpPr/>
          <p:nvPr/>
        </p:nvSpPr>
        <p:spPr>
          <a:xfrm>
            <a:off x="425196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1"/>
          <p:cNvSpPr/>
          <p:nvPr/>
        </p:nvSpPr>
        <p:spPr>
          <a:xfrm>
            <a:off x="425196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441655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CLICKS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441655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3,965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614934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614934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631393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CTR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631393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0.16%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804672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804672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821131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CPM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821131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$6.45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9944100" y="1600200"/>
            <a:ext cx="1760220" cy="9601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1"/>
          <p:cNvSpPr/>
          <p:nvPr/>
        </p:nvSpPr>
        <p:spPr>
          <a:xfrm>
            <a:off x="9944100" y="1600200"/>
            <a:ext cx="64008" cy="96012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10108692" y="1691640"/>
            <a:ext cx="15316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CONVERSIONS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10108692" y="1947672"/>
            <a:ext cx="15316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76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10108692" y="2350008"/>
            <a:ext cx="15316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$214.81 CPA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457200" y="2743200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761"/>
                </a:solidFill>
                <a:latin typeface="Calibri"/>
                <a:ea typeface="Calibri"/>
                <a:cs typeface="Calibri"/>
                <a:sym typeface="Calibri"/>
              </a:rPr>
              <a:t>Delivery Quality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94" name="Google Shape;294;p11"/>
          <p:cNvGraphicFramePr/>
          <p:nvPr/>
        </p:nvGraphicFramePr>
        <p:xfrm>
          <a:off x="457200" y="306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2103125"/>
                <a:gridCol w="1554475"/>
                <a:gridCol w="2011675"/>
              </a:tblGrid>
              <a:tr h="2469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Metric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Benchmark / Note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Viewability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71.02%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Above IAB 50% standard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Device Reach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1.31M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 device frequency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Frequency (device)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1.6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Rose to 2.2 by month end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Attribution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View-through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Click-through = 0 (pixel issue)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46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/ ROAS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 configured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Excluded from all reporting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</a:tbl>
          </a:graphicData>
        </a:graphic>
      </p:graphicFrame>
      <p:sp>
        <p:nvSpPr>
          <p:cNvPr id="295" name="Google Shape;295;p11"/>
          <p:cNvSpPr/>
          <p:nvPr/>
        </p:nvSpPr>
        <p:spPr>
          <a:xfrm>
            <a:off x="6400800" y="2743200"/>
            <a:ext cx="5303520" cy="17830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/>
          <p:nvPr/>
        </p:nvSpPr>
        <p:spPr>
          <a:xfrm>
            <a:off x="6583680" y="283464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E7D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7D57"/>
                </a:solidFill>
                <a:latin typeface="Calibri"/>
                <a:ea typeface="Calibri"/>
                <a:cs typeface="Calibri"/>
                <a:sym typeface="Calibri"/>
              </a:rPr>
              <a:t>HIGHLIGHTS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1"/>
          <p:cNvSpPr/>
          <p:nvPr/>
        </p:nvSpPr>
        <p:spPr>
          <a:xfrm>
            <a:off x="6629400" y="3154680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76 full application conversions at $214.81 CPA — account's best monthly result. CPA improved from $2,256 (March ramp-up) to $214.81 (+11×).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Funnel: 10,000 page visits → 492 Step 1 conversions → 76 full applications. 15% Step 1→full completion rate.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Professional Tools ($170.81 CPA) and Spanish Platform ($169.21 CPA) are top ad sets: 32 of 76 conversions at lowest CPAs.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Desktop CTR (0.26%) is 2.5× Smartphone CTR (0.10%) — Desktop drives disproportionate click efficiency.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1"/>
          <p:cNvSpPr/>
          <p:nvPr/>
        </p:nvSpPr>
        <p:spPr>
          <a:xfrm>
            <a:off x="6400800" y="4617720"/>
            <a:ext cx="5303520" cy="178308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1"/>
          <p:cNvSpPr/>
          <p:nvPr/>
        </p:nvSpPr>
        <p:spPr>
          <a:xfrm>
            <a:off x="6583680" y="4709160"/>
            <a:ext cx="4937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MAY FOCUS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1"/>
          <p:cNvSpPr/>
          <p:nvPr/>
        </p:nvSpPr>
        <p:spPr>
          <a:xfrm>
            <a:off x="6629400" y="5029200"/>
            <a:ext cx="4892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Scale Professional Tools and Spanish Platform — both at ~$170 CPA with 16 conversions each, the account's efficiency anchors. Set May CPA target at ≤$188. Validate click-through pixel — all 76 results are currently view-through only.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F1535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CPA of $2,256 reflects a ramp-up period on a new channel. April is the first full measurement month and will establish the working baseline.</a:t>
            </a:r>
            <a:endParaRPr b="0" i="0" sz="100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1"/>
          <p:cNvSpPr/>
          <p:nvPr/>
        </p:nvSpPr>
        <p:spPr>
          <a:xfrm>
            <a:off x="457200" y="4617720"/>
            <a:ext cx="5669280" cy="17830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1"/>
          <p:cNvSpPr/>
          <p:nvPr/>
        </p:nvSpPr>
        <p:spPr>
          <a:xfrm>
            <a:off x="640080" y="4681728"/>
            <a:ext cx="5486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RECOMMENDATIONS &amp; NEXT STEPS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1"/>
          <p:cNvSpPr/>
          <p:nvPr/>
        </p:nvSpPr>
        <p:spPr>
          <a:xfrm>
            <a:off x="685800" y="4937760"/>
            <a:ext cx="5440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921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Scale Professional Tools and Spanish Platform ad sets — both at ~$170 CPA.</a:t>
            </a:r>
            <a:endParaRPr b="0" i="0" sz="10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Review Broker 1, Language Broker, Trusted Broker ($247–$304 CPA) — reallocate to top performers.</a:t>
            </a:r>
            <a:endParaRPr b="0" i="0" sz="10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2100" lvl="0" marL="4572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Validate click-through conversion pixel — 76 VT results but 0 CT results (second consecutive month).</a:t>
            </a:r>
            <a:endParaRPr b="0" i="0" sz="1000" u="none" cap="none" strike="noStrike">
              <a:solidFill>
                <a:srgbClr val="CADCF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1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9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1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6" name="Google Shape;306;p11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2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cap="flat" cmpd="sng" w="12700">
            <a:solidFill>
              <a:srgbClr val="1E276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2"/>
          <p:cNvSpPr/>
          <p:nvPr/>
        </p:nvSpPr>
        <p:spPr>
          <a:xfrm>
            <a:off x="457200" y="4572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FOREX.com | GCG US Hispanic - April 2026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2"/>
          <p:cNvSpPr/>
          <p:nvPr/>
        </p:nvSpPr>
        <p:spPr>
          <a:xfrm>
            <a:off x="457200" y="54864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9616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6167"/>
                </a:solidFill>
                <a:latin typeface="Calibri"/>
                <a:ea typeface="Calibri"/>
                <a:cs typeface="Calibri"/>
                <a:sym typeface="Calibri"/>
              </a:rPr>
              <a:t>·  RECOMMENDATIONS &amp; NEXT STEPS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2"/>
          <p:cNvSpPr/>
          <p:nvPr/>
        </p:nvSpPr>
        <p:spPr>
          <a:xfrm>
            <a:off x="457200" y="841248"/>
            <a:ext cx="112471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761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1E2761"/>
                </a:solidFill>
                <a:latin typeface="Georgia"/>
                <a:ea typeface="Georgia"/>
                <a:cs typeface="Georgia"/>
                <a:sym typeface="Georgia"/>
              </a:rPr>
              <a:t>Scale what's working. Fix what's broken.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F4F6F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/>
          <p:nvPr/>
        </p:nvSpPr>
        <p:spPr>
          <a:xfrm>
            <a:off x="457200" y="1600200"/>
            <a:ext cx="24688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/>
          <p:nvPr/>
        </p:nvSpPr>
        <p:spPr>
          <a:xfrm>
            <a:off x="457200" y="1600200"/>
            <a:ext cx="2468880" cy="411480"/>
          </a:xfrm>
          <a:prstGeom prst="rect">
            <a:avLst/>
          </a:prstGeom>
          <a:solidFill>
            <a:srgbClr val="F96167"/>
          </a:solidFill>
          <a:ln cap="flat" cmpd="sng" w="12700">
            <a:solidFill>
              <a:srgbClr val="F9616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/>
          <p:nvPr/>
        </p:nvSpPr>
        <p:spPr>
          <a:xfrm>
            <a:off x="594360" y="16459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CRITICAL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2"/>
          <p:cNvSpPr/>
          <p:nvPr/>
        </p:nvSpPr>
        <p:spPr>
          <a:xfrm>
            <a:off x="594360" y="210312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28892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Resolve Google Ads conversion tracking anomaly — all 12 conversions in week 5 only.</a:t>
            </a:r>
            <a:endParaRPr b="0" i="0" sz="95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Pause TrackA Trust ($5,265 spend, 0 conversions) and reallocate budget to TrackB.</a:t>
            </a:r>
            <a:endParaRPr b="0" i="0" sz="95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Validate Meta pixel event type (fb_pixel_custom) and Azerion click-through pixel.</a:t>
            </a:r>
            <a:endParaRPr b="0" i="0" sz="95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8925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Allocate full May budget to Meta 0426_GCG (both tracks).</a:t>
            </a:r>
            <a:endParaRPr b="0" i="0" sz="950" u="none" cap="none" strike="noStrike">
              <a:solidFill>
                <a:srgbClr val="0F153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2"/>
          <p:cNvSpPr/>
          <p:nvPr/>
        </p:nvSpPr>
        <p:spPr>
          <a:xfrm>
            <a:off x="3063240" y="1600200"/>
            <a:ext cx="24688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/>
          <p:nvPr/>
        </p:nvSpPr>
        <p:spPr>
          <a:xfrm>
            <a:off x="3063240" y="1600200"/>
            <a:ext cx="2468880" cy="411480"/>
          </a:xfrm>
          <a:prstGeom prst="rect">
            <a:avLst/>
          </a:prstGeom>
          <a:solidFill>
            <a:srgbClr val="E9B44C"/>
          </a:solidFill>
          <a:ln cap="flat" cmpd="sng" w="12700">
            <a:solidFill>
              <a:srgbClr val="E9B4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/>
          <p:nvPr/>
        </p:nvSpPr>
        <p:spPr>
          <a:xfrm>
            <a:off x="3200400" y="16459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HIGH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2"/>
          <p:cNvSpPr/>
          <p:nvPr/>
        </p:nvSpPr>
        <p:spPr>
          <a:xfrm>
            <a:off x="3200400" y="210312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Scale TrackB Authority in Google Ads — 19.1% IS is the account's best conversion-proven campaign.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Scale Azerion Professional Tools and Spanish Platform to ≤$188 CPA target.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Apply +20% desktop bid adjustment in Google Ads (Desktop CPA $812 vs Mobile $1,228).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Implement revenue tracking pixel across all channels to enable ROAS reporting.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2"/>
          <p:cNvSpPr/>
          <p:nvPr/>
        </p:nvSpPr>
        <p:spPr>
          <a:xfrm>
            <a:off x="5669280" y="1600200"/>
            <a:ext cx="2468880" cy="2286000"/>
          </a:xfrm>
          <a:prstGeom prst="rect">
            <a:avLst/>
          </a:prstGeom>
          <a:solidFill>
            <a:srgbClr val="F4F6FB"/>
          </a:solidFill>
          <a:ln cap="flat" cmpd="sng" w="12700">
            <a:solidFill>
              <a:srgbClr val="CADC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/>
          <p:nvPr/>
        </p:nvSpPr>
        <p:spPr>
          <a:xfrm>
            <a:off x="5669280" y="1600200"/>
            <a:ext cx="2468880" cy="411480"/>
          </a:xfrm>
          <a:prstGeom prst="rect">
            <a:avLst/>
          </a:prstGeom>
          <a:solidFill>
            <a:srgbClr val="2E7D57"/>
          </a:solidFill>
          <a:ln cap="flat" cmpd="sng" w="12700">
            <a:solidFill>
              <a:srgbClr val="2E7D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/>
          <p:nvPr/>
        </p:nvSpPr>
        <p:spPr>
          <a:xfrm>
            <a:off x="5806440" y="164592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Georgia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OPPORTUNITY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2"/>
          <p:cNvSpPr/>
          <p:nvPr/>
        </p:nvSpPr>
        <p:spPr>
          <a:xfrm>
            <a:off x="5806440" y="2103120"/>
            <a:ext cx="224028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Azerion retargeting: 418 Step 1 non-converters are an active high-intent audience.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Quantcast Tablet allocation increase — highest CTR device (0.0211%) at mid-range CPM.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Meta TrackB investigation: 0326_GCG trackB had anomalous 5.06% CTR vs. 2.72% trackA — replicate if valid.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F1535"/>
              </a:buClr>
              <a:buSzPts val="950"/>
              <a:buFont typeface="Calibri"/>
              <a:buChar char="•"/>
            </a:pPr>
            <a:r>
              <a:rPr b="0" i="0" lang="en-US" sz="950" u="none" cap="none" strike="noStrike">
                <a:solidFill>
                  <a:srgbClr val="0F1535"/>
                </a:solidFill>
                <a:latin typeface="Calibri"/>
                <a:ea typeface="Calibri"/>
                <a:cs typeface="Calibri"/>
                <a:sym typeface="Calibri"/>
              </a:rPr>
              <a:t>Spanish keyword expansion in Google Ads — Spanish-intent terms historically drive 11–68% CTR.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29" name="Google Shape;329;p12"/>
          <p:cNvGraphicFramePr/>
          <p:nvPr/>
        </p:nvGraphicFramePr>
        <p:xfrm>
          <a:off x="457200" y="4069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{DAD8929A-4F0C-4FC3-BD51-C49356DA4B96}</a:tableStyleId>
              </a:tblPr>
              <a:tblGrid>
                <a:gridCol w="7315200"/>
                <a:gridCol w="2560325"/>
              </a:tblGrid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Owner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E2761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Google Ads conversion tracking validation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 + 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TrackA pause + TrackB budget reallocation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Meta pixel event type confirmation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Azerion click-through pixel validation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+ Azerion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Quantcast full-month May flight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 (auto)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Revenue tracking pixel implementation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Central Team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Azerion retargeting brief (Step 1 non-converters)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F6FB"/>
                    </a:solidFill>
                  </a:tcPr>
                </a:tc>
              </a:tr>
              <a:tr h="2560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Desktop bid adjustment test (TrackB campaigns)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F1535"/>
                        </a:buClr>
                        <a:buSzPts val="1050"/>
                        <a:buFont typeface="Calibri"/>
                        <a:buNone/>
                      </a:pPr>
                      <a:r>
                        <a:rPr lang="en-US" sz="1050" u="none" cap="none" strike="noStrike">
                          <a:solidFill>
                            <a:srgbClr val="0F1535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BRLVNT</a:t>
                      </a:r>
                      <a:endParaRPr sz="10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CADCF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0" name="Google Shape;330;p12"/>
          <p:cNvSpPr/>
          <p:nvPr/>
        </p:nvSpPr>
        <p:spPr>
          <a:xfrm>
            <a:off x="11338560" y="6611112"/>
            <a:ext cx="54864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10 / 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2"/>
          <p:cNvSpPr/>
          <p:nvPr/>
        </p:nvSpPr>
        <p:spPr>
          <a:xfrm>
            <a:off x="457200" y="6611112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A6072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72"/>
                </a:solidFill>
                <a:latin typeface="Calibri"/>
                <a:ea typeface="Calibri"/>
                <a:cs typeface="Calibri"/>
                <a:sym typeface="Calibri"/>
              </a:rPr>
              <a:t>Monthly Performance Review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2" name="Google Shape;332;p12" title="berelvant-logo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85838" y="68588"/>
            <a:ext cx="854075" cy="27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