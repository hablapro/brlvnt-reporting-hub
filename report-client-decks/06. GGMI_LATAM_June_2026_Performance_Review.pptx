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2" r:id="rId23"/>
    <p:sldId id="266" r:id="rId17"/>
    <p:sldId id="267" r:id="rId18"/>
    <p:sldId id="268" r:id="rId19"/>
    <p:sldId id="269" r:id="rId20"/>
    <p:sldId id="270" r:id="rId21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Sessions</c:v>
                </c:pt>
              </c:strCache>
            </c:strRef>
          </c:tx>
          <c:spPr>
            <a:ln w="28575">
              <a:solidFill>
                <a:srgbClr val="3B5998"/>
              </a:solidFill>
            </a:ln>
          </c:spPr>
          <c:marker>
            <c:symbol val="circle"/>
            <c:size val="6"/>
            <c:spPr>
              <a:solidFill>
                <a:srgbClr val="3B599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9380</c:v>
                </c:pt>
                <c:pt idx="1">
                  <c:v>22229</c:v>
                </c:pt>
                <c:pt idx="2">
                  <c:v>12614</c:v>
                </c:pt>
                <c:pt idx="3">
                  <c:v>7577</c:v>
                </c:pt>
                <c:pt idx="4">
                  <c:v>5751</c:v>
                </c:pt>
                <c:pt idx="5">
                  <c:v>9236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Unique visitors</c:v>
                </c:pt>
              </c:strCache>
            </c:strRef>
          </c:tx>
          <c:spPr>
            <a:ln w="28575">
              <a:solidFill>
                <a:srgbClr val="27AE60"/>
              </a:solidFill>
            </a:ln>
          </c:spPr>
          <c:marker>
            <c:symbol val="circle"/>
            <c:size val="6"/>
            <c:spPr>
              <a:solidFill>
                <a:srgbClr val="27AE60"/>
              </a:solidFill>
              <a:ln>
                <a:solidFill>
                  <a:srgbClr val="FFFFFF"/>
                </a:solidFill>
              </a:ln>
            </c:spPr>
          </c:marker>
          <c:dLbls>
            <c:numFmt formatCode="#,##0" sourceLinked="0"/>
            <c:txPr>
              <a:bodyPr/>
              <a:lstStyle/>
              <a:p>
                <a:pPr>
                  <a:defRPr sz="750">
                    <a:solidFill>
                      <a:srgbClr val="32373E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4651</c:v>
                </c:pt>
                <c:pt idx="1">
                  <c:v>14172</c:v>
                </c:pt>
                <c:pt idx="2">
                  <c:v>6554</c:v>
                </c:pt>
                <c:pt idx="3">
                  <c:v>3366</c:v>
                </c:pt>
                <c:pt idx="4">
                  <c:v>2592</c:v>
                </c:pt>
                <c:pt idx="5">
                  <c:v>5838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2373E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Organic Search sessions</c:v>
                </c:pt>
              </c:strCache>
            </c:strRef>
          </c:tx>
          <c:spPr>
            <a:ln w="28575">
              <a:solidFill>
                <a:srgbClr val="3B5998"/>
              </a:solidFill>
            </a:ln>
          </c:spPr>
          <c:marker>
            <c:symbol val="circle"/>
            <c:size val="6"/>
            <c:spPr>
              <a:solidFill>
                <a:srgbClr val="3B5998"/>
              </a:solidFill>
              <a:ln>
                <a:solidFill>
                  <a:srgbClr val="FFFFFF"/>
                </a:solidFill>
              </a:ln>
            </c:spPr>
          </c:marker>
          <c:dLbls>
            <c:numFmt formatCode="#,##0" sourceLinked="0"/>
            <c:txPr>
              <a:bodyPr/>
              <a:lstStyle/>
              <a:p>
                <a:pPr>
                  <a:defRPr sz="750">
                    <a:solidFill>
                      <a:srgbClr val="32373E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4958</c:v>
                </c:pt>
                <c:pt idx="1">
                  <c:v>3193</c:v>
                </c:pt>
                <c:pt idx="2">
                  <c:v>3385</c:v>
                </c:pt>
                <c:pt idx="3">
                  <c:v>2055</c:v>
                </c:pt>
                <c:pt idx="4">
                  <c:v>1260</c:v>
                </c:pt>
                <c:pt idx="5">
                  <c:v>1313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32373E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998"/>
                </a:solidFill>
                <a:latin typeface="Arial"/>
              </a:rPr>
              <a:t>QUARTERLY BUSINESS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A2A3A"/>
                </a:solidFill>
                <a:latin typeface="Arial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1A2A3A"/>
                </a:solidFill>
                <a:latin typeface="Arial"/>
              </a:rPr>
              <a:t>Q3 FY2026 Business Review  ·  June 2026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Bing Ads · Meta · Azerion · Quantcast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Reporting period: June 1–30, 2026   |   Currency: USD   |   Prepared by Berelvant · 07.16.2026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biggest media month of 2026. Efficiency held where we can measure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8 / 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0552"/>
                <a:gridCol w="969264"/>
                <a:gridCol w="969264"/>
                <a:gridCol w="969264"/>
                <a:gridCol w="777240"/>
                <a:gridCol w="969264"/>
              </a:tblGrid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Conv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Bing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$25,659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466,582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21,480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$25,924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19.78M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407,136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Held*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$35,026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7.68M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9,910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$834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41.96M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11,284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 VT*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$120,393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69.9M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449,810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* Paid-social conversions are held pending a placement audit. Programmatic view-through is directional only. Conversions use different events per channel and are never summed.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HEADLINES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Site traffic recovered with the spend: 9,236 Mexico sessions, up 61% from May, and 5,838 unique visitors, up 125%. The recovery is real but bought. Media drove essentially all of the June gain while organic search sat at its 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are approximately 31% into the annual GGMI budget, so H2 has room to scale once the quality fixes land.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JUNE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Concentrate search spend in Mexico (49% served out-of-market in June), audit paid-social placements before reinstating its conversion reporting, and open the SEO workstream for the organic decline.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CONT'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Three findings shape the July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9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IS STILL FORMING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Meta scaled spend 291% and delivery stayed cheap, but click quality dropped sharply as it scaled. Its conversion reporting stays on hold until the placement audit completes.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49% of June search spend served users outside Mexico. The fix is defined and partially applied; completing it is the top efficiency lever in the account.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Mexico-only restriction on search. Roughly $12.6K per month is at stake and the June 3 exclusion is already working.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placement-level audit and exclusions on paid social before scaling it further, and judge the channel on measured site sessions until validation completes.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Open a dedicated SEO workstream for the Spanish site. It is the structural fix for traffic that tracks media spend instead of compounding on top of it.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Apply the 49-site programmatic blocklist and set a campaign-level viewability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BING ADS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50 submitted applications at $513. Efficiency held through a 61% scale-up.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10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$25,659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+61%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466,582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3 campaigns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21,480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4.60%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$0.53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SUBMITTED APPS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$513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$484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Campaigns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6949440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097280"/>
                <a:gridCol w="1097280"/>
                <a:gridCol w="914400"/>
                <a:gridCol w="1097280"/>
              </a:tblGrid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AO Generic (policy test)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$13,508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11,020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Brand + Generic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$8,154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7,559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$906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Platform Intercept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$3,996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2,901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Conversions rose 52% (33 to 50) while spend rose 61%, so the CPA moved only $484 to $513 through the scale-up.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account expanded from 1 campaign to 3. Platform Intercept is the efficiency leader at a $285 CPA.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CPC rose $0.53 to $1.19 with the shift into the new campaign themes.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51% of June spend served Mexico. The remaining 49% ($12,637) served out-of-market users. The June 3 exclusion is already working, and completing the Mexico-only restriction is optimization #1 for July.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BING ADS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Concentrate every search dollar in Mexico.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11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Search remains the most efficient measured converter in the account, and it held that efficiency while scaling 61%.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Only 51% of June spend served Mexico. Out-of-market paid visitors outnumbered Mexican paid visitors on the site for most of H1, so concentrating that spend in-market should improve effective Mexico CPA immediately.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new campaign themes raised CPC ($0.53 to $1.19). Platform Intercept converts at $285, so the mix has room to rebalance toward what works.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 presence-only restriction. It is the top efficiency lever in the account at roughly $12.6K per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Rebalance budget toward the proven converters, led by Platform Intercept at $285, while the newer themes prove out.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Link the search account in GA4 so July reporting attributes paid search fully (detail on the measurement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Reach scaled 4x at low cost. Click quality is the June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12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$25,924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+291%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19.78M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100% 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407,136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$0.97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LP 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249,972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platform-reported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CONVERSIONS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validation open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Delivery scaled hard and stayed cheap: 19.8M impressions at a $1.31 CPM, all in Mexico, with the first month off a pure traffic objective.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This account converted platform clicks into measured site visits at 15.7% in February. June ran at 0.19%. Same pixel, same site, same market. The difference is the inventory the June campaigns bought.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WHY CONVERSIONS ARE HELD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platform reports 86 conversions for June. 67 of them come from one retargeting campaign with only 126 landing-page views, which is not a credible application rate.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are holding conversion reporting until the placement audit and pixel-event review complete. Delivery metrics (reach, clicks, CPM) are unaffected.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Audit the placements before judging the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13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buying skewed to low-cost in-app inventory, and 63% of spend served users 55 and older in a market where the target skews younger.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Run the placement-level audit and apply exclusions. This is the highest-value action on this channel for July.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Rebalance the 55+ age skew and complete the shift to a conversion objective.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Judge the channel on measured site sessions until conversion validation completes, then reinstate conversion reporting.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42 submitted applications. Efficiency roughly held at higher volume.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14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$35,026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+20%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7.68M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2.18M devices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9,910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+57%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STEP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225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$834 CPA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68.5%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70% 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Ad Sets (Applications)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48640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005840"/>
                <a:gridCol w="822960"/>
                <a:gridCol w="1097280"/>
              </a:tblGrid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 Set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Experience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$9,118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Global Market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$412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TradeForex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Language Broker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$4,994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$713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Conversion_Instruments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$1,053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Spanish Platform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$4,229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$1,410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Conversion_Commodities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Applications rose 14% (37 to 42) on a 20% budget increase. The CPA moved $792 to $834, so efficiency roughly held at higher volume.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Application starts nearly doubled (225 to 440), keeping the upper funnel active.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Global Market converted at $412 and Experience carried the most volume. Conversion_Commodities spent $4,128 with no applications and is the first reallocation candidate.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Hold the pace. Confirm the delivery detail.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15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Second consecutive month of scaled application volume, with efficiency holding within 6% while budget grew 20%.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Viewability is 68.5%, just under the 70% standard.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Hold the budget pace until the delivery breakdowns arrive.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Concentrate budget on the converting ad sets, led by Global Market ($412) and Experience, and reallocate away from Conversion_Commodities ($4,128, zero applications).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Push viewability over the 70% standard.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QUANTCAST  ·  PERFORMANCE &amp;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 deliberate reach month. Cheap delivery, with a quality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16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$33,784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+26%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41.96M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+155% MoM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$0.81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$1.63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$2.99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$5.59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51.3%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67.1%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CONVERSIONS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view-through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Month over Month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6692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280160"/>
                <a:gridCol w="1280160"/>
                <a:gridCol w="1280160"/>
              </a:tblGrid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$26,890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41.96M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16.48M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+155%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CPM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$0.81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$1.63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-50%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Viewability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51.3%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67.1%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-15.8pp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 VT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We scaled reach on purpose: 42M impressions and 18.2M devices reached as CPM fell by half to $0.81.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cost of cheap reach is quality. Viewability fell to 51%, below the 70% standard. We delivered a 49-site blocklist covering 32% of June spend on this line and recommend a campaign-level viewability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All 11 June conversions are view-through. Treat them as directional support, not proven response.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SPEND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program scaled every month of the quarter.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3 / 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1051560"/>
                <a:gridCol w="105156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Bing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$15,289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$15,972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$25,659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$56,920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$5,224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$6,626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$25,924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$37,774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$15,005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$26,890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$75,678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$10,777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$29,302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$35,026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$75,105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$46,294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$78,790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$120,393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$245,477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11480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Month-over-month growth: +70% into May, +53% into June. June ran at 2.6x the April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Q3 closed at $245,477 in working media, approximately 24% of the FY2026 budget.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mix rebalanced as the program scaled. April leaned on search and display; June is a balanced four-channel program with no channel above 29% of spend.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Every channel grew while holding or improving its efficiency where we can measure it, which is what earns the next stage of scale.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Application volume scaled with spend. Blended cost per application halved.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4 / 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68680"/>
                <a:gridCol w="868680"/>
                <a:gridCol w="914400"/>
                <a:gridCol w="1005840"/>
              </a:tblGrid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Bing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Held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Blended applications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Blended cost / application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$2,315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$1,110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$1,169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$1,265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434840"/>
            <a:ext cx="6035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Search tracking went live in May; display lines count submitted applications, the reach line counts view-through, and paid-social conversions are under validation.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delivered 5x the application volume of April on 2.6x the spend.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Blended cost per application fell from $2,315 in April to $1,169 in June and held near that level through a 53% spend increase, so the growth was bought at improving efficiency, not rising cost.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Search and programmatic carried the measured volume (181 submitted applications). Paid social contributed reach and site traffic while its conversion validation completes.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BLENDED OUTCOMES VS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gap to plan sits in the organic base, not paid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5 / 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88720"/>
                <a:gridCol w="1188720"/>
                <a:gridCol w="1097280"/>
              </a:tblGrid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 (organic + paid)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 Actual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 Budget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vs Plan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Live Apps Submitted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2,167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3,984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-46%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Approved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957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-37%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Funded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-56%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Traded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-44%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Actives (monthly avg)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-18%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Trading Volume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$4.3B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$6.7B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-36%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4348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Source: Budget vs Actual dashboard (non-cohort reforecast), GGMI, organic and paid blended. July excluded (full-month forecast).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Blended submissions ran about 45% under plan and declined through the half-year (1,029 in January to 684 in June) while paid-driven applications grew every month of Q3. The shortfall sits in the non-paid base, which the next two slides trace to organic search.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funded stage shows the second constraint: -56% to plan, the application-to-funded step the onboarding roadmap is built to fix.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Trading volume tracked the softer funnel at $4.3B against a $6.7B plan.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SITE TRAFFIC  ·  SIX-MONTH VIEW (GA4, MEXICO)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Traffic recovered in June. Media bought the recovery.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6 / 17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783080"/>
          <a:ext cx="6400800" cy="2606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THE HONEST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February was one paid flight, not organic growth; it ended in early March and is not a baseline. The March-May slide is organic search decline, confirmed in Search Console. June's rebound was bought: of the +3,485 sessions vs May, paid search added +2,601, paid social +537, display +274. Organic added +94.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Media is doing its job. June proves it can move traffic on demand.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Unique visitors are up 26% January to June, the legitimate bright spot in the half-year.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organic foundation needs its own workstream. Until it recovers, total site traffic will track media spend rather than compound on top of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ORGANIC SEARCH  ·  THE STRUCTURAL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Organic search fell 75% in six months. Media cannot buy it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7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6035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2A3A"/>
                </a:solidFill>
                <a:latin typeface="Arial"/>
              </a:rPr>
              <a:t>Organic Search sessions — GA4, Mexico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2011680"/>
          <a:ext cx="6035040" cy="2103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343400"/>
          <a:ext cx="603504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09728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Search Console (Mexico)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January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Organic clicks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4,811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1,210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-75%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Demo account page (position)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slid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Trading academy page (position)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slid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Homepage, brand (position)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2.5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improved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858000" y="173736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WHAT IS DRIVING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240280"/>
            <a:ext cx="448055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Dated news and analysis content lost 87-99% of its clicks as it aged out with nothing replacing it, and mid-funnel commercial pages slid in rank while brand improved. The decline spans every country the Spanish site serves: a site-level content issue, confirmed independently in site analytics.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416052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0" y="416052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434340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663440"/>
            <a:ext cx="448055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Open a dedicated SEO workstream: restore the news and analysis publishing cadence, refresh the decayed assets, and run a mid-funnel rank-recovery plan (demo, academy, platform pages), measured on organic clicks and positions. Until it lands, paid media works harder each month just to hold total traffic flat.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CROSS-CHANNEL PRIORITIES +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Concentrate in-market. Finish the measurement. Start the SEO workstream.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17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Mexico-only search restriction, with roughly $12.6K per month at stake.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paid-social placement audit and exclusions before reinstating its conversion reporting.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SCALING &amp;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Hold the budget mix pending the measurement fixes, then revisit allocation with clean July attribution.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Search efficiency held at $513 and earns the first incremental dollar once spend is concentrated in Mexico.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Open the SEO workstream for the Spanish site and apply the programmatic blocklist with a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Complete the placement audit and pixel-event review, then reinstate paid-social conversions.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2A3A"/>
                </a:solidFill>
                <a:latin typeface="Arial"/>
              </a:rPr>
              <a:t>Concentrate spend on measurable, in-market delivery while the quality fixes land.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SUMMARY  ·  BLENDED VIEW (ORGANIC + PAID)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Paid momentum built through Q3 while the blended base softened.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2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•  June submitted applications came in at 684, down 7% MoM; the H1 peak was February (1,036).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New approved rose 7% to 209 and the approval rate recovered to 31%, the best since February.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New funded dipped 11% to 32 and the fund rate to 15%. The application-to-funding step is the funnel constraint.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New traded closed at 29; trading volume held at $1.1B.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Working media reached $120,393 in June (+53% MoM), the biggest month of 2026, while paid-driven applications grew every month of Q3.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566160" y="1828800"/>
          <a:ext cx="8129016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886968"/>
                <a:gridCol w="886968"/>
                <a:gridCol w="886968"/>
                <a:gridCol w="886968"/>
                <a:gridCol w="886968"/>
                <a:gridCol w="886968"/>
                <a:gridCol w="841248"/>
              </a:tblGrid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GGMI — blended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Feb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Working Media 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$42,424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$46,294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$78,790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$120,393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+53%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Submitted Applications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1,029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-7%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Approved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Approval Rate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+4pp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Funded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Fund Rate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Cost per Funded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$1,218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$2,189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$3,762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+72%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Traded Clients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-19%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Cost per Traded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$1,323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$2,189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$4,151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Trading Volume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$5.1B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$2.5B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$2.3B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$2.1B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$1.1B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$1.1B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6616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Funnel metrics are blended organic + paid. Working media per the monthly performance reporting, under our reporting from March 2026. MoM = June vs May.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