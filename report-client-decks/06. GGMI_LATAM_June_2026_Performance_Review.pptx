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852160"/>
            <a:ext cx="12191695" cy="1005840"/>
          </a:xfrm>
          <a:prstGeom prst="rect">
            <a:avLst/>
          </a:prstGeom>
          <a:solidFill>
            <a:srgbClr val="1A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011680"/>
            <a:ext cx="91440" cy="2286000"/>
          </a:xfrm>
          <a:prstGeom prst="rect">
            <a:avLst/>
          </a:prstGeom>
          <a:solidFill>
            <a:srgbClr val="3B59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1_fd6b9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57200"/>
            <a:ext cx="2286000" cy="64922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20116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3B5998"/>
                </a:solidFill>
                <a:latin typeface="Arial"/>
              </a:rPr>
              <a:t>MONTHLY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46888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1A2A3A"/>
                </a:solidFill>
                <a:latin typeface="Arial"/>
              </a:rPr>
              <a:t>GGMI (LATAM) — Paid Media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47472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0">
                <a:solidFill>
                  <a:srgbClr val="1A2A3A"/>
                </a:solidFill>
                <a:latin typeface="Arial"/>
              </a:rPr>
              <a:t>June 2026 Performance Review  ·  Q3 FY2026 in Review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11480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A5A5A"/>
                </a:solidFill>
                <a:latin typeface="Arial"/>
              </a:rPr>
              <a:t>Bing Ads · Meta · Azerion · Quantcast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08076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Arial"/>
              </a:rPr>
              <a:t>Reporting period: June 1–30, 2026   |   Currency: USD   |   Prepared by Berelvant · 07.16.2026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1A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rial"/>
              </a:rPr>
              <a:t>FOREX.com  |  GGMI (LATAM)  ·  June 2026</a:t>
            </a:r>
          </a:p>
        </p:txBody>
      </p:sp>
      <p:pic>
        <p:nvPicPr>
          <p:cNvPr id="4" name="Picture 3" descr="logo_1_fd6b9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55680" y="100584"/>
            <a:ext cx="896112" cy="2560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6692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3B5998"/>
                </a:solidFill>
                <a:latin typeface="Arial"/>
              </a:rPr>
              <a:t>EXECUTIVE SUMMARY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471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1A2A3A"/>
                </a:solidFill>
                <a:latin typeface="Arial"/>
              </a:rPr>
              <a:t>The biggest media month of 2026. Efficiency held where we can measure 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611112"/>
            <a:ext cx="5486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78828C"/>
                </a:solidFill>
                <a:latin typeface="Arial"/>
              </a:rPr>
              <a:t>Monthly Performance Review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611112"/>
            <a:ext cx="8229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78828C"/>
                </a:solidFill>
                <a:latin typeface="Arial"/>
              </a:rPr>
              <a:t>2 / 16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1737360"/>
          <a:ext cx="6784848" cy="18288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30552"/>
                <a:gridCol w="969264"/>
                <a:gridCol w="969264"/>
                <a:gridCol w="969264"/>
                <a:gridCol w="777240"/>
                <a:gridCol w="969264"/>
              </a:tblGrid>
              <a:tr h="30480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54864" marR="54864" marT="27432" marB="27432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Spend</a:t>
                      </a:r>
                    </a:p>
                  </a:txBody>
                  <a:tcPr marL="54864" marR="54864" marT="27432" marB="27432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Impr</a:t>
                      </a:r>
                    </a:p>
                  </a:txBody>
                  <a:tcPr marL="54864" marR="54864" marT="27432" marB="27432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Clicks</a:t>
                      </a:r>
                    </a:p>
                  </a:txBody>
                  <a:tcPr marL="54864" marR="54864" marT="27432" marB="27432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Conv</a:t>
                      </a:r>
                    </a:p>
                  </a:txBody>
                  <a:tcPr marL="54864" marR="54864" marT="27432" marB="27432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CPA</a:t>
                      </a:r>
                    </a:p>
                  </a:txBody>
                  <a:tcPr marL="54864" marR="54864" marT="27432" marB="27432">
                    <a:solidFill>
                      <a:srgbClr val="3B5998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Bing Ads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$25,659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466,582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21,480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$513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Meta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$25,924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19.78M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407,136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Held*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Azerion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$35,026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7.68M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9,910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$834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Quantcast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$33,784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41.96M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11,284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11 VT*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$120,393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69.9M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449,810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57200" y="3675887"/>
            <a:ext cx="67665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>
                <a:solidFill>
                  <a:srgbClr val="5A5A5A"/>
                </a:solidFill>
                <a:latin typeface="Arial"/>
              </a:rPr>
              <a:t>* Paid-social conversions are held pending a placement audit. Programmatic view-through is directional only. Conversions use different events per channel and are never summed.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06640" y="1737360"/>
            <a:ext cx="4297680" cy="219456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406640" y="1737360"/>
            <a:ext cx="4297680" cy="91440"/>
          </a:xfrm>
          <a:prstGeom prst="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89519" y="1920240"/>
            <a:ext cx="3931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7AE60"/>
                </a:solidFill>
                <a:latin typeface="Arial"/>
              </a:rPr>
              <a:t>HEADLINES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89519" y="2240280"/>
            <a:ext cx="3931920" cy="1508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2373E"/>
                </a:solidFill>
                <a:latin typeface="Arial"/>
              </a:rPr>
              <a:t>June was the biggest GGMI media month of 2026: $120,393 across four channels, up 53% from May. Search produced 50 submitted applications at a $513 CPA, up from 33 in May, and Azerion held efficiency with 42 applications through a 20% budget increase.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4206240"/>
            <a:ext cx="6766560" cy="219456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7200" y="4206240"/>
            <a:ext cx="6766560" cy="91440"/>
          </a:xfrm>
          <a:prstGeom prst="rect">
            <a:avLst/>
          </a:prstGeom>
          <a:solidFill>
            <a:srgbClr val="3B59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438912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B5998"/>
                </a:solidFill>
                <a:latin typeface="Arial"/>
              </a:rPr>
              <a:t>WHAT THE DATA SAYS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4709159"/>
            <a:ext cx="6400800" cy="1508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2373E"/>
                </a:solidFill>
                <a:latin typeface="Arial"/>
              </a:rPr>
              <a:t>Site traffic recovered with the spend: 9,236 Mexico sessions, up 61% from May, and 5,838 unique visitors, up 125%. The recovery is real but bought. Media drove essentially all of the June gain while organic search sat at its low.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32373E"/>
                </a:solidFill>
                <a:latin typeface="Arial"/>
              </a:rPr>
              <a:t>We are approximately 31% into the annual GGMI budget, so H2 has room to scale once the quality fixes land.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406640" y="4206240"/>
            <a:ext cx="4297680" cy="219456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406640" y="4206240"/>
            <a:ext cx="4297680" cy="91440"/>
          </a:xfrm>
          <a:prstGeom prst="rect">
            <a:avLst/>
          </a:prstGeom>
          <a:solidFill>
            <a:srgbClr val="E74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589519" y="4389120"/>
            <a:ext cx="3931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E74C3C"/>
                </a:solidFill>
                <a:latin typeface="Arial"/>
              </a:rPr>
              <a:t>JUNE PRIORITY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89519" y="4709159"/>
            <a:ext cx="3931920" cy="1508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2373E"/>
                </a:solidFill>
                <a:latin typeface="Arial"/>
              </a:rPr>
              <a:t>Concentrate search spend in Mexico (49% served out-of-market in June), audit paid-social placements before reinstating its conversion reporting, and open the SEO workstream for the organic decline.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1A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rial"/>
              </a:rPr>
              <a:t>FOREX.com  |  GGMI (LATAM)  ·  June 2026</a:t>
            </a:r>
          </a:p>
        </p:txBody>
      </p:sp>
      <p:pic>
        <p:nvPicPr>
          <p:cNvPr id="4" name="Picture 3" descr="logo_1_fd6b9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55680" y="100584"/>
            <a:ext cx="896112" cy="2560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6692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3B5998"/>
                </a:solidFill>
                <a:latin typeface="Arial"/>
              </a:rPr>
              <a:t>CONT' EXECUTIVE SUMMARY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471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1A2A3A"/>
                </a:solidFill>
                <a:latin typeface="Arial"/>
              </a:rPr>
              <a:t>Three findings shape the July plan.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611112"/>
            <a:ext cx="5486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78828C"/>
                </a:solidFill>
                <a:latin typeface="Arial"/>
              </a:rPr>
              <a:t>Monthly Performance Review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611112"/>
            <a:ext cx="8229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78828C"/>
                </a:solidFill>
                <a:latin typeface="Arial"/>
              </a:rPr>
              <a:t>3 / 16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737360"/>
            <a:ext cx="5577840" cy="466344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1737360"/>
            <a:ext cx="5577840" cy="91440"/>
          </a:xfrm>
          <a:prstGeom prst="rect">
            <a:avLst/>
          </a:prstGeom>
          <a:solidFill>
            <a:srgbClr val="3B59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1920240"/>
            <a:ext cx="52120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B5998"/>
                </a:solidFill>
                <a:latin typeface="Arial"/>
              </a:rPr>
              <a:t>WHAT IS STILL FORMING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240280"/>
            <a:ext cx="5212079" cy="39776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2373E"/>
                </a:solidFill>
                <a:latin typeface="Arial"/>
              </a:rPr>
              <a:t>The June traffic recovery was bought by media. Organic search has fallen 75% since January, confirmed independently in Search Console, for identifiable SEO reasons. No media budget fixes this, and it is why total site traffic feels flat while investment grows.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32373E"/>
                </a:solidFill>
                <a:latin typeface="Arial"/>
              </a:rPr>
              <a:t>Meta scaled spend 291% and delivery stayed cheap, but click quality dropped sharply as it scaled. Its conversion reporting stays on hold until the placement audit completes.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32373E"/>
                </a:solidFill>
                <a:latin typeface="Arial"/>
              </a:rPr>
              <a:t>49% of June search spend served users outside Mexico. The fix is defined and partially applied; completing it is the top efficiency lever in the account.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09360" y="1737360"/>
            <a:ext cx="5394960" cy="466344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09360" y="1737360"/>
            <a:ext cx="5394960" cy="91440"/>
          </a:xfrm>
          <a:prstGeom prst="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1920240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7AE60"/>
                </a:solidFill>
                <a:latin typeface="Arial"/>
              </a:rPr>
              <a:t>WHAT WE RECOMMEND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2240280"/>
            <a:ext cx="5029200" cy="39776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2373E"/>
                </a:solidFill>
                <a:latin typeface="Arial"/>
              </a:rPr>
              <a:t>Complete the Mexico-only restriction on search. Roughly $12.6K per month is at stake and the June 3 exclusion is already working.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32373E"/>
                </a:solidFill>
                <a:latin typeface="Arial"/>
              </a:rPr>
              <a:t>Run the placement-level audit and exclusions on paid social before scaling it further, and judge the channel on measured site sessions until validation completes.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32373E"/>
                </a:solidFill>
                <a:latin typeface="Arial"/>
              </a:rPr>
              <a:t>Open a dedicated SEO workstream for the Spanish site. It is the structural fix for traffic that tracks media spend instead of compounding on top of it.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32373E"/>
                </a:solidFill>
                <a:latin typeface="Arial"/>
              </a:rPr>
              <a:t>Apply the 49-site programmatic blocklist and set a campaign-level viewability floor.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1A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rial"/>
              </a:rPr>
              <a:t>FOREX.com  |  GGMI (LATAM)  ·  June 2026</a:t>
            </a:r>
          </a:p>
        </p:txBody>
      </p:sp>
      <p:pic>
        <p:nvPicPr>
          <p:cNvPr id="4" name="Picture 3" descr="logo_1_fd6b9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55680" y="100584"/>
            <a:ext cx="896112" cy="2560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6692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3B5998"/>
                </a:solidFill>
                <a:latin typeface="Arial"/>
              </a:rPr>
              <a:t>BING ADS  ·  PERFORMANCE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471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1A2A3A"/>
                </a:solidFill>
                <a:latin typeface="Arial"/>
              </a:rPr>
              <a:t>50 submitted applications at $513. Efficiency held through a 61% scale-up.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611112"/>
            <a:ext cx="5486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78828C"/>
                </a:solidFill>
                <a:latin typeface="Arial"/>
              </a:rPr>
              <a:t>Monthly Performance Review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611112"/>
            <a:ext cx="8229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78828C"/>
                </a:solidFill>
                <a:latin typeface="Arial"/>
              </a:rPr>
              <a:t>4 / 16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737360"/>
            <a:ext cx="1737360" cy="100584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1737360"/>
            <a:ext cx="91440" cy="1005840"/>
          </a:xfrm>
          <a:prstGeom prst="rect">
            <a:avLst/>
          </a:prstGeom>
          <a:solidFill>
            <a:srgbClr val="3B59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1783080"/>
            <a:ext cx="14630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78828C"/>
                </a:solidFill>
                <a:latin typeface="Arial"/>
              </a:rPr>
              <a:t>SPEND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029967"/>
            <a:ext cx="1463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2A3A"/>
                </a:solidFill>
                <a:latin typeface="Arial"/>
              </a:rPr>
              <a:t>$25,659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487168"/>
            <a:ext cx="14630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5A5A"/>
                </a:solidFill>
                <a:latin typeface="Arial"/>
              </a:rPr>
              <a:t>+61% MoM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86000" y="1737360"/>
            <a:ext cx="1737360" cy="100584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286000" y="1737360"/>
            <a:ext cx="91440" cy="1005840"/>
          </a:xfrm>
          <a:prstGeom prst="rect">
            <a:avLst/>
          </a:prstGeom>
          <a:solidFill>
            <a:srgbClr val="3B59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468880" y="1783080"/>
            <a:ext cx="14630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78828C"/>
                </a:solidFill>
                <a:latin typeface="Arial"/>
              </a:rPr>
              <a:t>IMPRESSIONS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68880" y="2029967"/>
            <a:ext cx="1463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2A3A"/>
                </a:solidFill>
                <a:latin typeface="Arial"/>
              </a:rPr>
              <a:t>466,582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68880" y="2487168"/>
            <a:ext cx="14630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5A5A"/>
                </a:solidFill>
                <a:latin typeface="Arial"/>
              </a:rPr>
              <a:t>3 campaigns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0" y="1737360"/>
            <a:ext cx="1737360" cy="100584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114800" y="1737360"/>
            <a:ext cx="91440" cy="1005840"/>
          </a:xfrm>
          <a:prstGeom prst="rect">
            <a:avLst/>
          </a:prstGeom>
          <a:solidFill>
            <a:srgbClr val="3B59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97680" y="1783080"/>
            <a:ext cx="14630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78828C"/>
                </a:solidFill>
                <a:latin typeface="Arial"/>
              </a:rPr>
              <a:t>CLICKS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97680" y="2029967"/>
            <a:ext cx="1463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2A3A"/>
                </a:solidFill>
                <a:latin typeface="Arial"/>
              </a:rPr>
              <a:t>21,480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80" y="2487168"/>
            <a:ext cx="14630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5A5A"/>
                </a:solidFill>
                <a:latin typeface="Arial"/>
              </a:rPr>
              <a:t>CTR 4.60%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943600" y="1737360"/>
            <a:ext cx="1737360" cy="100584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943600" y="1737360"/>
            <a:ext cx="91440" cy="1005840"/>
          </a:xfrm>
          <a:prstGeom prst="rect">
            <a:avLst/>
          </a:prstGeom>
          <a:solidFill>
            <a:srgbClr val="3B59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26480" y="1783080"/>
            <a:ext cx="14630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78828C"/>
                </a:solidFill>
                <a:latin typeface="Arial"/>
              </a:rPr>
              <a:t>AVG CPC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26480" y="2029967"/>
            <a:ext cx="1463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2A3A"/>
                </a:solidFill>
                <a:latin typeface="Arial"/>
              </a:rPr>
              <a:t>$1.19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26480" y="2487168"/>
            <a:ext cx="14630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5A5A"/>
                </a:solidFill>
                <a:latin typeface="Arial"/>
              </a:rPr>
              <a:t>May: $0.53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772400" y="1737360"/>
            <a:ext cx="1737360" cy="100584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772400" y="1737360"/>
            <a:ext cx="91440" cy="1005840"/>
          </a:xfrm>
          <a:prstGeom prst="rect">
            <a:avLst/>
          </a:prstGeom>
          <a:solidFill>
            <a:srgbClr val="3B59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955279" y="1783080"/>
            <a:ext cx="14630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78828C"/>
                </a:solidFill>
                <a:latin typeface="Arial"/>
              </a:rPr>
              <a:t>SUBMITTED APPS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55279" y="2029967"/>
            <a:ext cx="1463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2A3A"/>
                </a:solidFill>
                <a:latin typeface="Arial"/>
              </a:rPr>
              <a:t>50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955279" y="2487168"/>
            <a:ext cx="14630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5A5A"/>
                </a:solidFill>
                <a:latin typeface="Arial"/>
              </a:rPr>
              <a:t>May: 33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601200" y="1737360"/>
            <a:ext cx="1737360" cy="100584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601200" y="1737360"/>
            <a:ext cx="91440" cy="1005840"/>
          </a:xfrm>
          <a:prstGeom prst="rect">
            <a:avLst/>
          </a:prstGeom>
          <a:solidFill>
            <a:srgbClr val="3B59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784080" y="1783080"/>
            <a:ext cx="14630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78828C"/>
                </a:solidFill>
                <a:latin typeface="Arial"/>
              </a:rPr>
              <a:t>CPA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784080" y="2029967"/>
            <a:ext cx="1463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2A3A"/>
                </a:solidFill>
                <a:latin typeface="Arial"/>
              </a:rPr>
              <a:t>$513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784080" y="2487168"/>
            <a:ext cx="14630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5A5A"/>
                </a:solidFill>
                <a:latin typeface="Arial"/>
              </a:rPr>
              <a:t>May: $484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" y="306324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1A2A3A"/>
                </a:solidFill>
                <a:latin typeface="Arial"/>
              </a:rPr>
              <a:t>Campaigns</a:t>
            </a:r>
          </a:p>
        </p:txBody>
      </p:sp>
      <p:graphicFrame>
        <p:nvGraphicFramePr>
          <p:cNvPr id="41" name="Table 40"/>
          <p:cNvGraphicFramePr>
            <a:graphicFrameLocks noGrp="1"/>
          </p:cNvGraphicFramePr>
          <p:nvPr/>
        </p:nvGraphicFramePr>
        <p:xfrm>
          <a:off x="457200" y="3337560"/>
          <a:ext cx="6949440" cy="12801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743200"/>
                <a:gridCol w="1097280"/>
                <a:gridCol w="1097280"/>
                <a:gridCol w="914400"/>
                <a:gridCol w="1097280"/>
              </a:tblGrid>
              <a:tr h="32004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Campaign</a:t>
                      </a:r>
                    </a:p>
                  </a:txBody>
                  <a:tcPr marL="54864" marR="54864" marT="27432" marB="27432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Spend</a:t>
                      </a:r>
                    </a:p>
                  </a:txBody>
                  <a:tcPr marL="54864" marR="54864" marT="27432" marB="27432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Clicks</a:t>
                      </a:r>
                    </a:p>
                  </a:txBody>
                  <a:tcPr marL="54864" marR="54864" marT="27432" marB="27432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Apps</a:t>
                      </a:r>
                    </a:p>
                  </a:txBody>
                  <a:tcPr marL="54864" marR="54864" marT="27432" marB="27432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CPA</a:t>
                      </a:r>
                    </a:p>
                  </a:txBody>
                  <a:tcPr marL="54864" marR="54864" marT="27432" marB="27432">
                    <a:solidFill>
                      <a:srgbClr val="3B599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AO Generic (policy test)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$13,508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11,020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$500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Brand + Generic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$8,154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7,559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$906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Platform Intercept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$3,996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2,901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$285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2" name="Rectangle 41"/>
          <p:cNvSpPr/>
          <p:nvPr/>
        </p:nvSpPr>
        <p:spPr>
          <a:xfrm>
            <a:off x="7680960" y="3063240"/>
            <a:ext cx="4023360" cy="324612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680960" y="3063240"/>
            <a:ext cx="4023360" cy="91440"/>
          </a:xfrm>
          <a:prstGeom prst="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863840" y="32461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7AE60"/>
                </a:solidFill>
                <a:latin typeface="Arial"/>
              </a:rPr>
              <a:t>HIGHLIGHTS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863840" y="3566160"/>
            <a:ext cx="3657600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2373E"/>
                </a:solidFill>
                <a:latin typeface="Arial"/>
              </a:rPr>
              <a:t>Conversions rose 52% (33 to 50) while spend rose 61%, so the CPA moved only $484 to $513 through the scale-up.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32373E"/>
                </a:solidFill>
                <a:latin typeface="Arial"/>
              </a:rPr>
              <a:t>The account expanded from 1 campaign to 3. Platform Intercept is the efficiency leader at a $285 CPA.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32373E"/>
                </a:solidFill>
                <a:latin typeface="Arial"/>
              </a:rPr>
              <a:t>CPC rose $0.53 to $1.19 with the shift into the new campaign themes.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57200" y="4800600"/>
            <a:ext cx="69494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2373E"/>
                </a:solidFill>
                <a:latin typeface="Arial"/>
              </a:rPr>
              <a:t>51% of June spend served Mexico. The remaining 49% ($12,637) served out-of-market users. The June 3 exclusion is already working, and completing the Mexico-only restriction is optimization #1 for July.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1A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rial"/>
              </a:rPr>
              <a:t>FOREX.com  |  GGMI (LATAM)  ·  June 2026</a:t>
            </a:r>
          </a:p>
        </p:txBody>
      </p:sp>
      <p:pic>
        <p:nvPicPr>
          <p:cNvPr id="4" name="Picture 3" descr="logo_1_fd6b9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55680" y="100584"/>
            <a:ext cx="896112" cy="2560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6692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3B5998"/>
                </a:solidFill>
                <a:latin typeface="Arial"/>
              </a:rPr>
              <a:t>BING ADS  ·  READ &amp; RECOMMENDATIONS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471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1A2A3A"/>
                </a:solidFill>
                <a:latin typeface="Arial"/>
              </a:rPr>
              <a:t>Concentrate every search dollar in Mexico.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611112"/>
            <a:ext cx="5486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78828C"/>
                </a:solidFill>
                <a:latin typeface="Arial"/>
              </a:rPr>
              <a:t>Monthly Performance Review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611112"/>
            <a:ext cx="8229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78828C"/>
                </a:solidFill>
                <a:latin typeface="Arial"/>
              </a:rPr>
              <a:t>5 / 16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737360"/>
            <a:ext cx="5577840" cy="466344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1737360"/>
            <a:ext cx="5577840" cy="91440"/>
          </a:xfrm>
          <a:prstGeom prst="rect">
            <a:avLst/>
          </a:prstGeom>
          <a:solidFill>
            <a:srgbClr val="3B59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1920240"/>
            <a:ext cx="52120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B5998"/>
                </a:solidFill>
                <a:latin typeface="Arial"/>
              </a:rPr>
              <a:t>WHAT THE DATA SHOWS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240280"/>
            <a:ext cx="5212079" cy="39776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2373E"/>
                </a:solidFill>
                <a:latin typeface="Arial"/>
              </a:rPr>
              <a:t>Search remains the most efficient measured converter in the account, and it held that efficiency while scaling 61%.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32373E"/>
                </a:solidFill>
                <a:latin typeface="Arial"/>
              </a:rPr>
              <a:t>Only 51% of June spend served Mexico. Out-of-market paid visitors outnumbered Mexican paid visitors on the site for most of H1, so concentrating that spend in-market should improve effective Mexico CPA immediately.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32373E"/>
                </a:solidFill>
                <a:latin typeface="Arial"/>
              </a:rPr>
              <a:t>The new campaign themes raised CPC ($0.53 to $1.19). Platform Intercept converts at $285, so the mix has room to rebalance toward what works.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09360" y="1737360"/>
            <a:ext cx="5394960" cy="466344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09360" y="1737360"/>
            <a:ext cx="5394960" cy="91440"/>
          </a:xfrm>
          <a:prstGeom prst="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1920240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7AE60"/>
                </a:solidFill>
                <a:latin typeface="Arial"/>
              </a:rPr>
              <a:t>WHAT WE RECOMMEND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2240280"/>
            <a:ext cx="5029200" cy="39776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2373E"/>
                </a:solidFill>
                <a:latin typeface="Arial"/>
              </a:rPr>
              <a:t>Complete the Mexico presence-only restriction. It is the top efficiency lever in the account at roughly $12.6K per month.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32373E"/>
                </a:solidFill>
                <a:latin typeface="Arial"/>
              </a:rPr>
              <a:t>Rebalance budget toward the proven converters, led by Platform Intercept at $285, while the newer themes prove out.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32373E"/>
                </a:solidFill>
                <a:latin typeface="Arial"/>
              </a:rPr>
              <a:t>Link the search account in GA4 so July reporting attributes paid search fully (detail on the measurement slide).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1A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rial"/>
              </a:rPr>
              <a:t>FOREX.com  |  GGMI (LATAM)  ·  June 2026</a:t>
            </a:r>
          </a:p>
        </p:txBody>
      </p:sp>
      <p:pic>
        <p:nvPicPr>
          <p:cNvPr id="4" name="Picture 3" descr="logo_1_fd6b9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55680" y="100584"/>
            <a:ext cx="896112" cy="2560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6692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3B5998"/>
                </a:solidFill>
                <a:latin typeface="Arial"/>
              </a:rPr>
              <a:t>META  ·  PERFORMANCE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471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1A2A3A"/>
                </a:solidFill>
                <a:latin typeface="Arial"/>
              </a:rPr>
              <a:t>Reach scaled 4x at low cost. Click quality is the June question.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611112"/>
            <a:ext cx="5486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78828C"/>
                </a:solidFill>
                <a:latin typeface="Arial"/>
              </a:rPr>
              <a:t>Monthly Performance Review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611112"/>
            <a:ext cx="8229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78828C"/>
                </a:solidFill>
                <a:latin typeface="Arial"/>
              </a:rPr>
              <a:t>6 / 16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737360"/>
            <a:ext cx="1737360" cy="100584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1737360"/>
            <a:ext cx="91440" cy="1005840"/>
          </a:xfrm>
          <a:prstGeom prst="rect">
            <a:avLst/>
          </a:prstGeom>
          <a:solidFill>
            <a:srgbClr val="3B59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1783080"/>
            <a:ext cx="14630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78828C"/>
                </a:solidFill>
                <a:latin typeface="Arial"/>
              </a:rPr>
              <a:t>SPEND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029967"/>
            <a:ext cx="1463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2A3A"/>
                </a:solidFill>
                <a:latin typeface="Arial"/>
              </a:rPr>
              <a:t>$25,924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487168"/>
            <a:ext cx="14630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5A5A"/>
                </a:solidFill>
                <a:latin typeface="Arial"/>
              </a:rPr>
              <a:t>+291% MoM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86000" y="1737360"/>
            <a:ext cx="1737360" cy="100584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286000" y="1737360"/>
            <a:ext cx="91440" cy="1005840"/>
          </a:xfrm>
          <a:prstGeom prst="rect">
            <a:avLst/>
          </a:prstGeom>
          <a:solidFill>
            <a:srgbClr val="3B59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468880" y="1783080"/>
            <a:ext cx="14630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78828C"/>
                </a:solidFill>
                <a:latin typeface="Arial"/>
              </a:rPr>
              <a:t>IMPRESSIONS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68880" y="2029967"/>
            <a:ext cx="1463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2A3A"/>
                </a:solidFill>
                <a:latin typeface="Arial"/>
              </a:rPr>
              <a:t>19.78M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68880" y="2487168"/>
            <a:ext cx="14630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5A5A"/>
                </a:solidFill>
                <a:latin typeface="Arial"/>
              </a:rPr>
              <a:t>100% Mexico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0" y="1737360"/>
            <a:ext cx="1737360" cy="100584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114800" y="1737360"/>
            <a:ext cx="91440" cy="1005840"/>
          </a:xfrm>
          <a:prstGeom prst="rect">
            <a:avLst/>
          </a:prstGeom>
          <a:solidFill>
            <a:srgbClr val="3B59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97680" y="1783080"/>
            <a:ext cx="14630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78828C"/>
                </a:solidFill>
                <a:latin typeface="Arial"/>
              </a:rPr>
              <a:t>LINK CLICKS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97680" y="2029967"/>
            <a:ext cx="1463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2A3A"/>
                </a:solidFill>
                <a:latin typeface="Arial"/>
              </a:rPr>
              <a:t>407,136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80" y="2487168"/>
            <a:ext cx="14630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5A5A"/>
                </a:solidFill>
                <a:latin typeface="Arial"/>
              </a:rPr>
              <a:t>CTR 2.06%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943600" y="1737360"/>
            <a:ext cx="1737360" cy="100584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943600" y="1737360"/>
            <a:ext cx="91440" cy="1005840"/>
          </a:xfrm>
          <a:prstGeom prst="rect">
            <a:avLst/>
          </a:prstGeom>
          <a:solidFill>
            <a:srgbClr val="3B59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26480" y="1783080"/>
            <a:ext cx="14630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78828C"/>
                </a:solidFill>
                <a:latin typeface="Arial"/>
              </a:rPr>
              <a:t>CPM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26480" y="2029967"/>
            <a:ext cx="1463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2A3A"/>
                </a:solidFill>
                <a:latin typeface="Arial"/>
              </a:rPr>
              <a:t>$1.31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26480" y="2487168"/>
            <a:ext cx="14630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5A5A"/>
                </a:solidFill>
                <a:latin typeface="Arial"/>
              </a:rPr>
              <a:t>May: $0.97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772400" y="1737360"/>
            <a:ext cx="1737360" cy="100584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772400" y="1737360"/>
            <a:ext cx="91440" cy="1005840"/>
          </a:xfrm>
          <a:prstGeom prst="rect">
            <a:avLst/>
          </a:prstGeom>
          <a:solidFill>
            <a:srgbClr val="3B59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955279" y="1783080"/>
            <a:ext cx="14630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78828C"/>
                </a:solidFill>
                <a:latin typeface="Arial"/>
              </a:rPr>
              <a:t>LP VIEWS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55279" y="2029967"/>
            <a:ext cx="1463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2A3A"/>
                </a:solidFill>
                <a:latin typeface="Arial"/>
              </a:rPr>
              <a:t>249,972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955279" y="2487168"/>
            <a:ext cx="14630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5A5A"/>
                </a:solidFill>
                <a:latin typeface="Arial"/>
              </a:rPr>
              <a:t>platform-reported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601200" y="1737360"/>
            <a:ext cx="1737360" cy="100584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601200" y="1737360"/>
            <a:ext cx="91440" cy="1005840"/>
          </a:xfrm>
          <a:prstGeom prst="rect">
            <a:avLst/>
          </a:prstGeom>
          <a:solidFill>
            <a:srgbClr val="3B59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784080" y="1783080"/>
            <a:ext cx="14630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78828C"/>
                </a:solidFill>
                <a:latin typeface="Arial"/>
              </a:rPr>
              <a:t>CONVERSIONS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784080" y="2029967"/>
            <a:ext cx="1463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2A3A"/>
                </a:solidFill>
                <a:latin typeface="Arial"/>
              </a:rPr>
              <a:t>Held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784080" y="2487168"/>
            <a:ext cx="14630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5A5A"/>
                </a:solidFill>
                <a:latin typeface="Arial"/>
              </a:rPr>
              <a:t>validation open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7200" y="3063240"/>
            <a:ext cx="5577840" cy="324612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57200" y="3063240"/>
            <a:ext cx="5577840" cy="91440"/>
          </a:xfrm>
          <a:prstGeom prst="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0080" y="3246120"/>
            <a:ext cx="52120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7AE60"/>
                </a:solidFill>
                <a:latin typeface="Arial"/>
              </a:rPr>
              <a:t>HIGHLIGHTS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" y="3566160"/>
            <a:ext cx="5212079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2373E"/>
                </a:solidFill>
                <a:latin typeface="Arial"/>
              </a:rPr>
              <a:t>Delivery scaled hard and stayed cheap: 19.8M impressions at a $1.31 CPM, all in Mexico, with the first month off a pure traffic objective.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32373E"/>
                </a:solidFill>
                <a:latin typeface="Arial"/>
              </a:rPr>
              <a:t>This account converted platform clicks into measured site visits at 15.7% in February. June ran at 0.19%. Same pixel, same site, same market. The difference is the inventory the June campaigns bought.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309360" y="3063240"/>
            <a:ext cx="5394960" cy="324612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309360" y="3063240"/>
            <a:ext cx="5394960" cy="91440"/>
          </a:xfrm>
          <a:prstGeom prst="rect">
            <a:avLst/>
          </a:prstGeom>
          <a:solidFill>
            <a:srgbClr val="E74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492240" y="3246120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E74C3C"/>
                </a:solidFill>
                <a:latin typeface="Arial"/>
              </a:rPr>
              <a:t>WHY CONVERSIONS ARE HELD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92240" y="3566160"/>
            <a:ext cx="5029200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2373E"/>
                </a:solidFill>
                <a:latin typeface="Arial"/>
              </a:rPr>
              <a:t>The platform reports 86 conversions for June. 67 of them come from one retargeting campaign with only 126 landing-page views, which is not a credible application rate.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32373E"/>
                </a:solidFill>
                <a:latin typeface="Arial"/>
              </a:rPr>
              <a:t>We are holding conversion reporting until the placement audit and pixel-event review complete. Delivery metrics (reach, clicks, CPM) are unaffected.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1A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rial"/>
              </a:rPr>
              <a:t>FOREX.com  |  GGMI (LATAM)  ·  June 2026</a:t>
            </a:r>
          </a:p>
        </p:txBody>
      </p:sp>
      <p:pic>
        <p:nvPicPr>
          <p:cNvPr id="4" name="Picture 3" descr="logo_1_fd6b9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55680" y="100584"/>
            <a:ext cx="896112" cy="2560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6692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3B5998"/>
                </a:solidFill>
                <a:latin typeface="Arial"/>
              </a:rPr>
              <a:t>META  ·  READ &amp; RECOMMENDATIONS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471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1A2A3A"/>
                </a:solidFill>
                <a:latin typeface="Arial"/>
              </a:rPr>
              <a:t>Audit the placements before judging the channel.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611112"/>
            <a:ext cx="5486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78828C"/>
                </a:solidFill>
                <a:latin typeface="Arial"/>
              </a:rPr>
              <a:t>Monthly Performance Review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611112"/>
            <a:ext cx="8229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78828C"/>
                </a:solidFill>
                <a:latin typeface="Arial"/>
              </a:rPr>
              <a:t>7 / 16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737360"/>
            <a:ext cx="5577840" cy="466344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1737360"/>
            <a:ext cx="5577840" cy="91440"/>
          </a:xfrm>
          <a:prstGeom prst="rect">
            <a:avLst/>
          </a:prstGeom>
          <a:solidFill>
            <a:srgbClr val="3B59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1920240"/>
            <a:ext cx="52120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B5998"/>
                </a:solidFill>
                <a:latin typeface="Arial"/>
              </a:rPr>
              <a:t>WHAT THE DATA SHOWS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240280"/>
            <a:ext cx="5212079" cy="39776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2373E"/>
                </a:solidFill>
                <a:latin typeface="Arial"/>
              </a:rPr>
              <a:t>June buying skewed to low-cost in-app inventory, and 63% of spend served users 55 and older in a market where the target skews younger.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32373E"/>
                </a:solidFill>
                <a:latin typeface="Arial"/>
              </a:rPr>
              <a:t>Platform-reported landing-page views exceed what any measurement system records on the site by an order of magnitude. The landing pages are confirmed tagged and tracking, so the February-vs-June capture comparison isolates inventory quality, not tracking, as the cause.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09360" y="1737360"/>
            <a:ext cx="5394960" cy="466344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09360" y="1737360"/>
            <a:ext cx="5394960" cy="91440"/>
          </a:xfrm>
          <a:prstGeom prst="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1920240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7AE60"/>
                </a:solidFill>
                <a:latin typeface="Arial"/>
              </a:rPr>
              <a:t>WHAT WE RECOMMEND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2240280"/>
            <a:ext cx="5029200" cy="39776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2373E"/>
                </a:solidFill>
                <a:latin typeface="Arial"/>
              </a:rPr>
              <a:t>Run the placement-level audit and apply exclusions. This is the highest-value action on this channel for July.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32373E"/>
                </a:solidFill>
                <a:latin typeface="Arial"/>
              </a:rPr>
              <a:t>Rebalance the 55+ age skew and complete the shift to a conversion objective.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32373E"/>
                </a:solidFill>
                <a:latin typeface="Arial"/>
              </a:rPr>
              <a:t>Judge the channel on measured site sessions until conversion validation completes, then reinstate conversion reporting.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1A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rial"/>
              </a:rPr>
              <a:t>FOREX.com  |  GGMI (LATAM)  ·  June 2026</a:t>
            </a:r>
          </a:p>
        </p:txBody>
      </p:sp>
      <p:pic>
        <p:nvPicPr>
          <p:cNvPr id="4" name="Picture 3" descr="logo_1_fd6b9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55680" y="100584"/>
            <a:ext cx="896112" cy="2560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6692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3B5998"/>
                </a:solidFill>
                <a:latin typeface="Arial"/>
              </a:rPr>
              <a:t>AZERION  ·  PERFORMANCE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471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1A2A3A"/>
                </a:solidFill>
                <a:latin typeface="Arial"/>
              </a:rPr>
              <a:t>42 submitted applications. Efficiency roughly held at higher volume.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611112"/>
            <a:ext cx="5486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78828C"/>
                </a:solidFill>
                <a:latin typeface="Arial"/>
              </a:rPr>
              <a:t>Monthly Performance Review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611112"/>
            <a:ext cx="8229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78828C"/>
                </a:solidFill>
                <a:latin typeface="Arial"/>
              </a:rPr>
              <a:t>8 / 16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737360"/>
            <a:ext cx="1737360" cy="100584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1737360"/>
            <a:ext cx="91440" cy="1005840"/>
          </a:xfrm>
          <a:prstGeom prst="rect">
            <a:avLst/>
          </a:prstGeom>
          <a:solidFill>
            <a:srgbClr val="3B59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1783080"/>
            <a:ext cx="14630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78828C"/>
                </a:solidFill>
                <a:latin typeface="Arial"/>
              </a:rPr>
              <a:t>SPEND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029967"/>
            <a:ext cx="1463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2A3A"/>
                </a:solidFill>
                <a:latin typeface="Arial"/>
              </a:rPr>
              <a:t>$35,026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487168"/>
            <a:ext cx="14630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5A5A"/>
                </a:solidFill>
                <a:latin typeface="Arial"/>
              </a:rPr>
              <a:t>+20% MoM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86000" y="1737360"/>
            <a:ext cx="1737360" cy="100584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286000" y="1737360"/>
            <a:ext cx="91440" cy="1005840"/>
          </a:xfrm>
          <a:prstGeom prst="rect">
            <a:avLst/>
          </a:prstGeom>
          <a:solidFill>
            <a:srgbClr val="3B59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468880" y="1783080"/>
            <a:ext cx="14630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78828C"/>
                </a:solidFill>
                <a:latin typeface="Arial"/>
              </a:rPr>
              <a:t>IMPRESSIONS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68880" y="2029967"/>
            <a:ext cx="1463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2A3A"/>
                </a:solidFill>
                <a:latin typeface="Arial"/>
              </a:rPr>
              <a:t>7.68M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68880" y="2487168"/>
            <a:ext cx="14630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5A5A"/>
                </a:solidFill>
                <a:latin typeface="Arial"/>
              </a:rPr>
              <a:t>2.18M devices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0" y="1737360"/>
            <a:ext cx="1737360" cy="100584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114800" y="1737360"/>
            <a:ext cx="91440" cy="1005840"/>
          </a:xfrm>
          <a:prstGeom prst="rect">
            <a:avLst/>
          </a:prstGeom>
          <a:solidFill>
            <a:srgbClr val="3B59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97680" y="1783080"/>
            <a:ext cx="14630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78828C"/>
                </a:solidFill>
                <a:latin typeface="Arial"/>
              </a:rPr>
              <a:t>CLICKS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97680" y="2029967"/>
            <a:ext cx="1463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2A3A"/>
                </a:solidFill>
                <a:latin typeface="Arial"/>
              </a:rPr>
              <a:t>9,910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80" y="2487168"/>
            <a:ext cx="14630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5A5A"/>
                </a:solidFill>
                <a:latin typeface="Arial"/>
              </a:rPr>
              <a:t>+57% MoM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943600" y="1737360"/>
            <a:ext cx="1737360" cy="100584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943600" y="1737360"/>
            <a:ext cx="91440" cy="1005840"/>
          </a:xfrm>
          <a:prstGeom prst="rect">
            <a:avLst/>
          </a:prstGeom>
          <a:solidFill>
            <a:srgbClr val="3B59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26480" y="1783080"/>
            <a:ext cx="14630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78828C"/>
                </a:solidFill>
                <a:latin typeface="Arial"/>
              </a:rPr>
              <a:t>STEP 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26480" y="2029967"/>
            <a:ext cx="1463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2A3A"/>
                </a:solidFill>
                <a:latin typeface="Arial"/>
              </a:rPr>
              <a:t>440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26480" y="2487168"/>
            <a:ext cx="14630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5A5A"/>
                </a:solidFill>
                <a:latin typeface="Arial"/>
              </a:rPr>
              <a:t>May: 225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772400" y="1737360"/>
            <a:ext cx="1737360" cy="100584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772400" y="1737360"/>
            <a:ext cx="91440" cy="1005840"/>
          </a:xfrm>
          <a:prstGeom prst="rect">
            <a:avLst/>
          </a:prstGeom>
          <a:solidFill>
            <a:srgbClr val="3B59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955279" y="1783080"/>
            <a:ext cx="14630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78828C"/>
                </a:solidFill>
                <a:latin typeface="Arial"/>
              </a:rPr>
              <a:t>APPLICATIONS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55279" y="2029967"/>
            <a:ext cx="1463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2A3A"/>
                </a:solidFill>
                <a:latin typeface="Arial"/>
              </a:rPr>
              <a:t>42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955279" y="2487168"/>
            <a:ext cx="14630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5A5A"/>
                </a:solidFill>
                <a:latin typeface="Arial"/>
              </a:rPr>
              <a:t>$834 CPA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601200" y="1737360"/>
            <a:ext cx="1737360" cy="100584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601200" y="1737360"/>
            <a:ext cx="91440" cy="1005840"/>
          </a:xfrm>
          <a:prstGeom prst="rect">
            <a:avLst/>
          </a:prstGeom>
          <a:solidFill>
            <a:srgbClr val="3B59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784080" y="1783080"/>
            <a:ext cx="14630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78828C"/>
                </a:solidFill>
                <a:latin typeface="Arial"/>
              </a:rPr>
              <a:t>VIEWABILITY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784080" y="2029967"/>
            <a:ext cx="1463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2A3A"/>
                </a:solidFill>
                <a:latin typeface="Arial"/>
              </a:rPr>
              <a:t>68.5%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784080" y="2487168"/>
            <a:ext cx="14630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5A5A"/>
                </a:solidFill>
                <a:latin typeface="Arial"/>
              </a:rPr>
              <a:t>70% standard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" y="306324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1A2A3A"/>
                </a:solidFill>
                <a:latin typeface="Arial"/>
              </a:rPr>
              <a:t>Ad Sets (Applications)</a:t>
            </a:r>
          </a:p>
        </p:txBody>
      </p:sp>
      <p:graphicFrame>
        <p:nvGraphicFramePr>
          <p:cNvPr id="41" name="Table 40"/>
          <p:cNvGraphicFramePr>
            <a:graphicFrameLocks noGrp="1"/>
          </p:cNvGraphicFramePr>
          <p:nvPr/>
        </p:nvGraphicFramePr>
        <p:xfrm>
          <a:off x="457200" y="3337560"/>
          <a:ext cx="5486400" cy="23774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560320"/>
                <a:gridCol w="1005840"/>
                <a:gridCol w="822960"/>
                <a:gridCol w="1097280"/>
              </a:tblGrid>
              <a:tr h="29718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Ad Set</a:t>
                      </a:r>
                    </a:p>
                  </a:txBody>
                  <a:tcPr marL="54864" marR="54864" marT="27432" marB="27432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Spend</a:t>
                      </a:r>
                    </a:p>
                  </a:txBody>
                  <a:tcPr marL="54864" marR="54864" marT="27432" marB="27432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Apps</a:t>
                      </a:r>
                    </a:p>
                  </a:txBody>
                  <a:tcPr marL="54864" marR="54864" marT="27432" marB="27432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CPA</a:t>
                      </a:r>
                    </a:p>
                  </a:txBody>
                  <a:tcPr marL="54864" marR="54864" marT="27432" marB="27432">
                    <a:solidFill>
                      <a:srgbClr val="3B5998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Experience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$9,118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$829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Global Market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$4,124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$412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TradeForex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$4,221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$603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Language Broker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$4,994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$713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Conversion_Instruments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$4,211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$1,053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Spanish Platform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$4,229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$1,410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Conversion_Commodities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$4,128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2" name="Rectangle 41"/>
          <p:cNvSpPr/>
          <p:nvPr/>
        </p:nvSpPr>
        <p:spPr>
          <a:xfrm>
            <a:off x="6217920" y="3063240"/>
            <a:ext cx="5486400" cy="324612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217920" y="3063240"/>
            <a:ext cx="5486400" cy="91440"/>
          </a:xfrm>
          <a:prstGeom prst="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400800" y="324612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7AE60"/>
                </a:solidFill>
                <a:latin typeface="Arial"/>
              </a:rPr>
              <a:t>HIGHLIGHTS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00800" y="3566160"/>
            <a:ext cx="5120640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2373E"/>
                </a:solidFill>
                <a:latin typeface="Arial"/>
              </a:rPr>
              <a:t>Applications rose 14% (37 to 42) on a 20% budget increase. The CPA moved $792 to $834, so efficiency roughly held at higher volume.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32373E"/>
                </a:solidFill>
                <a:latin typeface="Arial"/>
              </a:rPr>
              <a:t>Application starts nearly doubled (225 to 440), keeping the upper funnel active.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32373E"/>
                </a:solidFill>
                <a:latin typeface="Arial"/>
              </a:rPr>
              <a:t>Global Market converted at $412 and Experience carried the most volume. Conversion_Commodities spent $4,128 with no applications and is the first reallocation candidate.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1A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rial"/>
              </a:rPr>
              <a:t>FOREX.com  |  GGMI (LATAM)  ·  June 2026</a:t>
            </a:r>
          </a:p>
        </p:txBody>
      </p:sp>
      <p:pic>
        <p:nvPicPr>
          <p:cNvPr id="4" name="Picture 3" descr="logo_1_fd6b9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55680" y="100584"/>
            <a:ext cx="896112" cy="2560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6692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3B5998"/>
                </a:solidFill>
                <a:latin typeface="Arial"/>
              </a:rPr>
              <a:t>AZERION  ·  READ &amp; RECOMMENDATIONS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471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1A2A3A"/>
                </a:solidFill>
                <a:latin typeface="Arial"/>
              </a:rPr>
              <a:t>Hold the pace. Confirm the delivery detail.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611112"/>
            <a:ext cx="5486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78828C"/>
                </a:solidFill>
                <a:latin typeface="Arial"/>
              </a:rPr>
              <a:t>Monthly Performance Review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611112"/>
            <a:ext cx="8229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78828C"/>
                </a:solidFill>
                <a:latin typeface="Arial"/>
              </a:rPr>
              <a:t>9 / 16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737360"/>
            <a:ext cx="5577840" cy="466344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1737360"/>
            <a:ext cx="5577840" cy="91440"/>
          </a:xfrm>
          <a:prstGeom prst="rect">
            <a:avLst/>
          </a:prstGeom>
          <a:solidFill>
            <a:srgbClr val="3B59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1920240"/>
            <a:ext cx="52120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B5998"/>
                </a:solidFill>
                <a:latin typeface="Arial"/>
              </a:rPr>
              <a:t>WHAT THE DATA SHOWS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240280"/>
            <a:ext cx="5212079" cy="39776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2373E"/>
                </a:solidFill>
                <a:latin typeface="Arial"/>
              </a:rPr>
              <a:t>Second consecutive month of scaled application volume, with efficiency holding within 6% while budget grew 20%.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32373E"/>
                </a:solidFill>
                <a:latin typeface="Arial"/>
              </a:rPr>
              <a:t>Viewability is 68.5%, just under the 70% standard.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32373E"/>
                </a:solidFill>
                <a:latin typeface="Arial"/>
              </a:rPr>
              <a:t>We have asked the vendor for country-level delivery confirmation plus funnel, site, format, and creative breakdowns (requested early July; awaiting reply). Mexico-only delivery certification is pending that response.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09360" y="1737360"/>
            <a:ext cx="5394960" cy="466344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09360" y="1737360"/>
            <a:ext cx="5394960" cy="91440"/>
          </a:xfrm>
          <a:prstGeom prst="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1920240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7AE60"/>
                </a:solidFill>
                <a:latin typeface="Arial"/>
              </a:rPr>
              <a:t>WHAT WE RECOMMEND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2240280"/>
            <a:ext cx="5029200" cy="39776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2373E"/>
                </a:solidFill>
                <a:latin typeface="Arial"/>
              </a:rPr>
              <a:t>Hold the budget pace until the delivery breakdowns arrive.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32373E"/>
                </a:solidFill>
                <a:latin typeface="Arial"/>
              </a:rPr>
              <a:t>Concentrate budget on the converting ad sets, led by Global Market ($412) and Experience, and reallocate away from Conversion_Commodities ($4,128, zero applications).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32373E"/>
                </a:solidFill>
                <a:latin typeface="Arial"/>
              </a:rPr>
              <a:t>Push viewability over the 70% standard.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1A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rial"/>
              </a:rPr>
              <a:t>FOREX.com  |  GGMI (LATAM)  ·  June 2026</a:t>
            </a:r>
          </a:p>
        </p:txBody>
      </p:sp>
      <p:pic>
        <p:nvPicPr>
          <p:cNvPr id="4" name="Picture 3" descr="logo_1_fd6b9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55680" y="100584"/>
            <a:ext cx="896112" cy="2560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6692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3B5998"/>
                </a:solidFill>
                <a:latin typeface="Arial"/>
              </a:rPr>
              <a:t>QUANTCAST  ·  PERFORMANCE &amp; READ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471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1A2A3A"/>
                </a:solidFill>
                <a:latin typeface="Arial"/>
              </a:rPr>
              <a:t>A deliberate reach month. Cheap delivery, with a quality bill to manage.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611112"/>
            <a:ext cx="5486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78828C"/>
                </a:solidFill>
                <a:latin typeface="Arial"/>
              </a:rPr>
              <a:t>Monthly Performance Review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611112"/>
            <a:ext cx="8229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78828C"/>
                </a:solidFill>
                <a:latin typeface="Arial"/>
              </a:rPr>
              <a:t>10 / 16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737360"/>
            <a:ext cx="1737360" cy="100584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1737360"/>
            <a:ext cx="91440" cy="1005840"/>
          </a:xfrm>
          <a:prstGeom prst="rect">
            <a:avLst/>
          </a:prstGeom>
          <a:solidFill>
            <a:srgbClr val="3B59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1783080"/>
            <a:ext cx="14630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78828C"/>
                </a:solidFill>
                <a:latin typeface="Arial"/>
              </a:rPr>
              <a:t>SPEND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029967"/>
            <a:ext cx="1463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2A3A"/>
                </a:solidFill>
                <a:latin typeface="Arial"/>
              </a:rPr>
              <a:t>$33,784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487168"/>
            <a:ext cx="14630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5A5A"/>
                </a:solidFill>
                <a:latin typeface="Arial"/>
              </a:rPr>
              <a:t>+26% MoM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86000" y="1737360"/>
            <a:ext cx="1737360" cy="100584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286000" y="1737360"/>
            <a:ext cx="91440" cy="1005840"/>
          </a:xfrm>
          <a:prstGeom prst="rect">
            <a:avLst/>
          </a:prstGeom>
          <a:solidFill>
            <a:srgbClr val="3B59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468880" y="1783080"/>
            <a:ext cx="14630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78828C"/>
                </a:solidFill>
                <a:latin typeface="Arial"/>
              </a:rPr>
              <a:t>IMPRESSIONS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68880" y="2029967"/>
            <a:ext cx="1463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2A3A"/>
                </a:solidFill>
                <a:latin typeface="Arial"/>
              </a:rPr>
              <a:t>41.96M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68880" y="2487168"/>
            <a:ext cx="14630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5A5A"/>
                </a:solidFill>
                <a:latin typeface="Arial"/>
              </a:rPr>
              <a:t>+155% MoM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0" y="1737360"/>
            <a:ext cx="1737360" cy="100584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114800" y="1737360"/>
            <a:ext cx="91440" cy="1005840"/>
          </a:xfrm>
          <a:prstGeom prst="rect">
            <a:avLst/>
          </a:prstGeom>
          <a:solidFill>
            <a:srgbClr val="3B59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97680" y="1783080"/>
            <a:ext cx="14630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78828C"/>
                </a:solidFill>
                <a:latin typeface="Arial"/>
              </a:rPr>
              <a:t>CPM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97680" y="2029967"/>
            <a:ext cx="1463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2A3A"/>
                </a:solidFill>
                <a:latin typeface="Arial"/>
              </a:rPr>
              <a:t>$0.81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80" y="2487168"/>
            <a:ext cx="14630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5A5A"/>
                </a:solidFill>
                <a:latin typeface="Arial"/>
              </a:rPr>
              <a:t>May: $1.63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943600" y="1737360"/>
            <a:ext cx="1737360" cy="100584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943600" y="1737360"/>
            <a:ext cx="91440" cy="1005840"/>
          </a:xfrm>
          <a:prstGeom prst="rect">
            <a:avLst/>
          </a:prstGeom>
          <a:solidFill>
            <a:srgbClr val="3B59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26480" y="1783080"/>
            <a:ext cx="14630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78828C"/>
                </a:solidFill>
                <a:latin typeface="Arial"/>
              </a:rPr>
              <a:t>AVG CPC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26480" y="2029967"/>
            <a:ext cx="1463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2A3A"/>
                </a:solidFill>
                <a:latin typeface="Arial"/>
              </a:rPr>
              <a:t>$2.99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26480" y="2487168"/>
            <a:ext cx="14630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5A5A"/>
                </a:solidFill>
                <a:latin typeface="Arial"/>
              </a:rPr>
              <a:t>May: $5.59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772400" y="1737360"/>
            <a:ext cx="1737360" cy="100584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772400" y="1737360"/>
            <a:ext cx="91440" cy="1005840"/>
          </a:xfrm>
          <a:prstGeom prst="rect">
            <a:avLst/>
          </a:prstGeom>
          <a:solidFill>
            <a:srgbClr val="3B59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955279" y="1783080"/>
            <a:ext cx="14630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78828C"/>
                </a:solidFill>
                <a:latin typeface="Arial"/>
              </a:rPr>
              <a:t>VIEWABILITY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55279" y="2029967"/>
            <a:ext cx="1463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2A3A"/>
                </a:solidFill>
                <a:latin typeface="Arial"/>
              </a:rPr>
              <a:t>51.3%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955279" y="2487168"/>
            <a:ext cx="14630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5A5A"/>
                </a:solidFill>
                <a:latin typeface="Arial"/>
              </a:rPr>
              <a:t>May: 67.1%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601200" y="1737360"/>
            <a:ext cx="1737360" cy="100584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601200" y="1737360"/>
            <a:ext cx="91440" cy="1005840"/>
          </a:xfrm>
          <a:prstGeom prst="rect">
            <a:avLst/>
          </a:prstGeom>
          <a:solidFill>
            <a:srgbClr val="3B59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784080" y="1783080"/>
            <a:ext cx="14630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78828C"/>
                </a:solidFill>
                <a:latin typeface="Arial"/>
              </a:rPr>
              <a:t>CONVERSIONS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784080" y="2029967"/>
            <a:ext cx="1463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2A3A"/>
                </a:solidFill>
                <a:latin typeface="Arial"/>
              </a:rPr>
              <a:t>11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784080" y="2487168"/>
            <a:ext cx="14630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5A5A"/>
                </a:solidFill>
                <a:latin typeface="Arial"/>
              </a:rPr>
              <a:t>view-through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" y="306324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1A2A3A"/>
                </a:solidFill>
                <a:latin typeface="Arial"/>
              </a:rPr>
              <a:t>Month over Month</a:t>
            </a:r>
          </a:p>
        </p:txBody>
      </p:sp>
      <p:graphicFrame>
        <p:nvGraphicFramePr>
          <p:cNvPr id="41" name="Table 40"/>
          <p:cNvGraphicFramePr>
            <a:graphicFrameLocks noGrp="1"/>
          </p:cNvGraphicFramePr>
          <p:nvPr/>
        </p:nvGraphicFramePr>
        <p:xfrm>
          <a:off x="457200" y="3337560"/>
          <a:ext cx="5669280" cy="20116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28800"/>
                <a:gridCol w="1280160"/>
                <a:gridCol w="1280160"/>
                <a:gridCol w="1280160"/>
              </a:tblGrid>
              <a:tr h="33528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54864" marR="54864" marT="27432" marB="27432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June</a:t>
                      </a:r>
                    </a:p>
                  </a:txBody>
                  <a:tcPr marL="54864" marR="54864" marT="27432" marB="27432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May</a:t>
                      </a:r>
                    </a:p>
                  </a:txBody>
                  <a:tcPr marL="54864" marR="54864" marT="27432" marB="27432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54864" marR="54864" marT="27432" marB="27432">
                    <a:solidFill>
                      <a:srgbClr val="3B5998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Spend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$33,784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$26,890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+26%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Impressions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41.96M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16.48M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+155%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CPM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$0.81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$1.63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-50%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Viewability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51.3%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67.1%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-15.8pp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Conversions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11 VT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+10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2" name="Rectangle 41"/>
          <p:cNvSpPr/>
          <p:nvPr/>
        </p:nvSpPr>
        <p:spPr>
          <a:xfrm>
            <a:off x="6400800" y="3063240"/>
            <a:ext cx="5303520" cy="324612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400800" y="3063240"/>
            <a:ext cx="5303520" cy="91440"/>
          </a:xfrm>
          <a:prstGeom prst="rect">
            <a:avLst/>
          </a:prstGeom>
          <a:solidFill>
            <a:srgbClr val="3B59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583680" y="3246120"/>
            <a:ext cx="49377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B5998"/>
                </a:solidFill>
                <a:latin typeface="Arial"/>
              </a:rPr>
              <a:t>READ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583680" y="3566160"/>
            <a:ext cx="4937759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2373E"/>
                </a:solidFill>
                <a:latin typeface="Arial"/>
              </a:rPr>
              <a:t>We scaled reach on purpose: 42M impressions and 18.2M devices reached as CPM fell by half to $0.81.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32373E"/>
                </a:solidFill>
                <a:latin typeface="Arial"/>
              </a:rPr>
              <a:t>The cost of cheap reach is quality. Viewability fell to 51%, below the 70% standard. We delivered a 49-site blocklist covering 32% of June spend on this line and recommend a campaign-level viewability floor.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32373E"/>
                </a:solidFill>
                <a:latin typeface="Arial"/>
              </a:rPr>
              <a:t>All 11 June conversions are view-through. Treat them as directional support, not proven response.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1A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rial"/>
              </a:rPr>
              <a:t>FOREX.com  |  GGMI (LATAM)  ·  June 2026</a:t>
            </a:r>
          </a:p>
        </p:txBody>
      </p:sp>
      <p:pic>
        <p:nvPicPr>
          <p:cNvPr id="4" name="Picture 3" descr="logo_1_fd6b9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55680" y="100584"/>
            <a:ext cx="896112" cy="2560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6692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3B5998"/>
                </a:solidFill>
                <a:latin typeface="Arial"/>
              </a:rPr>
              <a:t>Q3 FY2026 IN REVIEW  ·  SPEND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471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1A2A3A"/>
                </a:solidFill>
                <a:latin typeface="Arial"/>
              </a:rPr>
              <a:t>The program scaled every month of the quarter.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611112"/>
            <a:ext cx="5486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78828C"/>
                </a:solidFill>
                <a:latin typeface="Arial"/>
              </a:rPr>
              <a:t>Monthly Performance Review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611112"/>
            <a:ext cx="8229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78828C"/>
                </a:solidFill>
                <a:latin typeface="Arial"/>
              </a:rPr>
              <a:t>11 / 16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1737360"/>
          <a:ext cx="6035040" cy="21945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737360"/>
                <a:gridCol w="1051560"/>
                <a:gridCol w="1051560"/>
                <a:gridCol w="1097280"/>
                <a:gridCol w="1097280"/>
              </a:tblGrid>
              <a:tr h="36576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54864" marR="54864" marT="27432" marB="27432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Apr</a:t>
                      </a:r>
                    </a:p>
                  </a:txBody>
                  <a:tcPr marL="54864" marR="54864" marT="27432" marB="27432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May</a:t>
                      </a:r>
                    </a:p>
                  </a:txBody>
                  <a:tcPr marL="54864" marR="54864" marT="27432" marB="27432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</a:t>
                      </a:r>
                    </a:p>
                  </a:txBody>
                  <a:tcPr marL="54864" marR="54864" marT="27432" marB="27432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Q3</a:t>
                      </a:r>
                    </a:p>
                  </a:txBody>
                  <a:tcPr marL="54864" marR="54864" marT="27432" marB="27432">
                    <a:solidFill>
                      <a:srgbClr val="3B599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Bing Ads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$15,289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$15,972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$25,659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$56,920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Meta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$5,224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$6,626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$25,924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$37,774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Quantcast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$15,005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$26,890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$33,784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$75,678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Azerion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$10,777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$29,302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$35,026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$75,105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$46,294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$78,790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$120,393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$245,477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57200" y="4114800"/>
            <a:ext cx="6035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2373E"/>
                </a:solidFill>
                <a:latin typeface="Arial"/>
              </a:rPr>
              <a:t>Month-over-month growth: +70% into May, +53% into June. June ran at 2.6x the April level.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0" y="1737360"/>
            <a:ext cx="4846320" cy="457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858000" y="1737360"/>
            <a:ext cx="4846320" cy="91440"/>
          </a:xfrm>
          <a:prstGeom prst="rect">
            <a:avLst/>
          </a:prstGeom>
          <a:solidFill>
            <a:srgbClr val="3B59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40880" y="1920240"/>
            <a:ext cx="44805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B5998"/>
                </a:solidFill>
                <a:latin typeface="Arial"/>
              </a:rPr>
              <a:t>READ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2240280"/>
            <a:ext cx="4480559" cy="3886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2373E"/>
                </a:solidFill>
                <a:latin typeface="Arial"/>
              </a:rPr>
              <a:t>Q3 closed at $245,477 in working media, approximately 24% of the FY2026 budget.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32373E"/>
                </a:solidFill>
                <a:latin typeface="Arial"/>
              </a:rPr>
              <a:t>The mix rebalanced as the program scaled. April leaned on search and display; June is a balanced four-channel program with no channel above 29% of spend.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32373E"/>
                </a:solidFill>
                <a:latin typeface="Arial"/>
              </a:rPr>
              <a:t>Every channel grew while holding or improving its efficiency where we can measure it, which is what earns the next stage of scale.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1A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rial"/>
              </a:rPr>
              <a:t>FOREX.com  |  GGMI (LATAM)  ·  June 2026</a:t>
            </a:r>
          </a:p>
        </p:txBody>
      </p:sp>
      <p:pic>
        <p:nvPicPr>
          <p:cNvPr id="4" name="Picture 3" descr="logo_1_fd6b9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55680" y="100584"/>
            <a:ext cx="896112" cy="2560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6692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3B5998"/>
                </a:solidFill>
                <a:latin typeface="Arial"/>
              </a:rPr>
              <a:t>Q3 FY2026 IN REVIEW  ·  APPLICATIONS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471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1A2A3A"/>
                </a:solidFill>
                <a:latin typeface="Arial"/>
              </a:rPr>
              <a:t>Application volume scaled with spend. Blended cost per application halved.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611112"/>
            <a:ext cx="5486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78828C"/>
                </a:solidFill>
                <a:latin typeface="Arial"/>
              </a:rPr>
              <a:t>Monthly Performance Review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611112"/>
            <a:ext cx="8229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78828C"/>
                </a:solidFill>
                <a:latin typeface="Arial"/>
              </a:rPr>
              <a:t>12 / 16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1737360"/>
          <a:ext cx="6035040" cy="24688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7440"/>
                <a:gridCol w="868680"/>
                <a:gridCol w="868680"/>
                <a:gridCol w="914400"/>
                <a:gridCol w="1005840"/>
              </a:tblGrid>
              <a:tr h="352697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54864" marR="54864" marT="27432" marB="27432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Apr</a:t>
                      </a:r>
                    </a:p>
                  </a:txBody>
                  <a:tcPr marL="54864" marR="54864" marT="27432" marB="27432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May</a:t>
                      </a:r>
                    </a:p>
                  </a:txBody>
                  <a:tcPr marL="54864" marR="54864" marT="27432" marB="27432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</a:t>
                      </a:r>
                    </a:p>
                  </a:txBody>
                  <a:tcPr marL="54864" marR="54864" marT="27432" marB="27432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Q3</a:t>
                      </a:r>
                    </a:p>
                  </a:txBody>
                  <a:tcPr marL="54864" marR="54864" marT="27432" marB="27432">
                    <a:solidFill>
                      <a:srgbClr val="3B5998"/>
                    </a:solidFill>
                  </a:tcPr>
                </a:tc>
              </a:tr>
              <a:tr h="352697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Bing Ads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52697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Azerion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</a:tr>
              <a:tr h="352697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Quantcast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52697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Meta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Held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</a:tr>
              <a:tr h="352697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Blended applications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194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52698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Blended cost / application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$2,315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$1,110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$1,169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$1,265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57200" y="4434840"/>
            <a:ext cx="6035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>
                <a:solidFill>
                  <a:srgbClr val="5A5A5A"/>
                </a:solidFill>
                <a:latin typeface="Arial"/>
              </a:rPr>
              <a:t>Search tracking went live in May; display lines count submitted applications, the reach line counts view-through, and paid-social conversions are under validation.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0" y="1737360"/>
            <a:ext cx="4846320" cy="457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858000" y="1737360"/>
            <a:ext cx="4846320" cy="91440"/>
          </a:xfrm>
          <a:prstGeom prst="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40880" y="1920240"/>
            <a:ext cx="44805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7AE60"/>
                </a:solidFill>
                <a:latin typeface="Arial"/>
              </a:rPr>
              <a:t>READ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2240280"/>
            <a:ext cx="4480559" cy="3886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2373E"/>
                </a:solidFill>
                <a:latin typeface="Arial"/>
              </a:rPr>
              <a:t>June delivered 5x the application volume of April on 2.6x the spend.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32373E"/>
                </a:solidFill>
                <a:latin typeface="Arial"/>
              </a:rPr>
              <a:t>Blended cost per application fell from $2,315 in April to $1,169 in June and held near that level through a 53% spend increase, so the growth was bought at improving efficiency, not rising cost.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32373E"/>
                </a:solidFill>
                <a:latin typeface="Arial"/>
              </a:rPr>
              <a:t>Search and programmatic carried the measured volume (181 submitted applications). Paid social contributed reach and site traffic while its conversion validation completes.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1A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rial"/>
              </a:rPr>
              <a:t>FOREX.com  |  GGMI (LATAM)  ·  June 2026</a:t>
            </a:r>
          </a:p>
        </p:txBody>
      </p:sp>
      <p:pic>
        <p:nvPicPr>
          <p:cNvPr id="4" name="Picture 3" descr="logo_1_fd6b9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55680" y="100584"/>
            <a:ext cx="896112" cy="2560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6692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3B5998"/>
                </a:solidFill>
                <a:latin typeface="Arial"/>
              </a:rPr>
              <a:t>Q3 FY2026 IN REVIEW  ·  BLENDED OUTCOMES VS 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471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1A2A3A"/>
                </a:solidFill>
                <a:latin typeface="Arial"/>
              </a:rPr>
              <a:t>The gap to plan sits in the organic base, not paid delivery.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611112"/>
            <a:ext cx="5486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78828C"/>
                </a:solidFill>
                <a:latin typeface="Arial"/>
              </a:rPr>
              <a:t>Monthly Performance Review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611112"/>
            <a:ext cx="8229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78828C"/>
                </a:solidFill>
                <a:latin typeface="Arial"/>
              </a:rPr>
              <a:t>13 / 16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1737360"/>
          <a:ext cx="6035040" cy="24688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560320"/>
                <a:gridCol w="1188720"/>
                <a:gridCol w="1188720"/>
                <a:gridCol w="1097280"/>
              </a:tblGrid>
              <a:tr h="352697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Metric (organic + paid)</a:t>
                      </a:r>
                    </a:p>
                  </a:txBody>
                  <a:tcPr marL="54864" marR="54864" marT="27432" marB="27432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Q3 Actual</a:t>
                      </a:r>
                    </a:p>
                  </a:txBody>
                  <a:tcPr marL="54864" marR="54864" marT="27432" marB="27432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Q3 Budget</a:t>
                      </a:r>
                    </a:p>
                  </a:txBody>
                  <a:tcPr marL="54864" marR="54864" marT="27432" marB="27432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vs Plan</a:t>
                      </a:r>
                    </a:p>
                  </a:txBody>
                  <a:tcPr marL="54864" marR="54864" marT="27432" marB="27432">
                    <a:solidFill>
                      <a:srgbClr val="3B5998"/>
                    </a:solidFill>
                  </a:tcPr>
                </a:tc>
              </a:tr>
              <a:tr h="352697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Live Apps Submitted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2,167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3,984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-46%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52697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New Approved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606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957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-37%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</a:tr>
              <a:tr h="352697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New Funded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106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240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-56%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52697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New Traded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180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-44%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</a:tr>
              <a:tr h="352697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Actives (monthly avg)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399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485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-18%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52698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Trading Volume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$4.3B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$6.7B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-36%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57200" y="4434840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>
                <a:solidFill>
                  <a:srgbClr val="5A5A5A"/>
                </a:solidFill>
                <a:latin typeface="Arial"/>
              </a:rPr>
              <a:t>Source: Budget vs Actual dashboard (non-cohort reforecast), GGMI, organic and paid blended. July excluded (full-month forecast).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0" y="1737360"/>
            <a:ext cx="4846320" cy="457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858000" y="1737360"/>
            <a:ext cx="4846320" cy="91440"/>
          </a:xfrm>
          <a:prstGeom prst="rect">
            <a:avLst/>
          </a:prstGeom>
          <a:solidFill>
            <a:srgbClr val="3B59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40880" y="1920240"/>
            <a:ext cx="44805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B5998"/>
                </a:solidFill>
                <a:latin typeface="Arial"/>
              </a:rPr>
              <a:t>READ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2240280"/>
            <a:ext cx="4480559" cy="3886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2373E"/>
                </a:solidFill>
                <a:latin typeface="Arial"/>
              </a:rPr>
              <a:t>Blended submissions ran about 45% under plan and declined through the half-year (1,029 in January to 684 in June) while paid-driven applications grew every month of Q3. The shortfall sits in the non-paid base, which the next two slides trace to organic search.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32373E"/>
                </a:solidFill>
                <a:latin typeface="Arial"/>
              </a:rPr>
              <a:t>The funded stage shows the second constraint: -56% to plan, the application-to-funded step the onboarding roadmap is built to fix.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32373E"/>
                </a:solidFill>
                <a:latin typeface="Arial"/>
              </a:rPr>
              <a:t>Trading volume tracked the softer funnel at $4.3B against a $6.7B plan.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1A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rial"/>
              </a:rPr>
              <a:t>FOREX.com  |  GGMI (LATAM)  ·  June 2026</a:t>
            </a:r>
          </a:p>
        </p:txBody>
      </p:sp>
      <p:pic>
        <p:nvPicPr>
          <p:cNvPr id="4" name="Picture 3" descr="logo_1_fd6b9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55680" y="100584"/>
            <a:ext cx="896112" cy="2560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6692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3B5998"/>
                </a:solidFill>
                <a:latin typeface="Arial"/>
              </a:rPr>
              <a:t>SITE TRAFFIC  ·  SIX-MONTH VIEW (GA4, MEXICO)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471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1A2A3A"/>
                </a:solidFill>
                <a:latin typeface="Arial"/>
              </a:rPr>
              <a:t>Traffic recovered in June. Media bought the recovery.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611112"/>
            <a:ext cx="5486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78828C"/>
                </a:solidFill>
                <a:latin typeface="Arial"/>
              </a:rPr>
              <a:t>Monthly Performance Review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611112"/>
            <a:ext cx="8229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78828C"/>
                </a:solidFill>
                <a:latin typeface="Arial"/>
              </a:rPr>
              <a:t>14 / 16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1737360"/>
          <a:ext cx="6784848" cy="11887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737360"/>
                <a:gridCol w="841248"/>
                <a:gridCol w="841248"/>
                <a:gridCol w="841248"/>
                <a:gridCol w="841248"/>
                <a:gridCol w="841248"/>
                <a:gridCol w="841248"/>
              </a:tblGrid>
              <a:tr h="39624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27432" marB="27432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Jan</a:t>
                      </a:r>
                    </a:p>
                  </a:txBody>
                  <a:tcPr marL="54864" marR="54864" marT="27432" marB="27432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Feb</a:t>
                      </a:r>
                    </a:p>
                  </a:txBody>
                  <a:tcPr marL="54864" marR="54864" marT="27432" marB="27432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Mar</a:t>
                      </a:r>
                    </a:p>
                  </a:txBody>
                  <a:tcPr marL="54864" marR="54864" marT="27432" marB="27432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Apr</a:t>
                      </a:r>
                    </a:p>
                  </a:txBody>
                  <a:tcPr marL="54864" marR="54864" marT="27432" marB="27432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May</a:t>
                      </a:r>
                    </a:p>
                  </a:txBody>
                  <a:tcPr marL="54864" marR="54864" marT="27432" marB="27432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</a:t>
                      </a:r>
                    </a:p>
                  </a:txBody>
                  <a:tcPr marL="54864" marR="54864" marT="27432" marB="27432">
                    <a:solidFill>
                      <a:srgbClr val="3B5998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Sessions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9,380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22,229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12,614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7,577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5,751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9,236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Unique visitors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4,651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14,172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6,554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3,366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2,592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5,838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457200" y="3200400"/>
            <a:ext cx="6766560" cy="310896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200400"/>
            <a:ext cx="6766560" cy="91440"/>
          </a:xfrm>
          <a:prstGeom prst="rect">
            <a:avLst/>
          </a:prstGeom>
          <a:solidFill>
            <a:srgbClr val="3B59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3832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B5998"/>
                </a:solidFill>
                <a:latin typeface="Arial"/>
              </a:rPr>
              <a:t>THE HONEST READ: THREE SEPARATE EVENTS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703320"/>
            <a:ext cx="6400800" cy="2423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2373E"/>
                </a:solidFill>
                <a:latin typeface="Arial"/>
              </a:rPr>
              <a:t>February's peak was a single paid flight, not organic growth. One campaign delivered 13,323 sessions that month and ended in early March. February is not a valid baseline.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32373E"/>
                </a:solidFill>
                <a:latin typeface="Arial"/>
              </a:rPr>
              <a:t>The March-May slide is an organic search decline, confirmed in Search Console: Mexico organic clicks fell 75% January to June. Brand rankings improved while dated content and mid-funnel pages lost ground, so this is a content issue, not a tracking artifact.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32373E"/>
                </a:solidFill>
                <a:latin typeface="Arial"/>
              </a:rPr>
              <a:t>June's rebound was bought. Of the +3,485 sessions vs May, paid search added +2,601, paid social +537, display +274. Organic added +94.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06640" y="1737360"/>
            <a:ext cx="4297680" cy="457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406640" y="1737360"/>
            <a:ext cx="4297680" cy="91440"/>
          </a:xfrm>
          <a:prstGeom prst="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89519" y="1920240"/>
            <a:ext cx="3931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7AE60"/>
                </a:solidFill>
                <a:latin typeface="Arial"/>
              </a:rPr>
              <a:t>WHAT IT MEANS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89519" y="2240280"/>
            <a:ext cx="3931920" cy="3886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2373E"/>
                </a:solidFill>
                <a:latin typeface="Arial"/>
              </a:rPr>
              <a:t>Media is doing its job. June proves it can move traffic on demand.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32373E"/>
                </a:solidFill>
                <a:latin typeface="Arial"/>
              </a:rPr>
              <a:t>Unique visitors are up 26% January to June, the legitimate bright spot in the half-year.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32373E"/>
                </a:solidFill>
                <a:latin typeface="Arial"/>
              </a:rPr>
              <a:t>The organic foundation needs its own workstream. Until it recovers, total site traffic will track media spend rather than compound on top of it.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1A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rial"/>
              </a:rPr>
              <a:t>FOREX.com  |  GGMI (LATAM)  ·  June 2026</a:t>
            </a:r>
          </a:p>
        </p:txBody>
      </p:sp>
      <p:pic>
        <p:nvPicPr>
          <p:cNvPr id="4" name="Picture 3" descr="logo_1_fd6b9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55680" y="100584"/>
            <a:ext cx="896112" cy="2560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6692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3B5998"/>
                </a:solidFill>
                <a:latin typeface="Arial"/>
              </a:rPr>
              <a:t>ORGANIC SEARCH  ·  THE STRUCTURAL ISSUE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471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1A2A3A"/>
                </a:solidFill>
                <a:latin typeface="Arial"/>
              </a:rPr>
              <a:t>Organic search fell 75% in six months. Media cannot buy it back.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611112"/>
            <a:ext cx="5486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78828C"/>
                </a:solidFill>
                <a:latin typeface="Arial"/>
              </a:rPr>
              <a:t>Monthly Performance Review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611112"/>
            <a:ext cx="8229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78828C"/>
                </a:solidFill>
                <a:latin typeface="Arial"/>
              </a:rPr>
              <a:t>15 / 16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1737360"/>
          <a:ext cx="6035040" cy="17373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743200"/>
                <a:gridCol w="1097280"/>
                <a:gridCol w="1097280"/>
                <a:gridCol w="1097280"/>
              </a:tblGrid>
              <a:tr h="347472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Search Console (Mexico)</a:t>
                      </a:r>
                    </a:p>
                  </a:txBody>
                  <a:tcPr marL="54864" marR="54864" marT="27432" marB="27432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January</a:t>
                      </a:r>
                    </a:p>
                  </a:txBody>
                  <a:tcPr marL="54864" marR="54864" marT="27432" marB="27432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June</a:t>
                      </a:r>
                    </a:p>
                  </a:txBody>
                  <a:tcPr marL="54864" marR="54864" marT="27432" marB="27432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Change</a:t>
                      </a:r>
                    </a:p>
                  </a:txBody>
                  <a:tcPr marL="54864" marR="54864" marT="27432" marB="27432">
                    <a:solidFill>
                      <a:srgbClr val="3B5998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Organic clicks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4,811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1,210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-75%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Demo account page (position)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slid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Trading academy page (position)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slid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Homepage, brand (position)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2.5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improved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457200" y="3749039"/>
            <a:ext cx="6035040" cy="256032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749039"/>
            <a:ext cx="6035040" cy="91440"/>
          </a:xfrm>
          <a:prstGeom prst="rect">
            <a:avLst/>
          </a:prstGeom>
          <a:solidFill>
            <a:srgbClr val="E74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931920"/>
            <a:ext cx="56692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E74C3C"/>
                </a:solidFill>
                <a:latin typeface="Arial"/>
              </a:rPr>
              <a:t>WHAT IS DRIVING 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251959"/>
            <a:ext cx="5669279" cy="1874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2373E"/>
                </a:solidFill>
                <a:latin typeface="Arial"/>
              </a:rPr>
              <a:t>Dated news and analysis content lost 87-99% of its clicks as it aged out, with nothing published to replace it.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32373E"/>
                </a:solidFill>
                <a:latin typeface="Arial"/>
              </a:rPr>
              <a:t>Mid-funnel commercial pages slid in rank while brand rankings improved, and the decline spans every country the Spanish site serves. This is a site-level content issue, not a tracking artifact: site analytics confirm the same decline independently.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0" y="1737360"/>
            <a:ext cx="4846320" cy="457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858000" y="1737360"/>
            <a:ext cx="4846320" cy="91440"/>
          </a:xfrm>
          <a:prstGeom prst="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40880" y="1920240"/>
            <a:ext cx="44805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7AE60"/>
                </a:solidFill>
                <a:latin typeface="Arial"/>
              </a:rPr>
              <a:t>WHAT WE RECOMMEND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40880" y="2240280"/>
            <a:ext cx="4480559" cy="3886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2373E"/>
                </a:solidFill>
                <a:latin typeface="Arial"/>
              </a:rPr>
              <a:t>Open a dedicated SEO workstream for the Spanish site.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32373E"/>
                </a:solidFill>
                <a:latin typeface="Arial"/>
              </a:rPr>
              <a:t>Restore the news and analysis publishing cadence and refresh the decayed assets that carried the traffic.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32373E"/>
                </a:solidFill>
                <a:latin typeface="Arial"/>
              </a:rPr>
              <a:t>Run a mid-funnel rank-recovery plan for the demo, academy, and platform pages, measured on organic clicks and positions.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32373E"/>
                </a:solidFill>
                <a:latin typeface="Arial"/>
              </a:rPr>
              <a:t>This is the structural fix for blended submissions running under plan: every month the organic base erodes, paid media has to work harder just to hold total traffic flat.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1A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rial"/>
              </a:rPr>
              <a:t>FOREX.com  |  GGMI (LATAM)  ·  June 2026</a:t>
            </a:r>
          </a:p>
        </p:txBody>
      </p:sp>
      <p:pic>
        <p:nvPicPr>
          <p:cNvPr id="4" name="Picture 3" descr="logo_1_fd6b9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55680" y="100584"/>
            <a:ext cx="896112" cy="2560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6692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3B5998"/>
                </a:solidFill>
                <a:latin typeface="Arial"/>
              </a:rPr>
              <a:t>CROSS-CHANNEL PRIORITIES + NEXT STEPS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471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1A2A3A"/>
                </a:solidFill>
                <a:latin typeface="Arial"/>
              </a:rPr>
              <a:t>Concentrate in-market. Finish the measurement. Start the SEO workstream.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611112"/>
            <a:ext cx="5486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78828C"/>
                </a:solidFill>
                <a:latin typeface="Arial"/>
              </a:rPr>
              <a:t>Monthly Performance Review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611112"/>
            <a:ext cx="8229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78828C"/>
                </a:solidFill>
                <a:latin typeface="Arial"/>
              </a:rPr>
              <a:t>16 / 16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737360"/>
            <a:ext cx="3657600" cy="402336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1737360"/>
            <a:ext cx="3657600" cy="91440"/>
          </a:xfrm>
          <a:prstGeom prst="rect">
            <a:avLst/>
          </a:prstGeom>
          <a:solidFill>
            <a:srgbClr val="E74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1920240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E74C3C"/>
                </a:solidFill>
                <a:latin typeface="Arial"/>
              </a:rPr>
              <a:t>PRIORITY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240280"/>
            <a:ext cx="3291840" cy="3337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2373E"/>
                </a:solidFill>
                <a:latin typeface="Arial"/>
              </a:rPr>
              <a:t>Complete the Mexico-only search restriction, with roughly $12.6K per month at stake.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32373E"/>
                </a:solidFill>
                <a:latin typeface="Arial"/>
              </a:rPr>
              <a:t>Run the paid-social placement audit and exclusions before reinstating its conversion reporting.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120" y="1737360"/>
            <a:ext cx="3657600" cy="402336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89120" y="1737360"/>
            <a:ext cx="3657600" cy="91440"/>
          </a:xfrm>
          <a:prstGeom prst="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0" y="1920240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7AE60"/>
                </a:solidFill>
                <a:latin typeface="Arial"/>
              </a:rPr>
              <a:t>SCALING &amp; OPPORTUNITY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240280"/>
            <a:ext cx="3291840" cy="3337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2373E"/>
                </a:solidFill>
                <a:latin typeface="Arial"/>
              </a:rPr>
              <a:t>Hold the budget mix pending the measurement fixes, then revisit allocation with clean July attribution.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32373E"/>
                </a:solidFill>
                <a:latin typeface="Arial"/>
              </a:rPr>
              <a:t>Search efficiency held at $513 and earns the first incremental dollar once spend is concentrated in Mexico.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32373E"/>
                </a:solidFill>
                <a:latin typeface="Arial"/>
              </a:rPr>
              <a:t>Open the SEO workstream for the Spanish site and apply the programmatic blocklist with a viewability floor.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0" y="1737360"/>
            <a:ext cx="3474720" cy="402336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229600" y="1737360"/>
            <a:ext cx="3474720" cy="91440"/>
          </a:xfrm>
          <a:prstGeom prst="rect">
            <a:avLst/>
          </a:prstGeom>
          <a:solidFill>
            <a:srgbClr val="3B59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80" y="1920240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B5998"/>
                </a:solidFill>
                <a:latin typeface="Arial"/>
              </a:rPr>
              <a:t>MEASUREMENT TO CLOSE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0" y="2240280"/>
            <a:ext cx="3108960" cy="3337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2373E"/>
                </a:solidFill>
                <a:latin typeface="Arial"/>
              </a:rPr>
              <a:t>Link the search account in GA4. 27% of June Mexico sessions are unattributed because of it, and July reporting will restate paid search larger once linked. We will flag the restatement.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32373E"/>
                </a:solidFill>
                <a:latin typeface="Arial"/>
              </a:rPr>
              <a:t>Complete the placement audit and pixel-event review, then reinstate paid-social conversions.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5943600"/>
            <a:ext cx="11247120" cy="50292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" y="5943600"/>
            <a:ext cx="11247120" cy="73152"/>
          </a:xfrm>
          <a:prstGeom prst="rect">
            <a:avLst/>
          </a:prstGeom>
          <a:solidFill>
            <a:srgbClr val="3B59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6062472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1A2A3A"/>
                </a:solidFill>
                <a:latin typeface="Arial"/>
              </a:rPr>
              <a:t>Concentrate spend on measurable, in-market delivery while the quality fixes land.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