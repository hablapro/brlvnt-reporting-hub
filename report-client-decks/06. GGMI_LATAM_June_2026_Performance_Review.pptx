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E4877E-206E-4DCF-A63A-2AA588775564}">
  <a:tblStyle styleId="{FBE4877E-206E-4DCF-A63A-2AA58877556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4a1f2ada_1_0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f54a1f2ada_1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54a1f2ada_1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4a1f2ada_1_33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g3f54a1f2ada_1_3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54a1f2ada_1_3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hyperlink" Target="https://www.cboe.com/tradable_products/vix/" TargetMode="External"/><Relationship Id="rId5" Type="http://schemas.openxmlformats.org/officeDocument/2006/relationships/hyperlink" Target="https://www.sectorspdrs.com/sectorspdr/sector/gold/trade/gld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1_fd6b9b.png" id="88" name="Google Shape;8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457200"/>
            <a:ext cx="2286000" cy="6492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QUARTERLY BUSINESS REVIEW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GGMI (LATAM) — Paid Media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Q3 FY2026 Business Review  ·  June 2026 Performance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Bing Ads · Meta · Azerion · Quantcast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Reporting period: June 1–30, 2026   |   Currency: USD   |   Prepared by Berelvant · 07.16.2026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SUMMARY  ·  BLENDED VIEW (ORGANIC + PAID)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Paid momentum built through Q3 while the blended base softened.</a:t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2 / 19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June submitted applications came in at 684, down 7% MoM; the H1 peak was February (1,036).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approved rose 7% to 209 and the approval rate recovered to 31%, the best since February.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funded dipped 11% to 32 and the fund rate to 15%. The application-to-funding step is the funnel constraint.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traded closed at 29; trading volume held at $1.1B.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Working media reached $120,393 in June (+53% MoM), the biggest month of 2026, while paid-driven applications grew every month of Q3.</a:t>
            </a:r>
            <a:endParaRPr/>
          </a:p>
        </p:txBody>
      </p:sp>
      <p:graphicFrame>
        <p:nvGraphicFramePr>
          <p:cNvPr id="107" name="Google Shape;107;p15"/>
          <p:cNvGraphicFramePr/>
          <p:nvPr/>
        </p:nvGraphicFramePr>
        <p:xfrm>
          <a:off x="356616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1965950"/>
                <a:gridCol w="886975"/>
                <a:gridCol w="886975"/>
                <a:gridCol w="886975"/>
                <a:gridCol w="886975"/>
                <a:gridCol w="886975"/>
                <a:gridCol w="886975"/>
                <a:gridCol w="8412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GGMI — blended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Media 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$1,717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$20,578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$42,424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+53%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Submitted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Approval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+4pp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Fund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Funded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$349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$673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$3,762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+72%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Traded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$744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$1,323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$2.5B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15"/>
          <p:cNvSpPr txBox="1"/>
          <p:nvPr/>
        </p:nvSpPr>
        <p:spPr>
          <a:xfrm>
            <a:off x="3566160" y="502920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5A5A5A"/>
                </a:solidFill>
              </a:rPr>
              <a:t>Funnel metrics are blended organic + paid. Working media per the budget tracker. MoM = June vs May. January cost figures reflect a near-zero media base ($1,717); the scaled-media baseline starts in March.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SPEND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program scaled every month of the quarter.</a:t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3 / 19</a:t>
            </a:r>
            <a:endParaRPr/>
          </a:p>
        </p:txBody>
      </p:sp>
      <p:graphicFrame>
        <p:nvGraphicFramePr>
          <p:cNvPr id="121" name="Google Shape;121;p16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1737350"/>
                <a:gridCol w="1051550"/>
                <a:gridCol w="1051550"/>
                <a:gridCol w="1097275"/>
                <a:gridCol w="10972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$15,289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$15,972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$56,920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$5,224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$6,626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$37,774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$15,005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$75,678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$10,777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$29,302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$75,105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$245,477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22" name="Google Shape;122;p16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Month-over-month growth: +70% into May, +53% into June. June ran at 2.6x the April level.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Q3 closed at $245,477 in working media, approximately 24% of the FY2026 budget.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mix rebalanced as the program scaled. April leaned on search and display; June is a balanced four-channel program with no channel above 29% of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Every channel grew while holding or improving its efficiency where we can measure it, which is what earns the next stage of scale.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FOREX.com (GGMI) performance tracks market volatility</a:t>
            </a:r>
            <a:endParaRPr b="0" i="0" sz="24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Dec 2025 – Jul 2026  ·  Budget vs Actual (Reforecast GGMI)  ·  all series indexed to Dec 2025 = 100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correlation_chart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40"/>
            <a:ext cx="7955070" cy="3913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8503693" y="1234440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8595131" y="1271016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9900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19900"/>
                </a:solidFill>
                <a:latin typeface="Trebuchet MS"/>
                <a:ea typeface="Trebuchet MS"/>
                <a:cs typeface="Trebuchet MS"/>
                <a:sym typeface="Trebuchet MS"/>
              </a:rPr>
              <a:t>0.91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8640850" y="1746504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9646663" y="1362456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Live Apps vs Gold (GLD)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646663" y="169164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8503693" y="2221992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8595131" y="2258568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A7101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A7101"/>
                </a:solidFill>
                <a:latin typeface="Trebuchet MS"/>
                <a:ea typeface="Trebuchet MS"/>
                <a:cs typeface="Trebuchet MS"/>
                <a:sym typeface="Trebuchet MS"/>
              </a:rPr>
              <a:t>0.94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8640850" y="2734056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9646663" y="2350008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Actives vs VIX (Dec–Jun)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9646663" y="2679192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503693" y="3209544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8595131" y="3246120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A84B2F"/>
                </a:solidFill>
                <a:latin typeface="Trebuchet MS"/>
                <a:ea typeface="Trebuchet MS"/>
                <a:cs typeface="Trebuchet MS"/>
                <a:sym typeface="Trebuchet MS"/>
              </a:rPr>
              <a:t>0.62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8640850" y="3721608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646663" y="3337560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Trading Volume vs Gold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9646663" y="3666744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8503693" y="4197096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8595131" y="4233672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808D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20808D"/>
                </a:solidFill>
                <a:latin typeface="Trebuchet MS"/>
                <a:ea typeface="Trebuchet MS"/>
                <a:cs typeface="Trebuchet MS"/>
                <a:sym typeface="Trebuchet MS"/>
              </a:rPr>
              <a:t>0.67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640850" y="4709160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9646663" y="4325112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New Funded vs VIX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646663" y="4654296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65750" y="5285232"/>
            <a:ext cx="11384100" cy="960000"/>
          </a:xfrm>
          <a:prstGeom prst="roundRect">
            <a:avLst>
              <a:gd fmla="val 5714" name="adj"/>
            </a:avLst>
          </a:prstGeom>
          <a:solidFill>
            <a:srgbClr val="1C45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94344" y="5394960"/>
            <a:ext cx="10972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insight:  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GGMI's acquisition funnel and active base are highly correlated with market volatility — gold drives applications (r=0.91), VIX drives actives (r=0.94). The Apr–Jun miss vs budget is largely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the volatility tailwind reversing more than media performance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 January's $5.1B volume spike was gold-driven; as gold and VIX faded,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volume fell 78% from the January peak to $1.1B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CBOE VIX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SPDR Gold Shares (GLD)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300"/>
              <a:buFont typeface="Trebuchet MS"/>
              <a:buNone/>
            </a:pPr>
            <a:r>
              <a:rPr b="1" i="0" lang="en-US" sz="2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Acquisition funnel falls below budget as volatility fades</a:t>
            </a:r>
            <a:endParaRPr b="0" i="0" sz="2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Live Apps Submitted: Actual vs Budget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funnel_chart.png"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50"/>
            <a:ext cx="7772201" cy="3295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/>
          <p:nvPr/>
        </p:nvSpPr>
        <p:spPr>
          <a:xfrm>
            <a:off x="8320818" y="1234440"/>
            <a:ext cx="3520500" cy="4617600"/>
          </a:xfrm>
          <a:prstGeom prst="roundRect">
            <a:avLst>
              <a:gd fmla="val 1558" name="adj"/>
            </a:avLst>
          </a:prstGeom>
          <a:solidFill>
            <a:srgbClr val="F3F3F3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8503693" y="1371600"/>
            <a:ext cx="315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What it means for the strategy</a:t>
            </a:r>
            <a:endParaRPr b="0" i="0" sz="1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503693" y="1783080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Volatility = the acquisition dial.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8503693" y="2075688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Time spend to VIX &gt; 20–25 spikes; in calm periods (VIX ~17 now) shift budget to activation &amp; retention.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8503693" y="2807208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Gold is the #1 acquisition driver.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8503693" y="3099816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Apps track gold at r=0.91. Lead Mexico creative with gold dip-buying (banks still see $4,900–6,000 by year-end).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503693" y="3831336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July stays soft.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8503693" y="4123944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Low-vol regime → funnel remains under budget unless Fed/CPI/Sept hike reignites VIX.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8503693" y="4855464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Media plan: intent + reactivation.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8503693" y="5148072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Bing Ads search on gold/CFD keywords to capture gold-intent (r=0.91); programmatic display to reactivate Jan–Mar sign-ups during VIX&gt;20 bursts.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65750" y="4617720"/>
            <a:ext cx="7772100" cy="1234500"/>
          </a:xfrm>
          <a:prstGeom prst="roundRect">
            <a:avLst>
              <a:gd fmla="val 4444" name="adj"/>
            </a:avLst>
          </a:prstGeom>
          <a:solidFill>
            <a:srgbClr val="FBFBF9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48625" y="4736592"/>
            <a:ext cx="7406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C343D"/>
                </a:solidFill>
                <a:latin typeface="Calibri"/>
                <a:ea typeface="Calibri"/>
                <a:cs typeface="Calibri"/>
                <a:sym typeface="Calibri"/>
              </a:rPr>
              <a:t>The real story: </a:t>
            </a:r>
            <a:r>
              <a:rPr b="1" i="0" lang="en-US" sz="1150" u="none" cap="none" strike="noStrike">
                <a:solidFill>
                  <a:srgbClr val="01696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Downstream outcomes (traded, actives, volume) beat budget through March on the volatility wave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(Jan volume +176% vs budget).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Applications ran about 22% under budget even then, and the gap widened as gold/VIX normalized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July apps (forecast) at 586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vs 1,328 budget (−56%). Re-engage aggressive acquisition only when VIX pushes back above ~20–25.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VIX/GLD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APPLICATIONS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Application volume scaled with spend. Blended cost per application halved.</a:t>
            </a:r>
            <a:endParaRPr/>
          </a:p>
        </p:txBody>
      </p:sp>
      <p:sp>
        <p:nvSpPr>
          <p:cNvPr id="188" name="Google Shape;188;p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6 / 19</a:t>
            </a:r>
            <a:endParaRPr/>
          </a:p>
        </p:txBody>
      </p:sp>
      <p:graphicFrame>
        <p:nvGraphicFramePr>
          <p:cNvPr id="191" name="Google Shape;191;p19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2377450"/>
                <a:gridCol w="868675"/>
                <a:gridCol w="868675"/>
                <a:gridCol w="914400"/>
                <a:gridCol w="1005850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cost / application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$2,315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$1,169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$1,265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19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Search tracking went live in May; display lines count submitted applications, the reach line counts view-through, and paid-social conversions are under validation.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delivered 5x the application volume of April on 2.6x the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cost per application fell from $2,315 in April to $1,169 in June and held near that level through a 53% spend increase, so the growth was </a:t>
            </a:r>
            <a:r>
              <a:rPr lang="en-US" sz="950">
                <a:solidFill>
                  <a:srgbClr val="32373E"/>
                </a:solidFill>
              </a:rPr>
              <a:t>bought at improving efficiency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Search and programmatic carried the measured volume: 181 submitted applications at a cost per submitted application near $650, held through the June scale-up. Paid social contributed reach and site traffic while its conversion validation completes.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BLENDED OUTCOMES VS PLAN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gap to plan sits in the organic base, not paid delivery.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7 / 19</a:t>
            </a:r>
            <a:endParaRPr/>
          </a:p>
        </p:txBody>
      </p:sp>
      <p:graphicFrame>
        <p:nvGraphicFramePr>
          <p:cNvPr id="209" name="Google Shape;209;p20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2560325"/>
                <a:gridCol w="1188725"/>
                <a:gridCol w="1188725"/>
                <a:gridCol w="1097275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 (organic + paid)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Actual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Budget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vs Plan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Apps Submitted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2,167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3,984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Approved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Actives (monthly avg)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$6.7B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10" name="Google Shape;210;p2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Source: Budget vs Actual dashboard (non-cohort reforecast), GGMI, organic and paid blended. July excluded (full-month forecast).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submissions ran about 45% under plan and declined through the half-year (1,029 in January to 684 in June) while paid-driven applications grew every month of Q3. </a:t>
            </a:r>
            <a:r>
              <a:rPr lang="en-US" sz="950">
                <a:solidFill>
                  <a:srgbClr val="32373E"/>
                </a:solidFill>
              </a:rPr>
              <a:t>The shortfall sits in the non-paid base, where two forces overlap: the volatility tailwind that carried the early-year baseline reversed (previous slides), and the site's organic capture declined (next two slides).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funded stage shows the second constraint: -56% to plan, the application-to-funded step the onboarding roadmap is built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Trading volume tracked the softer funnel at $4.3B against a $6.7B plan.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21" name="Google Shape;2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SITE TRAFFIC  ·  SIX-MONTH VIEW (GA4, MEXICO)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Traffic recovered in June. Media bought the recovery.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8 / 19</a:t>
            </a:r>
            <a:endParaRPr/>
          </a:p>
        </p:txBody>
      </p:sp>
      <p:pic>
        <p:nvPicPr>
          <p:cNvPr id="227" name="Google Shape;22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783080"/>
            <a:ext cx="64008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THE HONEST READ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February was one paid flight, not organic growth; it ended in early March and is not a baseline. The March-May slide is organic search decline, confirmed in Search Console. June's rebound was bought: of the +3,485 sessions vs May, paid search added +2,601, paid social +537, display +274. Organic added +94.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IT MEANS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Media is doing its job. June proves it can move traffic on demand.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Unique visitors are up 26% January to June, the legitimate bright spot in the half-year.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organic foundation needs its own workstream. Until it recovers, total site traffic will track media spend rather than compound on top of it.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ORGANIC SEARCH  ·  THE STRUCTURAL ISSUE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Organic search fell 75% in six months. Media cannot buy it back.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9 / 19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57200" y="1737360"/>
            <a:ext cx="6035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A2A3A"/>
                </a:solidFill>
              </a:rPr>
              <a:t>Organic Search sessions · GA4, Mexico</a:t>
            </a:r>
            <a:endParaRPr/>
          </a:p>
        </p:txBody>
      </p:sp>
      <p:pic>
        <p:nvPicPr>
          <p:cNvPr id="249" name="Google Shape;24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11680"/>
            <a:ext cx="603504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0" name="Google Shape;250;p22"/>
          <p:cNvGraphicFramePr/>
          <p:nvPr/>
        </p:nvGraphicFramePr>
        <p:xfrm>
          <a:off x="457200" y="4343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2743200"/>
                <a:gridCol w="1097275"/>
                <a:gridCol w="1097275"/>
                <a:gridCol w="1097275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Search Console (Mexico)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January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Organic 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4,811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Demo account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academy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Homepage, brand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51" name="Google Shape;251;p22"/>
          <p:cNvSpPr/>
          <p:nvPr/>
        </p:nvSpPr>
        <p:spPr>
          <a:xfrm>
            <a:off x="6858000" y="173736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WHAT IS DRIVING IT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7040880" y="224028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Dated news and analysis content lost 87-99% of its clicks as it aged out with nothing replacing it, and mid-funnel commercial pages slid in rank while brand improved. The decline spans every country the Spanish site serves: a site-level content issue, confirmed independently in site analytics.</a:t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6858000" y="416052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6858000" y="416052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7040880" y="434340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258" name="Google Shape;258;p22"/>
          <p:cNvSpPr txBox="1"/>
          <p:nvPr/>
        </p:nvSpPr>
        <p:spPr>
          <a:xfrm>
            <a:off x="7040880" y="466344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workstream: restore the news and analysis publishing cadence, refresh the decayed assets, and run a mid-funnel rank-recovery plan (demo, academy, platform pages), measured on organic clicks and positions. Until it lands, paid media works harder each month just to hold total traffic flat.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65" name="Google Shape;2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3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biggest media month of 2026. Efficiency held where we can measure it.</a:t>
            </a:r>
            <a:endParaRPr/>
          </a:p>
        </p:txBody>
      </p:sp>
      <p:sp>
        <p:nvSpPr>
          <p:cNvPr id="268" name="Google Shape;268;p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10 / 19</a:t>
            </a:r>
            <a:endParaRPr/>
          </a:p>
        </p:txBody>
      </p:sp>
      <p:graphicFrame>
        <p:nvGraphicFramePr>
          <p:cNvPr id="271" name="Google Shape;271;p23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2130550"/>
                <a:gridCol w="969275"/>
                <a:gridCol w="969275"/>
                <a:gridCol w="969275"/>
                <a:gridCol w="777250"/>
                <a:gridCol w="969275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466,582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21,480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19.78M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407,136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7.68M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9,910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$834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11,284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69.9M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449,810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p23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* Paid-social conversions are held pending a placement audit. Programmatic view-through is directional only. Conversions use different events per channel and are never summed.</a:t>
            </a:r>
            <a:endParaRPr/>
          </a:p>
        </p:txBody>
      </p:sp>
      <p:sp>
        <p:nvSpPr>
          <p:cNvPr id="273" name="Google Shape;273;p23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HEADLINES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SAYS</a:t>
            </a:r>
            <a:endParaRPr/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Site traffic recovered with the spend: 9,236 Mexico sessions, up 61% from May, and 5,838 unique visitors, up 125%. The recovery is real but bought. </a:t>
            </a:r>
            <a:r>
              <a:rPr lang="en-US" sz="950">
                <a:solidFill>
                  <a:srgbClr val="32373E"/>
                </a:solidFill>
              </a:rPr>
              <a:t>Media drove the June gain while organic search sat at its low.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approximately 31% into the annual GGMI budget, so H2 has room to scale once the quality fixes land.</a:t>
            </a:r>
            <a:endParaRPr/>
          </a:p>
        </p:txBody>
      </p:sp>
      <p:sp>
        <p:nvSpPr>
          <p:cNvPr id="281" name="Google Shape;281;p23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JUNE PRIORITY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Confirm the now-applied Mexico-only search targeting in July delivery, audit paid-social placements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 before reinstating its conversion reporting, and open the SEO workstream for the organic decline.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91" name="Google Shape;29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CONT' EXECUTIVE SUMMARY</a:t>
            </a:r>
            <a:endParaRPr/>
          </a:p>
        </p:txBody>
      </p:sp>
      <p:sp>
        <p:nvSpPr>
          <p:cNvPr id="293" name="Google Shape;293;p24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Three findings shape the July plan.</a:t>
            </a:r>
            <a:endParaRPr/>
          </a:p>
        </p:txBody>
      </p:sp>
      <p:sp>
        <p:nvSpPr>
          <p:cNvPr id="294" name="Google Shape;294;p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96" name="Google Shape;296;p24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11 / 19</a:t>
            </a:r>
            <a:endParaRPr/>
          </a:p>
        </p:txBody>
      </p:sp>
      <p:sp>
        <p:nvSpPr>
          <p:cNvPr id="297" name="Google Shape;297;p24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IS STILL FORMING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Meta scaled spend 291% and delivery stayed cheap, but click quality collapsed as delivery shifted into cheap in-app inventory.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 Its conversion reporting stays on hold until the placement audit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Search geo, as reviewed together previously: 49% of June spend served outside Mexico. Mexico-only targeting is now applied, and July delivery confirms the correction.</a:t>
            </a:r>
            <a:endParaRPr/>
          </a:p>
        </p:txBody>
      </p:sp>
      <p:sp>
        <p:nvSpPr>
          <p:cNvPr id="301" name="Google Shape;301;p24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Verify the corrected Mexico-only search targeting in July delivery; roughly $12.6K per month is redirected into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exclusions on paid social before scaling it further, and judge the channel on measured site sessions until validation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 for the Spanish site. It is the structural fix for traffic that tracks media spend instead of compounding on top of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Apply the 49-site programmatic blocklist and set a campaign-level viewability floor.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11" name="Google Shape;3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PERFORMANCE</a:t>
            </a:r>
            <a:endParaRPr/>
          </a:p>
        </p:txBody>
      </p:sp>
      <p:sp>
        <p:nvSpPr>
          <p:cNvPr id="313" name="Google Shape;313;p2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 submitted applications at $513. Efficiency held through a 61% scale-up.</a:t>
            </a: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16" name="Google Shape;316;p2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12 / 19</a:t>
            </a:r>
            <a:endParaRPr/>
          </a:p>
        </p:txBody>
      </p:sp>
      <p:sp>
        <p:nvSpPr>
          <p:cNvPr id="317" name="Google Shape;317;p25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20" name="Google Shape;320;p25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$25,659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+61% MoM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25" name="Google Shape;325;p25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466,582</a:t>
            </a:r>
            <a:endParaRPr/>
          </a:p>
        </p:txBody>
      </p:sp>
      <p:sp>
        <p:nvSpPr>
          <p:cNvPr id="326" name="Google Shape;326;p25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 campaigns</a:t>
            </a:r>
            <a:endParaRPr/>
          </a:p>
        </p:txBody>
      </p:sp>
      <p:sp>
        <p:nvSpPr>
          <p:cNvPr id="327" name="Google Shape;327;p25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330" name="Google Shape;330;p25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21,480</a:t>
            </a:r>
            <a:endParaRPr/>
          </a:p>
        </p:txBody>
      </p:sp>
      <p:sp>
        <p:nvSpPr>
          <p:cNvPr id="331" name="Google Shape;331;p25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4.60%</a:t>
            </a:r>
            <a:endParaRPr/>
          </a:p>
        </p:txBody>
      </p:sp>
      <p:sp>
        <p:nvSpPr>
          <p:cNvPr id="332" name="Google Shape;332;p25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335" name="Google Shape;335;p25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$1.19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$0.53</a:t>
            </a:r>
            <a:endParaRPr/>
          </a:p>
        </p:txBody>
      </p:sp>
      <p:sp>
        <p:nvSpPr>
          <p:cNvPr id="337" name="Google Shape;337;p25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SUBMITTED APPS</a:t>
            </a:r>
            <a:endParaRPr/>
          </a:p>
        </p:txBody>
      </p:sp>
      <p:sp>
        <p:nvSpPr>
          <p:cNvPr id="340" name="Google Shape;340;p25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341" name="Google Shape;341;p25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33</a:t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CPA</a:t>
            </a:r>
            <a:endParaRPr/>
          </a:p>
        </p:txBody>
      </p:sp>
      <p:sp>
        <p:nvSpPr>
          <p:cNvPr id="345" name="Google Shape;345;p25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$513</a:t>
            </a:r>
            <a:endParaRPr/>
          </a:p>
        </p:txBody>
      </p:sp>
      <p:sp>
        <p:nvSpPr>
          <p:cNvPr id="346" name="Google Shape;346;p25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$484</a:t>
            </a:r>
            <a:endParaRPr/>
          </a:p>
        </p:txBody>
      </p:sp>
      <p:sp>
        <p:nvSpPr>
          <p:cNvPr id="347" name="Google Shape;347;p25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Campaigns</a:t>
            </a:r>
            <a:endParaRPr/>
          </a:p>
        </p:txBody>
      </p:sp>
      <p:graphicFrame>
        <p:nvGraphicFramePr>
          <p:cNvPr id="348" name="Google Shape;348;p25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2743200"/>
                <a:gridCol w="1097275"/>
                <a:gridCol w="1097275"/>
                <a:gridCol w="914400"/>
                <a:gridCol w="1097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Campaign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AO Generic (policy test)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$13,508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11,020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 + Generic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$8,154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7,559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 Intercept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$3,996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2,901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Google Shape;349;p25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Conversions rose 52% (33 to 50) while spend rose 61%, so the CPA moved only $484 to $513 through the scale-up.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account expanded from 1 campaign to 3. Platform Intercept is the efficiency leader at a $285 CPA.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CPC rose $0.53 to $1.19 with the shift into the new campaign themes.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Geo delivery, as reviewed together previously: 51% of June spend served Mexico, and $12,637 (49%) served outside it, $8,235 of that in markets already excluded (Venezuela, Spain, US). Mexico-only targeting is now in place; the June 3 exclusions cut leakage in-month, and July reports on the corrected setup.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60" name="Google Shape;36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READ &amp; RECOMMENDATIONS</a:t>
            </a:r>
            <a:endParaRPr/>
          </a:p>
        </p:txBody>
      </p:sp>
      <p:sp>
        <p:nvSpPr>
          <p:cNvPr id="362" name="Google Shape;362;p2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every search dollar in Mexico.</a:t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13 / 19</a:t>
            </a:r>
            <a:endParaRPr/>
          </a:p>
        </p:txBody>
      </p:sp>
      <p:sp>
        <p:nvSpPr>
          <p:cNvPr id="366" name="Google Shape;366;p26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remains the most efficient measured converter in the account, and it held that efficiency while scaling 61%.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June ran with 51% of spend in Mexico, the last month on the old geo setup. With Mexico-only targeting now in place, the roughly $12.6K per month that served outside the market concentrates in it, which should improve effective Mexico CPA immediately.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new campaign themes raised CPC ($0.53 to $1.19). Platform Intercept converts at $285, so the mix has room to rebalance toward what works.</a:t>
            </a: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73" name="Google Shape;373;p2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Mexico presence-only targeting is applied; the July report confirms 100% in-market delivery, with roughly $12.6K per month redirected into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budget toward the proven converters, led by Platform Intercept at $285, while the newer themes prove out.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 so July reporting attributes paid search fully (detail on the measurement slide).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7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80" name="Google Shape;38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7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PERFORMANCE</a:t>
            </a:r>
            <a:endParaRPr/>
          </a:p>
        </p:txBody>
      </p:sp>
      <p:sp>
        <p:nvSpPr>
          <p:cNvPr id="382" name="Google Shape;382;p27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Reach scaled 4x at low cost. Click quality is the June question.</a:t>
            </a: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85" name="Google Shape;385;p27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14 / 19</a:t>
            </a:r>
            <a:endParaRPr/>
          </a:p>
        </p:txBody>
      </p:sp>
      <p:sp>
        <p:nvSpPr>
          <p:cNvPr id="386" name="Google Shape;386;p27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89" name="Google Shape;389;p27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$25,924</a:t>
            </a:r>
            <a:endParaRPr/>
          </a:p>
        </p:txBody>
      </p:sp>
      <p:sp>
        <p:nvSpPr>
          <p:cNvPr id="390" name="Google Shape;390;p27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+291% MoM</a:t>
            </a:r>
            <a:endParaRPr/>
          </a:p>
        </p:txBody>
      </p:sp>
      <p:sp>
        <p:nvSpPr>
          <p:cNvPr id="391" name="Google Shape;391;p27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7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94" name="Google Shape;394;p2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19.78M</a:t>
            </a:r>
            <a:endParaRPr/>
          </a:p>
        </p:txBody>
      </p:sp>
      <p:sp>
        <p:nvSpPr>
          <p:cNvPr id="395" name="Google Shape;395;p27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100% Mexico</a:t>
            </a:r>
            <a:endParaRPr/>
          </a:p>
        </p:txBody>
      </p:sp>
      <p:sp>
        <p:nvSpPr>
          <p:cNvPr id="396" name="Google Shape;396;p27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7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LINK CLICKS</a:t>
            </a:r>
            <a:endParaRPr/>
          </a:p>
        </p:txBody>
      </p:sp>
      <p:sp>
        <p:nvSpPr>
          <p:cNvPr id="399" name="Google Shape;399;p27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407,136</a:t>
            </a:r>
            <a:endParaRPr/>
          </a:p>
        </p:txBody>
      </p:sp>
      <p:sp>
        <p:nvSpPr>
          <p:cNvPr id="400" name="Google Shape;400;p27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2.06%</a:t>
            </a:r>
            <a:endParaRPr/>
          </a:p>
        </p:txBody>
      </p:sp>
      <p:sp>
        <p:nvSpPr>
          <p:cNvPr id="401" name="Google Shape;401;p27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$1.31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$0.97</a:t>
            </a: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LP VIEWS</a:t>
            </a:r>
            <a:endParaRPr/>
          </a:p>
        </p:txBody>
      </p:sp>
      <p:sp>
        <p:nvSpPr>
          <p:cNvPr id="409" name="Google Shape;409;p27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249,972</a:t>
            </a:r>
            <a:endParaRPr/>
          </a:p>
        </p:txBody>
      </p:sp>
      <p:sp>
        <p:nvSpPr>
          <p:cNvPr id="410" name="Google Shape;410;p27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platform-reported</a:t>
            </a: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7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414" name="Google Shape;414;p2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Held</a:t>
            </a:r>
            <a:endParaRPr/>
          </a:p>
        </p:txBody>
      </p:sp>
      <p:sp>
        <p:nvSpPr>
          <p:cNvPr id="415" name="Google Shape;415;p27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validation open</a:t>
            </a: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19" name="Google Shape;419;p27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Delivery scaled hard and stayed cheap: 19.8M impressions at a $1.31 CPM, all in Mexico, with the first month off a pure traffic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This account converted platform clicks into measured site visits at 15.7% in February. June ran at 0.19%. </a:t>
            </a:r>
            <a:r>
              <a:rPr lang="en-US" sz="950">
                <a:solidFill>
                  <a:srgbClr val="32373E"/>
                </a:solidFill>
              </a:rPr>
              <a:t>Same pixel, same site, same market. The February benchmark isolates inventory quality as the cause, and the placement audit converts that finding into exclusions.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WHY CONVERSIONS ARE HELD</a:t>
            </a:r>
            <a:endParaRPr/>
          </a:p>
        </p:txBody>
      </p:sp>
      <p:sp>
        <p:nvSpPr>
          <p:cNvPr id="423" name="Google Shape;423;p27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platform reports 86 conversions for June. 67 of them come from one retargeting campaign with only 126 landing-page views, which is not a credible application rate.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holding conversion reporting until the placement audit and pixel-event review complete. Delivery metrics (reach, clicks, CPM) are unaffected.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8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30" name="Google Shape;43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8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READ &amp; RECOMMENDATIONS</a:t>
            </a:r>
            <a:endParaRPr/>
          </a:p>
        </p:txBody>
      </p:sp>
      <p:sp>
        <p:nvSpPr>
          <p:cNvPr id="432" name="Google Shape;432;p28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Audit the placements before judging the channel.</a:t>
            </a: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8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35" name="Google Shape;435;p2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15 / 19</a:t>
            </a:r>
            <a:endParaRPr/>
          </a:p>
        </p:txBody>
      </p:sp>
      <p:sp>
        <p:nvSpPr>
          <p:cNvPr id="436" name="Google Shape;436;p28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8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439" name="Google Shape;439;p28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The traffic-objective delivery skewed toward low-cost in-app inventory, with 63% of spend serving users 55 and older; the placement exclusions and objective shift repoint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  <a:endParaRPr/>
          </a:p>
        </p:txBody>
      </p:sp>
      <p:sp>
        <p:nvSpPr>
          <p:cNvPr id="440" name="Google Shape;440;p28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8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8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443" name="Google Shape;443;p28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apply exclusions. This is the highest-value action on this channel for July.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the 55+ age skew and complete the shift to a conversion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Judge the channel on measured site sessions until conversion validation completes, then reinstate conversion reporting.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50" name="Google Shape;4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2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PERFORMANCE</a:t>
            </a:r>
            <a:endParaRPr/>
          </a:p>
        </p:txBody>
      </p:sp>
      <p:sp>
        <p:nvSpPr>
          <p:cNvPr id="452" name="Google Shape;452;p2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 submitted applications. Efficiency roughly held at higher volume.</a:t>
            </a:r>
            <a:endParaRPr/>
          </a:p>
        </p:txBody>
      </p:sp>
      <p:sp>
        <p:nvSpPr>
          <p:cNvPr id="453" name="Google Shape;453;p2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16 / 19</a:t>
            </a:r>
            <a:endParaRPr/>
          </a:p>
        </p:txBody>
      </p:sp>
      <p:sp>
        <p:nvSpPr>
          <p:cNvPr id="456" name="Google Shape;456;p2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9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9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459" name="Google Shape;459;p29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$35,026</a:t>
            </a:r>
            <a:endParaRPr/>
          </a:p>
        </p:txBody>
      </p:sp>
      <p:sp>
        <p:nvSpPr>
          <p:cNvPr id="460" name="Google Shape;460;p29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+20% MoM</a:t>
            </a:r>
            <a:endParaRPr/>
          </a:p>
        </p:txBody>
      </p:sp>
      <p:sp>
        <p:nvSpPr>
          <p:cNvPr id="461" name="Google Shape;461;p29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9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9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464" name="Google Shape;464;p29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7.68M</a:t>
            </a:r>
            <a:endParaRPr/>
          </a:p>
        </p:txBody>
      </p:sp>
      <p:sp>
        <p:nvSpPr>
          <p:cNvPr id="465" name="Google Shape;465;p29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2.18M devices</a:t>
            </a:r>
            <a:endParaRPr/>
          </a:p>
        </p:txBody>
      </p:sp>
      <p:sp>
        <p:nvSpPr>
          <p:cNvPr id="466" name="Google Shape;466;p2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9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9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469" name="Google Shape;469;p29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9,910</a:t>
            </a:r>
            <a:endParaRPr/>
          </a:p>
        </p:txBody>
      </p:sp>
      <p:sp>
        <p:nvSpPr>
          <p:cNvPr id="470" name="Google Shape;470;p29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+57% MoM</a:t>
            </a:r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9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9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/>
          </a:p>
        </p:txBody>
      </p:sp>
      <p:sp>
        <p:nvSpPr>
          <p:cNvPr id="474" name="Google Shape;474;p29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440</a:t>
            </a:r>
            <a:endParaRPr/>
          </a:p>
        </p:txBody>
      </p:sp>
      <p:sp>
        <p:nvSpPr>
          <p:cNvPr id="475" name="Google Shape;475;p29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225</a:t>
            </a:r>
            <a:endParaRPr/>
          </a:p>
        </p:txBody>
      </p:sp>
      <p:sp>
        <p:nvSpPr>
          <p:cNvPr id="476" name="Google Shape;476;p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9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9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APPLICATIONS</a:t>
            </a:r>
            <a:endParaRPr/>
          </a:p>
        </p:txBody>
      </p:sp>
      <p:sp>
        <p:nvSpPr>
          <p:cNvPr id="479" name="Google Shape;479;p29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  <a:endParaRPr/>
          </a:p>
        </p:txBody>
      </p:sp>
      <p:sp>
        <p:nvSpPr>
          <p:cNvPr id="480" name="Google Shape;480;p29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$834 CPA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484" name="Google Shape;484;p29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68.5%</a:t>
            </a:r>
            <a:endParaRPr/>
          </a:p>
        </p:txBody>
      </p:sp>
      <p:sp>
        <p:nvSpPr>
          <p:cNvPr id="485" name="Google Shape;485;p29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70% standard</a:t>
            </a:r>
            <a:endParaRPr/>
          </a:p>
        </p:txBody>
      </p:sp>
      <p:sp>
        <p:nvSpPr>
          <p:cNvPr id="486" name="Google Shape;486;p2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Ad Sets (Applications)</a:t>
            </a:r>
            <a:endParaRPr/>
          </a:p>
        </p:txBody>
      </p:sp>
      <p:graphicFrame>
        <p:nvGraphicFramePr>
          <p:cNvPr id="487" name="Google Shape;487;p29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2560325"/>
                <a:gridCol w="1005850"/>
                <a:gridCol w="822950"/>
                <a:gridCol w="1097275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Set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Experience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$9,118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Global Market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TradeForex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Language Broker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$4,994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Conversion_Instruments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$1,053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Spanish Platform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$1,410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Conversion_Commodities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8" name="Google Shape;488;p29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9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9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91" name="Google Shape;491;p29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Applications rose 14% (37 to 42) on a 20% budget increase. The CPA moved $792 to $834, so efficiency roughly held at higher volume.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 starts nearly doubled (225 to 440), keeping the upper funnel active.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Global Market converted at $412 and Experience carried the most volume. Conversion_Commodities spent $4,128 with no applications and is the first reallocation candidate.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98" name="Google Shape;49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READ &amp; RECOMMENDATIONS</a:t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Hold the pace. Confirm the delivery detail.</a:t>
            </a:r>
            <a:endParaRPr/>
          </a:p>
        </p:txBody>
      </p:sp>
      <p:sp>
        <p:nvSpPr>
          <p:cNvPr id="501" name="Google Shape;501;p3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03" name="Google Shape;503;p3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17 / 19</a:t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0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Second consecutive month of scaled application volume, with efficiency holding within 6% while budget grew 20%.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Viewability is 68.5%, just under the 70% standard.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  <a:endParaRPr/>
          </a:p>
        </p:txBody>
      </p:sp>
      <p:sp>
        <p:nvSpPr>
          <p:cNvPr id="508" name="Google Shape;508;p30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0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0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511" name="Google Shape;511;p30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pace until the delivery breakdowns arrive.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budget on the converting ad sets, led by Global Market ($412) and Experience, and reallocate away from Conversion_Commodities ($4,128, zero applications).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Push viewability over the 70% standard.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18" name="Google Shape;5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3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QUANTCAST  ·  PERFORMANCE &amp; READ</a:t>
            </a:r>
            <a:endParaRPr/>
          </a:p>
        </p:txBody>
      </p:sp>
      <p:sp>
        <p:nvSpPr>
          <p:cNvPr id="520" name="Google Shape;520;p3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 deliberate reach month. Cheap delivery, with a quality bill to manage.</a:t>
            </a:r>
            <a:endParaRPr/>
          </a:p>
        </p:txBody>
      </p:sp>
      <p:sp>
        <p:nvSpPr>
          <p:cNvPr id="521" name="Google Shape;521;p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23" name="Google Shape;523;p3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18 / 19</a:t>
            </a:r>
            <a:endParaRPr/>
          </a:p>
        </p:txBody>
      </p:sp>
      <p:sp>
        <p:nvSpPr>
          <p:cNvPr id="524" name="Google Shape;524;p31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1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527" name="Google Shape;527;p31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$33,784</a:t>
            </a:r>
            <a:endParaRPr/>
          </a:p>
        </p:txBody>
      </p:sp>
      <p:sp>
        <p:nvSpPr>
          <p:cNvPr id="528" name="Google Shape;528;p31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+26% MoM</a:t>
            </a:r>
            <a:endParaRPr/>
          </a:p>
        </p:txBody>
      </p:sp>
      <p:sp>
        <p:nvSpPr>
          <p:cNvPr id="529" name="Google Shape;529;p31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1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1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532" name="Google Shape;532;p31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41.96M</a:t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+155% MoM</a:t>
            </a:r>
            <a:endParaRPr/>
          </a:p>
        </p:txBody>
      </p:sp>
      <p:sp>
        <p:nvSpPr>
          <p:cNvPr id="534" name="Google Shape;534;p31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1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3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537" name="Google Shape;537;p31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$0.81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$1.63</a:t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31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1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542" name="Google Shape;542;p31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$2.99</a:t>
            </a:r>
            <a:endParaRPr/>
          </a:p>
        </p:txBody>
      </p:sp>
      <p:sp>
        <p:nvSpPr>
          <p:cNvPr id="543" name="Google Shape;543;p31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$5.59</a:t>
            </a:r>
            <a:endParaRPr/>
          </a:p>
        </p:txBody>
      </p:sp>
      <p:sp>
        <p:nvSpPr>
          <p:cNvPr id="544" name="Google Shape;544;p31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31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547" name="Google Shape;547;p31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51.3%</a:t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67.1%</a:t>
            </a:r>
            <a:endParaRPr/>
          </a:p>
        </p:txBody>
      </p:sp>
      <p:sp>
        <p:nvSpPr>
          <p:cNvPr id="549" name="Google Shape;549;p31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1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1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552" name="Google Shape;552;p31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view-through</a:t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Month over Month</a:t>
            </a:r>
            <a:endParaRPr/>
          </a:p>
        </p:txBody>
      </p:sp>
      <p:graphicFrame>
        <p:nvGraphicFramePr>
          <p:cNvPr id="555" name="Google Shape;555;p31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{FBE4877E-206E-4DCF-A63A-2AA588775564}</a:tableStyleId>
              </a:tblPr>
              <a:tblGrid>
                <a:gridCol w="1828800"/>
                <a:gridCol w="1280150"/>
                <a:gridCol w="1280150"/>
                <a:gridCol w="1280150"/>
              </a:tblGrid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+26%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Impressions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+155%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$0.81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Viewability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51.3%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67.1%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-15.8pp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6" name="Google Shape;556;p3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31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1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scaled reach on purpose: 42M impressions and 18.2M devices reached as CPM fell by half to $0.81.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Scaling reach at this CPM pulled in low-viewability inventory: 51% against the 70% standard. We delivered a 49-site blocklist covering 32% of June spend on this line and recommend a campaign-level viewability floor to hold quality as reach scales.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All 11 June conversions are view-through. Treat them as directional support, not proven response.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66" name="Google Shape;56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3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CROSS-CHANNEL PRIORITIES + NEXT STEPS</a:t>
            </a:r>
            <a:endParaRPr/>
          </a:p>
        </p:txBody>
      </p:sp>
      <p:sp>
        <p:nvSpPr>
          <p:cNvPr id="568" name="Google Shape;568;p3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in-market. Finish the measurement. Start the SEO workstream.</a:t>
            </a:r>
            <a:endParaRPr/>
          </a:p>
        </p:txBody>
      </p:sp>
      <p:sp>
        <p:nvSpPr>
          <p:cNvPr id="569" name="Google Shape;569;p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71" name="Google Shape;571;p3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19 / 19</a:t>
            </a:r>
            <a:endParaRPr/>
          </a:p>
        </p:txBody>
      </p:sp>
      <p:sp>
        <p:nvSpPr>
          <p:cNvPr id="572" name="Google Shape;572;p32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2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32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PRIORITY</a:t>
            </a:r>
            <a:endParaRPr/>
          </a:p>
        </p:txBody>
      </p:sp>
      <p:sp>
        <p:nvSpPr>
          <p:cNvPr id="575" name="Google Shape;575;p3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Mexico-only search targeting is applied; July delivery confirms roughly $12.6K per month redirected into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paid-social placement audit and exclusions before reinstating its conversion reporting.</a:t>
            </a:r>
            <a:endParaRPr/>
          </a:p>
        </p:txBody>
      </p:sp>
      <p:sp>
        <p:nvSpPr>
          <p:cNvPr id="576" name="Google Shape;576;p32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2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2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SCALING &amp; OPPORTUNITY</a:t>
            </a:r>
            <a:endParaRPr/>
          </a:p>
        </p:txBody>
      </p:sp>
      <p:sp>
        <p:nvSpPr>
          <p:cNvPr id="579" name="Google Shape;579;p32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mix pending the measurement fixes, then revisit allocation with clean July attribution.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efficiency held at $513 and earns the first incremental dollar once spend is concentrated in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the SEO workstream for the Spanish site and apply the programmatic blocklist with a viewability floor.</a:t>
            </a:r>
            <a:endParaRPr/>
          </a:p>
        </p:txBody>
      </p:sp>
      <p:sp>
        <p:nvSpPr>
          <p:cNvPr id="580" name="Google Shape;580;p32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2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2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MEASUREMENT TO CLOSE</a:t>
            </a:r>
            <a:endParaRPr/>
          </a:p>
        </p:txBody>
      </p:sp>
      <p:sp>
        <p:nvSpPr>
          <p:cNvPr id="583" name="Google Shape;583;p32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placement audit and pixel-event review, then reinstate paid-social conversions.</a:t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2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spend on measurable, in-market delivery while the quality fixes land.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