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DD99DC-525D-49F5-A1B7-C944E4BD81EE}">
  <a:tblStyle styleId="{76DD99DC-525D-49F5-A1B7-C944E4BD81E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54a1f2ada_1_0:notes"/>
          <p:cNvSpPr/>
          <p:nvPr>
            <p:ph idx="2" type="sldImg"/>
          </p:nvPr>
        </p:nvSpPr>
        <p:spPr>
          <a:xfrm>
            <a:off x="685873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f54a1f2ada_1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f54a1f2ada_1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54a1f2ada_1_33:notes"/>
          <p:cNvSpPr/>
          <p:nvPr>
            <p:ph idx="2" type="sldImg"/>
          </p:nvPr>
        </p:nvSpPr>
        <p:spPr>
          <a:xfrm>
            <a:off x="685873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f54a1f2ada_1_3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f54a1f2ada_1_3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hyperlink" Target="https://www.cboe.com/tradable_products/vix/" TargetMode="External"/><Relationship Id="rId5" Type="http://schemas.openxmlformats.org/officeDocument/2006/relationships/hyperlink" Target="https://www.sectorspdrs.com/sectorspdr/sector/gold/trade/gld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0F1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oogle Shape;85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457200" y="2011680"/>
            <a:ext cx="91440" cy="2286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1_fd6b9b.png" id="88" name="Google Shape;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57200"/>
            <a:ext cx="2286000" cy="64922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4"/>
          <p:cNvSpPr txBox="1"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96167"/>
                </a:solidFill>
                <a:latin typeface="Georgia"/>
                <a:ea typeface="Arial"/>
                <a:cs typeface="Arial"/>
                <a:sym typeface="Arial"/>
              </a:rPr>
              <a:t>QUARTERLY BUSINESS REVIEW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822960" y="24688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Arial"/>
                <a:cs typeface="Arial"/>
                <a:sym typeface="Arial"/>
              </a:rPr>
              <a:t>GGMI (LATAM) — Paid Media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822960" y="34747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ADCFC"/>
                </a:solidFill>
                <a:latin typeface="Georgia"/>
                <a:ea typeface="Arial"/>
                <a:cs typeface="Arial"/>
                <a:sym typeface="Arial"/>
              </a:rPr>
              <a:t>Q3 FY2026 Business Review  ·  June 2026 Performance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822960" y="4114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Arial"/>
                <a:cs typeface="Arial"/>
                <a:sym typeface="Arial"/>
              </a:rPr>
              <a:t>Bing Ads · Meta · Azerion · Quantcast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822960" y="60807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Arial"/>
                <a:cs typeface="Arial"/>
                <a:sym typeface="Arial"/>
              </a:rPr>
              <a:t>Reporting period: June 1–30, 2026   |   Currency: USD   |   Prepared by Berelvant · 07.16.2026</a:t>
            </a:r>
            <a:endParaRPr/>
          </a:p>
        </p:txBody>
      </p:sp>
      <p:pic>
        <p:nvPicPr>
          <p:cNvPr id="95" name="Picture 94" descr="berelvant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5675" y="5989320"/>
            <a:ext cx="1828800" cy="5212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SUMMARY  ·  BLENDED VIEW (ORGANIC + PAID)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Paid-driven applications grew through Q3 while the blended base softened.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2 / 19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57200" y="1828800"/>
            <a:ext cx="2834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•  June submitted applications came in at 684, down 7% MoM; the H1 peak was February (1,036).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•  New approved rose 7% to 209 and the approval rate recovered to 31%, the best since February.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•  New funded dipped 11% to 32 and the fund rate to 15%. The application-to-funding step is the funnel constraint.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•  New traded closed at 29; trading volume held at $1.1B.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•  Working media reached $120,393 in June (+53% MoM), the biggest month of 2026, while paid-driven applications grew every month of Q3.</a:t>
            </a:r>
            <a:endParaRPr/>
          </a:p>
        </p:txBody>
      </p:sp>
      <p:graphicFrame>
        <p:nvGraphicFramePr>
          <p:cNvPr id="107" name="Google Shape;107;p15"/>
          <p:cNvGraphicFramePr/>
          <p:nvPr/>
        </p:nvGraphicFramePr>
        <p:xfrm>
          <a:off x="356616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1965950"/>
                <a:gridCol w="886975"/>
                <a:gridCol w="886975"/>
                <a:gridCol w="886975"/>
                <a:gridCol w="886975"/>
                <a:gridCol w="886975"/>
                <a:gridCol w="886975"/>
                <a:gridCol w="8412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GGMI — blended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Jan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Feb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Mar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Apr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May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Jun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MoM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Working Media Spend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$1,717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$20,578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$42,424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$46,294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$78,790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$120,393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+53%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Submitted Applications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1,029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1,036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900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751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732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684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-7%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Approved Clients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288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337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261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202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195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209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+7%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Approval Rate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28%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33%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29%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27%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27%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31%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+4pp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New Funded Clients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38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-11%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Fund Rate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23%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18%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24%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19%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18%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15%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-3pp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Cost per Funded Client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$349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$673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$1,218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$2,189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$3,762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+72%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New Traded Clients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52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57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35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-19%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Cost per Traded Client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$396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$744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$1,323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$2,189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$4,151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+90%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Trading Volume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$5.1B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$2.5B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$2.3B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$2.1B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$1.1B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$1.1B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flat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8" name="Google Shape;108;p15"/>
          <p:cNvSpPr txBox="1"/>
          <p:nvPr/>
        </p:nvSpPr>
        <p:spPr>
          <a:xfrm>
            <a:off x="3566160" y="5029200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5A6072"/>
                </a:solidFill>
                <a:latin typeface="Calibri"/>
              </a:rPr>
              <a:t>Funnel metrics are blended organic + paid. Working media per the budget tracker. MoM = June vs May. January cost figures reflect a near-zero media base ($1,717); the scaled-media baseline starts in March.</a:t>
            </a:r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Q3 FY2026 IN REVIEW  ·  SPEND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Spend rose from $46K in April to $120K in June.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3 / 19</a:t>
            </a:r>
            <a:endParaRPr/>
          </a:p>
        </p:txBody>
      </p:sp>
      <p:graphicFrame>
        <p:nvGraphicFramePr>
          <p:cNvPr id="121" name="Google Shape;121;p16"/>
          <p:cNvGraphicFramePr/>
          <p:nvPr/>
        </p:nvGraphicFramePr>
        <p:xfrm>
          <a:off x="457200" y="173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1737350"/>
                <a:gridCol w="1051550"/>
                <a:gridCol w="1051550"/>
                <a:gridCol w="1097275"/>
                <a:gridCol w="10972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Channel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Apr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May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Jun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Bing Ads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$15,289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$15,972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$25,659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$56,920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$5,224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$6,626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$25,924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$37,774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Quantcast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$15,005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$26,890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$33,784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$75,678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Azerion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$10,777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$29,302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$35,026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$75,105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CADC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$46,294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CADC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$78,790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CADC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$120,393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CADC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$245,477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CADC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2" name="Google Shape;122;p16"/>
          <p:cNvSpPr txBox="1"/>
          <p:nvPr/>
        </p:nvSpPr>
        <p:spPr>
          <a:xfrm>
            <a:off x="457200" y="4114800"/>
            <a:ext cx="6035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Month-over-month growth: +70% into May, +53% into June. June ran at 2.6x the April level.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6858000" y="1737360"/>
            <a:ext cx="484632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6858000" y="1737360"/>
            <a:ext cx="484632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7040880" y="1920240"/>
            <a:ext cx="44805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READ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7040880" y="2240280"/>
            <a:ext cx="4480559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Q3 closed at $245,477 in working media, approximately 24% of the FY2026 budget.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The mix rebalanced as the program scaled. April leaned on search and display; June is a balanced four-channel program with no channel above 29% of spend.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Every channel grew while holding or improving its efficiency where we can measure it, which is what earns the next stage of scale.</a:t>
            </a:r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/>
          <p:nvPr/>
        </p:nvSpPr>
        <p:spPr>
          <a:xfrm>
            <a:off x="457188" y="292608"/>
            <a:ext cx="11246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696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Georgia"/>
                <a:ea typeface="Trebuchet MS"/>
                <a:cs typeface="Trebuchet MS"/>
                <a:sym typeface="Trebuchet MS"/>
              </a:rPr>
              <a:t>FOREX.com (GGMI) performance tracks market volatility</a:t>
            </a:r>
            <a:endParaRPr b="0" i="0" sz="2400" u="none" cap="none" strike="noStrike">
              <a:solidFill>
                <a:srgbClr val="0C34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457188" y="841248"/>
            <a:ext cx="11246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Dec 2025 – Jul 2026  ·  Budget vs Actual (Reforecast GGMI)  ·  all series indexed to Dec 2025 = 100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user/workspace/correlation_chart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50" y="1234440"/>
            <a:ext cx="7955070" cy="391352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/>
          <p:nvPr/>
        </p:nvSpPr>
        <p:spPr>
          <a:xfrm>
            <a:off x="8503693" y="1234440"/>
            <a:ext cx="324600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95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8595131" y="1271016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9900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D19900"/>
                </a:solidFill>
                <a:latin typeface="Georgia"/>
                <a:ea typeface="Trebuchet MS"/>
                <a:cs typeface="Trebuchet MS"/>
                <a:sym typeface="Trebuchet MS"/>
              </a:rPr>
              <a:t>0.91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8640850" y="1746504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r =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9646663" y="1362456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Live Apps vs Gold (GLD)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9646663" y="1691640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very strong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8503693" y="2221992"/>
            <a:ext cx="324600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95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8595131" y="2258568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A7101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DA7101"/>
                </a:solidFill>
                <a:latin typeface="Georgia"/>
                <a:ea typeface="Trebuchet MS"/>
                <a:cs typeface="Trebuchet MS"/>
                <a:sym typeface="Trebuchet MS"/>
              </a:rPr>
              <a:t>0.94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8640850" y="2734056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r =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9646663" y="2350008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Actives vs VIX (Dec–Jun)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9646663" y="2679192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very strong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8503693" y="3209544"/>
            <a:ext cx="324600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95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8595131" y="3246120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A84B2F"/>
                </a:solidFill>
                <a:latin typeface="Georgia"/>
                <a:ea typeface="Trebuchet MS"/>
                <a:cs typeface="Trebuchet MS"/>
                <a:sym typeface="Trebuchet MS"/>
              </a:rPr>
              <a:t>0.62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8640850" y="3721608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r =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9646663" y="3337560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Trading Volume vs Gold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9646663" y="3666744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moderate–strong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8503693" y="4197096"/>
            <a:ext cx="324600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95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8595131" y="4233672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808D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0808D"/>
                </a:solidFill>
                <a:latin typeface="Georgia"/>
                <a:ea typeface="Trebuchet MS"/>
                <a:cs typeface="Trebuchet MS"/>
                <a:sym typeface="Trebuchet MS"/>
              </a:rPr>
              <a:t>0.67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8640850" y="4709160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r =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9646663" y="4325112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New Funded vs VIX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9646663" y="4654296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moderate–strong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365750" y="5285232"/>
            <a:ext cx="11384100" cy="960000"/>
          </a:xfrm>
          <a:prstGeom prst="roundRect">
            <a:avLst>
              <a:gd fmla="val 5714" name="adj"/>
            </a:avLst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594344" y="5394960"/>
            <a:ext cx="10972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insight:  </a:t>
            </a:r>
            <a:r>
              <a:rPr b="0" i="0" lang="en-US" sz="1200" u="none" cap="none" strike="noStrike">
                <a:solidFill>
                  <a:srgbClr val="EAF2F2"/>
                </a:solidFill>
                <a:latin typeface="Calibri"/>
                <a:ea typeface="Calibri"/>
                <a:cs typeface="Calibri"/>
                <a:sym typeface="Calibri"/>
              </a:rPr>
              <a:t>GGMI's acquisition funnel and active base are highly correlated with market volatility — gold drives applications (r=0.91), VIX drives actives (r=0.94). The Apr–Jun miss vs budget is largely </a:t>
            </a:r>
            <a:r>
              <a:rPr lang="en-US" sz="1200">
                <a:solidFill>
                  <a:srgbClr val="EAF2F2"/>
                </a:solidFill>
                <a:latin typeface="Calibri"/>
                <a:ea typeface="Calibri"/>
                <a:cs typeface="Calibri"/>
                <a:sym typeface="Calibri"/>
              </a:rPr>
              <a:t>the volatility tailwind reversing more than media performance</a:t>
            </a:r>
            <a:r>
              <a:rPr b="0" i="0" lang="en-US" sz="1200" u="none" cap="none" strike="noStrike">
                <a:solidFill>
                  <a:srgbClr val="EAF2F2"/>
                </a:solidFill>
                <a:latin typeface="Calibri"/>
                <a:ea typeface="Calibri"/>
                <a:cs typeface="Calibri"/>
                <a:sym typeface="Calibri"/>
              </a:rPr>
              <a:t>. January's $5.1B volume spike was gold-driven; as gold and VIX faded, </a:t>
            </a:r>
            <a:r>
              <a:rPr lang="en-US" sz="1200">
                <a:solidFill>
                  <a:srgbClr val="EAF2F2"/>
                </a:solidFill>
                <a:latin typeface="Calibri"/>
                <a:ea typeface="Calibri"/>
                <a:cs typeface="Calibri"/>
                <a:sym typeface="Calibri"/>
              </a:rPr>
              <a:t>volume fell 78% from the January peak to $1.1B</a:t>
            </a:r>
            <a:r>
              <a:rPr b="0" i="0" lang="en-US" sz="1200" u="none" cap="none" strike="noStrike">
                <a:solidFill>
                  <a:srgbClr val="EAF2F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457188" y="6419088"/>
            <a:ext cx="1124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b="0" i="1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GGMI Budget vs Actual (Reforecast) </a:t>
            </a:r>
            <a:r>
              <a:rPr i="1" lang="en-US" sz="9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b="0" i="0" lang="en-US" sz="900" u="sng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CBOE VIX</a:t>
            </a: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900" u="sng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SPDR Gold Shares (GLD)</a:t>
            </a: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OHLC market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/>
          <p:nvPr/>
        </p:nvSpPr>
        <p:spPr>
          <a:xfrm>
            <a:off x="457188" y="292608"/>
            <a:ext cx="11246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696F"/>
              </a:buClr>
              <a:buSzPts val="2300"/>
              <a:buFont typeface="Trebuchet MS"/>
              <a:buNone/>
            </a:pPr>
            <a:r>
              <a:rPr b="1" i="0" lang="en-US" sz="2300" u="none" cap="none" strike="noStrike">
                <a:solidFill>
                  <a:srgbClr val="1E2761"/>
                </a:solidFill>
                <a:latin typeface="Georgia"/>
                <a:ea typeface="Trebuchet MS"/>
                <a:cs typeface="Trebuchet MS"/>
                <a:sym typeface="Trebuchet MS"/>
              </a:rPr>
              <a:t>Acquisition funnel falls below budget as volatility fades</a:t>
            </a:r>
            <a:endParaRPr b="0" i="0" sz="2300" u="none" cap="none" strike="noStrike">
              <a:solidFill>
                <a:srgbClr val="0C34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457188" y="841248"/>
            <a:ext cx="11246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Live Apps Submitted: Actual vs Budget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user/workspace/funnel_chart.png" id="165" name="Google Shape;1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50" y="1234450"/>
            <a:ext cx="7772201" cy="329559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/>
          <p:nvPr/>
        </p:nvSpPr>
        <p:spPr>
          <a:xfrm>
            <a:off x="8320818" y="1234440"/>
            <a:ext cx="3520500" cy="4617600"/>
          </a:xfrm>
          <a:prstGeom prst="roundRect">
            <a:avLst>
              <a:gd fmla="val 1558" name="adj"/>
            </a:avLst>
          </a:prstGeom>
          <a:solidFill>
            <a:srgbClr val="FFFFFF"/>
          </a:solidFill>
          <a:ln cap="flat" cmpd="sng" w="9525">
            <a:solidFill>
              <a:srgbClr val="D0D4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8503693" y="1371600"/>
            <a:ext cx="315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696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C343D"/>
                </a:solidFill>
                <a:latin typeface="Calibri"/>
                <a:ea typeface="Trebuchet MS"/>
                <a:cs typeface="Trebuchet MS"/>
                <a:sym typeface="Trebuchet MS"/>
              </a:rPr>
              <a:t>What it means for the strategy</a:t>
            </a:r>
            <a:endParaRPr b="0" i="0" sz="1300" u="none" cap="none" strike="noStrike">
              <a:solidFill>
                <a:srgbClr val="0C34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8503693" y="1783080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Volatility = the acquisition dial.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8503693" y="2075688"/>
            <a:ext cx="315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Time spend to VIX &gt; 20–25 spikes; in calm periods (VIX ~17 now) shift budget to activation &amp; retention.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8503693" y="2807208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Gold is the #1 acquisition driver.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8503693" y="3099816"/>
            <a:ext cx="315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Apps track gold at r=0.91. Lead Mexico creative with gold dip-buying (banks still see $4,900–6,000 by year-end).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8503693" y="3831336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July stays soft.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8503693" y="4123944"/>
            <a:ext cx="315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Low-vol regime → funnel remains under budget unless Fed/CPI/Sept hike reignites VIX.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8503693" y="4855464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Media plan: intent + reactivation.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8503693" y="5148072"/>
            <a:ext cx="315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Bing Ads search on gold/CFD keywords to capture gold-intent (r=0.91); programmatic display to reactivate Jan–Mar sign-ups during VIX&gt;20 bursts.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365750" y="4617720"/>
            <a:ext cx="7772100" cy="1234500"/>
          </a:xfrm>
          <a:prstGeom prst="roundRect">
            <a:avLst>
              <a:gd fmla="val 4444" name="adj"/>
            </a:avLst>
          </a:prstGeom>
          <a:solidFill>
            <a:srgbClr val="FBFBF9"/>
          </a:solidFill>
          <a:ln cap="flat" cmpd="sng" w="95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48625" y="4736592"/>
            <a:ext cx="74064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696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C343D"/>
                </a:solidFill>
                <a:latin typeface="Calibri"/>
                <a:ea typeface="Calibri"/>
                <a:cs typeface="Calibri"/>
                <a:sym typeface="Calibri"/>
              </a:rPr>
              <a:t>The real story: </a:t>
            </a:r>
            <a:r>
              <a:rPr b="1" i="0" lang="en-US" sz="1150" u="none" cap="none" strike="noStrike">
                <a:solidFill>
                  <a:srgbClr val="01696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Downstream outcomes (traded, actives, volume) beat budget through March on the volatility wave</a:t>
            </a:r>
            <a:r>
              <a:rPr b="0" i="0" lang="en-US" sz="1050" u="none" cap="none" strike="noStrik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 (Jan volume +176% vs budget). </a:t>
            </a:r>
            <a:r>
              <a:rPr lang="en-US" sz="1050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Applications ran about 22% under budget even then, and the gap widened as gold/VIX normalized</a:t>
            </a:r>
            <a:r>
              <a:rPr b="0" i="0" lang="en-US" sz="1050" u="none" cap="none" strike="noStrik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1050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July apps (forecast) at 586</a:t>
            </a:r>
            <a:r>
              <a:rPr b="0" i="0" lang="en-US" sz="1050" u="none" cap="none" strike="noStrik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 vs 1,328 budget (−56%). Re-engage aggressive acquisition only when VIX pushes back above ~20–25.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457188" y="6419088"/>
            <a:ext cx="1124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b="0" i="1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GGMI Budget vs Actual (Reforecast) </a:t>
            </a:r>
            <a:r>
              <a:rPr i="1" lang="en-US" sz="9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 ·  VIX/GLD OHLC market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185" name="Google Shape;18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Q3 FY2026 IN REVIEW  ·  APPLICATIONS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103 blended applications in June at $1,169 per application.</a:t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6 / 19</a:t>
            </a:r>
            <a:endParaRPr/>
          </a:p>
        </p:txBody>
      </p:sp>
      <p:graphicFrame>
        <p:nvGraphicFramePr>
          <p:cNvPr id="191" name="Google Shape;191;p19"/>
          <p:cNvGraphicFramePr/>
          <p:nvPr/>
        </p:nvGraphicFramePr>
        <p:xfrm>
          <a:off x="457200" y="173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377450"/>
                <a:gridCol w="868675"/>
                <a:gridCol w="868675"/>
                <a:gridCol w="914400"/>
                <a:gridCol w="1005850"/>
              </a:tblGrid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Channel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Apr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May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Jun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Bing Ads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83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Azerion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37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42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98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Quantcast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Held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Blended applications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103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194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Blended cost / application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$2,315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$1,110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$1,169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$1,265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p19"/>
          <p:cNvSpPr txBox="1"/>
          <p:nvPr/>
        </p:nvSpPr>
        <p:spPr>
          <a:xfrm>
            <a:off x="457200" y="4434840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Search tracking went live in May; display lines count submitted applications, the reach line counts view-through, and paid-social conversions are under validation.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6858000" y="1737360"/>
            <a:ext cx="484632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6858000" y="1737360"/>
            <a:ext cx="484632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7040880" y="1920240"/>
            <a:ext cx="44805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READ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7040880" y="2240280"/>
            <a:ext cx="4480559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June delivered 5x the application volume of April on 2.6x the spend.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Blended cost per application fell from $2,315 in April to $1,169 in June and held near that level through a 53% spend increase, so the growth was </a:t>
            </a:r>
            <a:r>
              <a:rPr lang="en-US" sz="950">
                <a:solidFill>
                  <a:srgbClr val="2B3147"/>
                </a:solidFill>
                <a:latin typeface="Calibri"/>
              </a:rPr>
              <a:t>bought at improving efficiency</a:t>
            </a: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Search and programmatic carried the measured volume: 181 submitted applications at a cost per submitted application near $650, held through the June scale-up. Paid social contributed reach and site traffic while its conversion validation completes.</a:t>
            </a:r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203" name="Google Shape;20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Q3 FY2026 IN REVIEW  ·  BLENDED OUTCOMES VS PLAN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The gap to plan sits in the non-paid base.</a:t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7 / 19</a:t>
            </a:r>
            <a:endParaRPr/>
          </a:p>
        </p:txBody>
      </p:sp>
      <p:graphicFrame>
        <p:nvGraphicFramePr>
          <p:cNvPr id="209" name="Google Shape;209;p20"/>
          <p:cNvGraphicFramePr/>
          <p:nvPr/>
        </p:nvGraphicFramePr>
        <p:xfrm>
          <a:off x="457200" y="173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560325"/>
                <a:gridCol w="1188725"/>
                <a:gridCol w="1188725"/>
                <a:gridCol w="1097275"/>
              </a:tblGrid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Metric (organic + paid)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Q3 Actual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Q3 Budget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vs Plan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Live Apps Submitted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2,167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3,984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-46%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New Approved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606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957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-37%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New Funded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106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240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-56%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New Traded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180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-44%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Actives (monthly avg)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399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485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-18%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Trading Volume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$4.3B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$6.7B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-36%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0" name="Google Shape;210;p20"/>
          <p:cNvSpPr txBox="1"/>
          <p:nvPr/>
        </p:nvSpPr>
        <p:spPr>
          <a:xfrm>
            <a:off x="457200" y="4434840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Source: Budget vs Actual dashboard (non-cohort reforecast), GGMI, organic and paid blended. July excluded (full-month forecast).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6858000" y="1737360"/>
            <a:ext cx="484632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6858000" y="1737360"/>
            <a:ext cx="484632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7040880" y="1920240"/>
            <a:ext cx="44805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READ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7040880" y="2240280"/>
            <a:ext cx="4480559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Blended submissions ran about 45% under plan and declined through the half-year (1,029 in January to 684 in June) while paid-driven applications grew every month of Q3. </a:t>
            </a:r>
            <a:r>
              <a:rPr lang="en-US" sz="950">
                <a:solidFill>
                  <a:srgbClr val="2B3147"/>
                </a:solidFill>
                <a:latin typeface="Calibri"/>
              </a:rPr>
              <a:t>The shortfall sits in the non-paid base, where two forces overlap: the volatility tailwind that carried the early-year baseline reversed (previous slides), and the site's organic capture declined (next two slides).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The funded stage shows the second constraint: -56% to plan, the application-to-funded step the onboarding roadmap is built to fix.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Trading volume tracked the softer funnel at $4.3B against a $6.7B plan.</a:t>
            </a:r>
            <a:endParaRPr/>
          </a:p>
        </p:txBody>
      </p:sp>
      <p:sp>
        <p:nvSpPr>
          <p:cNvPr id="215" name="Rectangle 214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221" name="Google Shape;22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SITE TRAFFIC  ·  SIX-MONTH VIEW (GA4, MEXICO)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June sessions rose 61% on the media scale-up. Organic sat at its low.</a:t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8 / 19</a:t>
            </a:r>
            <a:endParaRPr/>
          </a:p>
        </p:txBody>
      </p:sp>
      <p:pic>
        <p:nvPicPr>
          <p:cNvPr id="227" name="Google Shape;22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783080"/>
            <a:ext cx="6400800" cy="260604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/>
          <p:nvPr/>
        </p:nvSpPr>
        <p:spPr>
          <a:xfrm>
            <a:off x="457200" y="4572000"/>
            <a:ext cx="640080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457200" y="4572000"/>
            <a:ext cx="640080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640080" y="4754880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THE HONEST READ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640080" y="5074920"/>
            <a:ext cx="6035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February was one paid flight, not organic growth; it ended in early March and is not a baseline. The March-May slide is organic search decline, confirmed in Search Console. June's rebound was bought: of the +3,485 sessions vs May, paid search added +2,601, paid social +537, display +274. Organic added +94.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7223760" y="1783080"/>
            <a:ext cx="448056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7223760" y="1783080"/>
            <a:ext cx="448056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7406640" y="19659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WHAT IT MEANS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7406640" y="2286000"/>
            <a:ext cx="41148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Media is doing its job. June proves it can move traffic on demand.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Unique visitors are up 26% January to June, the legitimate bright spot in the half-year.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The organic foundation needs its own workstream. Until it recovers, total site traffic will track media spend rather than compound on top of it.</a:t>
            </a:r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242" name="Google Shape;24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ORGANIC SEARCH  ·  THE STRUCTURAL ISSUE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Organic search fell 75% in six months. Media cannot buy it back.</a:t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9 / 19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457200" y="1737360"/>
            <a:ext cx="6035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B3147"/>
                </a:solidFill>
                <a:latin typeface="Calibri"/>
              </a:rPr>
              <a:t>Organic Search sessions · GA4, Mexico</a:t>
            </a:r>
            <a:endParaRPr/>
          </a:p>
        </p:txBody>
      </p:sp>
      <p:pic>
        <p:nvPicPr>
          <p:cNvPr id="249" name="Google Shape;24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2011680"/>
            <a:ext cx="6035040" cy="21031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0" name="Google Shape;250;p22"/>
          <p:cNvGraphicFramePr/>
          <p:nvPr/>
        </p:nvGraphicFramePr>
        <p:xfrm>
          <a:off x="457200" y="434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743200"/>
                <a:gridCol w="1097275"/>
                <a:gridCol w="1097275"/>
                <a:gridCol w="1097275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Search Console (Mexico)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January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June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Change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Organic clicks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4,811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1,210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-75%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Demo account page (position)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slid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Trading academy page (position)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slid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Homepage, brand (position)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2.5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improved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1" name="Google Shape;251;p22"/>
          <p:cNvSpPr/>
          <p:nvPr/>
        </p:nvSpPr>
        <p:spPr>
          <a:xfrm>
            <a:off x="6858000" y="1737360"/>
            <a:ext cx="4846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6858000" y="1737360"/>
            <a:ext cx="484632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7040880" y="1920240"/>
            <a:ext cx="44805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WHAT IS DRIVING IT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7040880" y="2240280"/>
            <a:ext cx="4480559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Dated news and analysis content lost 87-99% of its clicks as it aged out with nothing replacing it, and mid-funnel commercial pages slid in rank while brand improved. The decline spans every country the Spanish site serves: a site-level content issue, confirmed independently in site analytics.</a:t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6858000" y="4160520"/>
            <a:ext cx="4846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6858000" y="4160520"/>
            <a:ext cx="484632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7040880" y="4343400"/>
            <a:ext cx="44805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WHAT WE RECOMMEND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7040880" y="4663440"/>
            <a:ext cx="4480559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Open a dedicated SEO workstream: restore the news and analysis publishing cadence, refresh the decayed assets, and run a mid-funnel rank-recovery plan (demo, academy, platform pages), measured on organic clicks and positions. Until it lands, paid media works harder each month just to hold total traffic flat.</a:t>
            </a:r>
            <a:endParaRPr/>
          </a:p>
        </p:txBody>
      </p:sp>
      <p:sp>
        <p:nvSpPr>
          <p:cNvPr id="259" name="Rectangle 258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265" name="Google Shape;26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EXECUTIVE SUMMARY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$120K deployed in June. Search and display held their CPAs through the scale-up.</a:t>
            </a:r>
            <a:endParaRPr/>
          </a:p>
        </p:txBody>
      </p:sp>
      <p:sp>
        <p:nvSpPr>
          <p:cNvPr id="268" name="Google Shape;268;p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10 / 19</a:t>
            </a:r>
            <a:endParaRPr/>
          </a:p>
        </p:txBody>
      </p:sp>
      <p:graphicFrame>
        <p:nvGraphicFramePr>
          <p:cNvPr id="271" name="Google Shape;271;p23"/>
          <p:cNvGraphicFramePr/>
          <p:nvPr/>
        </p:nvGraphicFramePr>
        <p:xfrm>
          <a:off x="457200" y="173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130550"/>
                <a:gridCol w="969275"/>
                <a:gridCol w="969275"/>
                <a:gridCol w="969275"/>
                <a:gridCol w="777250"/>
                <a:gridCol w="96927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Channel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Spend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Impr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Clicks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Conv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CPA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Bing Ads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$25,659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466,582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21,480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$513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$25,924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19.78M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407,136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Held*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Azerion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$35,026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7.68M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9,910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42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$834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Quantcast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$33,784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41.96M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11,284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 VT*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CADC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$120,393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CADC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69.9M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CADC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449,810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CADC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CADC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CADC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2" name="Google Shape;272;p23"/>
          <p:cNvSpPr txBox="1"/>
          <p:nvPr/>
        </p:nvSpPr>
        <p:spPr>
          <a:xfrm>
            <a:off x="457200" y="3675887"/>
            <a:ext cx="6766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* Paid-social conversions are held pending a placement audit. Programmatic view-through is directional only. Conversions use different events per channel and are never summed.</a:t>
            </a:r>
            <a:endParaRPr/>
          </a:p>
        </p:txBody>
      </p:sp>
      <p:sp>
        <p:nvSpPr>
          <p:cNvPr id="273" name="Google Shape;273;p23"/>
          <p:cNvSpPr/>
          <p:nvPr/>
        </p:nvSpPr>
        <p:spPr>
          <a:xfrm>
            <a:off x="7406640" y="1737360"/>
            <a:ext cx="4297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7406640" y="1737360"/>
            <a:ext cx="429768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 txBox="1"/>
          <p:nvPr/>
        </p:nvSpPr>
        <p:spPr>
          <a:xfrm>
            <a:off x="7589519" y="19202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HEADLINES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7589519" y="2240280"/>
            <a:ext cx="393192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June was the biggest GGMI media month of 2026: $120,393 across four channels, up 53% from May. Search produced 50 submitted applications at a $513 CPA, up from 33 in May, and Azerion held efficiency with 42 applications through a 20% budget increase.</a:t>
            </a:r>
            <a:endParaRPr/>
          </a:p>
        </p:txBody>
      </p:sp>
      <p:sp>
        <p:nvSpPr>
          <p:cNvPr id="277" name="Google Shape;277;p23"/>
          <p:cNvSpPr/>
          <p:nvPr/>
        </p:nvSpPr>
        <p:spPr>
          <a:xfrm>
            <a:off x="457200" y="4206240"/>
            <a:ext cx="67665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457200" y="4206240"/>
            <a:ext cx="676656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 txBox="1"/>
          <p:nvPr/>
        </p:nvSpPr>
        <p:spPr>
          <a:xfrm>
            <a:off x="640080" y="43891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WHAT THE DATA SAYS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640080" y="4709159"/>
            <a:ext cx="64008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Site traffic recovered with the spend: 9,236 Mexico sessions, up 61% from May, and 5,838 unique visitors, up 125%. The recovery is real but bought. </a:t>
            </a:r>
            <a:r>
              <a:rPr lang="en-US" sz="950">
                <a:solidFill>
                  <a:srgbClr val="2B3147"/>
                </a:solidFill>
                <a:latin typeface="Calibri"/>
              </a:rPr>
              <a:t>Media drove the June gain while organic search sat at its low.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We are approximately 31% into the annual GGMI budget, so H2 has room to scale once the quality fixes land.</a:t>
            </a:r>
            <a:endParaRPr/>
          </a:p>
        </p:txBody>
      </p:sp>
      <p:sp>
        <p:nvSpPr>
          <p:cNvPr id="281" name="Google Shape;281;p23"/>
          <p:cNvSpPr/>
          <p:nvPr/>
        </p:nvSpPr>
        <p:spPr>
          <a:xfrm>
            <a:off x="7406640" y="4206240"/>
            <a:ext cx="4297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7406640" y="4206240"/>
            <a:ext cx="429768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7589519" y="43891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96167"/>
                </a:solidFill>
                <a:latin typeface="Georgia"/>
                <a:ea typeface="Arial"/>
                <a:cs typeface="Arial"/>
                <a:sym typeface="Arial"/>
              </a:rPr>
              <a:t>JUNE PRIORITY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7589519" y="4709159"/>
            <a:ext cx="393192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Confirm the now-applied Mexico-only search targeting in July delivery, audit paid-social placements</a:t>
            </a: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 before reinstating its conversion reporting, and open the SEO workstream for the organic decline.</a:t>
            </a:r>
            <a:endParaRPr/>
          </a:p>
        </p:txBody>
      </p:sp>
      <p:sp>
        <p:nvSpPr>
          <p:cNvPr id="285" name="Rectangle 284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4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291" name="Google Shape;29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4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CONT' EXECUTIVE SUMMARY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Three findings shape the July plan.</a:t>
            </a:r>
            <a:endParaRPr/>
          </a:p>
        </p:txBody>
      </p:sp>
      <p:sp>
        <p:nvSpPr>
          <p:cNvPr id="294" name="Google Shape;294;p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11 / 19</a:t>
            </a:r>
            <a:endParaRPr/>
          </a:p>
        </p:txBody>
      </p:sp>
      <p:sp>
        <p:nvSpPr>
          <p:cNvPr id="297" name="Google Shape;297;p24"/>
          <p:cNvSpPr/>
          <p:nvPr/>
        </p:nvSpPr>
        <p:spPr>
          <a:xfrm>
            <a:off x="457200" y="1737360"/>
            <a:ext cx="557784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457200" y="1737360"/>
            <a:ext cx="557784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640080" y="1920240"/>
            <a:ext cx="52120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WHAT IS STILL FORMING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640080" y="2240280"/>
            <a:ext cx="5212079" cy="397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The June traffic recovery was bought by media. Organic search has fallen 75% since January, confirmed independently in Search Console, for identifiable SEO reasons. No media budget fixes this, and it is why total site traffic feels flat while investment grows.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Meta scaled spend 291% and delivery stayed low-cost, but click quality collapsed as delivery shifted into low-cost in-app inventory.</a:t>
            </a: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 Its conversion reporting stays on hold until the placement audit completes.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Search geo, as reviewed together: $8,612 of June delivery served outside Mexico. Mexico-only targeting is now applied, and July delivery confirms the correction.</a:t>
            </a:r>
            <a:endParaRPr/>
          </a:p>
        </p:txBody>
      </p:sp>
      <p:sp>
        <p:nvSpPr>
          <p:cNvPr id="301" name="Google Shape;301;p24"/>
          <p:cNvSpPr/>
          <p:nvPr/>
        </p:nvSpPr>
        <p:spPr>
          <a:xfrm>
            <a:off x="6309360" y="1737360"/>
            <a:ext cx="53949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6309360" y="1737360"/>
            <a:ext cx="539496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4"/>
          <p:cNvSpPr txBox="1"/>
          <p:nvPr/>
        </p:nvSpPr>
        <p:spPr>
          <a:xfrm>
            <a:off x="6492240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WHAT WE RECOMMEND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6492240" y="2240280"/>
            <a:ext cx="5029200" cy="397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Verify the corrected Mexico-only search targeting in July delivery; roughly $8.6K per month is redirected into Mexico.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Run the placement-level audit and exclusions on paid social before scaling it further, and judge the channel on measured site sessions until validation completes.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Open a dedicated SEO workstream for the Spanish site. It is the structural fix for traffic that tracks media spend instead of compounding on top of it.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Apply the 49-site programmatic blocklist and set a campaign-level viewability floor.</a:t>
            </a:r>
            <a:endParaRPr/>
          </a:p>
        </p:txBody>
      </p:sp>
      <p:sp>
        <p:nvSpPr>
          <p:cNvPr id="305" name="Rectangle 304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311" name="Google Shape;31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5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BING ADS  ·  PERFORMANCE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50 submitted applications at $513, up from 33 at $484 in May.</a:t>
            </a:r>
            <a:endParaRPr/>
          </a:p>
        </p:txBody>
      </p:sp>
      <p:sp>
        <p:nvSpPr>
          <p:cNvPr id="314" name="Google Shape;314;p2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5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12 / 19</a:t>
            </a:r>
            <a:endParaRPr/>
          </a:p>
        </p:txBody>
      </p:sp>
      <p:sp>
        <p:nvSpPr>
          <p:cNvPr id="317" name="Google Shape;317;p25"/>
          <p:cNvSpPr/>
          <p:nvPr/>
        </p:nvSpPr>
        <p:spPr>
          <a:xfrm>
            <a:off x="457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457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 txBox="1"/>
          <p:nvPr/>
        </p:nvSpPr>
        <p:spPr>
          <a:xfrm>
            <a:off x="640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SPEND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640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$25,659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640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+61% MoM</a:t>
            </a:r>
            <a:endParaRPr/>
          </a:p>
        </p:txBody>
      </p:sp>
      <p:sp>
        <p:nvSpPr>
          <p:cNvPr id="322" name="Google Shape;322;p25"/>
          <p:cNvSpPr/>
          <p:nvPr/>
        </p:nvSpPr>
        <p:spPr>
          <a:xfrm>
            <a:off x="22860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22860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 txBox="1"/>
          <p:nvPr/>
        </p:nvSpPr>
        <p:spPr>
          <a:xfrm>
            <a:off x="24688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IMPRESSIONS</a:t>
            </a:r>
            <a:endParaRPr/>
          </a:p>
        </p:txBody>
      </p:sp>
      <p:sp>
        <p:nvSpPr>
          <p:cNvPr id="325" name="Google Shape;325;p25"/>
          <p:cNvSpPr txBox="1"/>
          <p:nvPr/>
        </p:nvSpPr>
        <p:spPr>
          <a:xfrm>
            <a:off x="24688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466,582</a:t>
            </a:r>
            <a:endParaRPr/>
          </a:p>
        </p:txBody>
      </p:sp>
      <p:sp>
        <p:nvSpPr>
          <p:cNvPr id="326" name="Google Shape;326;p25"/>
          <p:cNvSpPr txBox="1"/>
          <p:nvPr/>
        </p:nvSpPr>
        <p:spPr>
          <a:xfrm>
            <a:off x="24688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3 campaigns</a:t>
            </a:r>
            <a:endParaRPr/>
          </a:p>
        </p:txBody>
      </p:sp>
      <p:sp>
        <p:nvSpPr>
          <p:cNvPr id="327" name="Google Shape;327;p25"/>
          <p:cNvSpPr/>
          <p:nvPr/>
        </p:nvSpPr>
        <p:spPr>
          <a:xfrm>
            <a:off x="41148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/>
          <p:nvPr/>
        </p:nvSpPr>
        <p:spPr>
          <a:xfrm>
            <a:off x="41148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 txBox="1"/>
          <p:nvPr/>
        </p:nvSpPr>
        <p:spPr>
          <a:xfrm>
            <a:off x="42976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CLICKS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42976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21,480</a:t>
            </a:r>
            <a:endParaRPr/>
          </a:p>
        </p:txBody>
      </p:sp>
      <p:sp>
        <p:nvSpPr>
          <p:cNvPr id="331" name="Google Shape;331;p25"/>
          <p:cNvSpPr txBox="1"/>
          <p:nvPr/>
        </p:nvSpPr>
        <p:spPr>
          <a:xfrm>
            <a:off x="42976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CTR 4.60%</a:t>
            </a:r>
            <a:endParaRPr/>
          </a:p>
        </p:txBody>
      </p:sp>
      <p:sp>
        <p:nvSpPr>
          <p:cNvPr id="332" name="Google Shape;332;p25"/>
          <p:cNvSpPr/>
          <p:nvPr/>
        </p:nvSpPr>
        <p:spPr>
          <a:xfrm>
            <a:off x="59436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5"/>
          <p:cNvSpPr/>
          <p:nvPr/>
        </p:nvSpPr>
        <p:spPr>
          <a:xfrm>
            <a:off x="59436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 txBox="1"/>
          <p:nvPr/>
        </p:nvSpPr>
        <p:spPr>
          <a:xfrm>
            <a:off x="61264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AVG CPC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61264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$1.19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61264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$0.53</a:t>
            </a:r>
            <a:endParaRPr/>
          </a:p>
        </p:txBody>
      </p:sp>
      <p:sp>
        <p:nvSpPr>
          <p:cNvPr id="337" name="Google Shape;337;p25"/>
          <p:cNvSpPr/>
          <p:nvPr/>
        </p:nvSpPr>
        <p:spPr>
          <a:xfrm>
            <a:off x="77724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77724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 txBox="1"/>
          <p:nvPr/>
        </p:nvSpPr>
        <p:spPr>
          <a:xfrm>
            <a:off x="7955279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SUBMITTED APPS</a:t>
            </a:r>
            <a:endParaRPr/>
          </a:p>
        </p:txBody>
      </p:sp>
      <p:sp>
        <p:nvSpPr>
          <p:cNvPr id="340" name="Google Shape;340;p25"/>
          <p:cNvSpPr txBox="1"/>
          <p:nvPr/>
        </p:nvSpPr>
        <p:spPr>
          <a:xfrm>
            <a:off x="7955279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7955279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33</a:t>
            </a:r>
            <a:endParaRPr/>
          </a:p>
        </p:txBody>
      </p:sp>
      <p:sp>
        <p:nvSpPr>
          <p:cNvPr id="342" name="Google Shape;342;p25"/>
          <p:cNvSpPr/>
          <p:nvPr/>
        </p:nvSpPr>
        <p:spPr>
          <a:xfrm>
            <a:off x="9601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5"/>
          <p:cNvSpPr/>
          <p:nvPr/>
        </p:nvSpPr>
        <p:spPr>
          <a:xfrm>
            <a:off x="9601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5"/>
          <p:cNvSpPr txBox="1"/>
          <p:nvPr/>
        </p:nvSpPr>
        <p:spPr>
          <a:xfrm>
            <a:off x="9784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CPA</a:t>
            </a:r>
            <a:endParaRPr/>
          </a:p>
        </p:txBody>
      </p:sp>
      <p:sp>
        <p:nvSpPr>
          <p:cNvPr id="345" name="Google Shape;345;p25"/>
          <p:cNvSpPr txBox="1"/>
          <p:nvPr/>
        </p:nvSpPr>
        <p:spPr>
          <a:xfrm>
            <a:off x="9784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$513</a:t>
            </a:r>
            <a:endParaRPr/>
          </a:p>
        </p:txBody>
      </p:sp>
      <p:sp>
        <p:nvSpPr>
          <p:cNvPr id="346" name="Google Shape;346;p25"/>
          <p:cNvSpPr txBox="1"/>
          <p:nvPr/>
        </p:nvSpPr>
        <p:spPr>
          <a:xfrm>
            <a:off x="9784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$484</a:t>
            </a:r>
            <a:endParaRPr/>
          </a:p>
        </p:txBody>
      </p:sp>
      <p:sp>
        <p:nvSpPr>
          <p:cNvPr id="347" name="Google Shape;347;p25"/>
          <p:cNvSpPr txBox="1"/>
          <p:nvPr/>
        </p:nvSpPr>
        <p:spPr>
          <a:xfrm>
            <a:off x="457200" y="30632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Campaigns</a:t>
            </a:r>
            <a:endParaRPr/>
          </a:p>
        </p:txBody>
      </p:sp>
      <p:graphicFrame>
        <p:nvGraphicFramePr>
          <p:cNvPr id="348" name="Google Shape;348;p25"/>
          <p:cNvGraphicFramePr/>
          <p:nvPr/>
        </p:nvGraphicFramePr>
        <p:xfrm>
          <a:off x="457200" y="3337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743200"/>
                <a:gridCol w="1097275"/>
                <a:gridCol w="1097275"/>
                <a:gridCol w="914400"/>
                <a:gridCol w="109727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Campaign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Spend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Clicks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Apps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CPA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AO Generic (policy test)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$13,508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11,020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27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$500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Brand + Generic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$8,154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7,559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$906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Platform Intercept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$3,996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2,901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$285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49" name="Google Shape;349;p25"/>
          <p:cNvSpPr/>
          <p:nvPr/>
        </p:nvSpPr>
        <p:spPr>
          <a:xfrm>
            <a:off x="7680960" y="3063240"/>
            <a:ext cx="40233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5"/>
          <p:cNvSpPr/>
          <p:nvPr/>
        </p:nvSpPr>
        <p:spPr>
          <a:xfrm>
            <a:off x="7680960" y="3063240"/>
            <a:ext cx="402336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7863840" y="3246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HIGHLIGHTS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7863840" y="3566160"/>
            <a:ext cx="3657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Conversions rose 52% (33 to 50) while spend rose 61%, so the CPA moved only $484 to $513 through the scale-up.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The account expanded from 1 campaign to 3. Platform Intercept is the efficiency leader at a $285 CPA.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CPC rose $0.53 to $1.19 with the shift into the new campaign themes.</a:t>
            </a:r>
            <a:endParaRPr/>
          </a:p>
        </p:txBody>
      </p:sp>
      <p:sp>
        <p:nvSpPr>
          <p:cNvPr id="353" name="Google Shape;353;p25"/>
          <p:cNvSpPr txBox="1"/>
          <p:nvPr/>
        </p:nvSpPr>
        <p:spPr>
          <a:xfrm>
            <a:off x="457200" y="4800600"/>
            <a:ext cx="6949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Geo delivery, as reviewed together: $8,612 of June delivery served outside Mexico, led by Spain, Venezuela, and the US. Mexico-only targeting (people in Mexico) is now in place, and July reports on the corrected setup.</a:t>
            </a:r>
            <a:endParaRPr/>
          </a:p>
        </p:txBody>
      </p:sp>
      <p:sp>
        <p:nvSpPr>
          <p:cNvPr id="354" name="Rectangle 353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6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6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360" name="Google Shape;36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6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BING ADS  ·  READ &amp; RECOMMENDATIONS</a:t>
            </a:r>
            <a:endParaRPr/>
          </a:p>
        </p:txBody>
      </p:sp>
      <p:sp>
        <p:nvSpPr>
          <p:cNvPr id="362" name="Google Shape;362;p26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Concentrate every search dollar in Mexico.</a:t>
            </a:r>
            <a:endParaRPr/>
          </a:p>
        </p:txBody>
      </p:sp>
      <p:sp>
        <p:nvSpPr>
          <p:cNvPr id="363" name="Google Shape;363;p2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6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365" name="Google Shape;365;p26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13 / 19</a:t>
            </a:r>
            <a:endParaRPr/>
          </a:p>
        </p:txBody>
      </p:sp>
      <p:sp>
        <p:nvSpPr>
          <p:cNvPr id="366" name="Google Shape;366;p26"/>
          <p:cNvSpPr/>
          <p:nvPr/>
        </p:nvSpPr>
        <p:spPr>
          <a:xfrm>
            <a:off x="457200" y="1737360"/>
            <a:ext cx="557784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457200" y="1737360"/>
            <a:ext cx="557784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6"/>
          <p:cNvSpPr txBox="1"/>
          <p:nvPr/>
        </p:nvSpPr>
        <p:spPr>
          <a:xfrm>
            <a:off x="640080" y="1920240"/>
            <a:ext cx="52120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WHAT THE DATA SHOWS</a:t>
            </a:r>
            <a:endParaRPr/>
          </a:p>
        </p:txBody>
      </p:sp>
      <p:sp>
        <p:nvSpPr>
          <p:cNvPr id="369" name="Google Shape;369;p26"/>
          <p:cNvSpPr txBox="1"/>
          <p:nvPr/>
        </p:nvSpPr>
        <p:spPr>
          <a:xfrm>
            <a:off x="640080" y="2240280"/>
            <a:ext cx="5212079" cy="397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Search remains the most efficient measured converter in the account, and it held that efficiency while scaling 61%.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June was the last month on the old geo setup, with $8,612 delivered outside Mexico. With Mexico-only targeting now in place, that spend concentrates in-market, which should improve effective Mexico CPA immediately.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The new campaign themes raised CPC ($0.53 to $1.19). Platform Intercept converts at $285, so the mix has room to rebalance toward what works.</a:t>
            </a:r>
            <a:endParaRPr/>
          </a:p>
        </p:txBody>
      </p:sp>
      <p:sp>
        <p:nvSpPr>
          <p:cNvPr id="370" name="Google Shape;370;p26"/>
          <p:cNvSpPr/>
          <p:nvPr/>
        </p:nvSpPr>
        <p:spPr>
          <a:xfrm>
            <a:off x="6309360" y="1737360"/>
            <a:ext cx="53949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6"/>
          <p:cNvSpPr/>
          <p:nvPr/>
        </p:nvSpPr>
        <p:spPr>
          <a:xfrm>
            <a:off x="6309360" y="1737360"/>
            <a:ext cx="539496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6"/>
          <p:cNvSpPr txBox="1"/>
          <p:nvPr/>
        </p:nvSpPr>
        <p:spPr>
          <a:xfrm>
            <a:off x="6492240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WHAT WE RECOMMEND</a:t>
            </a:r>
            <a:endParaRPr/>
          </a:p>
        </p:txBody>
      </p:sp>
      <p:sp>
        <p:nvSpPr>
          <p:cNvPr id="373" name="Google Shape;373;p26"/>
          <p:cNvSpPr txBox="1"/>
          <p:nvPr/>
        </p:nvSpPr>
        <p:spPr>
          <a:xfrm>
            <a:off x="6492240" y="2240280"/>
            <a:ext cx="5029200" cy="397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Mexico presence-only targeting is applied; the July report confirms 100% in-market delivery, with roughly $8.6K per month redirected into Mexico.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Rebalance budget toward the proven converters, led by Platform Intercept at $285, while the newer themes prove out.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Link the search account in GA4 so July reporting attributes paid search fully (detail on the measurement slide).</a:t>
            </a:r>
            <a:endParaRPr/>
          </a:p>
        </p:txBody>
      </p:sp>
      <p:sp>
        <p:nvSpPr>
          <p:cNvPr id="374" name="Rectangle 373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7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7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380" name="Google Shape;38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7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META  ·  PERFORMANCE</a:t>
            </a:r>
            <a:endParaRPr/>
          </a:p>
        </p:txBody>
      </p:sp>
      <p:sp>
        <p:nvSpPr>
          <p:cNvPr id="382" name="Google Shape;382;p27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19.8M impressions at a $1.31 CPM. Click quality is the June question.</a:t>
            </a:r>
            <a:endParaRPr/>
          </a:p>
        </p:txBody>
      </p:sp>
      <p:sp>
        <p:nvSpPr>
          <p:cNvPr id="383" name="Google Shape;383;p2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7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385" name="Google Shape;385;p27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14 / 19</a:t>
            </a:r>
            <a:endParaRPr/>
          </a:p>
        </p:txBody>
      </p:sp>
      <p:sp>
        <p:nvSpPr>
          <p:cNvPr id="386" name="Google Shape;386;p27"/>
          <p:cNvSpPr/>
          <p:nvPr/>
        </p:nvSpPr>
        <p:spPr>
          <a:xfrm>
            <a:off x="457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457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7"/>
          <p:cNvSpPr txBox="1"/>
          <p:nvPr/>
        </p:nvSpPr>
        <p:spPr>
          <a:xfrm>
            <a:off x="640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SPEND</a:t>
            </a:r>
            <a:endParaRPr/>
          </a:p>
        </p:txBody>
      </p:sp>
      <p:sp>
        <p:nvSpPr>
          <p:cNvPr id="389" name="Google Shape;389;p27"/>
          <p:cNvSpPr txBox="1"/>
          <p:nvPr/>
        </p:nvSpPr>
        <p:spPr>
          <a:xfrm>
            <a:off x="640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$25,924</a:t>
            </a:r>
            <a:endParaRPr/>
          </a:p>
        </p:txBody>
      </p:sp>
      <p:sp>
        <p:nvSpPr>
          <p:cNvPr id="390" name="Google Shape;390;p27"/>
          <p:cNvSpPr txBox="1"/>
          <p:nvPr/>
        </p:nvSpPr>
        <p:spPr>
          <a:xfrm>
            <a:off x="640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+291% MoM</a:t>
            </a:r>
            <a:endParaRPr/>
          </a:p>
        </p:txBody>
      </p:sp>
      <p:sp>
        <p:nvSpPr>
          <p:cNvPr id="391" name="Google Shape;391;p27"/>
          <p:cNvSpPr/>
          <p:nvPr/>
        </p:nvSpPr>
        <p:spPr>
          <a:xfrm>
            <a:off x="22860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7"/>
          <p:cNvSpPr/>
          <p:nvPr/>
        </p:nvSpPr>
        <p:spPr>
          <a:xfrm>
            <a:off x="22860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7"/>
          <p:cNvSpPr txBox="1"/>
          <p:nvPr/>
        </p:nvSpPr>
        <p:spPr>
          <a:xfrm>
            <a:off x="24688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IMPRESSIONS</a:t>
            </a:r>
            <a:endParaRPr/>
          </a:p>
        </p:txBody>
      </p:sp>
      <p:sp>
        <p:nvSpPr>
          <p:cNvPr id="394" name="Google Shape;394;p27"/>
          <p:cNvSpPr txBox="1"/>
          <p:nvPr/>
        </p:nvSpPr>
        <p:spPr>
          <a:xfrm>
            <a:off x="24688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19.78M</a:t>
            </a:r>
            <a:endParaRPr/>
          </a:p>
        </p:txBody>
      </p:sp>
      <p:sp>
        <p:nvSpPr>
          <p:cNvPr id="395" name="Google Shape;395;p27"/>
          <p:cNvSpPr txBox="1"/>
          <p:nvPr/>
        </p:nvSpPr>
        <p:spPr>
          <a:xfrm>
            <a:off x="24688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100% Mexico</a:t>
            </a:r>
            <a:endParaRPr/>
          </a:p>
        </p:txBody>
      </p:sp>
      <p:sp>
        <p:nvSpPr>
          <p:cNvPr id="396" name="Google Shape;396;p27"/>
          <p:cNvSpPr/>
          <p:nvPr/>
        </p:nvSpPr>
        <p:spPr>
          <a:xfrm>
            <a:off x="41148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7"/>
          <p:cNvSpPr/>
          <p:nvPr/>
        </p:nvSpPr>
        <p:spPr>
          <a:xfrm>
            <a:off x="41148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7"/>
          <p:cNvSpPr txBox="1"/>
          <p:nvPr/>
        </p:nvSpPr>
        <p:spPr>
          <a:xfrm>
            <a:off x="42976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LINK CLICKS</a:t>
            </a:r>
            <a:endParaRPr/>
          </a:p>
        </p:txBody>
      </p:sp>
      <p:sp>
        <p:nvSpPr>
          <p:cNvPr id="399" name="Google Shape;399;p27"/>
          <p:cNvSpPr txBox="1"/>
          <p:nvPr/>
        </p:nvSpPr>
        <p:spPr>
          <a:xfrm>
            <a:off x="42976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407,136</a:t>
            </a:r>
            <a:endParaRPr/>
          </a:p>
        </p:txBody>
      </p:sp>
      <p:sp>
        <p:nvSpPr>
          <p:cNvPr id="400" name="Google Shape;400;p27"/>
          <p:cNvSpPr txBox="1"/>
          <p:nvPr/>
        </p:nvSpPr>
        <p:spPr>
          <a:xfrm>
            <a:off x="42976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CTR 2.06%</a:t>
            </a:r>
            <a:endParaRPr/>
          </a:p>
        </p:txBody>
      </p:sp>
      <p:sp>
        <p:nvSpPr>
          <p:cNvPr id="401" name="Google Shape;401;p27"/>
          <p:cNvSpPr/>
          <p:nvPr/>
        </p:nvSpPr>
        <p:spPr>
          <a:xfrm>
            <a:off x="59436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7"/>
          <p:cNvSpPr/>
          <p:nvPr/>
        </p:nvSpPr>
        <p:spPr>
          <a:xfrm>
            <a:off x="59436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7"/>
          <p:cNvSpPr txBox="1"/>
          <p:nvPr/>
        </p:nvSpPr>
        <p:spPr>
          <a:xfrm>
            <a:off x="61264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CPM</a:t>
            </a:r>
            <a:endParaRPr/>
          </a:p>
        </p:txBody>
      </p:sp>
      <p:sp>
        <p:nvSpPr>
          <p:cNvPr id="404" name="Google Shape;404;p27"/>
          <p:cNvSpPr txBox="1"/>
          <p:nvPr/>
        </p:nvSpPr>
        <p:spPr>
          <a:xfrm>
            <a:off x="61264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$1.31</a:t>
            </a:r>
            <a:endParaRPr/>
          </a:p>
        </p:txBody>
      </p:sp>
      <p:sp>
        <p:nvSpPr>
          <p:cNvPr id="405" name="Google Shape;405;p27"/>
          <p:cNvSpPr txBox="1"/>
          <p:nvPr/>
        </p:nvSpPr>
        <p:spPr>
          <a:xfrm>
            <a:off x="61264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$0.97</a:t>
            </a:r>
            <a:endParaRPr/>
          </a:p>
        </p:txBody>
      </p:sp>
      <p:sp>
        <p:nvSpPr>
          <p:cNvPr id="406" name="Google Shape;406;p27"/>
          <p:cNvSpPr/>
          <p:nvPr/>
        </p:nvSpPr>
        <p:spPr>
          <a:xfrm>
            <a:off x="77724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7"/>
          <p:cNvSpPr/>
          <p:nvPr/>
        </p:nvSpPr>
        <p:spPr>
          <a:xfrm>
            <a:off x="77724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7"/>
          <p:cNvSpPr txBox="1"/>
          <p:nvPr/>
        </p:nvSpPr>
        <p:spPr>
          <a:xfrm>
            <a:off x="7955279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LP VIEWS</a:t>
            </a:r>
            <a:endParaRPr/>
          </a:p>
        </p:txBody>
      </p:sp>
      <p:sp>
        <p:nvSpPr>
          <p:cNvPr id="409" name="Google Shape;409;p27"/>
          <p:cNvSpPr txBox="1"/>
          <p:nvPr/>
        </p:nvSpPr>
        <p:spPr>
          <a:xfrm>
            <a:off x="7955279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249,972</a:t>
            </a:r>
            <a:endParaRPr/>
          </a:p>
        </p:txBody>
      </p:sp>
      <p:sp>
        <p:nvSpPr>
          <p:cNvPr id="410" name="Google Shape;410;p27"/>
          <p:cNvSpPr txBox="1"/>
          <p:nvPr/>
        </p:nvSpPr>
        <p:spPr>
          <a:xfrm>
            <a:off x="7955279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platform-reported</a:t>
            </a:r>
            <a:endParaRPr/>
          </a:p>
        </p:txBody>
      </p:sp>
      <p:sp>
        <p:nvSpPr>
          <p:cNvPr id="411" name="Google Shape;411;p27"/>
          <p:cNvSpPr/>
          <p:nvPr/>
        </p:nvSpPr>
        <p:spPr>
          <a:xfrm>
            <a:off x="9601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7"/>
          <p:cNvSpPr/>
          <p:nvPr/>
        </p:nvSpPr>
        <p:spPr>
          <a:xfrm>
            <a:off x="9601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7"/>
          <p:cNvSpPr txBox="1"/>
          <p:nvPr/>
        </p:nvSpPr>
        <p:spPr>
          <a:xfrm>
            <a:off x="9784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CONVERSIONS</a:t>
            </a:r>
            <a:endParaRPr/>
          </a:p>
        </p:txBody>
      </p:sp>
      <p:sp>
        <p:nvSpPr>
          <p:cNvPr id="414" name="Google Shape;414;p27"/>
          <p:cNvSpPr txBox="1"/>
          <p:nvPr/>
        </p:nvSpPr>
        <p:spPr>
          <a:xfrm>
            <a:off x="9784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Held</a:t>
            </a:r>
            <a:endParaRPr/>
          </a:p>
        </p:txBody>
      </p:sp>
      <p:sp>
        <p:nvSpPr>
          <p:cNvPr id="415" name="Google Shape;415;p27"/>
          <p:cNvSpPr txBox="1"/>
          <p:nvPr/>
        </p:nvSpPr>
        <p:spPr>
          <a:xfrm>
            <a:off x="9784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validation open</a:t>
            </a:r>
            <a:endParaRPr/>
          </a:p>
        </p:txBody>
      </p:sp>
      <p:sp>
        <p:nvSpPr>
          <p:cNvPr id="416" name="Google Shape;416;p27"/>
          <p:cNvSpPr/>
          <p:nvPr/>
        </p:nvSpPr>
        <p:spPr>
          <a:xfrm>
            <a:off x="457200" y="3063240"/>
            <a:ext cx="557784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7"/>
          <p:cNvSpPr/>
          <p:nvPr/>
        </p:nvSpPr>
        <p:spPr>
          <a:xfrm>
            <a:off x="457200" y="3063240"/>
            <a:ext cx="557784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7"/>
          <p:cNvSpPr txBox="1"/>
          <p:nvPr/>
        </p:nvSpPr>
        <p:spPr>
          <a:xfrm>
            <a:off x="640080" y="3246120"/>
            <a:ext cx="52120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HIGHLIGHTS</a:t>
            </a:r>
            <a:endParaRPr/>
          </a:p>
        </p:txBody>
      </p:sp>
      <p:sp>
        <p:nvSpPr>
          <p:cNvPr id="419" name="Google Shape;419;p27"/>
          <p:cNvSpPr txBox="1"/>
          <p:nvPr/>
        </p:nvSpPr>
        <p:spPr>
          <a:xfrm>
            <a:off x="640080" y="3566160"/>
            <a:ext cx="5212079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Delivery scaled hard and stayed low-cost: 19.8M impressions at a $1.31 CPM, all in Mexico, with the first month off a pure traffic objective.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This account converted platform clicks into measured site visits at 15.7% in February. June ran at 0.19%. </a:t>
            </a:r>
            <a:r>
              <a:rPr lang="en-US" sz="950">
                <a:solidFill>
                  <a:srgbClr val="2B3147"/>
                </a:solidFill>
                <a:latin typeface="Calibri"/>
              </a:rPr>
              <a:t>Same pixel, same site, same market. The February benchmark isolates inventory quality as the cause, and the placement audit converts that finding into exclusions.</a:t>
            </a:r>
            <a:endParaRPr/>
          </a:p>
        </p:txBody>
      </p:sp>
      <p:sp>
        <p:nvSpPr>
          <p:cNvPr id="420" name="Google Shape;420;p27"/>
          <p:cNvSpPr/>
          <p:nvPr/>
        </p:nvSpPr>
        <p:spPr>
          <a:xfrm>
            <a:off x="6309360" y="3063240"/>
            <a:ext cx="53949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7"/>
          <p:cNvSpPr/>
          <p:nvPr/>
        </p:nvSpPr>
        <p:spPr>
          <a:xfrm>
            <a:off x="6309360" y="3063240"/>
            <a:ext cx="539496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7"/>
          <p:cNvSpPr txBox="1"/>
          <p:nvPr/>
        </p:nvSpPr>
        <p:spPr>
          <a:xfrm>
            <a:off x="6492240" y="32461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WHY CONVERSIONS ARE HELD</a:t>
            </a:r>
            <a:endParaRPr/>
          </a:p>
        </p:txBody>
      </p:sp>
      <p:sp>
        <p:nvSpPr>
          <p:cNvPr id="423" name="Google Shape;423;p27"/>
          <p:cNvSpPr txBox="1"/>
          <p:nvPr/>
        </p:nvSpPr>
        <p:spPr>
          <a:xfrm>
            <a:off x="6492240" y="3566160"/>
            <a:ext cx="50292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The platform reports 86 conversions for June. 67 of them come from one retargeting campaign with only 126 landing-page views, which is not a credible application rate.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We are holding conversion reporting until the placement audit and pixel-event review complete. Delivery metrics (reach, clicks, CPM) are unaffected.</a:t>
            </a:r>
            <a:endParaRPr/>
          </a:p>
        </p:txBody>
      </p:sp>
      <p:sp>
        <p:nvSpPr>
          <p:cNvPr id="424" name="Rectangle 423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8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8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430" name="Google Shape;43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8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META  ·  READ &amp; RECOMMENDATIONS</a:t>
            </a:r>
            <a:endParaRPr/>
          </a:p>
        </p:txBody>
      </p:sp>
      <p:sp>
        <p:nvSpPr>
          <p:cNvPr id="432" name="Google Shape;432;p28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Audit the placements before judging the channel.</a:t>
            </a:r>
            <a:endParaRPr/>
          </a:p>
        </p:txBody>
      </p:sp>
      <p:sp>
        <p:nvSpPr>
          <p:cNvPr id="433" name="Google Shape;433;p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8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435" name="Google Shape;435;p28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15 / 19</a:t>
            </a:r>
            <a:endParaRPr/>
          </a:p>
        </p:txBody>
      </p:sp>
      <p:sp>
        <p:nvSpPr>
          <p:cNvPr id="436" name="Google Shape;436;p28"/>
          <p:cNvSpPr/>
          <p:nvPr/>
        </p:nvSpPr>
        <p:spPr>
          <a:xfrm>
            <a:off x="457200" y="1737360"/>
            <a:ext cx="557784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8"/>
          <p:cNvSpPr/>
          <p:nvPr/>
        </p:nvSpPr>
        <p:spPr>
          <a:xfrm>
            <a:off x="457200" y="1737360"/>
            <a:ext cx="557784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8"/>
          <p:cNvSpPr txBox="1"/>
          <p:nvPr/>
        </p:nvSpPr>
        <p:spPr>
          <a:xfrm>
            <a:off x="640080" y="1920240"/>
            <a:ext cx="52120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WHAT THE DATA SHOWS</a:t>
            </a:r>
            <a:endParaRPr/>
          </a:p>
        </p:txBody>
      </p:sp>
      <p:sp>
        <p:nvSpPr>
          <p:cNvPr id="439" name="Google Shape;439;p28"/>
          <p:cNvSpPr txBox="1"/>
          <p:nvPr/>
        </p:nvSpPr>
        <p:spPr>
          <a:xfrm>
            <a:off x="640080" y="2240280"/>
            <a:ext cx="5212079" cy="397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The traffic-objective delivery skewed toward low-cost in-app inventory, with 63% of spend serving users 55 and older; the placement exclusions and objective shift repoint it.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Platform-reported landing-page views exceed what any measurement system records on the site by an order of magnitude. The landing pages are confirmed tagged and tracking, so the February-vs-June capture comparison isolates inventory quality, not tracking, as the cause.</a:t>
            </a:r>
            <a:endParaRPr/>
          </a:p>
        </p:txBody>
      </p:sp>
      <p:sp>
        <p:nvSpPr>
          <p:cNvPr id="440" name="Google Shape;440;p28"/>
          <p:cNvSpPr/>
          <p:nvPr/>
        </p:nvSpPr>
        <p:spPr>
          <a:xfrm>
            <a:off x="6309360" y="1737360"/>
            <a:ext cx="53949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8"/>
          <p:cNvSpPr/>
          <p:nvPr/>
        </p:nvSpPr>
        <p:spPr>
          <a:xfrm>
            <a:off x="6309360" y="1737360"/>
            <a:ext cx="539496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8"/>
          <p:cNvSpPr txBox="1"/>
          <p:nvPr/>
        </p:nvSpPr>
        <p:spPr>
          <a:xfrm>
            <a:off x="6492240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WHAT WE RECOMMEND</a:t>
            </a:r>
            <a:endParaRPr/>
          </a:p>
        </p:txBody>
      </p:sp>
      <p:sp>
        <p:nvSpPr>
          <p:cNvPr id="443" name="Google Shape;443;p28"/>
          <p:cNvSpPr txBox="1"/>
          <p:nvPr/>
        </p:nvSpPr>
        <p:spPr>
          <a:xfrm>
            <a:off x="6492240" y="2240280"/>
            <a:ext cx="5029200" cy="397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Run the placement-level audit and apply exclusions. This is the highest-value action on this channel for July.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Rebalance the 55+ age skew and complete the shift to a conversion objective.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Judge the channel on measured site sessions until conversion validation completes, then reinstate conversion reporting.</a:t>
            </a:r>
            <a:endParaRPr/>
          </a:p>
        </p:txBody>
      </p:sp>
      <p:sp>
        <p:nvSpPr>
          <p:cNvPr id="444" name="Rectangle 443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9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9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450" name="Google Shape;45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29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AZERION  ·  PERFORMANCE</a:t>
            </a:r>
            <a:endParaRPr/>
          </a:p>
        </p:txBody>
      </p:sp>
      <p:sp>
        <p:nvSpPr>
          <p:cNvPr id="452" name="Google Shape;452;p29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42 submitted applications at $834, from 37 at $792 in May.</a:t>
            </a:r>
            <a:endParaRPr/>
          </a:p>
        </p:txBody>
      </p:sp>
      <p:sp>
        <p:nvSpPr>
          <p:cNvPr id="453" name="Google Shape;453;p2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9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455" name="Google Shape;455;p29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16 / 19</a:t>
            </a:r>
            <a:endParaRPr/>
          </a:p>
        </p:txBody>
      </p:sp>
      <p:sp>
        <p:nvSpPr>
          <p:cNvPr id="456" name="Google Shape;456;p29"/>
          <p:cNvSpPr/>
          <p:nvPr/>
        </p:nvSpPr>
        <p:spPr>
          <a:xfrm>
            <a:off x="457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9"/>
          <p:cNvSpPr/>
          <p:nvPr/>
        </p:nvSpPr>
        <p:spPr>
          <a:xfrm>
            <a:off x="457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9"/>
          <p:cNvSpPr txBox="1"/>
          <p:nvPr/>
        </p:nvSpPr>
        <p:spPr>
          <a:xfrm>
            <a:off x="640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SPEND</a:t>
            </a:r>
            <a:endParaRPr/>
          </a:p>
        </p:txBody>
      </p:sp>
      <p:sp>
        <p:nvSpPr>
          <p:cNvPr id="459" name="Google Shape;459;p29"/>
          <p:cNvSpPr txBox="1"/>
          <p:nvPr/>
        </p:nvSpPr>
        <p:spPr>
          <a:xfrm>
            <a:off x="640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$35,026</a:t>
            </a:r>
            <a:endParaRPr/>
          </a:p>
        </p:txBody>
      </p:sp>
      <p:sp>
        <p:nvSpPr>
          <p:cNvPr id="460" name="Google Shape;460;p29"/>
          <p:cNvSpPr txBox="1"/>
          <p:nvPr/>
        </p:nvSpPr>
        <p:spPr>
          <a:xfrm>
            <a:off x="640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+20% MoM</a:t>
            </a:r>
            <a:endParaRPr/>
          </a:p>
        </p:txBody>
      </p:sp>
      <p:sp>
        <p:nvSpPr>
          <p:cNvPr id="461" name="Google Shape;461;p29"/>
          <p:cNvSpPr/>
          <p:nvPr/>
        </p:nvSpPr>
        <p:spPr>
          <a:xfrm>
            <a:off x="22860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9"/>
          <p:cNvSpPr/>
          <p:nvPr/>
        </p:nvSpPr>
        <p:spPr>
          <a:xfrm>
            <a:off x="22860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9"/>
          <p:cNvSpPr txBox="1"/>
          <p:nvPr/>
        </p:nvSpPr>
        <p:spPr>
          <a:xfrm>
            <a:off x="24688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IMPRESSIONS</a:t>
            </a:r>
            <a:endParaRPr/>
          </a:p>
        </p:txBody>
      </p:sp>
      <p:sp>
        <p:nvSpPr>
          <p:cNvPr id="464" name="Google Shape;464;p29"/>
          <p:cNvSpPr txBox="1"/>
          <p:nvPr/>
        </p:nvSpPr>
        <p:spPr>
          <a:xfrm>
            <a:off x="24688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7.68M</a:t>
            </a:r>
            <a:endParaRPr/>
          </a:p>
        </p:txBody>
      </p:sp>
      <p:sp>
        <p:nvSpPr>
          <p:cNvPr id="465" name="Google Shape;465;p29"/>
          <p:cNvSpPr txBox="1"/>
          <p:nvPr/>
        </p:nvSpPr>
        <p:spPr>
          <a:xfrm>
            <a:off x="24688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2.18M devices</a:t>
            </a:r>
            <a:endParaRPr/>
          </a:p>
        </p:txBody>
      </p:sp>
      <p:sp>
        <p:nvSpPr>
          <p:cNvPr id="466" name="Google Shape;466;p29"/>
          <p:cNvSpPr/>
          <p:nvPr/>
        </p:nvSpPr>
        <p:spPr>
          <a:xfrm>
            <a:off x="41148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9"/>
          <p:cNvSpPr/>
          <p:nvPr/>
        </p:nvSpPr>
        <p:spPr>
          <a:xfrm>
            <a:off x="41148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9"/>
          <p:cNvSpPr txBox="1"/>
          <p:nvPr/>
        </p:nvSpPr>
        <p:spPr>
          <a:xfrm>
            <a:off x="42976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CLICKS</a:t>
            </a:r>
            <a:endParaRPr/>
          </a:p>
        </p:txBody>
      </p:sp>
      <p:sp>
        <p:nvSpPr>
          <p:cNvPr id="469" name="Google Shape;469;p29"/>
          <p:cNvSpPr txBox="1"/>
          <p:nvPr/>
        </p:nvSpPr>
        <p:spPr>
          <a:xfrm>
            <a:off x="42976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9,910</a:t>
            </a:r>
            <a:endParaRPr/>
          </a:p>
        </p:txBody>
      </p:sp>
      <p:sp>
        <p:nvSpPr>
          <p:cNvPr id="470" name="Google Shape;470;p29"/>
          <p:cNvSpPr txBox="1"/>
          <p:nvPr/>
        </p:nvSpPr>
        <p:spPr>
          <a:xfrm>
            <a:off x="42976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+57% MoM</a:t>
            </a:r>
            <a:endParaRPr/>
          </a:p>
        </p:txBody>
      </p:sp>
      <p:sp>
        <p:nvSpPr>
          <p:cNvPr id="471" name="Google Shape;471;p29"/>
          <p:cNvSpPr/>
          <p:nvPr/>
        </p:nvSpPr>
        <p:spPr>
          <a:xfrm>
            <a:off x="59436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9"/>
          <p:cNvSpPr/>
          <p:nvPr/>
        </p:nvSpPr>
        <p:spPr>
          <a:xfrm>
            <a:off x="59436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9"/>
          <p:cNvSpPr txBox="1"/>
          <p:nvPr/>
        </p:nvSpPr>
        <p:spPr>
          <a:xfrm>
            <a:off x="61264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STEP 1</a:t>
            </a:r>
            <a:endParaRPr/>
          </a:p>
        </p:txBody>
      </p:sp>
      <p:sp>
        <p:nvSpPr>
          <p:cNvPr id="474" name="Google Shape;474;p29"/>
          <p:cNvSpPr txBox="1"/>
          <p:nvPr/>
        </p:nvSpPr>
        <p:spPr>
          <a:xfrm>
            <a:off x="61264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440</a:t>
            </a:r>
            <a:endParaRPr/>
          </a:p>
        </p:txBody>
      </p:sp>
      <p:sp>
        <p:nvSpPr>
          <p:cNvPr id="475" name="Google Shape;475;p29"/>
          <p:cNvSpPr txBox="1"/>
          <p:nvPr/>
        </p:nvSpPr>
        <p:spPr>
          <a:xfrm>
            <a:off x="61264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225</a:t>
            </a:r>
            <a:endParaRPr/>
          </a:p>
        </p:txBody>
      </p:sp>
      <p:sp>
        <p:nvSpPr>
          <p:cNvPr id="476" name="Google Shape;476;p29"/>
          <p:cNvSpPr/>
          <p:nvPr/>
        </p:nvSpPr>
        <p:spPr>
          <a:xfrm>
            <a:off x="77724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9"/>
          <p:cNvSpPr/>
          <p:nvPr/>
        </p:nvSpPr>
        <p:spPr>
          <a:xfrm>
            <a:off x="77724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9"/>
          <p:cNvSpPr txBox="1"/>
          <p:nvPr/>
        </p:nvSpPr>
        <p:spPr>
          <a:xfrm>
            <a:off x="7955279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APPLICATIONS</a:t>
            </a:r>
            <a:endParaRPr/>
          </a:p>
        </p:txBody>
      </p:sp>
      <p:sp>
        <p:nvSpPr>
          <p:cNvPr id="479" name="Google Shape;479;p29"/>
          <p:cNvSpPr txBox="1"/>
          <p:nvPr/>
        </p:nvSpPr>
        <p:spPr>
          <a:xfrm>
            <a:off x="7955279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42</a:t>
            </a:r>
            <a:endParaRPr/>
          </a:p>
        </p:txBody>
      </p:sp>
      <p:sp>
        <p:nvSpPr>
          <p:cNvPr id="480" name="Google Shape;480;p29"/>
          <p:cNvSpPr txBox="1"/>
          <p:nvPr/>
        </p:nvSpPr>
        <p:spPr>
          <a:xfrm>
            <a:off x="7955279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$834 CPA</a:t>
            </a:r>
            <a:endParaRPr/>
          </a:p>
        </p:txBody>
      </p:sp>
      <p:sp>
        <p:nvSpPr>
          <p:cNvPr id="481" name="Google Shape;481;p29"/>
          <p:cNvSpPr/>
          <p:nvPr/>
        </p:nvSpPr>
        <p:spPr>
          <a:xfrm>
            <a:off x="9601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9"/>
          <p:cNvSpPr/>
          <p:nvPr/>
        </p:nvSpPr>
        <p:spPr>
          <a:xfrm>
            <a:off x="9601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9"/>
          <p:cNvSpPr txBox="1"/>
          <p:nvPr/>
        </p:nvSpPr>
        <p:spPr>
          <a:xfrm>
            <a:off x="9784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VIEWABILITY</a:t>
            </a:r>
            <a:endParaRPr/>
          </a:p>
        </p:txBody>
      </p:sp>
      <p:sp>
        <p:nvSpPr>
          <p:cNvPr id="484" name="Google Shape;484;p29"/>
          <p:cNvSpPr txBox="1"/>
          <p:nvPr/>
        </p:nvSpPr>
        <p:spPr>
          <a:xfrm>
            <a:off x="9784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68.5%</a:t>
            </a:r>
            <a:endParaRPr/>
          </a:p>
        </p:txBody>
      </p:sp>
      <p:sp>
        <p:nvSpPr>
          <p:cNvPr id="485" name="Google Shape;485;p29"/>
          <p:cNvSpPr txBox="1"/>
          <p:nvPr/>
        </p:nvSpPr>
        <p:spPr>
          <a:xfrm>
            <a:off x="9784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70% standard</a:t>
            </a:r>
            <a:endParaRPr/>
          </a:p>
        </p:txBody>
      </p:sp>
      <p:sp>
        <p:nvSpPr>
          <p:cNvPr id="486" name="Google Shape;486;p29"/>
          <p:cNvSpPr txBox="1"/>
          <p:nvPr/>
        </p:nvSpPr>
        <p:spPr>
          <a:xfrm>
            <a:off x="457200" y="3063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Ad Sets (Applications)</a:t>
            </a:r>
            <a:endParaRPr/>
          </a:p>
        </p:txBody>
      </p:sp>
      <p:graphicFrame>
        <p:nvGraphicFramePr>
          <p:cNvPr id="487" name="Google Shape;487;p29"/>
          <p:cNvGraphicFramePr/>
          <p:nvPr/>
        </p:nvGraphicFramePr>
        <p:xfrm>
          <a:off x="457200" y="3337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560325"/>
                <a:gridCol w="1005850"/>
                <a:gridCol w="822950"/>
                <a:gridCol w="1097275"/>
              </a:tblGrid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Ad Set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Spend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Apps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CPA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Experience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$9,118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$829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Global Market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$4,124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$412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Trade (platform)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$4,221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$603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Language Broker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$4,994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$713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Conversion_Instruments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$4,211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$1,053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Spanish Platform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$4,229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$1,410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Conversion_Commodities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$4,128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88" name="Google Shape;488;p29"/>
          <p:cNvSpPr/>
          <p:nvPr/>
        </p:nvSpPr>
        <p:spPr>
          <a:xfrm>
            <a:off x="6217920" y="3063240"/>
            <a:ext cx="54864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9"/>
          <p:cNvSpPr/>
          <p:nvPr/>
        </p:nvSpPr>
        <p:spPr>
          <a:xfrm>
            <a:off x="6217920" y="3063240"/>
            <a:ext cx="548640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9"/>
          <p:cNvSpPr txBox="1"/>
          <p:nvPr/>
        </p:nvSpPr>
        <p:spPr>
          <a:xfrm>
            <a:off x="6400800" y="32461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HIGHLIGHTS</a:t>
            </a:r>
            <a:endParaRPr/>
          </a:p>
        </p:txBody>
      </p:sp>
      <p:sp>
        <p:nvSpPr>
          <p:cNvPr id="491" name="Google Shape;491;p29"/>
          <p:cNvSpPr txBox="1"/>
          <p:nvPr/>
        </p:nvSpPr>
        <p:spPr>
          <a:xfrm>
            <a:off x="6400800" y="3566160"/>
            <a:ext cx="51206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Applications rose 14% (37 to 42) on a 20% budget increase. The CPA moved $792 to $834, so efficiency roughly held at higher volume.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Application starts nearly doubled (225 to 440), keeping the upper funnel active.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Global Market converted at $412 and Experience carried the most volume. Conversion_Commodities spent $4,128 with no applications and is the first reallocation candidate.</a:t>
            </a:r>
            <a:endParaRPr/>
          </a:p>
        </p:txBody>
      </p:sp>
      <p:sp>
        <p:nvSpPr>
          <p:cNvPr id="492" name="Rectangle 491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0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498" name="Google Shape;49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30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AZERION  ·  READ &amp; RECOMMENDATIONS</a:t>
            </a:r>
            <a:endParaRPr/>
          </a:p>
        </p:txBody>
      </p:sp>
      <p:sp>
        <p:nvSpPr>
          <p:cNvPr id="500" name="Google Shape;500;p30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Hold the pace. Confirm the delivery detail.</a:t>
            </a:r>
            <a:endParaRPr/>
          </a:p>
        </p:txBody>
      </p:sp>
      <p:sp>
        <p:nvSpPr>
          <p:cNvPr id="501" name="Google Shape;501;p3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0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503" name="Google Shape;503;p30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17 / 19</a:t>
            </a:r>
            <a:endParaRPr/>
          </a:p>
        </p:txBody>
      </p:sp>
      <p:sp>
        <p:nvSpPr>
          <p:cNvPr id="504" name="Google Shape;504;p30"/>
          <p:cNvSpPr/>
          <p:nvPr/>
        </p:nvSpPr>
        <p:spPr>
          <a:xfrm>
            <a:off x="457200" y="1737360"/>
            <a:ext cx="557784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0"/>
          <p:cNvSpPr/>
          <p:nvPr/>
        </p:nvSpPr>
        <p:spPr>
          <a:xfrm>
            <a:off x="457200" y="1737360"/>
            <a:ext cx="557784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0"/>
          <p:cNvSpPr txBox="1"/>
          <p:nvPr/>
        </p:nvSpPr>
        <p:spPr>
          <a:xfrm>
            <a:off x="640080" y="1920240"/>
            <a:ext cx="52120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WHAT THE DATA SHOWS</a:t>
            </a:r>
            <a:endParaRPr/>
          </a:p>
        </p:txBody>
      </p:sp>
      <p:sp>
        <p:nvSpPr>
          <p:cNvPr id="507" name="Google Shape;507;p30"/>
          <p:cNvSpPr txBox="1"/>
          <p:nvPr/>
        </p:nvSpPr>
        <p:spPr>
          <a:xfrm>
            <a:off x="640080" y="2240280"/>
            <a:ext cx="5212079" cy="397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Second consecutive month of scaled application volume, with efficiency holding within 6% while budget grew 20%.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Viewability is 68.5%, just under the 70% standard.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We have asked the vendor for country-level delivery confirmation plus funnel, site, format, and creative breakdowns (requested early July; awaiting reply). Mexico-only delivery certification is pending that response.</a:t>
            </a:r>
            <a:endParaRPr/>
          </a:p>
        </p:txBody>
      </p:sp>
      <p:sp>
        <p:nvSpPr>
          <p:cNvPr id="508" name="Google Shape;508;p30"/>
          <p:cNvSpPr/>
          <p:nvPr/>
        </p:nvSpPr>
        <p:spPr>
          <a:xfrm>
            <a:off x="6309360" y="1737360"/>
            <a:ext cx="53949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0"/>
          <p:cNvSpPr/>
          <p:nvPr/>
        </p:nvSpPr>
        <p:spPr>
          <a:xfrm>
            <a:off x="6309360" y="1737360"/>
            <a:ext cx="539496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0"/>
          <p:cNvSpPr txBox="1"/>
          <p:nvPr/>
        </p:nvSpPr>
        <p:spPr>
          <a:xfrm>
            <a:off x="6492240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WHAT WE RECOMMEND</a:t>
            </a:r>
            <a:endParaRPr/>
          </a:p>
        </p:txBody>
      </p:sp>
      <p:sp>
        <p:nvSpPr>
          <p:cNvPr id="511" name="Google Shape;511;p30"/>
          <p:cNvSpPr txBox="1"/>
          <p:nvPr/>
        </p:nvSpPr>
        <p:spPr>
          <a:xfrm>
            <a:off x="6492240" y="2240280"/>
            <a:ext cx="5029200" cy="397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Hold the budget pace until the delivery breakdowns arrive.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Concentrate budget on the converting ad sets, led by Global Market ($412) and Experience, and reallocate away from Conversion_Commodities ($4,128, zero applications).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Push viewability over the 70% standard.</a:t>
            </a:r>
            <a:endParaRPr/>
          </a:p>
        </p:txBody>
      </p:sp>
      <p:sp>
        <p:nvSpPr>
          <p:cNvPr id="512" name="Rectangle 511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1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518" name="Google Shape;51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31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QUANTCAST  ·  PERFORMANCE &amp; READ</a:t>
            </a:r>
            <a:endParaRPr/>
          </a:p>
        </p:txBody>
      </p:sp>
      <p:sp>
        <p:nvSpPr>
          <p:cNvPr id="520" name="Google Shape;520;p31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A reach month at a $0.81 CPM. Viewability is the bill to manage.</a:t>
            </a:r>
            <a:endParaRPr/>
          </a:p>
        </p:txBody>
      </p:sp>
      <p:sp>
        <p:nvSpPr>
          <p:cNvPr id="521" name="Google Shape;521;p3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1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523" name="Google Shape;523;p31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18 / 19</a:t>
            </a:r>
            <a:endParaRPr/>
          </a:p>
        </p:txBody>
      </p:sp>
      <p:sp>
        <p:nvSpPr>
          <p:cNvPr id="524" name="Google Shape;524;p31"/>
          <p:cNvSpPr/>
          <p:nvPr/>
        </p:nvSpPr>
        <p:spPr>
          <a:xfrm>
            <a:off x="457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1"/>
          <p:cNvSpPr/>
          <p:nvPr/>
        </p:nvSpPr>
        <p:spPr>
          <a:xfrm>
            <a:off x="457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1"/>
          <p:cNvSpPr txBox="1"/>
          <p:nvPr/>
        </p:nvSpPr>
        <p:spPr>
          <a:xfrm>
            <a:off x="640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SPEND</a:t>
            </a:r>
            <a:endParaRPr/>
          </a:p>
        </p:txBody>
      </p:sp>
      <p:sp>
        <p:nvSpPr>
          <p:cNvPr id="527" name="Google Shape;527;p31"/>
          <p:cNvSpPr txBox="1"/>
          <p:nvPr/>
        </p:nvSpPr>
        <p:spPr>
          <a:xfrm>
            <a:off x="640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$33,784</a:t>
            </a:r>
            <a:endParaRPr/>
          </a:p>
        </p:txBody>
      </p:sp>
      <p:sp>
        <p:nvSpPr>
          <p:cNvPr id="528" name="Google Shape;528;p31"/>
          <p:cNvSpPr txBox="1"/>
          <p:nvPr/>
        </p:nvSpPr>
        <p:spPr>
          <a:xfrm>
            <a:off x="640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+26% MoM</a:t>
            </a:r>
            <a:endParaRPr/>
          </a:p>
        </p:txBody>
      </p:sp>
      <p:sp>
        <p:nvSpPr>
          <p:cNvPr id="529" name="Google Shape;529;p31"/>
          <p:cNvSpPr/>
          <p:nvPr/>
        </p:nvSpPr>
        <p:spPr>
          <a:xfrm>
            <a:off x="22860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1"/>
          <p:cNvSpPr/>
          <p:nvPr/>
        </p:nvSpPr>
        <p:spPr>
          <a:xfrm>
            <a:off x="22860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1"/>
          <p:cNvSpPr txBox="1"/>
          <p:nvPr/>
        </p:nvSpPr>
        <p:spPr>
          <a:xfrm>
            <a:off x="24688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IMPRESSIONS</a:t>
            </a:r>
            <a:endParaRPr/>
          </a:p>
        </p:txBody>
      </p:sp>
      <p:sp>
        <p:nvSpPr>
          <p:cNvPr id="532" name="Google Shape;532;p31"/>
          <p:cNvSpPr txBox="1"/>
          <p:nvPr/>
        </p:nvSpPr>
        <p:spPr>
          <a:xfrm>
            <a:off x="24688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41.96M</a:t>
            </a:r>
            <a:endParaRPr/>
          </a:p>
        </p:txBody>
      </p:sp>
      <p:sp>
        <p:nvSpPr>
          <p:cNvPr id="533" name="Google Shape;533;p31"/>
          <p:cNvSpPr txBox="1"/>
          <p:nvPr/>
        </p:nvSpPr>
        <p:spPr>
          <a:xfrm>
            <a:off x="24688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+155% MoM</a:t>
            </a:r>
            <a:endParaRPr/>
          </a:p>
        </p:txBody>
      </p:sp>
      <p:sp>
        <p:nvSpPr>
          <p:cNvPr id="534" name="Google Shape;534;p31"/>
          <p:cNvSpPr/>
          <p:nvPr/>
        </p:nvSpPr>
        <p:spPr>
          <a:xfrm>
            <a:off x="41148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1"/>
          <p:cNvSpPr/>
          <p:nvPr/>
        </p:nvSpPr>
        <p:spPr>
          <a:xfrm>
            <a:off x="41148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1"/>
          <p:cNvSpPr txBox="1"/>
          <p:nvPr/>
        </p:nvSpPr>
        <p:spPr>
          <a:xfrm>
            <a:off x="42976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CPM</a:t>
            </a:r>
            <a:endParaRPr/>
          </a:p>
        </p:txBody>
      </p:sp>
      <p:sp>
        <p:nvSpPr>
          <p:cNvPr id="537" name="Google Shape;537;p31"/>
          <p:cNvSpPr txBox="1"/>
          <p:nvPr/>
        </p:nvSpPr>
        <p:spPr>
          <a:xfrm>
            <a:off x="42976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$0.81</a:t>
            </a:r>
            <a:endParaRPr/>
          </a:p>
        </p:txBody>
      </p:sp>
      <p:sp>
        <p:nvSpPr>
          <p:cNvPr id="538" name="Google Shape;538;p31"/>
          <p:cNvSpPr txBox="1"/>
          <p:nvPr/>
        </p:nvSpPr>
        <p:spPr>
          <a:xfrm>
            <a:off x="42976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$1.63</a:t>
            </a:r>
            <a:endParaRPr/>
          </a:p>
        </p:txBody>
      </p:sp>
      <p:sp>
        <p:nvSpPr>
          <p:cNvPr id="539" name="Google Shape;539;p31"/>
          <p:cNvSpPr/>
          <p:nvPr/>
        </p:nvSpPr>
        <p:spPr>
          <a:xfrm>
            <a:off x="59436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1"/>
          <p:cNvSpPr/>
          <p:nvPr/>
        </p:nvSpPr>
        <p:spPr>
          <a:xfrm>
            <a:off x="59436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1"/>
          <p:cNvSpPr txBox="1"/>
          <p:nvPr/>
        </p:nvSpPr>
        <p:spPr>
          <a:xfrm>
            <a:off x="61264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AVG CPC</a:t>
            </a:r>
            <a:endParaRPr/>
          </a:p>
        </p:txBody>
      </p:sp>
      <p:sp>
        <p:nvSpPr>
          <p:cNvPr id="542" name="Google Shape;542;p31"/>
          <p:cNvSpPr txBox="1"/>
          <p:nvPr/>
        </p:nvSpPr>
        <p:spPr>
          <a:xfrm>
            <a:off x="61264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$2.99</a:t>
            </a:r>
            <a:endParaRPr/>
          </a:p>
        </p:txBody>
      </p:sp>
      <p:sp>
        <p:nvSpPr>
          <p:cNvPr id="543" name="Google Shape;543;p31"/>
          <p:cNvSpPr txBox="1"/>
          <p:nvPr/>
        </p:nvSpPr>
        <p:spPr>
          <a:xfrm>
            <a:off x="61264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$5.59</a:t>
            </a:r>
            <a:endParaRPr/>
          </a:p>
        </p:txBody>
      </p:sp>
      <p:sp>
        <p:nvSpPr>
          <p:cNvPr id="544" name="Google Shape;544;p31"/>
          <p:cNvSpPr/>
          <p:nvPr/>
        </p:nvSpPr>
        <p:spPr>
          <a:xfrm>
            <a:off x="77724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1"/>
          <p:cNvSpPr/>
          <p:nvPr/>
        </p:nvSpPr>
        <p:spPr>
          <a:xfrm>
            <a:off x="77724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1"/>
          <p:cNvSpPr txBox="1"/>
          <p:nvPr/>
        </p:nvSpPr>
        <p:spPr>
          <a:xfrm>
            <a:off x="7955279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VIEWABILITY</a:t>
            </a:r>
            <a:endParaRPr/>
          </a:p>
        </p:txBody>
      </p:sp>
      <p:sp>
        <p:nvSpPr>
          <p:cNvPr id="547" name="Google Shape;547;p31"/>
          <p:cNvSpPr txBox="1"/>
          <p:nvPr/>
        </p:nvSpPr>
        <p:spPr>
          <a:xfrm>
            <a:off x="7955279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51.3%</a:t>
            </a:r>
            <a:endParaRPr/>
          </a:p>
        </p:txBody>
      </p:sp>
      <p:sp>
        <p:nvSpPr>
          <p:cNvPr id="548" name="Google Shape;548;p31"/>
          <p:cNvSpPr txBox="1"/>
          <p:nvPr/>
        </p:nvSpPr>
        <p:spPr>
          <a:xfrm>
            <a:off x="7955279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67.1%</a:t>
            </a:r>
            <a:endParaRPr/>
          </a:p>
        </p:txBody>
      </p:sp>
      <p:sp>
        <p:nvSpPr>
          <p:cNvPr id="549" name="Google Shape;549;p31"/>
          <p:cNvSpPr/>
          <p:nvPr/>
        </p:nvSpPr>
        <p:spPr>
          <a:xfrm>
            <a:off x="9601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1"/>
          <p:cNvSpPr/>
          <p:nvPr/>
        </p:nvSpPr>
        <p:spPr>
          <a:xfrm>
            <a:off x="9601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1"/>
          <p:cNvSpPr txBox="1"/>
          <p:nvPr/>
        </p:nvSpPr>
        <p:spPr>
          <a:xfrm>
            <a:off x="9784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CONVERSIONS</a:t>
            </a:r>
            <a:endParaRPr/>
          </a:p>
        </p:txBody>
      </p:sp>
      <p:sp>
        <p:nvSpPr>
          <p:cNvPr id="552" name="Google Shape;552;p31"/>
          <p:cNvSpPr txBox="1"/>
          <p:nvPr/>
        </p:nvSpPr>
        <p:spPr>
          <a:xfrm>
            <a:off x="9784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553" name="Google Shape;553;p31"/>
          <p:cNvSpPr txBox="1"/>
          <p:nvPr/>
        </p:nvSpPr>
        <p:spPr>
          <a:xfrm>
            <a:off x="9784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view-through</a:t>
            </a:r>
            <a:endParaRPr/>
          </a:p>
        </p:txBody>
      </p:sp>
      <p:sp>
        <p:nvSpPr>
          <p:cNvPr id="554" name="Google Shape;554;p31"/>
          <p:cNvSpPr txBox="1"/>
          <p:nvPr/>
        </p:nvSpPr>
        <p:spPr>
          <a:xfrm>
            <a:off x="457200" y="3063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Month over Month</a:t>
            </a:r>
            <a:endParaRPr/>
          </a:p>
        </p:txBody>
      </p:sp>
      <p:graphicFrame>
        <p:nvGraphicFramePr>
          <p:cNvPr id="555" name="Google Shape;555;p31"/>
          <p:cNvGraphicFramePr/>
          <p:nvPr/>
        </p:nvGraphicFramePr>
        <p:xfrm>
          <a:off x="457200" y="3337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1828800"/>
                <a:gridCol w="1280150"/>
                <a:gridCol w="1280150"/>
                <a:gridCol w="1280150"/>
              </a:tblGrid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Metric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June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May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MoM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Spend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$33,784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$26,890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+26%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Impressions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41.96M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16.48M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+155%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CPM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$0.81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$1.63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-50%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Viewability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51.3%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67.1%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-15.8pp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Conversions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 VT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+10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56" name="Google Shape;556;p31"/>
          <p:cNvSpPr/>
          <p:nvPr/>
        </p:nvSpPr>
        <p:spPr>
          <a:xfrm>
            <a:off x="6400800" y="3063240"/>
            <a:ext cx="5303520" cy="3246120"/>
          </a:xfrm>
          <a:prstGeom prst="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1"/>
          <p:cNvSpPr/>
          <p:nvPr/>
        </p:nvSpPr>
        <p:spPr>
          <a:xfrm>
            <a:off x="6400800" y="3063240"/>
            <a:ext cx="530352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1"/>
          <p:cNvSpPr txBox="1"/>
          <p:nvPr/>
        </p:nvSpPr>
        <p:spPr>
          <a:xfrm>
            <a:off x="6583680" y="3246120"/>
            <a:ext cx="49377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READ</a:t>
            </a:r>
            <a:endParaRPr/>
          </a:p>
        </p:txBody>
      </p:sp>
      <p:sp>
        <p:nvSpPr>
          <p:cNvPr id="559" name="Google Shape;559;p31"/>
          <p:cNvSpPr txBox="1"/>
          <p:nvPr/>
        </p:nvSpPr>
        <p:spPr>
          <a:xfrm>
            <a:off x="6583680" y="3566160"/>
            <a:ext cx="4937759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We scaled reach on purpose: 42M impressions and 18.2M devices reached as CPM fell by half to $0.81.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Scaling reach at this CPM pulled in low-viewability inventory: 51% against the 70% standard. We delivered a 49-site blocklist covering 32% of June spend on this line and recommend a campaign-level viewability floor to hold quality as reach scales.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All 11 June conversions are view-through. Treat them as directional support, not proven response.</a:t>
            </a:r>
            <a:endParaRPr/>
          </a:p>
        </p:txBody>
      </p:sp>
      <p:sp>
        <p:nvSpPr>
          <p:cNvPr id="560" name="Rectangle 559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2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566" name="Google Shape;56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32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CROSS-CHANNEL PRIORITIES + NEXT STEPS</a:t>
            </a:r>
            <a:endParaRPr/>
          </a:p>
        </p:txBody>
      </p:sp>
      <p:sp>
        <p:nvSpPr>
          <p:cNvPr id="568" name="Google Shape;568;p32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Concentrate in-market. Finish the measurement. Start the SEO workstream.</a:t>
            </a:r>
            <a:endParaRPr/>
          </a:p>
        </p:txBody>
      </p:sp>
      <p:sp>
        <p:nvSpPr>
          <p:cNvPr id="569" name="Google Shape;569;p3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2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571" name="Google Shape;571;p32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19 / 19</a:t>
            </a:r>
            <a:endParaRPr/>
          </a:p>
        </p:txBody>
      </p:sp>
      <p:sp>
        <p:nvSpPr>
          <p:cNvPr id="572" name="Google Shape;572;p32"/>
          <p:cNvSpPr/>
          <p:nvPr/>
        </p:nvSpPr>
        <p:spPr>
          <a:xfrm>
            <a:off x="457200" y="173736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2"/>
          <p:cNvSpPr/>
          <p:nvPr/>
        </p:nvSpPr>
        <p:spPr>
          <a:xfrm>
            <a:off x="457200" y="1737360"/>
            <a:ext cx="365760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2"/>
          <p:cNvSpPr txBox="1"/>
          <p:nvPr/>
        </p:nvSpPr>
        <p:spPr>
          <a:xfrm>
            <a:off x="640080" y="19202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96167"/>
                </a:solidFill>
                <a:latin typeface="Georgia"/>
                <a:ea typeface="Arial"/>
                <a:cs typeface="Arial"/>
                <a:sym typeface="Arial"/>
              </a:rPr>
              <a:t>PRIORITY</a:t>
            </a:r>
            <a:endParaRPr/>
          </a:p>
        </p:txBody>
      </p:sp>
      <p:sp>
        <p:nvSpPr>
          <p:cNvPr id="575" name="Google Shape;575;p32"/>
          <p:cNvSpPr txBox="1"/>
          <p:nvPr/>
        </p:nvSpPr>
        <p:spPr>
          <a:xfrm>
            <a:off x="640080" y="2240280"/>
            <a:ext cx="329184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Mexico-only search targeting is applied; July delivery confirms roughly $8.6K per month redirected into Mexico.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Run the paid-social placement audit and exclusions before reinstating its conversion reporting.</a:t>
            </a:r>
            <a:endParaRPr/>
          </a:p>
        </p:txBody>
      </p:sp>
      <p:sp>
        <p:nvSpPr>
          <p:cNvPr id="576" name="Google Shape;576;p32"/>
          <p:cNvSpPr/>
          <p:nvPr/>
        </p:nvSpPr>
        <p:spPr>
          <a:xfrm>
            <a:off x="4389120" y="173736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2"/>
          <p:cNvSpPr/>
          <p:nvPr/>
        </p:nvSpPr>
        <p:spPr>
          <a:xfrm>
            <a:off x="4389120" y="1737360"/>
            <a:ext cx="365760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2"/>
          <p:cNvSpPr txBox="1"/>
          <p:nvPr/>
        </p:nvSpPr>
        <p:spPr>
          <a:xfrm>
            <a:off x="4572000" y="19202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SCALING &amp; OPPORTUNITY</a:t>
            </a:r>
            <a:endParaRPr/>
          </a:p>
        </p:txBody>
      </p:sp>
      <p:sp>
        <p:nvSpPr>
          <p:cNvPr id="579" name="Google Shape;579;p32"/>
          <p:cNvSpPr txBox="1"/>
          <p:nvPr/>
        </p:nvSpPr>
        <p:spPr>
          <a:xfrm>
            <a:off x="4572000" y="2240280"/>
            <a:ext cx="329184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Hold the budget mix pending the measurement fixes, then revisit allocation with clean July attribution.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Search efficiency held at $513 and earns the first incremental dollar once spend is concentrated in Mexico.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Open the SEO workstream for the Spanish site and apply the programmatic blocklist with a viewability floor.</a:t>
            </a:r>
            <a:endParaRPr/>
          </a:p>
        </p:txBody>
      </p:sp>
      <p:sp>
        <p:nvSpPr>
          <p:cNvPr id="580" name="Google Shape;580;p32"/>
          <p:cNvSpPr/>
          <p:nvPr/>
        </p:nvSpPr>
        <p:spPr>
          <a:xfrm>
            <a:off x="8229600" y="1737360"/>
            <a:ext cx="347472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2"/>
          <p:cNvSpPr/>
          <p:nvPr/>
        </p:nvSpPr>
        <p:spPr>
          <a:xfrm>
            <a:off x="8229600" y="1737360"/>
            <a:ext cx="3474720" cy="9144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2"/>
          <p:cNvSpPr txBox="1"/>
          <p:nvPr/>
        </p:nvSpPr>
        <p:spPr>
          <a:xfrm>
            <a:off x="8412480" y="19202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MEASUREMENT TO CLOSE</a:t>
            </a:r>
            <a:endParaRPr/>
          </a:p>
        </p:txBody>
      </p:sp>
      <p:sp>
        <p:nvSpPr>
          <p:cNvPr id="583" name="Google Shape;583;p32"/>
          <p:cNvSpPr txBox="1"/>
          <p:nvPr/>
        </p:nvSpPr>
        <p:spPr>
          <a:xfrm>
            <a:off x="8412480" y="2240280"/>
            <a:ext cx="310896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Link the search account in GA4. 27% of June Mexico sessions are unattributed because of it, and July reporting will restate paid search larger once linked. We will flag the restatement.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Complete the placement audit and pixel-event review, then reinstate paid-social conversions.</a:t>
            </a:r>
            <a:endParaRPr/>
          </a:p>
        </p:txBody>
      </p:sp>
      <p:sp>
        <p:nvSpPr>
          <p:cNvPr id="584" name="Google Shape;584;p32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FFFFFF"/>
                </a:solidFill>
                <a:latin typeface="Georgi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2"/>
          <p:cNvSpPr/>
          <p:nvPr/>
        </p:nvSpPr>
        <p:spPr>
          <a:xfrm>
            <a:off x="457200" y="5943600"/>
            <a:ext cx="11247120" cy="7315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FFFFFF"/>
                </a:solidFill>
                <a:latin typeface="Georgi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2"/>
          <p:cNvSpPr txBox="1"/>
          <p:nvPr/>
        </p:nvSpPr>
        <p:spPr>
          <a:xfrm>
            <a:off x="640080" y="6062472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Georgia"/>
                <a:ea typeface="Arial"/>
                <a:cs typeface="Arial"/>
                <a:sym typeface="Arial"/>
              </a:rPr>
              <a:t>Concentrate spend on measurable, in-market delivery while the quality fixes land.</a:t>
            </a:r>
            <a:endParaRPr/>
          </a:p>
        </p:txBody>
      </p:sp>
      <p:sp>
        <p:nvSpPr>
          <p:cNvPr id="587" name="Rectangle 586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