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Sessions</c:v>
                </c:pt>
              </c:strCache>
            </c:strRef>
          </c:tx>
          <c:spPr>
            <a:ln w="28575">
              <a:solidFill>
                <a:srgbClr val="3B5998"/>
              </a:solidFill>
            </a:ln>
          </c:spPr>
          <c:marker>
            <c:symbol val="circle"/>
            <c:size val="6"/>
            <c:spPr>
              <a:solidFill>
                <a:srgbClr val="3B5998"/>
              </a:solidFill>
              <a:ln>
                <a:solidFill>
                  <a:srgbClr val="FFFFFF"/>
                </a:solidFill>
              </a:ln>
            </c:spPr>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69895</c:v>
                </c:pt>
                <c:pt idx="1">
                  <c:v>58481</c:v>
                </c:pt>
                <c:pt idx="2">
                  <c:v>74971</c:v>
                </c:pt>
                <c:pt idx="3">
                  <c:v>69553</c:v>
                </c:pt>
                <c:pt idx="4">
                  <c:v>69927</c:v>
                </c:pt>
                <c:pt idx="5">
                  <c:v>80231</c:v>
                </c:pt>
              </c:numCache>
            </c:numRef>
          </c:val>
          <c:smooth val="0"/>
        </c:ser>
        <c:ser>
          <c:idx val="1"/>
          <c:order val="1"/>
          <c:tx>
            <c:strRef>
              <c:f>Sheet1!$C$1</c:f>
              <c:strCache>
                <c:ptCount val="1"/>
                <c:pt idx="0">
                  <c:v>Unique visitors</c:v>
                </c:pt>
              </c:strCache>
            </c:strRef>
          </c:tx>
          <c:spPr>
            <a:ln w="28575">
              <a:solidFill>
                <a:srgbClr val="27AE60"/>
              </a:solidFill>
            </a:ln>
          </c:spPr>
          <c:marker>
            <c:symbol val="circle"/>
            <c:size val="6"/>
            <c:spPr>
              <a:solidFill>
                <a:srgbClr val="27AE60"/>
              </a:solidFill>
              <a:ln>
                <a:solidFill>
                  <a:srgbClr val="FFFFFF"/>
                </a:solidFill>
              </a:ln>
            </c:spPr>
          </c:marker>
          <c:dLbls>
            <c:numFmt formatCode="#,##0" sourceLinked="0"/>
            <c:txPr>
              <a:bodyPr/>
              <a:lstStyle/>
              <a:p>
                <a:pPr>
                  <a:defRPr sz="750">
                    <a:solidFill>
                      <a:srgbClr val="32373E"/>
                    </a:solidFill>
                  </a:defRPr>
                </a:pPr>
              </a:p>
            </c:txPr>
            <c:dLblPos val="t"/>
            <c:showLegendKey val="0"/>
            <c:showVal val="1"/>
            <c:showCatName val="0"/>
            <c:showSerName val="0"/>
            <c:showPercent val="0"/>
            <c:showBubbleSize val="0"/>
            <c:showLeaderLines val="1"/>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24928</c:v>
                </c:pt>
                <c:pt idx="1">
                  <c:v>20841</c:v>
                </c:pt>
                <c:pt idx="2">
                  <c:v>29355</c:v>
                </c:pt>
                <c:pt idx="3">
                  <c:v>30251</c:v>
                </c:pt>
                <c:pt idx="4">
                  <c:v>29808</c:v>
                </c:pt>
                <c:pt idx="5">
                  <c:v>41795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crossAx val="2140495176"/>
        <c:crosses val="autoZero"/>
        <c:auto val="1"/>
        <c:lblAlgn val="ctr"/>
        <c:lblOffset val="100"/>
        <c:noMultiLvlLbl val="0"/>
      </c:catAx>
      <c:valAx>
        <c:axId val="2140495176"/>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32373E"/>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852160"/>
            <a:ext cx="12191695" cy="100584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011680"/>
            <a:ext cx="91440" cy="228600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1_fd6b9b.png"/>
          <p:cNvPicPr>
            <a:picLocks noChangeAspect="1"/>
          </p:cNvPicPr>
          <p:nvPr/>
        </p:nvPicPr>
        <p:blipFill>
          <a:blip r:embed="rId2"/>
          <a:stretch>
            <a:fillRect/>
          </a:stretch>
        </p:blipFill>
        <p:spPr>
          <a:xfrm>
            <a:off x="457200" y="457200"/>
            <a:ext cx="2286000" cy="649224"/>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3B5998"/>
                </a:solidFill>
                <a:latin typeface="Arial"/>
              </a:rPr>
              <a:t>QUARTERLY BUSINESS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1A2A3A"/>
                </a:solidFill>
                <a:latin typeface="Arial"/>
              </a:rPr>
              <a:t>GCG (US Hispanic)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1A2A3A"/>
                </a:solidFill>
                <a:latin typeface="Arial"/>
              </a:rPr>
              <a:t>Q3 FY2026 Business Review  ·  June 2026 Performance</a:t>
            </a:r>
          </a:p>
        </p:txBody>
      </p:sp>
      <p:sp>
        <p:nvSpPr>
          <p:cNvPr id="9" name="TextBox 8"/>
          <p:cNvSpPr txBox="1"/>
          <p:nvPr/>
        </p:nvSpPr>
        <p:spPr>
          <a:xfrm>
            <a:off x="822960" y="4114800"/>
            <a:ext cx="10972800" cy="365760"/>
          </a:xfrm>
          <a:prstGeom prst="rect">
            <a:avLst/>
          </a:prstGeom>
          <a:noFill/>
        </p:spPr>
        <p:txBody>
          <a:bodyPr wrap="square" anchor="t" lIns="0" rIns="0" tIns="0" bIns="0">
            <a:spAutoFit/>
          </a:bodyPr>
          <a:lstStyle/>
          <a:p>
            <a:pPr algn="l"/>
            <a:r>
              <a:rPr sz="1200" b="0">
                <a:solidFill>
                  <a:srgbClr val="5A5A5A"/>
                </a:solidFill>
                <a:latin typeface="Arial"/>
              </a:rPr>
              <a:t>Google Ads · Meta · Azerion · Quantcast · Native</a:t>
            </a:r>
          </a:p>
        </p:txBody>
      </p:sp>
      <p:sp>
        <p:nvSpPr>
          <p:cNvPr id="10" name="TextBox 9"/>
          <p:cNvSpPr txBox="1"/>
          <p:nvPr/>
        </p:nvSpPr>
        <p:spPr>
          <a:xfrm>
            <a:off x="822960" y="6080760"/>
            <a:ext cx="10972800" cy="365760"/>
          </a:xfrm>
          <a:prstGeom prst="rect">
            <a:avLst/>
          </a:prstGeom>
          <a:noFill/>
        </p:spPr>
        <p:txBody>
          <a:bodyPr wrap="square" anchor="t" lIns="0" rIns="0" tIns="0" bIns="0">
            <a:spAutoFit/>
          </a:bodyPr>
          <a:lstStyle/>
          <a:p>
            <a:pPr algn="l"/>
            <a:r>
              <a:rPr sz="1000" b="0">
                <a:solidFill>
                  <a:srgbClr val="FFFFFF"/>
                </a:solidFill>
                <a:latin typeface="Arial"/>
              </a:rPr>
              <a:t>Reporting period: June 1–30, 2026   |   Currency: USD   |   Prepared by Berelvant · 07.17.2026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SUMMARY  ·  BLENDED VIEW (ORGANIC + PAID)</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Volume is arriving. The start-to-submit step is the constraint.</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2 / 15</a:t>
            </a:r>
          </a:p>
        </p:txBody>
      </p:sp>
      <p:sp>
        <p:nvSpPr>
          <p:cNvPr id="10" name="TextBox 9"/>
          <p:cNvSpPr txBox="1"/>
          <p:nvPr/>
        </p:nvSpPr>
        <p:spPr>
          <a:xfrm>
            <a:off x="457200" y="1828800"/>
            <a:ext cx="2834640" cy="4389120"/>
          </a:xfrm>
          <a:prstGeom prst="rect">
            <a:avLst/>
          </a:prstGeom>
          <a:noFill/>
        </p:spPr>
        <p:txBody>
          <a:bodyPr wrap="square" anchor="t" lIns="0" rIns="0" tIns="0" bIns="0">
            <a:spAutoFit/>
          </a:bodyPr>
          <a:lstStyle/>
          <a:p>
            <a:pPr algn="l"/>
            <a:r>
              <a:rPr sz="950" b="0">
                <a:solidFill>
                  <a:srgbClr val="32373E"/>
                </a:solidFill>
                <a:latin typeface="Arial"/>
              </a:rPr>
              <a:t>•  June live applications rose 6% to 306 and submissions 7% to 322; the approval rate held at 45%.</a:t>
            </a:r>
          </a:p>
          <a:p>
            <a:pPr algn="l">
              <a:spcBef>
                <a:spcPts val="600"/>
              </a:spcBef>
            </a:pPr>
            <a:r>
              <a:rPr sz="950" b="0">
                <a:solidFill>
                  <a:srgbClr val="32373E"/>
                </a:solidFill>
                <a:latin typeface="Arial"/>
              </a:rPr>
              <a:t>•  New funded held at 41 and new traded closed at 30. The fund step (28%) remains the gate to account growth.</a:t>
            </a:r>
          </a:p>
          <a:p>
            <a:pPr algn="l">
              <a:spcBef>
                <a:spcPts val="600"/>
              </a:spcBef>
            </a:pPr>
            <a:r>
              <a:rPr sz="950" b="0">
                <a:solidFill>
                  <a:srgbClr val="32373E"/>
                </a:solidFill>
                <a:latin typeface="Arial"/>
              </a:rPr>
              <a:t>•  Working media reached $117,024 in June (+53% MoM), the biggest GCG month of 2026, with the Native pilot adding a fifth channel.</a:t>
            </a:r>
          </a:p>
          <a:p>
            <a:pPr algn="l">
              <a:spcBef>
                <a:spcPts val="600"/>
              </a:spcBef>
            </a:pPr>
            <a:r>
              <a:rPr sz="950" b="0">
                <a:solidFill>
                  <a:srgbClr val="32373E"/>
                </a:solidFill>
                <a:latin typeface="Arial"/>
              </a:rPr>
              <a:t>•  Sessions grew 30% MoM on the paid scale-up while application starts stayed flat, so conversion, not volume, is the constraint.</a:t>
            </a:r>
          </a:p>
          <a:p>
            <a:pPr algn="l">
              <a:spcBef>
                <a:spcPts val="600"/>
              </a:spcBef>
            </a:pPr>
            <a:r>
              <a:rPr sz="950" b="0">
                <a:solidFill>
                  <a:srgbClr val="32373E"/>
                </a:solidFill>
                <a:latin typeface="Arial"/>
              </a:rPr>
              <a:t>•  Q2 closed 14% below Q1 on applications (1,033 vs 1,203) while media scaled 5x quarter over quarter.</a:t>
            </a:r>
          </a:p>
        </p:txBody>
      </p:sp>
      <p:graphicFrame>
        <p:nvGraphicFramePr>
          <p:cNvPr id="11" name="Table 10"/>
          <p:cNvGraphicFramePr>
            <a:graphicFrameLocks noGrp="1"/>
          </p:cNvGraphicFramePr>
          <p:nvPr/>
        </p:nvGraphicFramePr>
        <p:xfrm>
          <a:off x="3566160" y="1828800"/>
          <a:ext cx="8129016" cy="3200400"/>
        </p:xfrm>
        <a:graphic>
          <a:graphicData uri="http://schemas.openxmlformats.org/drawingml/2006/table">
            <a:tbl>
              <a:tblPr>
                <a:tableStyleId>{5C22544A-7EE6-4342-B048-85BDC9FD1C3A}</a:tableStyleId>
              </a:tblPr>
              <a:tblGrid>
                <a:gridCol w="1965960"/>
                <a:gridCol w="886968"/>
                <a:gridCol w="886968"/>
                <a:gridCol w="886968"/>
                <a:gridCol w="886968"/>
                <a:gridCol w="886968"/>
                <a:gridCol w="886968"/>
                <a:gridCol w="841248"/>
              </a:tblGrid>
              <a:tr h="266700">
                <a:tc>
                  <a:txBody>
                    <a:bodyPr/>
                    <a:lstStyle/>
                    <a:p>
                      <a:r>
                        <a:rPr sz="850" b="1">
                          <a:solidFill>
                            <a:srgbClr val="FFFFFF"/>
                          </a:solidFill>
                          <a:latin typeface="Arial"/>
                        </a:rPr>
                        <a:t>GCG — blended</a:t>
                      </a:r>
                    </a:p>
                  </a:txBody>
                  <a:tcPr marL="54864" marR="54864" marT="27432" marB="27432">
                    <a:solidFill>
                      <a:srgbClr val="3B5998"/>
                    </a:solidFill>
                  </a:tcPr>
                </a:tc>
                <a:tc>
                  <a:txBody>
                    <a:bodyPr/>
                    <a:lstStyle/>
                    <a:p>
                      <a:pPr algn="r"/>
                      <a:r>
                        <a:rPr sz="850" b="1">
                          <a:solidFill>
                            <a:srgbClr val="FFFFFF"/>
                          </a:solidFill>
                          <a:latin typeface="Arial"/>
                        </a:rPr>
                        <a:t>Jan</a:t>
                      </a:r>
                    </a:p>
                  </a:txBody>
                  <a:tcPr marL="54864" marR="54864" marT="27432" marB="27432">
                    <a:solidFill>
                      <a:srgbClr val="3B5998"/>
                    </a:solidFill>
                  </a:tcPr>
                </a:tc>
                <a:tc>
                  <a:txBody>
                    <a:bodyPr/>
                    <a:lstStyle/>
                    <a:p>
                      <a:pPr algn="r"/>
                      <a:r>
                        <a:rPr sz="850" b="1">
                          <a:solidFill>
                            <a:srgbClr val="FFFFFF"/>
                          </a:solidFill>
                          <a:latin typeface="Arial"/>
                        </a:rPr>
                        <a:t>Feb</a:t>
                      </a:r>
                    </a:p>
                  </a:txBody>
                  <a:tcPr marL="54864" marR="54864" marT="27432" marB="27432">
                    <a:solidFill>
                      <a:srgbClr val="3B5998"/>
                    </a:solidFill>
                  </a:tcPr>
                </a:tc>
                <a:tc>
                  <a:txBody>
                    <a:bodyPr/>
                    <a:lstStyle/>
                    <a:p>
                      <a:pPr algn="r"/>
                      <a:r>
                        <a:rPr sz="850" b="1">
                          <a:solidFill>
                            <a:srgbClr val="FFFFFF"/>
                          </a:solidFill>
                          <a:latin typeface="Arial"/>
                        </a:rPr>
                        <a:t>Mar</a:t>
                      </a:r>
                    </a:p>
                  </a:txBody>
                  <a:tcPr marL="54864" marR="54864" marT="27432" marB="27432">
                    <a:solidFill>
                      <a:srgbClr val="3B5998"/>
                    </a:solidFill>
                  </a:tcPr>
                </a:tc>
                <a:tc>
                  <a:txBody>
                    <a:bodyPr/>
                    <a:lstStyle/>
                    <a:p>
                      <a:pPr algn="r"/>
                      <a:r>
                        <a:rPr sz="850" b="1">
                          <a:solidFill>
                            <a:srgbClr val="FFFFFF"/>
                          </a:solidFill>
                          <a:latin typeface="Arial"/>
                        </a:rPr>
                        <a:t>Apr</a:t>
                      </a:r>
                    </a:p>
                  </a:txBody>
                  <a:tcPr marL="54864" marR="54864" marT="27432" marB="27432">
                    <a:solidFill>
                      <a:srgbClr val="3B5998"/>
                    </a:solidFill>
                  </a:tcPr>
                </a:tc>
                <a:tc>
                  <a:txBody>
                    <a:bodyPr/>
                    <a:lstStyle/>
                    <a:p>
                      <a:pPr algn="r"/>
                      <a:r>
                        <a:rPr sz="850" b="1">
                          <a:solidFill>
                            <a:srgbClr val="FFFFFF"/>
                          </a:solidFill>
                          <a:latin typeface="Arial"/>
                        </a:rPr>
                        <a:t>May</a:t>
                      </a:r>
                    </a:p>
                  </a:txBody>
                  <a:tcPr marL="54864" marR="54864" marT="27432" marB="27432">
                    <a:solidFill>
                      <a:srgbClr val="3B5998"/>
                    </a:solidFill>
                  </a:tcPr>
                </a:tc>
                <a:tc>
                  <a:txBody>
                    <a:bodyPr/>
                    <a:lstStyle/>
                    <a:p>
                      <a:pPr algn="r"/>
                      <a:r>
                        <a:rPr sz="850" b="1">
                          <a:solidFill>
                            <a:srgbClr val="FFFFFF"/>
                          </a:solidFill>
                          <a:latin typeface="Arial"/>
                        </a:rPr>
                        <a:t>Jun</a:t>
                      </a:r>
                    </a:p>
                  </a:txBody>
                  <a:tcPr marL="54864" marR="54864" marT="27432" marB="27432">
                    <a:solidFill>
                      <a:srgbClr val="3B5998"/>
                    </a:solidFill>
                  </a:tcPr>
                </a:tc>
                <a:tc>
                  <a:txBody>
                    <a:bodyPr/>
                    <a:lstStyle/>
                    <a:p>
                      <a:pPr algn="r"/>
                      <a:r>
                        <a:rPr sz="850" b="1">
                          <a:solidFill>
                            <a:srgbClr val="FFFFFF"/>
                          </a:solidFill>
                          <a:latin typeface="Arial"/>
                        </a:rPr>
                        <a:t>MoM</a:t>
                      </a:r>
                    </a:p>
                  </a:txBody>
                  <a:tcPr marL="54864" marR="54864" marT="27432" marB="27432">
                    <a:solidFill>
                      <a:srgbClr val="3B5998"/>
                    </a:solidFill>
                  </a:tcPr>
                </a:tc>
              </a:tr>
              <a:tr h="266700">
                <a:tc>
                  <a:txBody>
                    <a:bodyPr/>
                    <a:lstStyle/>
                    <a:p>
                      <a:r>
                        <a:rPr sz="850" b="1">
                          <a:solidFill>
                            <a:srgbClr val="32373E"/>
                          </a:solidFill>
                          <a:latin typeface="Arial"/>
                        </a:rPr>
                        <a:t>Working Media Spend</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c>
                  <a:txBody>
                    <a:bodyPr/>
                    <a:lstStyle/>
                    <a:p>
                      <a:pPr algn="r"/>
                      <a:r>
                        <a:rPr sz="850" b="0">
                          <a:solidFill>
                            <a:srgbClr val="32373E"/>
                          </a:solidFill>
                          <a:latin typeface="Arial"/>
                        </a:rPr>
                        <a:t>$2,237</a:t>
                      </a:r>
                    </a:p>
                  </a:txBody>
                  <a:tcPr marL="54864" marR="54864" marT="27432" marB="27432">
                    <a:solidFill>
                      <a:srgbClr val="FFFFFF"/>
                    </a:solidFill>
                  </a:tcPr>
                </a:tc>
                <a:tc>
                  <a:txBody>
                    <a:bodyPr/>
                    <a:lstStyle/>
                    <a:p>
                      <a:pPr algn="r"/>
                      <a:r>
                        <a:rPr sz="850" b="0">
                          <a:solidFill>
                            <a:srgbClr val="32373E"/>
                          </a:solidFill>
                          <a:latin typeface="Arial"/>
                        </a:rPr>
                        <a:t>$49,106</a:t>
                      </a:r>
                    </a:p>
                  </a:txBody>
                  <a:tcPr marL="54864" marR="54864" marT="27432" marB="27432">
                    <a:solidFill>
                      <a:srgbClr val="FFFFFF"/>
                    </a:solidFill>
                  </a:tcPr>
                </a:tc>
                <a:tc>
                  <a:txBody>
                    <a:bodyPr/>
                    <a:lstStyle/>
                    <a:p>
                      <a:pPr algn="r"/>
                      <a:r>
                        <a:rPr sz="850" b="0">
                          <a:solidFill>
                            <a:srgbClr val="32373E"/>
                          </a:solidFill>
                          <a:latin typeface="Arial"/>
                        </a:rPr>
                        <a:t>$58,324</a:t>
                      </a:r>
                    </a:p>
                  </a:txBody>
                  <a:tcPr marL="54864" marR="54864" marT="27432" marB="27432">
                    <a:solidFill>
                      <a:srgbClr val="FFFFFF"/>
                    </a:solidFill>
                  </a:tcPr>
                </a:tc>
                <a:tc>
                  <a:txBody>
                    <a:bodyPr/>
                    <a:lstStyle/>
                    <a:p>
                      <a:pPr algn="r"/>
                      <a:r>
                        <a:rPr sz="850" b="0">
                          <a:solidFill>
                            <a:srgbClr val="32373E"/>
                          </a:solidFill>
                          <a:latin typeface="Arial"/>
                        </a:rPr>
                        <a:t>$76,274</a:t>
                      </a:r>
                    </a:p>
                  </a:txBody>
                  <a:tcPr marL="54864" marR="54864" marT="27432" marB="27432">
                    <a:solidFill>
                      <a:srgbClr val="FFFFFF"/>
                    </a:solidFill>
                  </a:tcPr>
                </a:tc>
                <a:tc>
                  <a:txBody>
                    <a:bodyPr/>
                    <a:lstStyle/>
                    <a:p>
                      <a:pPr algn="r"/>
                      <a:r>
                        <a:rPr sz="850" b="0">
                          <a:solidFill>
                            <a:srgbClr val="32373E"/>
                          </a:solidFill>
                          <a:latin typeface="Arial"/>
                        </a:rPr>
                        <a:t>$117,024</a:t>
                      </a:r>
                    </a:p>
                  </a:txBody>
                  <a:tcPr marL="54864" marR="54864" marT="27432" marB="27432">
                    <a:solidFill>
                      <a:srgbClr val="FFFFFF"/>
                    </a:solidFill>
                  </a:tcPr>
                </a:tc>
                <a:tc>
                  <a:txBody>
                    <a:bodyPr/>
                    <a:lstStyle/>
                    <a:p>
                      <a:pPr algn="r"/>
                      <a:r>
                        <a:rPr sz="850" b="0">
                          <a:solidFill>
                            <a:srgbClr val="32373E"/>
                          </a:solidFill>
                          <a:latin typeface="Arial"/>
                        </a:rPr>
                        <a:t>+53%</a:t>
                      </a:r>
                    </a:p>
                  </a:txBody>
                  <a:tcPr marL="54864" marR="54864" marT="27432" marB="27432">
                    <a:solidFill>
                      <a:srgbClr val="FFFFFF"/>
                    </a:solidFill>
                  </a:tcPr>
                </a:tc>
              </a:tr>
              <a:tr h="266700">
                <a:tc>
                  <a:txBody>
                    <a:bodyPr/>
                    <a:lstStyle/>
                    <a:p>
                      <a:r>
                        <a:rPr sz="850" b="1">
                          <a:solidFill>
                            <a:srgbClr val="32373E"/>
                          </a:solidFill>
                          <a:latin typeface="Arial"/>
                        </a:rPr>
                        <a:t>Unique Sessions</a:t>
                      </a:r>
                    </a:p>
                  </a:txBody>
                  <a:tcPr marL="54864" marR="54864" marT="27432" marB="27432">
                    <a:solidFill>
                      <a:srgbClr val="F3F3F3"/>
                    </a:solidFill>
                  </a:tcPr>
                </a:tc>
                <a:tc>
                  <a:txBody>
                    <a:bodyPr/>
                    <a:lstStyle/>
                    <a:p>
                      <a:pPr algn="r"/>
                      <a:r>
                        <a:rPr sz="850" b="0">
                          <a:solidFill>
                            <a:srgbClr val="32373E"/>
                          </a:solidFill>
                          <a:latin typeface="Arial"/>
                        </a:rPr>
                        <a:t>4,187</a:t>
                      </a:r>
                    </a:p>
                  </a:txBody>
                  <a:tcPr marL="54864" marR="54864" marT="27432" marB="27432">
                    <a:solidFill>
                      <a:srgbClr val="F3F3F3"/>
                    </a:solidFill>
                  </a:tcPr>
                </a:tc>
                <a:tc>
                  <a:txBody>
                    <a:bodyPr/>
                    <a:lstStyle/>
                    <a:p>
                      <a:pPr algn="r"/>
                      <a:r>
                        <a:rPr sz="850" b="0">
                          <a:solidFill>
                            <a:srgbClr val="32373E"/>
                          </a:solidFill>
                          <a:latin typeface="Arial"/>
                        </a:rPr>
                        <a:t>5,075</a:t>
                      </a:r>
                    </a:p>
                  </a:txBody>
                  <a:tcPr marL="54864" marR="54864" marT="27432" marB="27432">
                    <a:solidFill>
                      <a:srgbClr val="F3F3F3"/>
                    </a:solidFill>
                  </a:tcPr>
                </a:tc>
                <a:tc>
                  <a:txBody>
                    <a:bodyPr/>
                    <a:lstStyle/>
                    <a:p>
                      <a:pPr algn="r"/>
                      <a:r>
                        <a:rPr sz="850" b="0">
                          <a:solidFill>
                            <a:srgbClr val="32373E"/>
                          </a:solidFill>
                          <a:latin typeface="Arial"/>
                        </a:rPr>
                        <a:t>31,785</a:t>
                      </a:r>
                    </a:p>
                  </a:txBody>
                  <a:tcPr marL="54864" marR="54864" marT="27432" marB="27432">
                    <a:solidFill>
                      <a:srgbClr val="F3F3F3"/>
                    </a:solidFill>
                  </a:tcPr>
                </a:tc>
                <a:tc>
                  <a:txBody>
                    <a:bodyPr/>
                    <a:lstStyle/>
                    <a:p>
                      <a:pPr algn="r"/>
                      <a:r>
                        <a:rPr sz="850" b="0">
                          <a:solidFill>
                            <a:srgbClr val="32373E"/>
                          </a:solidFill>
                          <a:latin typeface="Arial"/>
                        </a:rPr>
                        <a:t>43,192</a:t>
                      </a:r>
                    </a:p>
                  </a:txBody>
                  <a:tcPr marL="54864" marR="54864" marT="27432" marB="27432">
                    <a:solidFill>
                      <a:srgbClr val="F3F3F3"/>
                    </a:solidFill>
                  </a:tcPr>
                </a:tc>
                <a:tc>
                  <a:txBody>
                    <a:bodyPr/>
                    <a:lstStyle/>
                    <a:p>
                      <a:pPr algn="r"/>
                      <a:r>
                        <a:rPr sz="850" b="0">
                          <a:solidFill>
                            <a:srgbClr val="32373E"/>
                          </a:solidFill>
                          <a:latin typeface="Arial"/>
                        </a:rPr>
                        <a:t>52,137</a:t>
                      </a:r>
                    </a:p>
                  </a:txBody>
                  <a:tcPr marL="54864" marR="54864" marT="27432" marB="27432">
                    <a:solidFill>
                      <a:srgbClr val="F3F3F3"/>
                    </a:solidFill>
                  </a:tcPr>
                </a:tc>
                <a:tc>
                  <a:txBody>
                    <a:bodyPr/>
                    <a:lstStyle/>
                    <a:p>
                      <a:pPr algn="r"/>
                      <a:r>
                        <a:rPr sz="850" b="0">
                          <a:solidFill>
                            <a:srgbClr val="32373E"/>
                          </a:solidFill>
                          <a:latin typeface="Arial"/>
                        </a:rPr>
                        <a:t>67,542</a:t>
                      </a:r>
                    </a:p>
                  </a:txBody>
                  <a:tcPr marL="54864" marR="54864" marT="27432" marB="27432">
                    <a:solidFill>
                      <a:srgbClr val="F3F3F3"/>
                    </a:solidFill>
                  </a:tcPr>
                </a:tc>
                <a:tc>
                  <a:txBody>
                    <a:bodyPr/>
                    <a:lstStyle/>
                    <a:p>
                      <a:pPr algn="r"/>
                      <a:r>
                        <a:rPr sz="850" b="0">
                          <a:solidFill>
                            <a:srgbClr val="32373E"/>
                          </a:solidFill>
                          <a:latin typeface="Arial"/>
                        </a:rPr>
                        <a:t>+30%</a:t>
                      </a:r>
                    </a:p>
                  </a:txBody>
                  <a:tcPr marL="54864" marR="54864" marT="27432" marB="27432">
                    <a:solidFill>
                      <a:srgbClr val="F3F3F3"/>
                    </a:solidFill>
                  </a:tcPr>
                </a:tc>
              </a:tr>
              <a:tr h="266700">
                <a:tc>
                  <a:txBody>
                    <a:bodyPr/>
                    <a:lstStyle/>
                    <a:p>
                      <a:r>
                        <a:rPr sz="850" b="1">
                          <a:solidFill>
                            <a:srgbClr val="32373E"/>
                          </a:solidFill>
                          <a:latin typeface="Arial"/>
                        </a:rPr>
                        <a:t>App Starts</a:t>
                      </a:r>
                    </a:p>
                  </a:txBody>
                  <a:tcPr marL="54864" marR="54864" marT="27432" marB="27432">
                    <a:solidFill>
                      <a:srgbClr val="FFFFFF"/>
                    </a:solidFill>
                  </a:tcPr>
                </a:tc>
                <a:tc>
                  <a:txBody>
                    <a:bodyPr/>
                    <a:lstStyle/>
                    <a:p>
                      <a:pPr algn="r"/>
                      <a:r>
                        <a:rPr sz="850" b="0">
                          <a:solidFill>
                            <a:srgbClr val="32373E"/>
                          </a:solidFill>
                          <a:latin typeface="Arial"/>
                        </a:rPr>
                        <a:t>2,306</a:t>
                      </a:r>
                    </a:p>
                  </a:txBody>
                  <a:tcPr marL="54864" marR="54864" marT="27432" marB="27432">
                    <a:solidFill>
                      <a:srgbClr val="FFFFFF"/>
                    </a:solidFill>
                  </a:tcPr>
                </a:tc>
                <a:tc>
                  <a:txBody>
                    <a:bodyPr/>
                    <a:lstStyle/>
                    <a:p>
                      <a:pPr algn="r"/>
                      <a:r>
                        <a:rPr sz="850" b="0">
                          <a:solidFill>
                            <a:srgbClr val="32373E"/>
                          </a:solidFill>
                          <a:latin typeface="Arial"/>
                        </a:rPr>
                        <a:t>1,871</a:t>
                      </a:r>
                    </a:p>
                  </a:txBody>
                  <a:tcPr marL="54864" marR="54864" marT="27432" marB="27432">
                    <a:solidFill>
                      <a:srgbClr val="FFFFFF"/>
                    </a:solidFill>
                  </a:tcPr>
                </a:tc>
                <a:tc>
                  <a:txBody>
                    <a:bodyPr/>
                    <a:lstStyle/>
                    <a:p>
                      <a:pPr algn="r"/>
                      <a:r>
                        <a:rPr sz="850" b="0">
                          <a:solidFill>
                            <a:srgbClr val="32373E"/>
                          </a:solidFill>
                          <a:latin typeface="Arial"/>
                        </a:rPr>
                        <a:t>2,820</a:t>
                      </a:r>
                    </a:p>
                  </a:txBody>
                  <a:tcPr marL="54864" marR="54864" marT="27432" marB="27432">
                    <a:solidFill>
                      <a:srgbClr val="FFFFFF"/>
                    </a:solidFill>
                  </a:tcPr>
                </a:tc>
                <a:tc>
                  <a:txBody>
                    <a:bodyPr/>
                    <a:lstStyle/>
                    <a:p>
                      <a:pPr algn="r"/>
                      <a:r>
                        <a:rPr sz="850" b="0">
                          <a:solidFill>
                            <a:srgbClr val="32373E"/>
                          </a:solidFill>
                          <a:latin typeface="Arial"/>
                        </a:rPr>
                        <a:t>2,767</a:t>
                      </a:r>
                    </a:p>
                  </a:txBody>
                  <a:tcPr marL="54864" marR="54864" marT="27432" marB="27432">
                    <a:solidFill>
                      <a:srgbClr val="FFFFFF"/>
                    </a:solidFill>
                  </a:tcPr>
                </a:tc>
                <a:tc>
                  <a:txBody>
                    <a:bodyPr/>
                    <a:lstStyle/>
                    <a:p>
                      <a:pPr algn="r"/>
                      <a:r>
                        <a:rPr sz="850" b="0">
                          <a:solidFill>
                            <a:srgbClr val="32373E"/>
                          </a:solidFill>
                          <a:latin typeface="Arial"/>
                        </a:rPr>
                        <a:t>2,617</a:t>
                      </a:r>
                    </a:p>
                  </a:txBody>
                  <a:tcPr marL="54864" marR="54864" marT="27432" marB="27432">
                    <a:solidFill>
                      <a:srgbClr val="FFFFFF"/>
                    </a:solidFill>
                  </a:tcPr>
                </a:tc>
                <a:tc>
                  <a:txBody>
                    <a:bodyPr/>
                    <a:lstStyle/>
                    <a:p>
                      <a:pPr algn="r"/>
                      <a:r>
                        <a:rPr sz="850" b="0">
                          <a:solidFill>
                            <a:srgbClr val="32373E"/>
                          </a:solidFill>
                          <a:latin typeface="Arial"/>
                        </a:rPr>
                        <a:t>2,590</a:t>
                      </a:r>
                    </a:p>
                  </a:txBody>
                  <a:tcPr marL="54864" marR="54864" marT="27432" marB="27432">
                    <a:solidFill>
                      <a:srgbClr val="FFFFFF"/>
                    </a:solidFill>
                  </a:tcPr>
                </a:tc>
                <a:tc>
                  <a:txBody>
                    <a:bodyPr/>
                    <a:lstStyle/>
                    <a:p>
                      <a:pPr algn="r"/>
                      <a:r>
                        <a:rPr sz="850" b="0">
                          <a:solidFill>
                            <a:srgbClr val="32373E"/>
                          </a:solidFill>
                          <a:latin typeface="Arial"/>
                        </a:rPr>
                        <a:t>-1%</a:t>
                      </a:r>
                    </a:p>
                  </a:txBody>
                  <a:tcPr marL="54864" marR="54864" marT="27432" marB="27432">
                    <a:solidFill>
                      <a:srgbClr val="FFFFFF"/>
                    </a:solidFill>
                  </a:tcPr>
                </a:tc>
              </a:tr>
              <a:tr h="266700">
                <a:tc>
                  <a:txBody>
                    <a:bodyPr/>
                    <a:lstStyle/>
                    <a:p>
                      <a:r>
                        <a:rPr sz="850" b="1">
                          <a:solidFill>
                            <a:srgbClr val="32373E"/>
                          </a:solidFill>
                          <a:latin typeface="Arial"/>
                        </a:rPr>
                        <a:t>Live Apps Submitted</a:t>
                      </a:r>
                    </a:p>
                  </a:txBody>
                  <a:tcPr marL="54864" marR="54864" marT="27432" marB="27432">
                    <a:solidFill>
                      <a:srgbClr val="F3F3F3"/>
                    </a:solidFill>
                  </a:tcPr>
                </a:tc>
                <a:tc>
                  <a:txBody>
                    <a:bodyPr/>
                    <a:lstStyle/>
                    <a:p>
                      <a:pPr algn="r"/>
                      <a:r>
                        <a:rPr sz="850" b="0">
                          <a:solidFill>
                            <a:srgbClr val="32373E"/>
                          </a:solidFill>
                          <a:latin typeface="Arial"/>
                        </a:rPr>
                        <a:t>430</a:t>
                      </a:r>
                    </a:p>
                  </a:txBody>
                  <a:tcPr marL="54864" marR="54864" marT="27432" marB="27432">
                    <a:solidFill>
                      <a:srgbClr val="F3F3F3"/>
                    </a:solidFill>
                  </a:tcPr>
                </a:tc>
                <a:tc>
                  <a:txBody>
                    <a:bodyPr/>
                    <a:lstStyle/>
                    <a:p>
                      <a:pPr algn="r"/>
                      <a:r>
                        <a:rPr sz="850" b="0">
                          <a:solidFill>
                            <a:srgbClr val="32373E"/>
                          </a:solidFill>
                          <a:latin typeface="Arial"/>
                        </a:rPr>
                        <a:t>344</a:t>
                      </a:r>
                    </a:p>
                  </a:txBody>
                  <a:tcPr marL="54864" marR="54864" marT="27432" marB="27432">
                    <a:solidFill>
                      <a:srgbClr val="F3F3F3"/>
                    </a:solidFill>
                  </a:tcPr>
                </a:tc>
                <a:tc>
                  <a:txBody>
                    <a:bodyPr/>
                    <a:lstStyle/>
                    <a:p>
                      <a:pPr algn="r"/>
                      <a:r>
                        <a:rPr sz="850" b="0">
                          <a:solidFill>
                            <a:srgbClr val="32373E"/>
                          </a:solidFill>
                          <a:latin typeface="Arial"/>
                        </a:rPr>
                        <a:t>391</a:t>
                      </a:r>
                    </a:p>
                  </a:txBody>
                  <a:tcPr marL="54864" marR="54864" marT="27432" marB="27432">
                    <a:solidFill>
                      <a:srgbClr val="F3F3F3"/>
                    </a:solidFill>
                  </a:tcPr>
                </a:tc>
                <a:tc>
                  <a:txBody>
                    <a:bodyPr/>
                    <a:lstStyle/>
                    <a:p>
                      <a:pPr algn="r"/>
                      <a:r>
                        <a:rPr sz="850" b="0">
                          <a:solidFill>
                            <a:srgbClr val="32373E"/>
                          </a:solidFill>
                          <a:latin typeface="Arial"/>
                        </a:rPr>
                        <a:t>398</a:t>
                      </a:r>
                    </a:p>
                  </a:txBody>
                  <a:tcPr marL="54864" marR="54864" marT="27432" marB="27432">
                    <a:solidFill>
                      <a:srgbClr val="F3F3F3"/>
                    </a:solidFill>
                  </a:tcPr>
                </a:tc>
                <a:tc>
                  <a:txBody>
                    <a:bodyPr/>
                    <a:lstStyle/>
                    <a:p>
                      <a:pPr algn="r"/>
                      <a:r>
                        <a:rPr sz="850" b="0">
                          <a:solidFill>
                            <a:srgbClr val="32373E"/>
                          </a:solidFill>
                          <a:latin typeface="Arial"/>
                        </a:rPr>
                        <a:t>289</a:t>
                      </a:r>
                    </a:p>
                  </a:txBody>
                  <a:tcPr marL="54864" marR="54864" marT="27432" marB="27432">
                    <a:solidFill>
                      <a:srgbClr val="F3F3F3"/>
                    </a:solidFill>
                  </a:tcPr>
                </a:tc>
                <a:tc>
                  <a:txBody>
                    <a:bodyPr/>
                    <a:lstStyle/>
                    <a:p>
                      <a:pPr algn="r"/>
                      <a:r>
                        <a:rPr sz="850" b="0">
                          <a:solidFill>
                            <a:srgbClr val="32373E"/>
                          </a:solidFill>
                          <a:latin typeface="Arial"/>
                        </a:rPr>
                        <a:t>306</a:t>
                      </a:r>
                    </a:p>
                  </a:txBody>
                  <a:tcPr marL="54864" marR="54864" marT="27432" marB="27432">
                    <a:solidFill>
                      <a:srgbClr val="F3F3F3"/>
                    </a:solidFill>
                  </a:tcPr>
                </a:tc>
                <a:tc>
                  <a:txBody>
                    <a:bodyPr/>
                    <a:lstStyle/>
                    <a:p>
                      <a:pPr algn="r"/>
                      <a:r>
                        <a:rPr sz="850" b="0">
                          <a:solidFill>
                            <a:srgbClr val="32373E"/>
                          </a:solidFill>
                          <a:latin typeface="Arial"/>
                        </a:rPr>
                        <a:t>+6%</a:t>
                      </a:r>
                    </a:p>
                  </a:txBody>
                  <a:tcPr marL="54864" marR="54864" marT="27432" marB="27432">
                    <a:solidFill>
                      <a:srgbClr val="F3F3F3"/>
                    </a:solidFill>
                  </a:tcPr>
                </a:tc>
              </a:tr>
              <a:tr h="266700">
                <a:tc>
                  <a:txBody>
                    <a:bodyPr/>
                    <a:lstStyle/>
                    <a:p>
                      <a:r>
                        <a:rPr sz="850" b="1">
                          <a:solidFill>
                            <a:srgbClr val="32373E"/>
                          </a:solidFill>
                          <a:latin typeface="Arial"/>
                        </a:rPr>
                        <a:t>Approved Clients</a:t>
                      </a:r>
                    </a:p>
                  </a:txBody>
                  <a:tcPr marL="54864" marR="54864" marT="27432" marB="27432">
                    <a:solidFill>
                      <a:srgbClr val="FFFFFF"/>
                    </a:solidFill>
                  </a:tcPr>
                </a:tc>
                <a:tc>
                  <a:txBody>
                    <a:bodyPr/>
                    <a:lstStyle/>
                    <a:p>
                      <a:pPr algn="r"/>
                      <a:r>
                        <a:rPr sz="850" b="0">
                          <a:solidFill>
                            <a:srgbClr val="32373E"/>
                          </a:solidFill>
                          <a:latin typeface="Arial"/>
                        </a:rPr>
                        <a:t>202</a:t>
                      </a:r>
                    </a:p>
                  </a:txBody>
                  <a:tcPr marL="54864" marR="54864" marT="27432" marB="27432">
                    <a:solidFill>
                      <a:srgbClr val="FFFFFF"/>
                    </a:solidFill>
                  </a:tcPr>
                </a:tc>
                <a:tc>
                  <a:txBody>
                    <a:bodyPr/>
                    <a:lstStyle/>
                    <a:p>
                      <a:pPr algn="r"/>
                      <a:r>
                        <a:rPr sz="850" b="0">
                          <a:solidFill>
                            <a:srgbClr val="32373E"/>
                          </a:solidFill>
                          <a:latin typeface="Arial"/>
                        </a:rPr>
                        <a:t>150</a:t>
                      </a:r>
                    </a:p>
                  </a:txBody>
                  <a:tcPr marL="54864" marR="54864" marT="27432" marB="27432">
                    <a:solidFill>
                      <a:srgbClr val="FFFFFF"/>
                    </a:solidFill>
                  </a:tcPr>
                </a:tc>
                <a:tc>
                  <a:txBody>
                    <a:bodyPr/>
                    <a:lstStyle/>
                    <a:p>
                      <a:pPr algn="r"/>
                      <a:r>
                        <a:rPr sz="850" b="0">
                          <a:solidFill>
                            <a:srgbClr val="32373E"/>
                          </a:solidFill>
                          <a:latin typeface="Arial"/>
                        </a:rPr>
                        <a:t>172</a:t>
                      </a:r>
                    </a:p>
                  </a:txBody>
                  <a:tcPr marL="54864" marR="54864" marT="27432" marB="27432">
                    <a:solidFill>
                      <a:srgbClr val="FFFFFF"/>
                    </a:solidFill>
                  </a:tcPr>
                </a:tc>
                <a:tc>
                  <a:txBody>
                    <a:bodyPr/>
                    <a:lstStyle/>
                    <a:p>
                      <a:pPr algn="r"/>
                      <a:r>
                        <a:rPr sz="850" b="0">
                          <a:solidFill>
                            <a:srgbClr val="32373E"/>
                          </a:solidFill>
                          <a:latin typeface="Arial"/>
                        </a:rPr>
                        <a:t>186</a:t>
                      </a:r>
                    </a:p>
                  </a:txBody>
                  <a:tcPr marL="54864" marR="54864" marT="27432" marB="27432">
                    <a:solidFill>
                      <a:srgbClr val="FFFFFF"/>
                    </a:solidFill>
                  </a:tcPr>
                </a:tc>
                <a:tc>
                  <a:txBody>
                    <a:bodyPr/>
                    <a:lstStyle/>
                    <a:p>
                      <a:pPr algn="r"/>
                      <a:r>
                        <a:rPr sz="850" b="0">
                          <a:solidFill>
                            <a:srgbClr val="32373E"/>
                          </a:solidFill>
                          <a:latin typeface="Arial"/>
                        </a:rPr>
                        <a:t>134</a:t>
                      </a:r>
                    </a:p>
                  </a:txBody>
                  <a:tcPr marL="54864" marR="54864" marT="27432" marB="27432">
                    <a:solidFill>
                      <a:srgbClr val="FFFFFF"/>
                    </a:solidFill>
                  </a:tcPr>
                </a:tc>
                <a:tc>
                  <a:txBody>
                    <a:bodyPr/>
                    <a:lstStyle/>
                    <a:p>
                      <a:pPr algn="r"/>
                      <a:r>
                        <a:rPr sz="850" b="0">
                          <a:solidFill>
                            <a:srgbClr val="32373E"/>
                          </a:solidFill>
                          <a:latin typeface="Arial"/>
                        </a:rPr>
                        <a:t>145</a:t>
                      </a:r>
                    </a:p>
                  </a:txBody>
                  <a:tcPr marL="54864" marR="54864" marT="27432" marB="27432">
                    <a:solidFill>
                      <a:srgbClr val="FFFFFF"/>
                    </a:solidFill>
                  </a:tcPr>
                </a:tc>
                <a:tc>
                  <a:txBody>
                    <a:bodyPr/>
                    <a:lstStyle/>
                    <a:p>
                      <a:pPr algn="r"/>
                      <a:r>
                        <a:rPr sz="850" b="0">
                          <a:solidFill>
                            <a:srgbClr val="32373E"/>
                          </a:solidFill>
                          <a:latin typeface="Arial"/>
                        </a:rPr>
                        <a:t>+8%</a:t>
                      </a:r>
                    </a:p>
                  </a:txBody>
                  <a:tcPr marL="54864" marR="54864" marT="27432" marB="27432">
                    <a:solidFill>
                      <a:srgbClr val="FFFFFF"/>
                    </a:solidFill>
                  </a:tcPr>
                </a:tc>
              </a:tr>
              <a:tr h="266700">
                <a:tc>
                  <a:txBody>
                    <a:bodyPr/>
                    <a:lstStyle/>
                    <a:p>
                      <a:r>
                        <a:rPr sz="850" b="1">
                          <a:solidFill>
                            <a:srgbClr val="32373E"/>
                          </a:solidFill>
                          <a:latin typeface="Arial"/>
                        </a:rPr>
                        <a:t>Approval Rate</a:t>
                      </a:r>
                    </a:p>
                  </a:txBody>
                  <a:tcPr marL="54864" marR="54864" marT="27432" marB="27432">
                    <a:solidFill>
                      <a:srgbClr val="F3F3F3"/>
                    </a:solidFill>
                  </a:tcPr>
                </a:tc>
                <a:tc>
                  <a:txBody>
                    <a:bodyPr/>
                    <a:lstStyle/>
                    <a:p>
                      <a:pPr algn="r"/>
                      <a:r>
                        <a:rPr sz="850" b="0">
                          <a:solidFill>
                            <a:srgbClr val="32373E"/>
                          </a:solidFill>
                          <a:latin typeface="Arial"/>
                        </a:rPr>
                        <a:t>46%</a:t>
                      </a:r>
                    </a:p>
                  </a:txBody>
                  <a:tcPr marL="54864" marR="54864" marT="27432" marB="27432">
                    <a:solidFill>
                      <a:srgbClr val="F3F3F3"/>
                    </a:solidFill>
                  </a:tcPr>
                </a:tc>
                <a:tc>
                  <a:txBody>
                    <a:bodyPr/>
                    <a:lstStyle/>
                    <a:p>
                      <a:pPr algn="r"/>
                      <a:r>
                        <a:rPr sz="850" b="0">
                          <a:solidFill>
                            <a:srgbClr val="32373E"/>
                          </a:solidFill>
                          <a:latin typeface="Arial"/>
                        </a:rPr>
                        <a:t>43%</a:t>
                      </a:r>
                    </a:p>
                  </a:txBody>
                  <a:tcPr marL="54864" marR="54864" marT="27432" marB="27432">
                    <a:solidFill>
                      <a:srgbClr val="F3F3F3"/>
                    </a:solidFill>
                  </a:tcPr>
                </a:tc>
                <a:tc>
                  <a:txBody>
                    <a:bodyPr/>
                    <a:lstStyle/>
                    <a:p>
                      <a:pPr algn="r"/>
                      <a:r>
                        <a:rPr sz="850" b="0">
                          <a:solidFill>
                            <a:srgbClr val="32373E"/>
                          </a:solidFill>
                          <a:latin typeface="Arial"/>
                        </a:rPr>
                        <a:t>42%</a:t>
                      </a:r>
                    </a:p>
                  </a:txBody>
                  <a:tcPr marL="54864" marR="54864" marT="27432" marB="27432">
                    <a:solidFill>
                      <a:srgbClr val="F3F3F3"/>
                    </a:solidFill>
                  </a:tcPr>
                </a:tc>
                <a:tc>
                  <a:txBody>
                    <a:bodyPr/>
                    <a:lstStyle/>
                    <a:p>
                      <a:pPr algn="r"/>
                      <a:r>
                        <a:rPr sz="850" b="0">
                          <a:solidFill>
                            <a:srgbClr val="32373E"/>
                          </a:solidFill>
                          <a:latin typeface="Arial"/>
                        </a:rPr>
                        <a:t>45%</a:t>
                      </a:r>
                    </a:p>
                  </a:txBody>
                  <a:tcPr marL="54864" marR="54864" marT="27432" marB="27432">
                    <a:solidFill>
                      <a:srgbClr val="F3F3F3"/>
                    </a:solidFill>
                  </a:tcPr>
                </a:tc>
                <a:tc>
                  <a:txBody>
                    <a:bodyPr/>
                    <a:lstStyle/>
                    <a:p>
                      <a:pPr algn="r"/>
                      <a:r>
                        <a:rPr sz="850" b="0">
                          <a:solidFill>
                            <a:srgbClr val="32373E"/>
                          </a:solidFill>
                          <a:latin typeface="Arial"/>
                        </a:rPr>
                        <a:t>45%</a:t>
                      </a:r>
                    </a:p>
                  </a:txBody>
                  <a:tcPr marL="54864" marR="54864" marT="27432" marB="27432">
                    <a:solidFill>
                      <a:srgbClr val="F3F3F3"/>
                    </a:solidFill>
                  </a:tcPr>
                </a:tc>
                <a:tc>
                  <a:txBody>
                    <a:bodyPr/>
                    <a:lstStyle/>
                    <a:p>
                      <a:pPr algn="r"/>
                      <a:r>
                        <a:rPr sz="850" b="0">
                          <a:solidFill>
                            <a:srgbClr val="32373E"/>
                          </a:solidFill>
                          <a:latin typeface="Arial"/>
                        </a:rPr>
                        <a:t>45%</a:t>
                      </a:r>
                    </a:p>
                  </a:txBody>
                  <a:tcPr marL="54864" marR="54864" marT="27432" marB="27432">
                    <a:solidFill>
                      <a:srgbClr val="F3F3F3"/>
                    </a:solidFill>
                  </a:tcPr>
                </a:tc>
                <a:tc>
                  <a:txBody>
                    <a:bodyPr/>
                    <a:lstStyle/>
                    <a:p>
                      <a:pPr algn="r"/>
                      <a:r>
                        <a:rPr sz="850" b="0">
                          <a:solidFill>
                            <a:srgbClr val="32373E"/>
                          </a:solidFill>
                          <a:latin typeface="Arial"/>
                        </a:rPr>
                        <a:t>0pp</a:t>
                      </a:r>
                    </a:p>
                  </a:txBody>
                  <a:tcPr marL="54864" marR="54864" marT="27432" marB="27432">
                    <a:solidFill>
                      <a:srgbClr val="F3F3F3"/>
                    </a:solidFill>
                  </a:tcPr>
                </a:tc>
              </a:tr>
              <a:tr h="266700">
                <a:tc>
                  <a:txBody>
                    <a:bodyPr/>
                    <a:lstStyle/>
                    <a:p>
                      <a:r>
                        <a:rPr sz="850" b="1">
                          <a:solidFill>
                            <a:srgbClr val="32373E"/>
                          </a:solidFill>
                          <a:latin typeface="Arial"/>
                        </a:rPr>
                        <a:t>New Funded Clients</a:t>
                      </a:r>
                    </a:p>
                  </a:txBody>
                  <a:tcPr marL="54864" marR="54864" marT="27432" marB="27432">
                    <a:solidFill>
                      <a:srgbClr val="FFFFFF"/>
                    </a:solidFill>
                  </a:tcPr>
                </a:tc>
                <a:tc>
                  <a:txBody>
                    <a:bodyPr/>
                    <a:lstStyle/>
                    <a:p>
                      <a:pPr algn="r"/>
                      <a:r>
                        <a:rPr sz="850" b="0">
                          <a:solidFill>
                            <a:srgbClr val="32373E"/>
                          </a:solidFill>
                          <a:latin typeface="Arial"/>
                        </a:rPr>
                        <a:t>58</a:t>
                      </a:r>
                    </a:p>
                  </a:txBody>
                  <a:tcPr marL="54864" marR="54864" marT="27432" marB="27432">
                    <a:solidFill>
                      <a:srgbClr val="FFFFFF"/>
                    </a:solidFill>
                  </a:tcPr>
                </a:tc>
                <a:tc>
                  <a:txBody>
                    <a:bodyPr/>
                    <a:lstStyle/>
                    <a:p>
                      <a:pPr algn="r"/>
                      <a:r>
                        <a:rPr sz="850" b="0">
                          <a:solidFill>
                            <a:srgbClr val="32373E"/>
                          </a:solidFill>
                          <a:latin typeface="Arial"/>
                        </a:rPr>
                        <a:t>46</a:t>
                      </a:r>
                    </a:p>
                  </a:txBody>
                  <a:tcPr marL="54864" marR="54864" marT="27432" marB="27432">
                    <a:solidFill>
                      <a:srgbClr val="FFFFFF"/>
                    </a:solidFill>
                  </a:tcPr>
                </a:tc>
                <a:tc>
                  <a:txBody>
                    <a:bodyPr/>
                    <a:lstStyle/>
                    <a:p>
                      <a:pPr algn="r"/>
                      <a:r>
                        <a:rPr sz="850" b="0">
                          <a:solidFill>
                            <a:srgbClr val="32373E"/>
                          </a:solidFill>
                          <a:latin typeface="Arial"/>
                        </a:rPr>
                        <a:t>44</a:t>
                      </a:r>
                    </a:p>
                  </a:txBody>
                  <a:tcPr marL="54864" marR="54864" marT="27432" marB="27432">
                    <a:solidFill>
                      <a:srgbClr val="FFFFFF"/>
                    </a:solidFill>
                  </a:tcPr>
                </a:tc>
                <a:tc>
                  <a:txBody>
                    <a:bodyPr/>
                    <a:lstStyle/>
                    <a:p>
                      <a:pPr algn="r"/>
                      <a:r>
                        <a:rPr sz="850" b="0">
                          <a:solidFill>
                            <a:srgbClr val="32373E"/>
                          </a:solidFill>
                          <a:latin typeface="Arial"/>
                        </a:rPr>
                        <a:t>65</a:t>
                      </a:r>
                    </a:p>
                  </a:txBody>
                  <a:tcPr marL="54864" marR="54864" marT="27432" marB="27432">
                    <a:solidFill>
                      <a:srgbClr val="FFFFFF"/>
                    </a:solidFill>
                  </a:tcPr>
                </a:tc>
                <a:tc>
                  <a:txBody>
                    <a:bodyPr/>
                    <a:lstStyle/>
                    <a:p>
                      <a:pPr algn="r"/>
                      <a:r>
                        <a:rPr sz="850" b="0">
                          <a:solidFill>
                            <a:srgbClr val="32373E"/>
                          </a:solidFill>
                          <a:latin typeface="Arial"/>
                        </a:rPr>
                        <a:t>40</a:t>
                      </a:r>
                    </a:p>
                  </a:txBody>
                  <a:tcPr marL="54864" marR="54864" marT="27432" marB="27432">
                    <a:solidFill>
                      <a:srgbClr val="FFFFFF"/>
                    </a:solidFill>
                  </a:tcPr>
                </a:tc>
                <a:tc>
                  <a:txBody>
                    <a:bodyPr/>
                    <a:lstStyle/>
                    <a:p>
                      <a:pPr algn="r"/>
                      <a:r>
                        <a:rPr sz="850" b="0">
                          <a:solidFill>
                            <a:srgbClr val="32373E"/>
                          </a:solidFill>
                          <a:latin typeface="Arial"/>
                        </a:rPr>
                        <a:t>41</a:t>
                      </a:r>
                    </a:p>
                  </a:txBody>
                  <a:tcPr marL="54864" marR="54864" marT="27432" marB="27432">
                    <a:solidFill>
                      <a:srgbClr val="FFFFFF"/>
                    </a:solidFill>
                  </a:tcPr>
                </a:tc>
                <a:tc>
                  <a:txBody>
                    <a:bodyPr/>
                    <a:lstStyle/>
                    <a:p>
                      <a:pPr algn="r"/>
                      <a:r>
                        <a:rPr sz="850" b="0">
                          <a:solidFill>
                            <a:srgbClr val="32373E"/>
                          </a:solidFill>
                          <a:latin typeface="Arial"/>
                        </a:rPr>
                        <a:t>+3%</a:t>
                      </a:r>
                    </a:p>
                  </a:txBody>
                  <a:tcPr marL="54864" marR="54864" marT="27432" marB="27432">
                    <a:solidFill>
                      <a:srgbClr val="FFFFFF"/>
                    </a:solidFill>
                  </a:tcPr>
                </a:tc>
              </a:tr>
              <a:tr h="266700">
                <a:tc>
                  <a:txBody>
                    <a:bodyPr/>
                    <a:lstStyle/>
                    <a:p>
                      <a:r>
                        <a:rPr sz="850" b="1">
                          <a:solidFill>
                            <a:srgbClr val="32373E"/>
                          </a:solidFill>
                          <a:latin typeface="Arial"/>
                        </a:rPr>
                        <a:t>Fund Rate</a:t>
                      </a:r>
                    </a:p>
                  </a:txBody>
                  <a:tcPr marL="54864" marR="54864" marT="27432" marB="27432">
                    <a:solidFill>
                      <a:srgbClr val="F3F3F3"/>
                    </a:solidFill>
                  </a:tcPr>
                </a:tc>
                <a:tc>
                  <a:txBody>
                    <a:bodyPr/>
                    <a:lstStyle/>
                    <a:p>
                      <a:pPr algn="r"/>
                      <a:r>
                        <a:rPr sz="850" b="0">
                          <a:solidFill>
                            <a:srgbClr val="32373E"/>
                          </a:solidFill>
                          <a:latin typeface="Arial"/>
                        </a:rPr>
                        <a:t>29%</a:t>
                      </a:r>
                    </a:p>
                  </a:txBody>
                  <a:tcPr marL="54864" marR="54864" marT="27432" marB="27432">
                    <a:solidFill>
                      <a:srgbClr val="F3F3F3"/>
                    </a:solidFill>
                  </a:tcPr>
                </a:tc>
                <a:tc>
                  <a:txBody>
                    <a:bodyPr/>
                    <a:lstStyle/>
                    <a:p>
                      <a:pPr algn="r"/>
                      <a:r>
                        <a:rPr sz="850" b="0">
                          <a:solidFill>
                            <a:srgbClr val="32373E"/>
                          </a:solidFill>
                          <a:latin typeface="Arial"/>
                        </a:rPr>
                        <a:t>31%</a:t>
                      </a:r>
                    </a:p>
                  </a:txBody>
                  <a:tcPr marL="54864" marR="54864" marT="27432" marB="27432">
                    <a:solidFill>
                      <a:srgbClr val="F3F3F3"/>
                    </a:solidFill>
                  </a:tcPr>
                </a:tc>
                <a:tc>
                  <a:txBody>
                    <a:bodyPr/>
                    <a:lstStyle/>
                    <a:p>
                      <a:pPr algn="r"/>
                      <a:r>
                        <a:rPr sz="850" b="0">
                          <a:solidFill>
                            <a:srgbClr val="32373E"/>
                          </a:solidFill>
                          <a:latin typeface="Arial"/>
                        </a:rPr>
                        <a:t>26%</a:t>
                      </a:r>
                    </a:p>
                  </a:txBody>
                  <a:tcPr marL="54864" marR="54864" marT="27432" marB="27432">
                    <a:solidFill>
                      <a:srgbClr val="F3F3F3"/>
                    </a:solidFill>
                  </a:tcPr>
                </a:tc>
                <a:tc>
                  <a:txBody>
                    <a:bodyPr/>
                    <a:lstStyle/>
                    <a:p>
                      <a:pPr algn="r"/>
                      <a:r>
                        <a:rPr sz="850" b="0">
                          <a:solidFill>
                            <a:srgbClr val="32373E"/>
                          </a:solidFill>
                          <a:latin typeface="Arial"/>
                        </a:rPr>
                        <a:t>35%</a:t>
                      </a:r>
                    </a:p>
                  </a:txBody>
                  <a:tcPr marL="54864" marR="54864" marT="27432" marB="27432">
                    <a:solidFill>
                      <a:srgbClr val="F3F3F3"/>
                    </a:solidFill>
                  </a:tcPr>
                </a:tc>
                <a:tc>
                  <a:txBody>
                    <a:bodyPr/>
                    <a:lstStyle/>
                    <a:p>
                      <a:pPr algn="r"/>
                      <a:r>
                        <a:rPr sz="850" b="0">
                          <a:solidFill>
                            <a:srgbClr val="32373E"/>
                          </a:solidFill>
                          <a:latin typeface="Arial"/>
                        </a:rPr>
                        <a:t>30%</a:t>
                      </a:r>
                    </a:p>
                  </a:txBody>
                  <a:tcPr marL="54864" marR="54864" marT="27432" marB="27432">
                    <a:solidFill>
                      <a:srgbClr val="F3F3F3"/>
                    </a:solidFill>
                  </a:tcPr>
                </a:tc>
                <a:tc>
                  <a:txBody>
                    <a:bodyPr/>
                    <a:lstStyle/>
                    <a:p>
                      <a:pPr algn="r"/>
                      <a:r>
                        <a:rPr sz="850" b="0">
                          <a:solidFill>
                            <a:srgbClr val="32373E"/>
                          </a:solidFill>
                          <a:latin typeface="Arial"/>
                        </a:rPr>
                        <a:t>28%</a:t>
                      </a:r>
                    </a:p>
                  </a:txBody>
                  <a:tcPr marL="54864" marR="54864" marT="27432" marB="27432">
                    <a:solidFill>
                      <a:srgbClr val="F3F3F3"/>
                    </a:solidFill>
                  </a:tcPr>
                </a:tc>
                <a:tc>
                  <a:txBody>
                    <a:bodyPr/>
                    <a:lstStyle/>
                    <a:p>
                      <a:pPr algn="r"/>
                      <a:r>
                        <a:rPr sz="850" b="0">
                          <a:solidFill>
                            <a:srgbClr val="32373E"/>
                          </a:solidFill>
                          <a:latin typeface="Arial"/>
                        </a:rPr>
                        <a:t>-2pp</a:t>
                      </a:r>
                    </a:p>
                  </a:txBody>
                  <a:tcPr marL="54864" marR="54864" marT="27432" marB="27432">
                    <a:solidFill>
                      <a:srgbClr val="F3F3F3"/>
                    </a:solidFill>
                  </a:tcPr>
                </a:tc>
              </a:tr>
              <a:tr h="266700">
                <a:tc>
                  <a:txBody>
                    <a:bodyPr/>
                    <a:lstStyle/>
                    <a:p>
                      <a:r>
                        <a:rPr sz="850" b="1">
                          <a:solidFill>
                            <a:srgbClr val="32373E"/>
                          </a:solidFill>
                          <a:latin typeface="Arial"/>
                        </a:rPr>
                        <a:t>Cost per Funded Client</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c>
                  <a:txBody>
                    <a:bodyPr/>
                    <a:lstStyle/>
                    <a:p>
                      <a:pPr algn="r"/>
                      <a:r>
                        <a:rPr sz="850" b="0">
                          <a:solidFill>
                            <a:srgbClr val="32373E"/>
                          </a:solidFill>
                          <a:latin typeface="Arial"/>
                        </a:rPr>
                        <a:t>$49</a:t>
                      </a:r>
                    </a:p>
                  </a:txBody>
                  <a:tcPr marL="54864" marR="54864" marT="27432" marB="27432">
                    <a:solidFill>
                      <a:srgbClr val="FFFFFF"/>
                    </a:solidFill>
                  </a:tcPr>
                </a:tc>
                <a:tc>
                  <a:txBody>
                    <a:bodyPr/>
                    <a:lstStyle/>
                    <a:p>
                      <a:pPr algn="r"/>
                      <a:r>
                        <a:rPr sz="850" b="0">
                          <a:solidFill>
                            <a:srgbClr val="32373E"/>
                          </a:solidFill>
                          <a:latin typeface="Arial"/>
                        </a:rPr>
                        <a:t>$1,116</a:t>
                      </a:r>
                    </a:p>
                  </a:txBody>
                  <a:tcPr marL="54864" marR="54864" marT="27432" marB="27432">
                    <a:solidFill>
                      <a:srgbClr val="FFFFFF"/>
                    </a:solidFill>
                  </a:tcPr>
                </a:tc>
                <a:tc>
                  <a:txBody>
                    <a:bodyPr/>
                    <a:lstStyle/>
                    <a:p>
                      <a:pPr algn="r"/>
                      <a:r>
                        <a:rPr sz="850" b="0">
                          <a:solidFill>
                            <a:srgbClr val="32373E"/>
                          </a:solidFill>
                          <a:latin typeface="Arial"/>
                        </a:rPr>
                        <a:t>$897</a:t>
                      </a:r>
                    </a:p>
                  </a:txBody>
                  <a:tcPr marL="54864" marR="54864" marT="27432" marB="27432">
                    <a:solidFill>
                      <a:srgbClr val="FFFFFF"/>
                    </a:solidFill>
                  </a:tcPr>
                </a:tc>
                <a:tc>
                  <a:txBody>
                    <a:bodyPr/>
                    <a:lstStyle/>
                    <a:p>
                      <a:pPr algn="r"/>
                      <a:r>
                        <a:rPr sz="850" b="0">
                          <a:solidFill>
                            <a:srgbClr val="32373E"/>
                          </a:solidFill>
                          <a:latin typeface="Arial"/>
                        </a:rPr>
                        <a:t>$1,907</a:t>
                      </a:r>
                    </a:p>
                  </a:txBody>
                  <a:tcPr marL="54864" marR="54864" marT="27432" marB="27432">
                    <a:solidFill>
                      <a:srgbClr val="FFFFFF"/>
                    </a:solidFill>
                  </a:tcPr>
                </a:tc>
                <a:tc>
                  <a:txBody>
                    <a:bodyPr/>
                    <a:lstStyle/>
                    <a:p>
                      <a:pPr algn="r"/>
                      <a:r>
                        <a:rPr sz="850" b="0">
                          <a:solidFill>
                            <a:srgbClr val="32373E"/>
                          </a:solidFill>
                          <a:latin typeface="Arial"/>
                        </a:rPr>
                        <a:t>$2,854</a:t>
                      </a:r>
                    </a:p>
                  </a:txBody>
                  <a:tcPr marL="54864" marR="54864" marT="27432" marB="27432">
                    <a:solidFill>
                      <a:srgbClr val="FFFFFF"/>
                    </a:solidFill>
                  </a:tcPr>
                </a:tc>
                <a:tc>
                  <a:txBody>
                    <a:bodyPr/>
                    <a:lstStyle/>
                    <a:p>
                      <a:pPr algn="r"/>
                      <a:r>
                        <a:rPr sz="850" b="0">
                          <a:solidFill>
                            <a:srgbClr val="32373E"/>
                          </a:solidFill>
                          <a:latin typeface="Arial"/>
                        </a:rPr>
                        <a:t>+50%</a:t>
                      </a:r>
                    </a:p>
                  </a:txBody>
                  <a:tcPr marL="54864" marR="54864" marT="27432" marB="27432">
                    <a:solidFill>
                      <a:srgbClr val="FFFFFF"/>
                    </a:solidFill>
                  </a:tcPr>
                </a:tc>
              </a:tr>
              <a:tr h="266700">
                <a:tc>
                  <a:txBody>
                    <a:bodyPr/>
                    <a:lstStyle/>
                    <a:p>
                      <a:r>
                        <a:rPr sz="850" b="1">
                          <a:solidFill>
                            <a:srgbClr val="32373E"/>
                          </a:solidFill>
                          <a:latin typeface="Arial"/>
                        </a:rPr>
                        <a:t>New Traded Clients</a:t>
                      </a:r>
                    </a:p>
                  </a:txBody>
                  <a:tcPr marL="54864" marR="54864" marT="27432" marB="27432">
                    <a:solidFill>
                      <a:srgbClr val="F3F3F3"/>
                    </a:solidFill>
                  </a:tcPr>
                </a:tc>
                <a:tc>
                  <a:txBody>
                    <a:bodyPr/>
                    <a:lstStyle/>
                    <a:p>
                      <a:pPr algn="r"/>
                      <a:r>
                        <a:rPr sz="850" b="0">
                          <a:solidFill>
                            <a:srgbClr val="32373E"/>
                          </a:solidFill>
                          <a:latin typeface="Arial"/>
                        </a:rPr>
                        <a:t>45</a:t>
                      </a:r>
                    </a:p>
                  </a:txBody>
                  <a:tcPr marL="54864" marR="54864" marT="27432" marB="27432">
                    <a:solidFill>
                      <a:srgbClr val="F3F3F3"/>
                    </a:solidFill>
                  </a:tcPr>
                </a:tc>
                <a:tc>
                  <a:txBody>
                    <a:bodyPr/>
                    <a:lstStyle/>
                    <a:p>
                      <a:pPr algn="r"/>
                      <a:r>
                        <a:rPr sz="850" b="0">
                          <a:solidFill>
                            <a:srgbClr val="32373E"/>
                          </a:solidFill>
                          <a:latin typeface="Arial"/>
                        </a:rPr>
                        <a:t>40</a:t>
                      </a:r>
                    </a:p>
                  </a:txBody>
                  <a:tcPr marL="54864" marR="54864" marT="27432" marB="27432">
                    <a:solidFill>
                      <a:srgbClr val="F3F3F3"/>
                    </a:solidFill>
                  </a:tcPr>
                </a:tc>
                <a:tc>
                  <a:txBody>
                    <a:bodyPr/>
                    <a:lstStyle/>
                    <a:p>
                      <a:pPr algn="r"/>
                      <a:r>
                        <a:rPr sz="850" b="0">
                          <a:solidFill>
                            <a:srgbClr val="32373E"/>
                          </a:solidFill>
                          <a:latin typeface="Arial"/>
                        </a:rPr>
                        <a:t>33</a:t>
                      </a:r>
                    </a:p>
                  </a:txBody>
                  <a:tcPr marL="54864" marR="54864" marT="27432" marB="27432">
                    <a:solidFill>
                      <a:srgbClr val="F3F3F3"/>
                    </a:solidFill>
                  </a:tcPr>
                </a:tc>
                <a:tc>
                  <a:txBody>
                    <a:bodyPr/>
                    <a:lstStyle/>
                    <a:p>
                      <a:pPr algn="r"/>
                      <a:r>
                        <a:rPr sz="850" b="0">
                          <a:solidFill>
                            <a:srgbClr val="32373E"/>
                          </a:solidFill>
                          <a:latin typeface="Arial"/>
                        </a:rPr>
                        <a:t>53</a:t>
                      </a:r>
                    </a:p>
                  </a:txBody>
                  <a:tcPr marL="54864" marR="54864" marT="27432" marB="27432">
                    <a:solidFill>
                      <a:srgbClr val="F3F3F3"/>
                    </a:solidFill>
                  </a:tcPr>
                </a:tc>
                <a:tc>
                  <a:txBody>
                    <a:bodyPr/>
                    <a:lstStyle/>
                    <a:p>
                      <a:pPr algn="r"/>
                      <a:r>
                        <a:rPr sz="850" b="0">
                          <a:solidFill>
                            <a:srgbClr val="32373E"/>
                          </a:solidFill>
                          <a:latin typeface="Arial"/>
                        </a:rPr>
                        <a:t>31</a:t>
                      </a:r>
                    </a:p>
                  </a:txBody>
                  <a:tcPr marL="54864" marR="54864" marT="27432" marB="27432">
                    <a:solidFill>
                      <a:srgbClr val="F3F3F3"/>
                    </a:solidFill>
                  </a:tcPr>
                </a:tc>
                <a:tc>
                  <a:txBody>
                    <a:bodyPr/>
                    <a:lstStyle/>
                    <a:p>
                      <a:pPr algn="r"/>
                      <a:r>
                        <a:rPr sz="850" b="0">
                          <a:solidFill>
                            <a:srgbClr val="32373E"/>
                          </a:solidFill>
                          <a:latin typeface="Arial"/>
                        </a:rPr>
                        <a:t>30</a:t>
                      </a:r>
                    </a:p>
                  </a:txBody>
                  <a:tcPr marL="54864" marR="54864" marT="27432" marB="27432">
                    <a:solidFill>
                      <a:srgbClr val="F3F3F3"/>
                    </a:solidFill>
                  </a:tcPr>
                </a:tc>
                <a:tc>
                  <a:txBody>
                    <a:bodyPr/>
                    <a:lstStyle/>
                    <a:p>
                      <a:pPr algn="r"/>
                      <a:r>
                        <a:rPr sz="850" b="0">
                          <a:solidFill>
                            <a:srgbClr val="32373E"/>
                          </a:solidFill>
                          <a:latin typeface="Arial"/>
                        </a:rPr>
                        <a:t>-3%</a:t>
                      </a:r>
                    </a:p>
                  </a:txBody>
                  <a:tcPr marL="54864" marR="54864" marT="27432" marB="27432">
                    <a:solidFill>
                      <a:srgbClr val="F3F3F3"/>
                    </a:solidFill>
                  </a:tcPr>
                </a:tc>
              </a:tr>
              <a:tr h="266700">
                <a:tc>
                  <a:txBody>
                    <a:bodyPr/>
                    <a:lstStyle/>
                    <a:p>
                      <a:r>
                        <a:rPr sz="850" b="1">
                          <a:solidFill>
                            <a:srgbClr val="32373E"/>
                          </a:solidFill>
                          <a:latin typeface="Arial"/>
                        </a:rPr>
                        <a:t>Cost per Traded Client</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c>
                  <a:txBody>
                    <a:bodyPr/>
                    <a:lstStyle/>
                    <a:p>
                      <a:pPr algn="r"/>
                      <a:r>
                        <a:rPr sz="850" b="0">
                          <a:solidFill>
                            <a:srgbClr val="32373E"/>
                          </a:solidFill>
                          <a:latin typeface="Arial"/>
                        </a:rPr>
                        <a:t>$56</a:t>
                      </a:r>
                    </a:p>
                  </a:txBody>
                  <a:tcPr marL="54864" marR="54864" marT="27432" marB="27432">
                    <a:solidFill>
                      <a:srgbClr val="FFFFFF"/>
                    </a:solidFill>
                  </a:tcPr>
                </a:tc>
                <a:tc>
                  <a:txBody>
                    <a:bodyPr/>
                    <a:lstStyle/>
                    <a:p>
                      <a:pPr algn="r"/>
                      <a:r>
                        <a:rPr sz="850" b="0">
                          <a:solidFill>
                            <a:srgbClr val="32373E"/>
                          </a:solidFill>
                          <a:latin typeface="Arial"/>
                        </a:rPr>
                        <a:t>$1,488</a:t>
                      </a:r>
                    </a:p>
                  </a:txBody>
                  <a:tcPr marL="54864" marR="54864" marT="27432" marB="27432">
                    <a:solidFill>
                      <a:srgbClr val="FFFFFF"/>
                    </a:solidFill>
                  </a:tcPr>
                </a:tc>
                <a:tc>
                  <a:txBody>
                    <a:bodyPr/>
                    <a:lstStyle/>
                    <a:p>
                      <a:pPr algn="r"/>
                      <a:r>
                        <a:rPr sz="850" b="0">
                          <a:solidFill>
                            <a:srgbClr val="32373E"/>
                          </a:solidFill>
                          <a:latin typeface="Arial"/>
                        </a:rPr>
                        <a:t>$1,100</a:t>
                      </a:r>
                    </a:p>
                  </a:txBody>
                  <a:tcPr marL="54864" marR="54864" marT="27432" marB="27432">
                    <a:solidFill>
                      <a:srgbClr val="FFFFFF"/>
                    </a:solidFill>
                  </a:tcPr>
                </a:tc>
                <a:tc>
                  <a:txBody>
                    <a:bodyPr/>
                    <a:lstStyle/>
                    <a:p>
                      <a:pPr algn="r"/>
                      <a:r>
                        <a:rPr sz="850" b="0">
                          <a:solidFill>
                            <a:srgbClr val="32373E"/>
                          </a:solidFill>
                          <a:latin typeface="Arial"/>
                        </a:rPr>
                        <a:t>$2,460</a:t>
                      </a:r>
                    </a:p>
                  </a:txBody>
                  <a:tcPr marL="54864" marR="54864" marT="27432" marB="27432">
                    <a:solidFill>
                      <a:srgbClr val="FFFFFF"/>
                    </a:solidFill>
                  </a:tcPr>
                </a:tc>
                <a:tc>
                  <a:txBody>
                    <a:bodyPr/>
                    <a:lstStyle/>
                    <a:p>
                      <a:pPr algn="r"/>
                      <a:r>
                        <a:rPr sz="850" b="0">
                          <a:solidFill>
                            <a:srgbClr val="32373E"/>
                          </a:solidFill>
                          <a:latin typeface="Arial"/>
                        </a:rPr>
                        <a:t>$3,901</a:t>
                      </a:r>
                    </a:p>
                  </a:txBody>
                  <a:tcPr marL="54864" marR="54864" marT="27432" marB="27432">
                    <a:solidFill>
                      <a:srgbClr val="FFFFFF"/>
                    </a:solidFill>
                  </a:tcPr>
                </a:tc>
                <a:tc>
                  <a:txBody>
                    <a:bodyPr/>
                    <a:lstStyle/>
                    <a:p>
                      <a:pPr algn="r"/>
                      <a:r>
                        <a:rPr sz="850" b="0">
                          <a:solidFill>
                            <a:srgbClr val="32373E"/>
                          </a:solidFill>
                          <a:latin typeface="Arial"/>
                        </a:rPr>
                        <a:t>+59%</a:t>
                      </a:r>
                    </a:p>
                  </a:txBody>
                  <a:tcPr marL="54864" marR="54864" marT="27432" marB="27432">
                    <a:solidFill>
                      <a:srgbClr val="FFFFFF"/>
                    </a:solidFill>
                  </a:tcPr>
                </a:tc>
              </a:tr>
            </a:tbl>
          </a:graphicData>
        </a:graphic>
      </p:graphicFrame>
      <p:sp>
        <p:nvSpPr>
          <p:cNvPr id="12" name="TextBox 11"/>
          <p:cNvSpPr txBox="1"/>
          <p:nvPr/>
        </p:nvSpPr>
        <p:spPr>
          <a:xfrm>
            <a:off x="3566160" y="5212080"/>
            <a:ext cx="8138160" cy="457200"/>
          </a:xfrm>
          <a:prstGeom prst="rect">
            <a:avLst/>
          </a:prstGeom>
          <a:noFill/>
        </p:spPr>
        <p:txBody>
          <a:bodyPr wrap="square" anchor="t" lIns="0" rIns="0" tIns="0" bIns="0">
            <a:spAutoFit/>
          </a:bodyPr>
          <a:lstStyle/>
          <a:p>
            <a:pPr algn="l"/>
            <a:r>
              <a:rPr sz="750" b="0">
                <a:solidFill>
                  <a:srgbClr val="5A5A5A"/>
                </a:solidFill>
                <a:latin typeface="Arial"/>
              </a:rPr>
              <a:t>Funnel metrics are blended organic + paid (client dashboard). Working media per the budget tracker. MoM = June vs May.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Q3 FY2026 IN REVIEW  ·  SPEND</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The program doubled from April and added a fifth channel.</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3 / 15</a:t>
            </a:r>
          </a:p>
        </p:txBody>
      </p:sp>
      <p:graphicFrame>
        <p:nvGraphicFramePr>
          <p:cNvPr id="10" name="Table 9"/>
          <p:cNvGraphicFramePr>
            <a:graphicFrameLocks noGrp="1"/>
          </p:cNvGraphicFramePr>
          <p:nvPr/>
        </p:nvGraphicFramePr>
        <p:xfrm>
          <a:off x="457200" y="1737360"/>
          <a:ext cx="6035040" cy="2468880"/>
        </p:xfrm>
        <a:graphic>
          <a:graphicData uri="http://schemas.openxmlformats.org/drawingml/2006/table">
            <a:tbl>
              <a:tblPr>
                <a:tableStyleId>{5C22544A-7EE6-4342-B048-85BDC9FD1C3A}</a:tableStyleId>
              </a:tblPr>
              <a:tblGrid>
                <a:gridCol w="1737360"/>
                <a:gridCol w="1051560"/>
                <a:gridCol w="1051560"/>
                <a:gridCol w="1097280"/>
                <a:gridCol w="1097280"/>
              </a:tblGrid>
              <a:tr h="352697">
                <a:tc>
                  <a:txBody>
                    <a:bodyPr/>
                    <a:lstStyle/>
                    <a:p>
                      <a:r>
                        <a:rPr sz="850" b="1">
                          <a:solidFill>
                            <a:srgbClr val="FFFFFF"/>
                          </a:solidFill>
                          <a:latin typeface="Arial"/>
                        </a:rPr>
                        <a:t>Channel</a:t>
                      </a:r>
                    </a:p>
                  </a:txBody>
                  <a:tcPr marL="54864" marR="54864" marT="27432" marB="27432">
                    <a:solidFill>
                      <a:srgbClr val="3B5998"/>
                    </a:solidFill>
                  </a:tcPr>
                </a:tc>
                <a:tc>
                  <a:txBody>
                    <a:bodyPr/>
                    <a:lstStyle/>
                    <a:p>
                      <a:pPr algn="r"/>
                      <a:r>
                        <a:rPr sz="850" b="1">
                          <a:solidFill>
                            <a:srgbClr val="FFFFFF"/>
                          </a:solidFill>
                          <a:latin typeface="Arial"/>
                        </a:rPr>
                        <a:t>Apr</a:t>
                      </a:r>
                    </a:p>
                  </a:txBody>
                  <a:tcPr marL="54864" marR="54864" marT="27432" marB="27432">
                    <a:solidFill>
                      <a:srgbClr val="3B5998"/>
                    </a:solidFill>
                  </a:tcPr>
                </a:tc>
                <a:tc>
                  <a:txBody>
                    <a:bodyPr/>
                    <a:lstStyle/>
                    <a:p>
                      <a:pPr algn="r"/>
                      <a:r>
                        <a:rPr sz="850" b="1">
                          <a:solidFill>
                            <a:srgbClr val="FFFFFF"/>
                          </a:solidFill>
                          <a:latin typeface="Arial"/>
                        </a:rPr>
                        <a:t>May</a:t>
                      </a:r>
                    </a:p>
                  </a:txBody>
                  <a:tcPr marL="54864" marR="54864" marT="27432" marB="27432">
                    <a:solidFill>
                      <a:srgbClr val="3B5998"/>
                    </a:solidFill>
                  </a:tcPr>
                </a:tc>
                <a:tc>
                  <a:txBody>
                    <a:bodyPr/>
                    <a:lstStyle/>
                    <a:p>
                      <a:pPr algn="r"/>
                      <a:r>
                        <a:rPr sz="850" b="1">
                          <a:solidFill>
                            <a:srgbClr val="FFFFFF"/>
                          </a:solidFill>
                          <a:latin typeface="Arial"/>
                        </a:rPr>
                        <a:t>Jun</a:t>
                      </a:r>
                    </a:p>
                  </a:txBody>
                  <a:tcPr marL="54864" marR="54864" marT="27432" marB="27432">
                    <a:solidFill>
                      <a:srgbClr val="3B5998"/>
                    </a:solidFill>
                  </a:tcPr>
                </a:tc>
                <a:tc>
                  <a:txBody>
                    <a:bodyPr/>
                    <a:lstStyle/>
                    <a:p>
                      <a:pPr algn="r"/>
                      <a:r>
                        <a:rPr sz="850" b="1">
                          <a:solidFill>
                            <a:srgbClr val="FFFFFF"/>
                          </a:solidFill>
                          <a:latin typeface="Arial"/>
                        </a:rPr>
                        <a:t>Q3</a:t>
                      </a:r>
                    </a:p>
                  </a:txBody>
                  <a:tcPr marL="54864" marR="54864" marT="27432" marB="27432">
                    <a:solidFill>
                      <a:srgbClr val="3B5998"/>
                    </a:solidFill>
                  </a:tcPr>
                </a:tc>
              </a:tr>
              <a:tr h="352697">
                <a:tc>
                  <a:txBody>
                    <a:bodyPr/>
                    <a:lstStyle/>
                    <a:p>
                      <a:r>
                        <a:rPr sz="850" b="1">
                          <a:solidFill>
                            <a:srgbClr val="32373E"/>
                          </a:solidFill>
                          <a:latin typeface="Arial"/>
                        </a:rPr>
                        <a:t>Google Ads</a:t>
                      </a:r>
                    </a:p>
                  </a:txBody>
                  <a:tcPr marL="54864" marR="54864" marT="27432" marB="27432">
                    <a:solidFill>
                      <a:srgbClr val="FFFFFF"/>
                    </a:solidFill>
                  </a:tcPr>
                </a:tc>
                <a:tc>
                  <a:txBody>
                    <a:bodyPr/>
                    <a:lstStyle/>
                    <a:p>
                      <a:pPr algn="r"/>
                      <a:r>
                        <a:rPr sz="850" b="0">
                          <a:solidFill>
                            <a:srgbClr val="32373E"/>
                          </a:solidFill>
                          <a:latin typeface="Arial"/>
                        </a:rPr>
                        <a:t>$15,120</a:t>
                      </a:r>
                    </a:p>
                  </a:txBody>
                  <a:tcPr marL="54864" marR="54864" marT="27432" marB="27432">
                    <a:solidFill>
                      <a:srgbClr val="FFFFFF"/>
                    </a:solidFill>
                  </a:tcPr>
                </a:tc>
                <a:tc>
                  <a:txBody>
                    <a:bodyPr/>
                    <a:lstStyle/>
                    <a:p>
                      <a:pPr algn="r"/>
                      <a:r>
                        <a:rPr sz="850" b="0">
                          <a:solidFill>
                            <a:srgbClr val="32373E"/>
                          </a:solidFill>
                          <a:latin typeface="Arial"/>
                        </a:rPr>
                        <a:t>$15,201</a:t>
                      </a:r>
                    </a:p>
                  </a:txBody>
                  <a:tcPr marL="54864" marR="54864" marT="27432" marB="27432">
                    <a:solidFill>
                      <a:srgbClr val="FFFFFF"/>
                    </a:solidFill>
                  </a:tcPr>
                </a:tc>
                <a:tc>
                  <a:txBody>
                    <a:bodyPr/>
                    <a:lstStyle/>
                    <a:p>
                      <a:pPr algn="r"/>
                      <a:r>
                        <a:rPr sz="850" b="0">
                          <a:solidFill>
                            <a:srgbClr val="32373E"/>
                          </a:solidFill>
                          <a:latin typeface="Arial"/>
                        </a:rPr>
                        <a:t>$22,524</a:t>
                      </a:r>
                    </a:p>
                  </a:txBody>
                  <a:tcPr marL="54864" marR="54864" marT="27432" marB="27432">
                    <a:solidFill>
                      <a:srgbClr val="FFFFFF"/>
                    </a:solidFill>
                  </a:tcPr>
                </a:tc>
                <a:tc>
                  <a:txBody>
                    <a:bodyPr/>
                    <a:lstStyle/>
                    <a:p>
                      <a:pPr algn="r"/>
                      <a:r>
                        <a:rPr sz="850" b="0">
                          <a:solidFill>
                            <a:srgbClr val="32373E"/>
                          </a:solidFill>
                          <a:latin typeface="Arial"/>
                        </a:rPr>
                        <a:t>$52,845</a:t>
                      </a:r>
                    </a:p>
                  </a:txBody>
                  <a:tcPr marL="54864" marR="54864" marT="27432" marB="27432">
                    <a:solidFill>
                      <a:srgbClr val="FFFFFF"/>
                    </a:solidFill>
                  </a:tcPr>
                </a:tc>
              </a:tr>
              <a:tr h="352697">
                <a:tc>
                  <a:txBody>
                    <a:bodyPr/>
                    <a:lstStyle/>
                    <a:p>
                      <a:r>
                        <a:rPr sz="850" b="1">
                          <a:solidFill>
                            <a:srgbClr val="32373E"/>
                          </a:solidFill>
                          <a:latin typeface="Arial"/>
                        </a:rPr>
                        <a:t>Meta</a:t>
                      </a:r>
                    </a:p>
                  </a:txBody>
                  <a:tcPr marL="54864" marR="54864" marT="27432" marB="27432">
                    <a:solidFill>
                      <a:srgbClr val="F3F3F3"/>
                    </a:solidFill>
                  </a:tcPr>
                </a:tc>
                <a:tc>
                  <a:txBody>
                    <a:bodyPr/>
                    <a:lstStyle/>
                    <a:p>
                      <a:pPr algn="r"/>
                      <a:r>
                        <a:rPr sz="850" b="0">
                          <a:solidFill>
                            <a:srgbClr val="32373E"/>
                          </a:solidFill>
                          <a:latin typeface="Arial"/>
                        </a:rPr>
                        <a:t>$12,167</a:t>
                      </a:r>
                    </a:p>
                  </a:txBody>
                  <a:tcPr marL="54864" marR="54864" marT="27432" marB="27432">
                    <a:solidFill>
                      <a:srgbClr val="F3F3F3"/>
                    </a:solidFill>
                  </a:tcPr>
                </a:tc>
                <a:tc>
                  <a:txBody>
                    <a:bodyPr/>
                    <a:lstStyle/>
                    <a:p>
                      <a:pPr algn="r"/>
                      <a:r>
                        <a:rPr sz="850" b="0">
                          <a:solidFill>
                            <a:srgbClr val="32373E"/>
                          </a:solidFill>
                          <a:latin typeface="Arial"/>
                        </a:rPr>
                        <a:t>$12,243</a:t>
                      </a:r>
                    </a:p>
                  </a:txBody>
                  <a:tcPr marL="54864" marR="54864" marT="27432" marB="27432">
                    <a:solidFill>
                      <a:srgbClr val="F3F3F3"/>
                    </a:solidFill>
                  </a:tcPr>
                </a:tc>
                <a:tc>
                  <a:txBody>
                    <a:bodyPr/>
                    <a:lstStyle/>
                    <a:p>
                      <a:pPr algn="r"/>
                      <a:r>
                        <a:rPr sz="850" b="0">
                          <a:solidFill>
                            <a:srgbClr val="32373E"/>
                          </a:solidFill>
                          <a:latin typeface="Arial"/>
                        </a:rPr>
                        <a:t>$30,711</a:t>
                      </a:r>
                    </a:p>
                  </a:txBody>
                  <a:tcPr marL="54864" marR="54864" marT="27432" marB="27432">
                    <a:solidFill>
                      <a:srgbClr val="F3F3F3"/>
                    </a:solidFill>
                  </a:tcPr>
                </a:tc>
                <a:tc>
                  <a:txBody>
                    <a:bodyPr/>
                    <a:lstStyle/>
                    <a:p>
                      <a:pPr algn="r"/>
                      <a:r>
                        <a:rPr sz="850" b="0">
                          <a:solidFill>
                            <a:srgbClr val="32373E"/>
                          </a:solidFill>
                          <a:latin typeface="Arial"/>
                        </a:rPr>
                        <a:t>$55,121</a:t>
                      </a:r>
                    </a:p>
                  </a:txBody>
                  <a:tcPr marL="54864" marR="54864" marT="27432" marB="27432">
                    <a:solidFill>
                      <a:srgbClr val="F3F3F3"/>
                    </a:solidFill>
                  </a:tcPr>
                </a:tc>
              </a:tr>
              <a:tr h="352697">
                <a:tc>
                  <a:txBody>
                    <a:bodyPr/>
                    <a:lstStyle/>
                    <a:p>
                      <a:r>
                        <a:rPr sz="850" b="1">
                          <a:solidFill>
                            <a:srgbClr val="32373E"/>
                          </a:solidFill>
                          <a:latin typeface="Arial"/>
                        </a:rPr>
                        <a:t>Quantcast</a:t>
                      </a:r>
                    </a:p>
                  </a:txBody>
                  <a:tcPr marL="54864" marR="54864" marT="27432" marB="27432">
                    <a:solidFill>
                      <a:srgbClr val="FFFFFF"/>
                    </a:solidFill>
                  </a:tcPr>
                </a:tc>
                <a:tc>
                  <a:txBody>
                    <a:bodyPr/>
                    <a:lstStyle/>
                    <a:p>
                      <a:pPr algn="r"/>
                      <a:r>
                        <a:rPr sz="850" b="0">
                          <a:solidFill>
                            <a:srgbClr val="32373E"/>
                          </a:solidFill>
                          <a:latin typeface="Arial"/>
                        </a:rPr>
                        <a:t>$15,015</a:t>
                      </a:r>
                    </a:p>
                  </a:txBody>
                  <a:tcPr marL="54864" marR="54864" marT="27432" marB="27432">
                    <a:solidFill>
                      <a:srgbClr val="FFFFFF"/>
                    </a:solidFill>
                  </a:tcPr>
                </a:tc>
                <a:tc>
                  <a:txBody>
                    <a:bodyPr/>
                    <a:lstStyle/>
                    <a:p>
                      <a:pPr algn="r"/>
                      <a:r>
                        <a:rPr sz="850" b="0">
                          <a:solidFill>
                            <a:srgbClr val="32373E"/>
                          </a:solidFill>
                          <a:latin typeface="Arial"/>
                        </a:rPr>
                        <a:t>$22,359</a:t>
                      </a:r>
                    </a:p>
                  </a:txBody>
                  <a:tcPr marL="54864" marR="54864" marT="27432" marB="27432">
                    <a:solidFill>
                      <a:srgbClr val="FFFFFF"/>
                    </a:solidFill>
                  </a:tcPr>
                </a:tc>
                <a:tc>
                  <a:txBody>
                    <a:bodyPr/>
                    <a:lstStyle/>
                    <a:p>
                      <a:pPr algn="r"/>
                      <a:r>
                        <a:rPr sz="850" b="0">
                          <a:solidFill>
                            <a:srgbClr val="32373E"/>
                          </a:solidFill>
                          <a:latin typeface="Arial"/>
                        </a:rPr>
                        <a:t>$30,559</a:t>
                      </a:r>
                    </a:p>
                  </a:txBody>
                  <a:tcPr marL="54864" marR="54864" marT="27432" marB="27432">
                    <a:solidFill>
                      <a:srgbClr val="FFFFFF"/>
                    </a:solidFill>
                  </a:tcPr>
                </a:tc>
                <a:tc>
                  <a:txBody>
                    <a:bodyPr/>
                    <a:lstStyle/>
                    <a:p>
                      <a:pPr algn="r"/>
                      <a:r>
                        <a:rPr sz="850" b="0">
                          <a:solidFill>
                            <a:srgbClr val="32373E"/>
                          </a:solidFill>
                          <a:latin typeface="Arial"/>
                        </a:rPr>
                        <a:t>$67,933</a:t>
                      </a:r>
                    </a:p>
                  </a:txBody>
                  <a:tcPr marL="54864" marR="54864" marT="27432" marB="27432">
                    <a:solidFill>
                      <a:srgbClr val="FFFFFF"/>
                    </a:solidFill>
                  </a:tcPr>
                </a:tc>
              </a:tr>
              <a:tr h="352697">
                <a:tc>
                  <a:txBody>
                    <a:bodyPr/>
                    <a:lstStyle/>
                    <a:p>
                      <a:r>
                        <a:rPr sz="850" b="1">
                          <a:solidFill>
                            <a:srgbClr val="32373E"/>
                          </a:solidFill>
                          <a:latin typeface="Arial"/>
                        </a:rPr>
                        <a:t>Azerion</a:t>
                      </a:r>
                    </a:p>
                  </a:txBody>
                  <a:tcPr marL="54864" marR="54864" marT="27432" marB="27432">
                    <a:solidFill>
                      <a:srgbClr val="F3F3F3"/>
                    </a:solidFill>
                  </a:tcPr>
                </a:tc>
                <a:tc>
                  <a:txBody>
                    <a:bodyPr/>
                    <a:lstStyle/>
                    <a:p>
                      <a:pPr algn="r"/>
                      <a:r>
                        <a:rPr sz="850" b="0">
                          <a:solidFill>
                            <a:srgbClr val="32373E"/>
                          </a:solidFill>
                          <a:latin typeface="Arial"/>
                        </a:rPr>
                        <a:t>$16,021</a:t>
                      </a:r>
                    </a:p>
                  </a:txBody>
                  <a:tcPr marL="54864" marR="54864" marT="27432" marB="27432">
                    <a:solidFill>
                      <a:srgbClr val="F3F3F3"/>
                    </a:solidFill>
                  </a:tcPr>
                </a:tc>
                <a:tc>
                  <a:txBody>
                    <a:bodyPr/>
                    <a:lstStyle/>
                    <a:p>
                      <a:pPr algn="r"/>
                      <a:r>
                        <a:rPr sz="850" b="0">
                          <a:solidFill>
                            <a:srgbClr val="32373E"/>
                          </a:solidFill>
                          <a:latin typeface="Arial"/>
                        </a:rPr>
                        <a:t>$26,472</a:t>
                      </a:r>
                    </a:p>
                  </a:txBody>
                  <a:tcPr marL="54864" marR="54864" marT="27432" marB="27432">
                    <a:solidFill>
                      <a:srgbClr val="F3F3F3"/>
                    </a:solidFill>
                  </a:tcPr>
                </a:tc>
                <a:tc>
                  <a:txBody>
                    <a:bodyPr/>
                    <a:lstStyle/>
                    <a:p>
                      <a:pPr algn="r"/>
                      <a:r>
                        <a:rPr sz="850" b="0">
                          <a:solidFill>
                            <a:srgbClr val="32373E"/>
                          </a:solidFill>
                          <a:latin typeface="Arial"/>
                        </a:rPr>
                        <a:t>$29,586</a:t>
                      </a:r>
                    </a:p>
                  </a:txBody>
                  <a:tcPr marL="54864" marR="54864" marT="27432" marB="27432">
                    <a:solidFill>
                      <a:srgbClr val="F3F3F3"/>
                    </a:solidFill>
                  </a:tcPr>
                </a:tc>
                <a:tc>
                  <a:txBody>
                    <a:bodyPr/>
                    <a:lstStyle/>
                    <a:p>
                      <a:pPr algn="r"/>
                      <a:r>
                        <a:rPr sz="850" b="0">
                          <a:solidFill>
                            <a:srgbClr val="32373E"/>
                          </a:solidFill>
                          <a:latin typeface="Arial"/>
                        </a:rPr>
                        <a:t>$72,079</a:t>
                      </a:r>
                    </a:p>
                  </a:txBody>
                  <a:tcPr marL="54864" marR="54864" marT="27432" marB="27432">
                    <a:solidFill>
                      <a:srgbClr val="F3F3F3"/>
                    </a:solidFill>
                  </a:tcPr>
                </a:tc>
              </a:tr>
              <a:tr h="352697">
                <a:tc>
                  <a:txBody>
                    <a:bodyPr/>
                    <a:lstStyle/>
                    <a:p>
                      <a:r>
                        <a:rPr sz="850" b="1">
                          <a:solidFill>
                            <a:srgbClr val="32373E"/>
                          </a:solidFill>
                          <a:latin typeface="Arial"/>
                        </a:rPr>
                        <a:t>Native</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c>
                  <a:txBody>
                    <a:bodyPr/>
                    <a:lstStyle/>
                    <a:p>
                      <a:pPr algn="r"/>
                      <a:r>
                        <a:rPr sz="850" b="0">
                          <a:solidFill>
                            <a:srgbClr val="32373E"/>
                          </a:solidFill>
                          <a:latin typeface="Arial"/>
                        </a:rPr>
                        <a:t>$3,645</a:t>
                      </a:r>
                    </a:p>
                  </a:txBody>
                  <a:tcPr marL="54864" marR="54864" marT="27432" marB="27432">
                    <a:solidFill>
                      <a:srgbClr val="FFFFFF"/>
                    </a:solidFill>
                  </a:tcPr>
                </a:tc>
                <a:tc>
                  <a:txBody>
                    <a:bodyPr/>
                    <a:lstStyle/>
                    <a:p>
                      <a:pPr algn="r"/>
                      <a:r>
                        <a:rPr sz="850" b="0">
                          <a:solidFill>
                            <a:srgbClr val="32373E"/>
                          </a:solidFill>
                          <a:latin typeface="Arial"/>
                        </a:rPr>
                        <a:t>$3,645</a:t>
                      </a:r>
                    </a:p>
                  </a:txBody>
                  <a:tcPr marL="54864" marR="54864" marT="27432" marB="27432">
                    <a:solidFill>
                      <a:srgbClr val="FFFFFF"/>
                    </a:solidFill>
                  </a:tcPr>
                </a:tc>
              </a:tr>
              <a:tr h="352698">
                <a:tc>
                  <a:txBody>
                    <a:bodyPr/>
                    <a:lstStyle/>
                    <a:p>
                      <a:r>
                        <a:rPr sz="850" b="1">
                          <a:solidFill>
                            <a:srgbClr val="32373E"/>
                          </a:solidFill>
                          <a:latin typeface="Arial"/>
                        </a:rPr>
                        <a:t>Total</a:t>
                      </a:r>
                    </a:p>
                  </a:txBody>
                  <a:tcPr marL="54864" marR="54864" marT="27432" marB="27432">
                    <a:solidFill>
                      <a:srgbClr val="F3F3F3"/>
                    </a:solidFill>
                  </a:tcPr>
                </a:tc>
                <a:tc>
                  <a:txBody>
                    <a:bodyPr/>
                    <a:lstStyle/>
                    <a:p>
                      <a:pPr algn="r"/>
                      <a:r>
                        <a:rPr sz="850" b="1">
                          <a:solidFill>
                            <a:srgbClr val="32373E"/>
                          </a:solidFill>
                          <a:latin typeface="Arial"/>
                        </a:rPr>
                        <a:t>$58,324</a:t>
                      </a:r>
                    </a:p>
                  </a:txBody>
                  <a:tcPr marL="54864" marR="54864" marT="27432" marB="27432">
                    <a:solidFill>
                      <a:srgbClr val="F3F3F3"/>
                    </a:solidFill>
                  </a:tcPr>
                </a:tc>
                <a:tc>
                  <a:txBody>
                    <a:bodyPr/>
                    <a:lstStyle/>
                    <a:p>
                      <a:pPr algn="r"/>
                      <a:r>
                        <a:rPr sz="850" b="1">
                          <a:solidFill>
                            <a:srgbClr val="32373E"/>
                          </a:solidFill>
                          <a:latin typeface="Arial"/>
                        </a:rPr>
                        <a:t>$76,274</a:t>
                      </a:r>
                    </a:p>
                  </a:txBody>
                  <a:tcPr marL="54864" marR="54864" marT="27432" marB="27432">
                    <a:solidFill>
                      <a:srgbClr val="F3F3F3"/>
                    </a:solidFill>
                  </a:tcPr>
                </a:tc>
                <a:tc>
                  <a:txBody>
                    <a:bodyPr/>
                    <a:lstStyle/>
                    <a:p>
                      <a:pPr algn="r"/>
                      <a:r>
                        <a:rPr sz="850" b="1">
                          <a:solidFill>
                            <a:srgbClr val="32373E"/>
                          </a:solidFill>
                          <a:latin typeface="Arial"/>
                        </a:rPr>
                        <a:t>$117,024</a:t>
                      </a:r>
                    </a:p>
                  </a:txBody>
                  <a:tcPr marL="54864" marR="54864" marT="27432" marB="27432">
                    <a:solidFill>
                      <a:srgbClr val="F3F3F3"/>
                    </a:solidFill>
                  </a:tcPr>
                </a:tc>
                <a:tc>
                  <a:txBody>
                    <a:bodyPr/>
                    <a:lstStyle/>
                    <a:p>
                      <a:pPr algn="r"/>
                      <a:r>
                        <a:rPr sz="850" b="1">
                          <a:solidFill>
                            <a:srgbClr val="32373E"/>
                          </a:solidFill>
                          <a:latin typeface="Arial"/>
                        </a:rPr>
                        <a:t>$251,621</a:t>
                      </a:r>
                    </a:p>
                  </a:txBody>
                  <a:tcPr marL="54864" marR="54864" marT="27432" marB="27432">
                    <a:solidFill>
                      <a:srgbClr val="F3F3F3"/>
                    </a:solidFill>
                  </a:tcPr>
                </a:tc>
              </a:tr>
            </a:tbl>
          </a:graphicData>
        </a:graphic>
      </p:graphicFrame>
      <p:sp>
        <p:nvSpPr>
          <p:cNvPr id="11" name="TextBox 10"/>
          <p:cNvSpPr txBox="1"/>
          <p:nvPr/>
        </p:nvSpPr>
        <p:spPr>
          <a:xfrm>
            <a:off x="457200" y="4389120"/>
            <a:ext cx="6035040" cy="822960"/>
          </a:xfrm>
          <a:prstGeom prst="rect">
            <a:avLst/>
          </a:prstGeom>
          <a:noFill/>
        </p:spPr>
        <p:txBody>
          <a:bodyPr wrap="square" anchor="t" lIns="0" rIns="0" tIns="0" bIns="0">
            <a:spAutoFit/>
          </a:bodyPr>
          <a:lstStyle/>
          <a:p>
            <a:pPr algn="l"/>
            <a:r>
              <a:rPr sz="950" b="0">
                <a:solidFill>
                  <a:srgbClr val="32373E"/>
                </a:solidFill>
                <a:latin typeface="Arial"/>
              </a:rPr>
              <a:t>Month-over-month growth: +31% into May, +53% into June. June ran at 2x the April level.</a:t>
            </a:r>
          </a:p>
        </p:txBody>
      </p:sp>
      <p:sp>
        <p:nvSpPr>
          <p:cNvPr id="12" name="Rectangle 11"/>
          <p:cNvSpPr/>
          <p:nvPr/>
        </p:nvSpPr>
        <p:spPr>
          <a:xfrm>
            <a:off x="6858000" y="1737360"/>
            <a:ext cx="4846320" cy="45720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0" y="1737360"/>
            <a:ext cx="484632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0" y="1920240"/>
            <a:ext cx="4480559" cy="274320"/>
          </a:xfrm>
          <a:prstGeom prst="rect">
            <a:avLst/>
          </a:prstGeom>
          <a:noFill/>
        </p:spPr>
        <p:txBody>
          <a:bodyPr wrap="square" anchor="t" lIns="0" rIns="0" tIns="0" bIns="0">
            <a:spAutoFit/>
          </a:bodyPr>
          <a:lstStyle/>
          <a:p>
            <a:pPr algn="l"/>
            <a:r>
              <a:rPr sz="1000" b="1">
                <a:solidFill>
                  <a:srgbClr val="3B5998"/>
                </a:solidFill>
                <a:latin typeface="Arial"/>
              </a:rPr>
              <a:t>READ</a:t>
            </a:r>
          </a:p>
        </p:txBody>
      </p:sp>
      <p:sp>
        <p:nvSpPr>
          <p:cNvPr id="15" name="TextBox 14"/>
          <p:cNvSpPr txBox="1"/>
          <p:nvPr/>
        </p:nvSpPr>
        <p:spPr>
          <a:xfrm>
            <a:off x="7040880" y="2240280"/>
            <a:ext cx="4480559" cy="3886200"/>
          </a:xfrm>
          <a:prstGeom prst="rect">
            <a:avLst/>
          </a:prstGeom>
          <a:noFill/>
        </p:spPr>
        <p:txBody>
          <a:bodyPr wrap="square" anchor="t" lIns="0" rIns="0" tIns="0" bIns="0">
            <a:spAutoFit/>
          </a:bodyPr>
          <a:lstStyle/>
          <a:p>
            <a:pPr algn="l"/>
            <a:r>
              <a:rPr sz="950" b="0">
                <a:solidFill>
                  <a:srgbClr val="32373E"/>
                </a:solidFill>
                <a:latin typeface="Arial"/>
              </a:rPr>
              <a:t>Q3 closed at $251,621 in working media, roughly 16% of the FY2026 budget; the program is at 19.35% of budget year to date.</a:t>
            </a:r>
          </a:p>
          <a:p>
            <a:pPr algn="l">
              <a:spcBef>
                <a:spcPts val="600"/>
              </a:spcBef>
            </a:pPr>
            <a:r>
              <a:rPr sz="950" b="0">
                <a:solidFill>
                  <a:srgbClr val="32373E"/>
                </a:solidFill>
                <a:latin typeface="Arial"/>
              </a:rPr>
              <a:t>The mix stayed balanced as it scaled: no channel above 27% of June spend, with search, social, and two programmatic lines all growing and the Native pilot launching as the fifth channel.</a:t>
            </a:r>
          </a:p>
          <a:p>
            <a:pPr algn="l">
              <a:spcBef>
                <a:spcPts val="600"/>
              </a:spcBef>
            </a:pPr>
            <a:r>
              <a:rPr sz="950" b="0">
                <a:solidFill>
                  <a:srgbClr val="32373E"/>
                </a:solidFill>
                <a:latin typeface="Arial"/>
              </a:rPr>
              <a:t>Paid social led June growth (+151%), followed by search (+48%) and the reach line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Q3 FY2026 IN REVIEW  ·  APPLICATIONS</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Search and display carried the measured volume.</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4 / 15</a:t>
            </a:r>
          </a:p>
        </p:txBody>
      </p:sp>
      <p:graphicFrame>
        <p:nvGraphicFramePr>
          <p:cNvPr id="10" name="Table 9"/>
          <p:cNvGraphicFramePr>
            <a:graphicFrameLocks noGrp="1"/>
          </p:cNvGraphicFramePr>
          <p:nvPr/>
        </p:nvGraphicFramePr>
        <p:xfrm>
          <a:off x="457200" y="1737360"/>
          <a:ext cx="6035040" cy="2194560"/>
        </p:xfrm>
        <a:graphic>
          <a:graphicData uri="http://schemas.openxmlformats.org/drawingml/2006/table">
            <a:tbl>
              <a:tblPr>
                <a:tableStyleId>{5C22544A-7EE6-4342-B048-85BDC9FD1C3A}</a:tableStyleId>
              </a:tblPr>
              <a:tblGrid>
                <a:gridCol w="2377440"/>
                <a:gridCol w="868680"/>
                <a:gridCol w="868680"/>
                <a:gridCol w="914400"/>
                <a:gridCol w="1005840"/>
              </a:tblGrid>
              <a:tr h="438912">
                <a:tc>
                  <a:txBody>
                    <a:bodyPr/>
                    <a:lstStyle/>
                    <a:p>
                      <a:r>
                        <a:rPr sz="850" b="1">
                          <a:solidFill>
                            <a:srgbClr val="FFFFFF"/>
                          </a:solidFill>
                          <a:latin typeface="Arial"/>
                        </a:rPr>
                        <a:t>Channel</a:t>
                      </a:r>
                    </a:p>
                  </a:txBody>
                  <a:tcPr marL="54864" marR="54864" marT="27432" marB="27432">
                    <a:solidFill>
                      <a:srgbClr val="3B5998"/>
                    </a:solidFill>
                  </a:tcPr>
                </a:tc>
                <a:tc>
                  <a:txBody>
                    <a:bodyPr/>
                    <a:lstStyle/>
                    <a:p>
                      <a:pPr algn="r"/>
                      <a:r>
                        <a:rPr sz="850" b="1">
                          <a:solidFill>
                            <a:srgbClr val="FFFFFF"/>
                          </a:solidFill>
                          <a:latin typeface="Arial"/>
                        </a:rPr>
                        <a:t>Apr</a:t>
                      </a:r>
                    </a:p>
                  </a:txBody>
                  <a:tcPr marL="54864" marR="54864" marT="27432" marB="27432">
                    <a:solidFill>
                      <a:srgbClr val="3B5998"/>
                    </a:solidFill>
                  </a:tcPr>
                </a:tc>
                <a:tc>
                  <a:txBody>
                    <a:bodyPr/>
                    <a:lstStyle/>
                    <a:p>
                      <a:pPr algn="r"/>
                      <a:r>
                        <a:rPr sz="850" b="1">
                          <a:solidFill>
                            <a:srgbClr val="FFFFFF"/>
                          </a:solidFill>
                          <a:latin typeface="Arial"/>
                        </a:rPr>
                        <a:t>May</a:t>
                      </a:r>
                    </a:p>
                  </a:txBody>
                  <a:tcPr marL="54864" marR="54864" marT="27432" marB="27432">
                    <a:solidFill>
                      <a:srgbClr val="3B5998"/>
                    </a:solidFill>
                  </a:tcPr>
                </a:tc>
                <a:tc>
                  <a:txBody>
                    <a:bodyPr/>
                    <a:lstStyle/>
                    <a:p>
                      <a:pPr algn="r"/>
                      <a:r>
                        <a:rPr sz="850" b="1">
                          <a:solidFill>
                            <a:srgbClr val="FFFFFF"/>
                          </a:solidFill>
                          <a:latin typeface="Arial"/>
                        </a:rPr>
                        <a:t>Jun</a:t>
                      </a:r>
                    </a:p>
                  </a:txBody>
                  <a:tcPr marL="54864" marR="54864" marT="27432" marB="27432">
                    <a:solidFill>
                      <a:srgbClr val="3B5998"/>
                    </a:solidFill>
                  </a:tcPr>
                </a:tc>
                <a:tc>
                  <a:txBody>
                    <a:bodyPr/>
                    <a:lstStyle/>
                    <a:p>
                      <a:pPr algn="r"/>
                      <a:r>
                        <a:rPr sz="850" b="1">
                          <a:solidFill>
                            <a:srgbClr val="FFFFFF"/>
                          </a:solidFill>
                          <a:latin typeface="Arial"/>
                        </a:rPr>
                        <a:t>Q3</a:t>
                      </a:r>
                    </a:p>
                  </a:txBody>
                  <a:tcPr marL="54864" marR="54864" marT="27432" marB="27432">
                    <a:solidFill>
                      <a:srgbClr val="3B5998"/>
                    </a:solidFill>
                  </a:tcPr>
                </a:tc>
              </a:tr>
              <a:tr h="438912">
                <a:tc>
                  <a:txBody>
                    <a:bodyPr/>
                    <a:lstStyle/>
                    <a:p>
                      <a:r>
                        <a:rPr sz="850" b="1">
                          <a:solidFill>
                            <a:srgbClr val="32373E"/>
                          </a:solidFill>
                          <a:latin typeface="Arial"/>
                        </a:rPr>
                        <a:t>Google Ads</a:t>
                      </a:r>
                    </a:p>
                  </a:txBody>
                  <a:tcPr marL="54864" marR="54864" marT="27432" marB="27432">
                    <a:solidFill>
                      <a:srgbClr val="FFFFFF"/>
                    </a:solidFill>
                  </a:tcPr>
                </a:tc>
                <a:tc>
                  <a:txBody>
                    <a:bodyPr/>
                    <a:lstStyle/>
                    <a:p>
                      <a:pPr algn="r"/>
                      <a:r>
                        <a:rPr sz="850" b="0">
                          <a:solidFill>
                            <a:srgbClr val="32373E"/>
                          </a:solidFill>
                          <a:latin typeface="Arial"/>
                        </a:rPr>
                        <a:t>12</a:t>
                      </a:r>
                    </a:p>
                  </a:txBody>
                  <a:tcPr marL="54864" marR="54864" marT="27432" marB="27432">
                    <a:solidFill>
                      <a:srgbClr val="FFFFFF"/>
                    </a:solidFill>
                  </a:tcPr>
                </a:tc>
                <a:tc>
                  <a:txBody>
                    <a:bodyPr/>
                    <a:lstStyle/>
                    <a:p>
                      <a:pPr algn="r"/>
                      <a:r>
                        <a:rPr sz="850" b="0">
                          <a:solidFill>
                            <a:srgbClr val="32373E"/>
                          </a:solidFill>
                          <a:latin typeface="Arial"/>
                        </a:rPr>
                        <a:t>76</a:t>
                      </a:r>
                    </a:p>
                  </a:txBody>
                  <a:tcPr marL="54864" marR="54864" marT="27432" marB="27432">
                    <a:solidFill>
                      <a:srgbClr val="FFFFFF"/>
                    </a:solidFill>
                  </a:tcPr>
                </a:tc>
                <a:tc>
                  <a:txBody>
                    <a:bodyPr/>
                    <a:lstStyle/>
                    <a:p>
                      <a:pPr algn="r"/>
                      <a:r>
                        <a:rPr sz="850" b="0">
                          <a:solidFill>
                            <a:srgbClr val="32373E"/>
                          </a:solidFill>
                          <a:latin typeface="Arial"/>
                        </a:rPr>
                        <a:t>67</a:t>
                      </a:r>
                    </a:p>
                  </a:txBody>
                  <a:tcPr marL="54864" marR="54864" marT="27432" marB="27432">
                    <a:solidFill>
                      <a:srgbClr val="FFFFFF"/>
                    </a:solidFill>
                  </a:tcPr>
                </a:tc>
                <a:tc>
                  <a:txBody>
                    <a:bodyPr/>
                    <a:lstStyle/>
                    <a:p>
                      <a:pPr algn="r"/>
                      <a:r>
                        <a:rPr sz="850" b="0">
                          <a:solidFill>
                            <a:srgbClr val="32373E"/>
                          </a:solidFill>
                          <a:latin typeface="Arial"/>
                        </a:rPr>
                        <a:t>155</a:t>
                      </a:r>
                    </a:p>
                  </a:txBody>
                  <a:tcPr marL="54864" marR="54864" marT="27432" marB="27432">
                    <a:solidFill>
                      <a:srgbClr val="FFFFFF"/>
                    </a:solidFill>
                  </a:tcPr>
                </a:tc>
              </a:tr>
              <a:tr h="438912">
                <a:tc>
                  <a:txBody>
                    <a:bodyPr/>
                    <a:lstStyle/>
                    <a:p>
                      <a:r>
                        <a:rPr sz="850" b="1">
                          <a:solidFill>
                            <a:srgbClr val="32373E"/>
                          </a:solidFill>
                          <a:latin typeface="Arial"/>
                        </a:rPr>
                        <a:t>Azerion</a:t>
                      </a:r>
                    </a:p>
                  </a:txBody>
                  <a:tcPr marL="54864" marR="54864" marT="27432" marB="27432">
                    <a:solidFill>
                      <a:srgbClr val="F3F3F3"/>
                    </a:solidFill>
                  </a:tcPr>
                </a:tc>
                <a:tc>
                  <a:txBody>
                    <a:bodyPr/>
                    <a:lstStyle/>
                    <a:p>
                      <a:pPr algn="r"/>
                      <a:r>
                        <a:rPr sz="850" b="0">
                          <a:solidFill>
                            <a:srgbClr val="32373E"/>
                          </a:solidFill>
                          <a:latin typeface="Arial"/>
                        </a:rPr>
                        <a:t>76</a:t>
                      </a:r>
                    </a:p>
                  </a:txBody>
                  <a:tcPr marL="54864" marR="54864" marT="27432" marB="27432">
                    <a:solidFill>
                      <a:srgbClr val="F3F3F3"/>
                    </a:solidFill>
                  </a:tcPr>
                </a:tc>
                <a:tc>
                  <a:txBody>
                    <a:bodyPr/>
                    <a:lstStyle/>
                    <a:p>
                      <a:pPr algn="r"/>
                      <a:r>
                        <a:rPr sz="850" b="0">
                          <a:solidFill>
                            <a:srgbClr val="32373E"/>
                          </a:solidFill>
                          <a:latin typeface="Arial"/>
                        </a:rPr>
                        <a:t>43</a:t>
                      </a:r>
                    </a:p>
                  </a:txBody>
                  <a:tcPr marL="54864" marR="54864" marT="27432" marB="27432">
                    <a:solidFill>
                      <a:srgbClr val="F3F3F3"/>
                    </a:solidFill>
                  </a:tcPr>
                </a:tc>
                <a:tc>
                  <a:txBody>
                    <a:bodyPr/>
                    <a:lstStyle/>
                    <a:p>
                      <a:pPr algn="r"/>
                      <a:r>
                        <a:rPr sz="850" b="0">
                          <a:solidFill>
                            <a:srgbClr val="32373E"/>
                          </a:solidFill>
                          <a:latin typeface="Arial"/>
                        </a:rPr>
                        <a:t>pending</a:t>
                      </a:r>
                    </a:p>
                  </a:txBody>
                  <a:tcPr marL="54864" marR="54864" marT="27432" marB="27432">
                    <a:solidFill>
                      <a:srgbClr val="F3F3F3"/>
                    </a:solidFill>
                  </a:tcPr>
                </a:tc>
                <a:tc>
                  <a:txBody>
                    <a:bodyPr/>
                    <a:lstStyle/>
                    <a:p>
                      <a:pPr algn="r"/>
                      <a:r>
                        <a:rPr sz="850" b="0">
                          <a:solidFill>
                            <a:srgbClr val="32373E"/>
                          </a:solidFill>
                          <a:latin typeface="Arial"/>
                        </a:rPr>
                        <a:t>119 +Jun</a:t>
                      </a:r>
                    </a:p>
                  </a:txBody>
                  <a:tcPr marL="54864" marR="54864" marT="27432" marB="27432">
                    <a:solidFill>
                      <a:srgbClr val="F3F3F3"/>
                    </a:solidFill>
                  </a:tcPr>
                </a:tc>
              </a:tr>
              <a:tr h="438912">
                <a:tc>
                  <a:txBody>
                    <a:bodyPr/>
                    <a:lstStyle/>
                    <a:p>
                      <a:r>
                        <a:rPr sz="850" b="1">
                          <a:solidFill>
                            <a:srgbClr val="32373E"/>
                          </a:solidFill>
                          <a:latin typeface="Arial"/>
                        </a:rPr>
                        <a:t>Quantcast</a:t>
                      </a:r>
                    </a:p>
                  </a:txBody>
                  <a:tcPr marL="54864" marR="54864" marT="27432" marB="27432">
                    <a:solidFill>
                      <a:srgbClr val="FFFFFF"/>
                    </a:solidFill>
                  </a:tcPr>
                </a:tc>
                <a:tc>
                  <a:txBody>
                    <a:bodyPr/>
                    <a:lstStyle/>
                    <a:p>
                      <a:pPr algn="r"/>
                      <a:r>
                        <a:rPr sz="850" b="0">
                          <a:solidFill>
                            <a:srgbClr val="32373E"/>
                          </a:solidFill>
                          <a:latin typeface="Arial"/>
                        </a:rPr>
                        <a:t>2</a:t>
                      </a:r>
                    </a:p>
                  </a:txBody>
                  <a:tcPr marL="54864" marR="54864" marT="27432" marB="27432">
                    <a:solidFill>
                      <a:srgbClr val="FFFFFF"/>
                    </a:solidFill>
                  </a:tcPr>
                </a:tc>
                <a:tc>
                  <a:txBody>
                    <a:bodyPr/>
                    <a:lstStyle/>
                    <a:p>
                      <a:pPr algn="r"/>
                      <a:r>
                        <a:rPr sz="850" b="0">
                          <a:solidFill>
                            <a:srgbClr val="32373E"/>
                          </a:solidFill>
                          <a:latin typeface="Arial"/>
                        </a:rPr>
                        <a:t>8</a:t>
                      </a:r>
                    </a:p>
                  </a:txBody>
                  <a:tcPr marL="54864" marR="54864" marT="27432" marB="27432">
                    <a:solidFill>
                      <a:srgbClr val="FFFFFF"/>
                    </a:solidFill>
                  </a:tcPr>
                </a:tc>
                <a:tc>
                  <a:txBody>
                    <a:bodyPr/>
                    <a:lstStyle/>
                    <a:p>
                      <a:pPr algn="r"/>
                      <a:r>
                        <a:rPr sz="850" b="0">
                          <a:solidFill>
                            <a:srgbClr val="32373E"/>
                          </a:solidFill>
                          <a:latin typeface="Arial"/>
                        </a:rPr>
                        <a:t>15</a:t>
                      </a:r>
                    </a:p>
                  </a:txBody>
                  <a:tcPr marL="54864" marR="54864" marT="27432" marB="27432">
                    <a:solidFill>
                      <a:srgbClr val="FFFFFF"/>
                    </a:solidFill>
                  </a:tcPr>
                </a:tc>
                <a:tc>
                  <a:txBody>
                    <a:bodyPr/>
                    <a:lstStyle/>
                    <a:p>
                      <a:pPr algn="r"/>
                      <a:r>
                        <a:rPr sz="850" b="0">
                          <a:solidFill>
                            <a:srgbClr val="32373E"/>
                          </a:solidFill>
                          <a:latin typeface="Arial"/>
                        </a:rPr>
                        <a:t>25</a:t>
                      </a:r>
                    </a:p>
                  </a:txBody>
                  <a:tcPr marL="54864" marR="54864" marT="27432" marB="27432">
                    <a:solidFill>
                      <a:srgbClr val="FFFFFF"/>
                    </a:solidFill>
                  </a:tcPr>
                </a:tc>
              </a:tr>
              <a:tr h="438912">
                <a:tc>
                  <a:txBody>
                    <a:bodyPr/>
                    <a:lstStyle/>
                    <a:p>
                      <a:r>
                        <a:rPr sz="850" b="1">
                          <a:solidFill>
                            <a:srgbClr val="32373E"/>
                          </a:solidFill>
                          <a:latin typeface="Arial"/>
                        </a:rPr>
                        <a:t>Meta (pixel events)*</a:t>
                      </a:r>
                    </a:p>
                  </a:txBody>
                  <a:tcPr marL="54864" marR="54864" marT="27432" marB="27432">
                    <a:solidFill>
                      <a:srgbClr val="F3F3F3"/>
                    </a:solidFill>
                  </a:tcPr>
                </a:tc>
                <a:tc>
                  <a:txBody>
                    <a:bodyPr/>
                    <a:lstStyle/>
                    <a:p>
                      <a:pPr algn="r"/>
                      <a:r>
                        <a:rPr sz="850" b="0">
                          <a:solidFill>
                            <a:srgbClr val="32373E"/>
                          </a:solidFill>
                          <a:latin typeface="Arial"/>
                        </a:rPr>
                        <a:t>73</a:t>
                      </a:r>
                    </a:p>
                  </a:txBody>
                  <a:tcPr marL="54864" marR="54864" marT="27432" marB="27432">
                    <a:solidFill>
                      <a:srgbClr val="F3F3F3"/>
                    </a:solidFill>
                  </a:tcPr>
                </a:tc>
                <a:tc>
                  <a:txBody>
                    <a:bodyPr/>
                    <a:lstStyle/>
                    <a:p>
                      <a:pPr algn="r"/>
                      <a:r>
                        <a:rPr sz="850" b="0">
                          <a:solidFill>
                            <a:srgbClr val="32373E"/>
                          </a:solidFill>
                          <a:latin typeface="Arial"/>
                        </a:rPr>
                        <a:t>109</a:t>
                      </a:r>
                    </a:p>
                  </a:txBody>
                  <a:tcPr marL="54864" marR="54864" marT="27432" marB="27432">
                    <a:solidFill>
                      <a:srgbClr val="F3F3F3"/>
                    </a:solidFill>
                  </a:tcPr>
                </a:tc>
                <a:tc>
                  <a:txBody>
                    <a:bodyPr/>
                    <a:lstStyle/>
                    <a:p>
                      <a:pPr algn="r"/>
                      <a:r>
                        <a:rPr sz="850" b="0">
                          <a:solidFill>
                            <a:srgbClr val="32373E"/>
                          </a:solidFill>
                          <a:latin typeface="Arial"/>
                        </a:rPr>
                        <a:t>136</a:t>
                      </a:r>
                    </a:p>
                  </a:txBody>
                  <a:tcPr marL="54864" marR="54864" marT="27432" marB="27432">
                    <a:solidFill>
                      <a:srgbClr val="F3F3F3"/>
                    </a:solidFill>
                  </a:tcPr>
                </a:tc>
                <a:tc>
                  <a:txBody>
                    <a:bodyPr/>
                    <a:lstStyle/>
                    <a:p>
                      <a:pPr algn="r"/>
                      <a:r>
                        <a:rPr sz="850" b="0">
                          <a:solidFill>
                            <a:srgbClr val="32373E"/>
                          </a:solidFill>
                          <a:latin typeface="Arial"/>
                        </a:rPr>
                        <a:t>318</a:t>
                      </a:r>
                    </a:p>
                  </a:txBody>
                  <a:tcPr marL="54864" marR="54864" marT="27432" marB="27432">
                    <a:solidFill>
                      <a:srgbClr val="F3F3F3"/>
                    </a:solidFill>
                  </a:tcPr>
                </a:tc>
              </a:tr>
            </a:tbl>
          </a:graphicData>
        </a:graphic>
      </p:graphicFrame>
      <p:sp>
        <p:nvSpPr>
          <p:cNvPr id="11" name="TextBox 10"/>
          <p:cNvSpPr txBox="1"/>
          <p:nvPr/>
        </p:nvSpPr>
        <p:spPr>
          <a:xfrm>
            <a:off x="457200" y="4160520"/>
            <a:ext cx="6035040" cy="822960"/>
          </a:xfrm>
          <a:prstGeom prst="rect">
            <a:avLst/>
          </a:prstGeom>
          <a:noFill/>
        </p:spPr>
        <p:txBody>
          <a:bodyPr wrap="square" anchor="t" lIns="0" rIns="0" tIns="0" bIns="0">
            <a:spAutoFit/>
          </a:bodyPr>
          <a:lstStyle/>
          <a:p>
            <a:pPr algn="l"/>
            <a:r>
              <a:rPr sz="750" b="0">
                <a:solidFill>
                  <a:srgbClr val="5A5A5A"/>
                </a:solidFill>
                <a:latin typeface="Arial"/>
              </a:rPr>
              <a:t>* Meta counts pixel application events, mostly application starts, on a traffic objective; not comparable to submitted applications. Quantcast is view-through, directional only. Azerion June arrives with the vendor file (May: 43 submitted at $616).</a:t>
            </a:r>
          </a:p>
        </p:txBody>
      </p:sp>
      <p:sp>
        <p:nvSpPr>
          <p:cNvPr id="12" name="Rectangle 11"/>
          <p:cNvSpPr/>
          <p:nvPr/>
        </p:nvSpPr>
        <p:spPr>
          <a:xfrm>
            <a:off x="6858000" y="1737360"/>
            <a:ext cx="4846320" cy="45720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0" y="1737360"/>
            <a:ext cx="484632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0" y="1920240"/>
            <a:ext cx="4480559" cy="274320"/>
          </a:xfrm>
          <a:prstGeom prst="rect">
            <a:avLst/>
          </a:prstGeom>
          <a:noFill/>
        </p:spPr>
        <p:txBody>
          <a:bodyPr wrap="square" anchor="t" lIns="0" rIns="0" tIns="0" bIns="0">
            <a:spAutoFit/>
          </a:bodyPr>
          <a:lstStyle/>
          <a:p>
            <a:pPr algn="l"/>
            <a:r>
              <a:rPr sz="1000" b="1">
                <a:solidFill>
                  <a:srgbClr val="27AE60"/>
                </a:solidFill>
                <a:latin typeface="Arial"/>
              </a:rPr>
              <a:t>READ</a:t>
            </a:r>
          </a:p>
        </p:txBody>
      </p:sp>
      <p:sp>
        <p:nvSpPr>
          <p:cNvPr id="15" name="TextBox 14"/>
          <p:cNvSpPr txBox="1"/>
          <p:nvPr/>
        </p:nvSpPr>
        <p:spPr>
          <a:xfrm>
            <a:off x="7040880" y="2240280"/>
            <a:ext cx="4480559" cy="3886200"/>
          </a:xfrm>
          <a:prstGeom prst="rect">
            <a:avLst/>
          </a:prstGeom>
          <a:noFill/>
        </p:spPr>
        <p:txBody>
          <a:bodyPr wrap="square" anchor="t" lIns="0" rIns="0" tIns="0" bIns="0">
            <a:spAutoFit/>
          </a:bodyPr>
          <a:lstStyle/>
          <a:p>
            <a:pPr algn="l"/>
            <a:r>
              <a:rPr sz="950" b="0">
                <a:solidFill>
                  <a:srgbClr val="32373E"/>
                </a:solidFill>
                <a:latin typeface="Arial"/>
              </a:rPr>
              <a:t>Google delivered 155 submitted applications across the quarter and its tracking was clean all three months.</a:t>
            </a:r>
          </a:p>
          <a:p>
            <a:pPr algn="l">
              <a:spcBef>
                <a:spcPts val="600"/>
              </a:spcBef>
            </a:pPr>
            <a:r>
              <a:rPr sz="950" b="0">
                <a:solidFill>
                  <a:srgbClr val="32373E"/>
                </a:solidFill>
                <a:latin typeface="Arial"/>
              </a:rPr>
              <a:t>June exposed the search ceiling: spend rose 48% and applications fell 12%, because the account is rank-limited (64-76% of available impressions lost to ad rank, only 9-13% to budget). July search work is bids, quality, and ad strength before budget.</a:t>
            </a:r>
          </a:p>
          <a:p>
            <a:pPr algn="l">
              <a:spcBef>
                <a:spcPts val="600"/>
              </a:spcBef>
            </a:pPr>
            <a:r>
              <a:rPr sz="950" b="0">
                <a:solidFill>
                  <a:srgbClr val="32373E"/>
                </a:solidFill>
                <a:latin typeface="Arial"/>
              </a:rPr>
              <a:t>Azerion has been the largest converter (119 applications Apr-May); its June figure lands with the vendor file and completes the quarter.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Q1 VS Q2  ·  BLENDED FUNNEL (ORGANIC + PAID)</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Four times the traffic, the same funded accounts.</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5 / 15</a:t>
            </a:r>
          </a:p>
        </p:txBody>
      </p:sp>
      <p:graphicFrame>
        <p:nvGraphicFramePr>
          <p:cNvPr id="10" name="Table 9"/>
          <p:cNvGraphicFramePr>
            <a:graphicFrameLocks noGrp="1"/>
          </p:cNvGraphicFramePr>
          <p:nvPr/>
        </p:nvGraphicFramePr>
        <p:xfrm>
          <a:off x="457200" y="1737360"/>
          <a:ext cx="5852160" cy="2834640"/>
        </p:xfrm>
        <a:graphic>
          <a:graphicData uri="http://schemas.openxmlformats.org/drawingml/2006/table">
            <a:tbl>
              <a:tblPr>
                <a:tableStyleId>{5C22544A-7EE6-4342-B048-85BDC9FD1C3A}</a:tableStyleId>
              </a:tblPr>
              <a:tblGrid>
                <a:gridCol w="2194560"/>
                <a:gridCol w="1280160"/>
                <a:gridCol w="1280160"/>
                <a:gridCol w="1097280"/>
              </a:tblGrid>
              <a:tr h="354330">
                <a:tc>
                  <a:txBody>
                    <a:bodyPr/>
                    <a:lstStyle/>
                    <a:p>
                      <a:r>
                        <a:rPr sz="850" b="1">
                          <a:solidFill>
                            <a:srgbClr val="FFFFFF"/>
                          </a:solidFill>
                          <a:latin typeface="Arial"/>
                        </a:rPr>
                        <a:t>Metric</a:t>
                      </a:r>
                    </a:p>
                  </a:txBody>
                  <a:tcPr marL="54864" marR="54864" marT="27432" marB="27432">
                    <a:solidFill>
                      <a:srgbClr val="3B5998"/>
                    </a:solidFill>
                  </a:tcPr>
                </a:tc>
                <a:tc>
                  <a:txBody>
                    <a:bodyPr/>
                    <a:lstStyle/>
                    <a:p>
                      <a:pPr algn="r"/>
                      <a:r>
                        <a:rPr sz="850" b="1">
                          <a:solidFill>
                            <a:srgbClr val="FFFFFF"/>
                          </a:solidFill>
                          <a:latin typeface="Arial"/>
                        </a:rPr>
                        <a:t>Q1 (Jan-Mar)</a:t>
                      </a:r>
                    </a:p>
                  </a:txBody>
                  <a:tcPr marL="54864" marR="54864" marT="27432" marB="27432">
                    <a:solidFill>
                      <a:srgbClr val="3B5998"/>
                    </a:solidFill>
                  </a:tcPr>
                </a:tc>
                <a:tc>
                  <a:txBody>
                    <a:bodyPr/>
                    <a:lstStyle/>
                    <a:p>
                      <a:pPr algn="r"/>
                      <a:r>
                        <a:rPr sz="850" b="1">
                          <a:solidFill>
                            <a:srgbClr val="FFFFFF"/>
                          </a:solidFill>
                          <a:latin typeface="Arial"/>
                        </a:rPr>
                        <a:t>Q2 (Apr-Jun)</a:t>
                      </a:r>
                    </a:p>
                  </a:txBody>
                  <a:tcPr marL="54864" marR="54864" marT="27432" marB="27432">
                    <a:solidFill>
                      <a:srgbClr val="3B5998"/>
                    </a:solidFill>
                  </a:tcPr>
                </a:tc>
                <a:tc>
                  <a:txBody>
                    <a:bodyPr/>
                    <a:lstStyle/>
                    <a:p>
                      <a:pPr algn="r"/>
                      <a:r>
                        <a:rPr sz="850" b="1">
                          <a:solidFill>
                            <a:srgbClr val="FFFFFF"/>
                          </a:solidFill>
                          <a:latin typeface="Arial"/>
                        </a:rPr>
                        <a:t>Change</a:t>
                      </a:r>
                    </a:p>
                  </a:txBody>
                  <a:tcPr marL="54864" marR="54864" marT="27432" marB="27432">
                    <a:solidFill>
                      <a:srgbClr val="3B5998"/>
                    </a:solidFill>
                  </a:tcPr>
                </a:tc>
              </a:tr>
              <a:tr h="354330">
                <a:tc>
                  <a:txBody>
                    <a:bodyPr/>
                    <a:lstStyle/>
                    <a:p>
                      <a:r>
                        <a:rPr sz="850" b="1">
                          <a:solidFill>
                            <a:srgbClr val="32373E"/>
                          </a:solidFill>
                          <a:latin typeface="Arial"/>
                        </a:rPr>
                        <a:t>Unique Sessions</a:t>
                      </a:r>
                    </a:p>
                  </a:txBody>
                  <a:tcPr marL="54864" marR="54864" marT="27432" marB="27432">
                    <a:solidFill>
                      <a:srgbClr val="FFFFFF"/>
                    </a:solidFill>
                  </a:tcPr>
                </a:tc>
                <a:tc>
                  <a:txBody>
                    <a:bodyPr/>
                    <a:lstStyle/>
                    <a:p>
                      <a:pPr algn="r"/>
                      <a:r>
                        <a:rPr sz="850" b="0">
                          <a:solidFill>
                            <a:srgbClr val="32373E"/>
                          </a:solidFill>
                          <a:latin typeface="Arial"/>
                        </a:rPr>
                        <a:t>41,047</a:t>
                      </a:r>
                    </a:p>
                  </a:txBody>
                  <a:tcPr marL="54864" marR="54864" marT="27432" marB="27432">
                    <a:solidFill>
                      <a:srgbClr val="FFFFFF"/>
                    </a:solidFill>
                  </a:tcPr>
                </a:tc>
                <a:tc>
                  <a:txBody>
                    <a:bodyPr/>
                    <a:lstStyle/>
                    <a:p>
                      <a:pPr algn="r"/>
                      <a:r>
                        <a:rPr sz="850" b="0">
                          <a:solidFill>
                            <a:srgbClr val="32373E"/>
                          </a:solidFill>
                          <a:latin typeface="Arial"/>
                        </a:rPr>
                        <a:t>162,871</a:t>
                      </a:r>
                    </a:p>
                  </a:txBody>
                  <a:tcPr marL="54864" marR="54864" marT="27432" marB="27432">
                    <a:solidFill>
                      <a:srgbClr val="FFFFFF"/>
                    </a:solidFill>
                  </a:tcPr>
                </a:tc>
                <a:tc>
                  <a:txBody>
                    <a:bodyPr/>
                    <a:lstStyle/>
                    <a:p>
                      <a:pPr algn="r"/>
                      <a:r>
                        <a:rPr sz="850" b="0">
                          <a:solidFill>
                            <a:srgbClr val="32373E"/>
                          </a:solidFill>
                          <a:latin typeface="Arial"/>
                        </a:rPr>
                        <a:t>+297%</a:t>
                      </a:r>
                    </a:p>
                  </a:txBody>
                  <a:tcPr marL="54864" marR="54864" marT="27432" marB="27432">
                    <a:solidFill>
                      <a:srgbClr val="FFFFFF"/>
                    </a:solidFill>
                  </a:tcPr>
                </a:tc>
              </a:tr>
              <a:tr h="354330">
                <a:tc>
                  <a:txBody>
                    <a:bodyPr/>
                    <a:lstStyle/>
                    <a:p>
                      <a:r>
                        <a:rPr sz="850" b="1">
                          <a:solidFill>
                            <a:srgbClr val="32373E"/>
                          </a:solidFill>
                          <a:latin typeface="Arial"/>
                        </a:rPr>
                        <a:t>App Starts</a:t>
                      </a:r>
                    </a:p>
                  </a:txBody>
                  <a:tcPr marL="54864" marR="54864" marT="27432" marB="27432">
                    <a:solidFill>
                      <a:srgbClr val="F3F3F3"/>
                    </a:solidFill>
                  </a:tcPr>
                </a:tc>
                <a:tc>
                  <a:txBody>
                    <a:bodyPr/>
                    <a:lstStyle/>
                    <a:p>
                      <a:pPr algn="r"/>
                      <a:r>
                        <a:rPr sz="850" b="0">
                          <a:solidFill>
                            <a:srgbClr val="32373E"/>
                          </a:solidFill>
                          <a:latin typeface="Arial"/>
                        </a:rPr>
                        <a:t>6,997</a:t>
                      </a:r>
                    </a:p>
                  </a:txBody>
                  <a:tcPr marL="54864" marR="54864" marT="27432" marB="27432">
                    <a:solidFill>
                      <a:srgbClr val="F3F3F3"/>
                    </a:solidFill>
                  </a:tcPr>
                </a:tc>
                <a:tc>
                  <a:txBody>
                    <a:bodyPr/>
                    <a:lstStyle/>
                    <a:p>
                      <a:pPr algn="r"/>
                      <a:r>
                        <a:rPr sz="850" b="0">
                          <a:solidFill>
                            <a:srgbClr val="32373E"/>
                          </a:solidFill>
                          <a:latin typeface="Arial"/>
                        </a:rPr>
                        <a:t>7,974</a:t>
                      </a:r>
                    </a:p>
                  </a:txBody>
                  <a:tcPr marL="54864" marR="54864" marT="27432" marB="27432">
                    <a:solidFill>
                      <a:srgbClr val="F3F3F3"/>
                    </a:solidFill>
                  </a:tcPr>
                </a:tc>
                <a:tc>
                  <a:txBody>
                    <a:bodyPr/>
                    <a:lstStyle/>
                    <a:p>
                      <a:pPr algn="r"/>
                      <a:r>
                        <a:rPr sz="850" b="0">
                          <a:solidFill>
                            <a:srgbClr val="32373E"/>
                          </a:solidFill>
                          <a:latin typeface="Arial"/>
                        </a:rPr>
                        <a:t>+14%</a:t>
                      </a:r>
                    </a:p>
                  </a:txBody>
                  <a:tcPr marL="54864" marR="54864" marT="27432" marB="27432">
                    <a:solidFill>
                      <a:srgbClr val="F3F3F3"/>
                    </a:solidFill>
                  </a:tcPr>
                </a:tc>
              </a:tr>
              <a:tr h="354330">
                <a:tc>
                  <a:txBody>
                    <a:bodyPr/>
                    <a:lstStyle/>
                    <a:p>
                      <a:r>
                        <a:rPr sz="850" b="1">
                          <a:solidFill>
                            <a:srgbClr val="32373E"/>
                          </a:solidFill>
                          <a:latin typeface="Arial"/>
                        </a:rPr>
                        <a:t>Submitted</a:t>
                      </a:r>
                    </a:p>
                  </a:txBody>
                  <a:tcPr marL="54864" marR="54864" marT="27432" marB="27432">
                    <a:solidFill>
                      <a:srgbClr val="FFFFFF"/>
                    </a:solidFill>
                  </a:tcPr>
                </a:tc>
                <a:tc>
                  <a:txBody>
                    <a:bodyPr/>
                    <a:lstStyle/>
                    <a:p>
                      <a:pPr algn="r"/>
                      <a:r>
                        <a:rPr sz="850" b="0">
                          <a:solidFill>
                            <a:srgbClr val="32373E"/>
                          </a:solidFill>
                          <a:latin typeface="Arial"/>
                        </a:rPr>
                        <a:t>1,203</a:t>
                      </a:r>
                    </a:p>
                  </a:txBody>
                  <a:tcPr marL="54864" marR="54864" marT="27432" marB="27432">
                    <a:solidFill>
                      <a:srgbClr val="FFFFFF"/>
                    </a:solidFill>
                  </a:tcPr>
                </a:tc>
                <a:tc>
                  <a:txBody>
                    <a:bodyPr/>
                    <a:lstStyle/>
                    <a:p>
                      <a:pPr algn="r"/>
                      <a:r>
                        <a:rPr sz="850" b="0">
                          <a:solidFill>
                            <a:srgbClr val="32373E"/>
                          </a:solidFill>
                          <a:latin typeface="Arial"/>
                        </a:rPr>
                        <a:t>1,033</a:t>
                      </a:r>
                    </a:p>
                  </a:txBody>
                  <a:tcPr marL="54864" marR="54864" marT="27432" marB="27432">
                    <a:solidFill>
                      <a:srgbClr val="FFFFFF"/>
                    </a:solidFill>
                  </a:tcPr>
                </a:tc>
                <a:tc>
                  <a:txBody>
                    <a:bodyPr/>
                    <a:lstStyle/>
                    <a:p>
                      <a:pPr algn="r"/>
                      <a:r>
                        <a:rPr sz="850" b="0">
                          <a:solidFill>
                            <a:srgbClr val="32373E"/>
                          </a:solidFill>
                          <a:latin typeface="Arial"/>
                        </a:rPr>
                        <a:t>-14%</a:t>
                      </a:r>
                    </a:p>
                  </a:txBody>
                  <a:tcPr marL="54864" marR="54864" marT="27432" marB="27432">
                    <a:solidFill>
                      <a:srgbClr val="FFFFFF"/>
                    </a:solidFill>
                  </a:tcPr>
                </a:tc>
              </a:tr>
              <a:tr h="354330">
                <a:tc>
                  <a:txBody>
                    <a:bodyPr/>
                    <a:lstStyle/>
                    <a:p>
                      <a:r>
                        <a:rPr sz="850" b="1">
                          <a:solidFill>
                            <a:srgbClr val="32373E"/>
                          </a:solidFill>
                          <a:latin typeface="Arial"/>
                        </a:rPr>
                        <a:t>Live Apps Submitted</a:t>
                      </a:r>
                    </a:p>
                  </a:txBody>
                  <a:tcPr marL="54864" marR="54864" marT="27432" marB="27432">
                    <a:solidFill>
                      <a:srgbClr val="F3F3F3"/>
                    </a:solidFill>
                  </a:tcPr>
                </a:tc>
                <a:tc>
                  <a:txBody>
                    <a:bodyPr/>
                    <a:lstStyle/>
                    <a:p>
                      <a:pPr algn="r"/>
                      <a:r>
                        <a:rPr sz="850" b="0">
                          <a:solidFill>
                            <a:srgbClr val="32373E"/>
                          </a:solidFill>
                          <a:latin typeface="Arial"/>
                        </a:rPr>
                        <a:t>1,165</a:t>
                      </a:r>
                    </a:p>
                  </a:txBody>
                  <a:tcPr marL="54864" marR="54864" marT="27432" marB="27432">
                    <a:solidFill>
                      <a:srgbClr val="F3F3F3"/>
                    </a:solidFill>
                  </a:tcPr>
                </a:tc>
                <a:tc>
                  <a:txBody>
                    <a:bodyPr/>
                    <a:lstStyle/>
                    <a:p>
                      <a:pPr algn="r"/>
                      <a:r>
                        <a:rPr sz="850" b="0">
                          <a:solidFill>
                            <a:srgbClr val="32373E"/>
                          </a:solidFill>
                          <a:latin typeface="Arial"/>
                        </a:rPr>
                        <a:t>993</a:t>
                      </a:r>
                    </a:p>
                  </a:txBody>
                  <a:tcPr marL="54864" marR="54864" marT="27432" marB="27432">
                    <a:solidFill>
                      <a:srgbClr val="F3F3F3"/>
                    </a:solidFill>
                  </a:tcPr>
                </a:tc>
                <a:tc>
                  <a:txBody>
                    <a:bodyPr/>
                    <a:lstStyle/>
                    <a:p>
                      <a:pPr algn="r"/>
                      <a:r>
                        <a:rPr sz="850" b="0">
                          <a:solidFill>
                            <a:srgbClr val="32373E"/>
                          </a:solidFill>
                          <a:latin typeface="Arial"/>
                        </a:rPr>
                        <a:t>-15%</a:t>
                      </a:r>
                    </a:p>
                  </a:txBody>
                  <a:tcPr marL="54864" marR="54864" marT="27432" marB="27432">
                    <a:solidFill>
                      <a:srgbClr val="F3F3F3"/>
                    </a:solidFill>
                  </a:tcPr>
                </a:tc>
              </a:tr>
              <a:tr h="354330">
                <a:tc>
                  <a:txBody>
                    <a:bodyPr/>
                    <a:lstStyle/>
                    <a:p>
                      <a:r>
                        <a:rPr sz="850" b="1">
                          <a:solidFill>
                            <a:srgbClr val="32373E"/>
                          </a:solidFill>
                          <a:latin typeface="Arial"/>
                        </a:rPr>
                        <a:t>Approved</a:t>
                      </a:r>
                    </a:p>
                  </a:txBody>
                  <a:tcPr marL="54864" marR="54864" marT="27432" marB="27432">
                    <a:solidFill>
                      <a:srgbClr val="FFFFFF"/>
                    </a:solidFill>
                  </a:tcPr>
                </a:tc>
                <a:tc>
                  <a:txBody>
                    <a:bodyPr/>
                    <a:lstStyle/>
                    <a:p>
                      <a:pPr algn="r"/>
                      <a:r>
                        <a:rPr sz="850" b="0">
                          <a:solidFill>
                            <a:srgbClr val="32373E"/>
                          </a:solidFill>
                          <a:latin typeface="Arial"/>
                        </a:rPr>
                        <a:t>524</a:t>
                      </a:r>
                    </a:p>
                  </a:txBody>
                  <a:tcPr marL="54864" marR="54864" marT="27432" marB="27432">
                    <a:solidFill>
                      <a:srgbClr val="FFFFFF"/>
                    </a:solidFill>
                  </a:tcPr>
                </a:tc>
                <a:tc>
                  <a:txBody>
                    <a:bodyPr/>
                    <a:lstStyle/>
                    <a:p>
                      <a:pPr algn="r"/>
                      <a:r>
                        <a:rPr sz="850" b="0">
                          <a:solidFill>
                            <a:srgbClr val="32373E"/>
                          </a:solidFill>
                          <a:latin typeface="Arial"/>
                        </a:rPr>
                        <a:t>465</a:t>
                      </a:r>
                    </a:p>
                  </a:txBody>
                  <a:tcPr marL="54864" marR="54864" marT="27432" marB="27432">
                    <a:solidFill>
                      <a:srgbClr val="FFFFFF"/>
                    </a:solidFill>
                  </a:tcPr>
                </a:tc>
                <a:tc>
                  <a:txBody>
                    <a:bodyPr/>
                    <a:lstStyle/>
                    <a:p>
                      <a:pPr algn="r"/>
                      <a:r>
                        <a:rPr sz="850" b="0">
                          <a:solidFill>
                            <a:srgbClr val="32373E"/>
                          </a:solidFill>
                          <a:latin typeface="Arial"/>
                        </a:rPr>
                        <a:t>-11%</a:t>
                      </a:r>
                    </a:p>
                  </a:txBody>
                  <a:tcPr marL="54864" marR="54864" marT="27432" marB="27432">
                    <a:solidFill>
                      <a:srgbClr val="FFFFFF"/>
                    </a:solidFill>
                  </a:tcPr>
                </a:tc>
              </a:tr>
              <a:tr h="354330">
                <a:tc>
                  <a:txBody>
                    <a:bodyPr/>
                    <a:lstStyle/>
                    <a:p>
                      <a:r>
                        <a:rPr sz="850" b="1">
                          <a:solidFill>
                            <a:srgbClr val="32373E"/>
                          </a:solidFill>
                          <a:latin typeface="Arial"/>
                        </a:rPr>
                        <a:t>New Funded</a:t>
                      </a:r>
                    </a:p>
                  </a:txBody>
                  <a:tcPr marL="54864" marR="54864" marT="27432" marB="27432">
                    <a:solidFill>
                      <a:srgbClr val="F3F3F3"/>
                    </a:solidFill>
                  </a:tcPr>
                </a:tc>
                <a:tc>
                  <a:txBody>
                    <a:bodyPr/>
                    <a:lstStyle/>
                    <a:p>
                      <a:pPr algn="r"/>
                      <a:r>
                        <a:rPr sz="850" b="0">
                          <a:solidFill>
                            <a:srgbClr val="32373E"/>
                          </a:solidFill>
                          <a:latin typeface="Arial"/>
                        </a:rPr>
                        <a:t>148</a:t>
                      </a:r>
                    </a:p>
                  </a:txBody>
                  <a:tcPr marL="54864" marR="54864" marT="27432" marB="27432">
                    <a:solidFill>
                      <a:srgbClr val="F3F3F3"/>
                    </a:solidFill>
                  </a:tcPr>
                </a:tc>
                <a:tc>
                  <a:txBody>
                    <a:bodyPr/>
                    <a:lstStyle/>
                    <a:p>
                      <a:pPr algn="r"/>
                      <a:r>
                        <a:rPr sz="850" b="0">
                          <a:solidFill>
                            <a:srgbClr val="32373E"/>
                          </a:solidFill>
                          <a:latin typeface="Arial"/>
                        </a:rPr>
                        <a:t>146</a:t>
                      </a:r>
                    </a:p>
                  </a:txBody>
                  <a:tcPr marL="54864" marR="54864" marT="27432" marB="27432">
                    <a:solidFill>
                      <a:srgbClr val="F3F3F3"/>
                    </a:solidFill>
                  </a:tcPr>
                </a:tc>
                <a:tc>
                  <a:txBody>
                    <a:bodyPr/>
                    <a:lstStyle/>
                    <a:p>
                      <a:pPr algn="r"/>
                      <a:r>
                        <a:rPr sz="850" b="0">
                          <a:solidFill>
                            <a:srgbClr val="32373E"/>
                          </a:solidFill>
                          <a:latin typeface="Arial"/>
                        </a:rPr>
                        <a:t>-1%</a:t>
                      </a:r>
                    </a:p>
                  </a:txBody>
                  <a:tcPr marL="54864" marR="54864" marT="27432" marB="27432">
                    <a:solidFill>
                      <a:srgbClr val="F3F3F3"/>
                    </a:solidFill>
                  </a:tcPr>
                </a:tc>
              </a:tr>
              <a:tr h="354330">
                <a:tc>
                  <a:txBody>
                    <a:bodyPr/>
                    <a:lstStyle/>
                    <a:p>
                      <a:r>
                        <a:rPr sz="850" b="1">
                          <a:solidFill>
                            <a:srgbClr val="32373E"/>
                          </a:solidFill>
                          <a:latin typeface="Arial"/>
                        </a:rPr>
                        <a:t>New Traded</a:t>
                      </a:r>
                    </a:p>
                  </a:txBody>
                  <a:tcPr marL="54864" marR="54864" marT="27432" marB="27432">
                    <a:solidFill>
                      <a:srgbClr val="FFFFFF"/>
                    </a:solidFill>
                  </a:tcPr>
                </a:tc>
                <a:tc>
                  <a:txBody>
                    <a:bodyPr/>
                    <a:lstStyle/>
                    <a:p>
                      <a:pPr algn="r"/>
                      <a:r>
                        <a:rPr sz="850" b="0">
                          <a:solidFill>
                            <a:srgbClr val="32373E"/>
                          </a:solidFill>
                          <a:latin typeface="Arial"/>
                        </a:rPr>
                        <a:t>118</a:t>
                      </a:r>
                    </a:p>
                  </a:txBody>
                  <a:tcPr marL="54864" marR="54864" marT="27432" marB="27432">
                    <a:solidFill>
                      <a:srgbClr val="FFFFFF"/>
                    </a:solidFill>
                  </a:tcPr>
                </a:tc>
                <a:tc>
                  <a:txBody>
                    <a:bodyPr/>
                    <a:lstStyle/>
                    <a:p>
                      <a:pPr algn="r"/>
                      <a:r>
                        <a:rPr sz="850" b="0">
                          <a:solidFill>
                            <a:srgbClr val="32373E"/>
                          </a:solidFill>
                          <a:latin typeface="Arial"/>
                        </a:rPr>
                        <a:t>114</a:t>
                      </a:r>
                    </a:p>
                  </a:txBody>
                  <a:tcPr marL="54864" marR="54864" marT="27432" marB="27432">
                    <a:solidFill>
                      <a:srgbClr val="FFFFFF"/>
                    </a:solidFill>
                  </a:tcPr>
                </a:tc>
                <a:tc>
                  <a:txBody>
                    <a:bodyPr/>
                    <a:lstStyle/>
                    <a:p>
                      <a:pPr algn="r"/>
                      <a:r>
                        <a:rPr sz="850" b="0">
                          <a:solidFill>
                            <a:srgbClr val="32373E"/>
                          </a:solidFill>
                          <a:latin typeface="Arial"/>
                        </a:rPr>
                        <a:t>-3%</a:t>
                      </a:r>
                    </a:p>
                  </a:txBody>
                  <a:tcPr marL="54864" marR="54864" marT="27432" marB="27432">
                    <a:solidFill>
                      <a:srgbClr val="FFFFFF"/>
                    </a:solidFill>
                  </a:tcPr>
                </a:tc>
              </a:tr>
            </a:tbl>
          </a:graphicData>
        </a:graphic>
      </p:graphicFrame>
      <p:sp>
        <p:nvSpPr>
          <p:cNvPr id="11" name="TextBox 10"/>
          <p:cNvSpPr txBox="1"/>
          <p:nvPr/>
        </p:nvSpPr>
        <p:spPr>
          <a:xfrm>
            <a:off x="457200" y="4800600"/>
            <a:ext cx="6035040" cy="457200"/>
          </a:xfrm>
          <a:prstGeom prst="rect">
            <a:avLst/>
          </a:prstGeom>
          <a:noFill/>
        </p:spPr>
        <p:txBody>
          <a:bodyPr wrap="square" anchor="t" lIns="0" rIns="0" tIns="0" bIns="0">
            <a:spAutoFit/>
          </a:bodyPr>
          <a:lstStyle/>
          <a:p>
            <a:pPr algn="l"/>
            <a:r>
              <a:rPr sz="750" b="0">
                <a:solidFill>
                  <a:srgbClr val="5A5A5A"/>
                </a:solidFill>
                <a:latin typeface="Arial"/>
              </a:rPr>
              <a:t>Client dashboard, calendar quarters, blended organic + paid.</a:t>
            </a:r>
          </a:p>
        </p:txBody>
      </p:sp>
      <p:sp>
        <p:nvSpPr>
          <p:cNvPr id="12" name="Rectangle 11"/>
          <p:cNvSpPr/>
          <p:nvPr/>
        </p:nvSpPr>
        <p:spPr>
          <a:xfrm>
            <a:off x="6858000" y="1737360"/>
            <a:ext cx="4846320" cy="45720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0" y="1737360"/>
            <a:ext cx="484632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0" y="1920240"/>
            <a:ext cx="4480559" cy="274320"/>
          </a:xfrm>
          <a:prstGeom prst="rect">
            <a:avLst/>
          </a:prstGeom>
          <a:noFill/>
        </p:spPr>
        <p:txBody>
          <a:bodyPr wrap="square" anchor="t" lIns="0" rIns="0" tIns="0" bIns="0">
            <a:spAutoFit/>
          </a:bodyPr>
          <a:lstStyle/>
          <a:p>
            <a:pPr algn="l"/>
            <a:r>
              <a:rPr sz="1000" b="1">
                <a:solidFill>
                  <a:srgbClr val="3B5998"/>
                </a:solidFill>
                <a:latin typeface="Arial"/>
              </a:rPr>
              <a:t>READ</a:t>
            </a:r>
          </a:p>
        </p:txBody>
      </p:sp>
      <p:sp>
        <p:nvSpPr>
          <p:cNvPr id="15" name="TextBox 14"/>
          <p:cNvSpPr txBox="1"/>
          <p:nvPr/>
        </p:nvSpPr>
        <p:spPr>
          <a:xfrm>
            <a:off x="7040880" y="2240280"/>
            <a:ext cx="4480559" cy="3886200"/>
          </a:xfrm>
          <a:prstGeom prst="rect">
            <a:avLst/>
          </a:prstGeom>
          <a:noFill/>
        </p:spPr>
        <p:txBody>
          <a:bodyPr wrap="square" anchor="t" lIns="0" rIns="0" tIns="0" bIns="0">
            <a:spAutoFit/>
          </a:bodyPr>
          <a:lstStyle/>
          <a:p>
            <a:pPr algn="l"/>
            <a:r>
              <a:rPr sz="950" b="0">
                <a:solidFill>
                  <a:srgbClr val="32373E"/>
                </a:solidFill>
                <a:latin typeface="Arial"/>
              </a:rPr>
              <a:t>Traffic quadrupled quarter over quarter while application starts grew 14% and submissions fell 14%. Each funnel stage dampened the volume the media bought: the start rate diluted from 17% to 5% and the submit rate from 17% to 13%.</a:t>
            </a:r>
          </a:p>
          <a:p>
            <a:pPr algn="l">
              <a:spcBef>
                <a:spcPts val="600"/>
              </a:spcBef>
            </a:pPr>
            <a:r>
              <a:rPr sz="950" b="0">
                <a:solidFill>
                  <a:srgbClr val="32373E"/>
                </a:solidFill>
                <a:latin typeface="Arial"/>
              </a:rPr>
              <a:t>Funded and traded held flat, so the business outcome absorbed none of the scale yet.</a:t>
            </a:r>
          </a:p>
          <a:p>
            <a:pPr algn="l">
              <a:spcBef>
                <a:spcPts val="600"/>
              </a:spcBef>
            </a:pPr>
            <a:r>
              <a:rPr sz="950" b="0">
                <a:solidFill>
                  <a:srgbClr val="32373E"/>
                </a:solidFill>
                <a:latin typeface="Arial"/>
              </a:rPr>
              <a:t>The work that converts this traffic is funnel work: the start-to-submit step first, then the approved-to-funded step. Media is filling the top; the next accounts come from conversion.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SITE TRAFFIC  ·  SPANISH-LANGUAGE AUDIENCE (GA4, US)</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A stable base with a paid June lift. No organic problem here.</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6 / 15</a:t>
            </a:r>
          </a:p>
        </p:txBody>
      </p:sp>
      <p:graphicFrame>
        <p:nvGraphicFramePr>
          <p:cNvPr id="10" name="Chart 9"/>
          <p:cNvGraphicFramePr>
            <a:graphicFrameLocks noGrp="1"/>
          </p:cNvGraphicFramePr>
          <p:nvPr/>
        </p:nvGraphicFramePr>
        <p:xfrm>
          <a:off x="457200" y="1783080"/>
          <a:ext cx="6400800" cy="2606040"/>
        </p:xfrm>
        <a:graphic>
          <a:graphicData uri="http://schemas.openxmlformats.org/drawingml/2006/chart">
            <c:chart xmlns:c="http://schemas.openxmlformats.org/drawingml/2006/chart" r:id="rId3"/>
          </a:graphicData>
        </a:graphic>
      </p:graphicFrame>
      <p:sp>
        <p:nvSpPr>
          <p:cNvPr id="11" name="Rectangle 10"/>
          <p:cNvSpPr/>
          <p:nvPr/>
        </p:nvSpPr>
        <p:spPr>
          <a:xfrm>
            <a:off x="457200" y="4572000"/>
            <a:ext cx="6400800" cy="17373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4572000"/>
            <a:ext cx="640080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54880"/>
            <a:ext cx="6035040" cy="274320"/>
          </a:xfrm>
          <a:prstGeom prst="rect">
            <a:avLst/>
          </a:prstGeom>
          <a:noFill/>
        </p:spPr>
        <p:txBody>
          <a:bodyPr wrap="square" anchor="t" lIns="0" rIns="0" tIns="0" bIns="0">
            <a:spAutoFit/>
          </a:bodyPr>
          <a:lstStyle/>
          <a:p>
            <a:pPr algn="l"/>
            <a:r>
              <a:rPr sz="1000" b="1">
                <a:solidFill>
                  <a:srgbClr val="3B5998"/>
                </a:solidFill>
                <a:latin typeface="Arial"/>
              </a:rPr>
              <a:t>THE READ</a:t>
            </a:r>
          </a:p>
        </p:txBody>
      </p:sp>
      <p:sp>
        <p:nvSpPr>
          <p:cNvPr id="14" name="TextBox 13"/>
          <p:cNvSpPr txBox="1"/>
          <p:nvPr/>
        </p:nvSpPr>
        <p:spPr>
          <a:xfrm>
            <a:off x="640080" y="5074920"/>
            <a:ext cx="6035040" cy="1051560"/>
          </a:xfrm>
          <a:prstGeom prst="rect">
            <a:avLst/>
          </a:prstGeom>
          <a:noFill/>
        </p:spPr>
        <p:txBody>
          <a:bodyPr wrap="square" anchor="t" lIns="0" rIns="0" tIns="0" bIns="0">
            <a:spAutoFit/>
          </a:bodyPr>
          <a:lstStyle/>
          <a:p>
            <a:pPr algn="l"/>
            <a:r>
              <a:rPr sz="950" b="0">
                <a:solidFill>
                  <a:srgbClr val="32373E"/>
                </a:solidFill>
                <a:latin typeface="Arial"/>
              </a:rPr>
              <a:t>Spanish-language sessions on the US property held near 70K from January through May and rose 15% in June with the media scale-up; unique visitors rose 40% to 41,795. The traffic base under GCG is healthy and growing.</a:t>
            </a:r>
          </a:p>
        </p:txBody>
      </p:sp>
      <p:sp>
        <p:nvSpPr>
          <p:cNvPr id="15" name="Rectangle 14"/>
          <p:cNvSpPr/>
          <p:nvPr/>
        </p:nvSpPr>
        <p:spPr>
          <a:xfrm>
            <a:off x="7223760" y="1783080"/>
            <a:ext cx="4480560" cy="45262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23760" y="1783080"/>
            <a:ext cx="448056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0" y="1965960"/>
            <a:ext cx="4114800" cy="274320"/>
          </a:xfrm>
          <a:prstGeom prst="rect">
            <a:avLst/>
          </a:prstGeom>
          <a:noFill/>
        </p:spPr>
        <p:txBody>
          <a:bodyPr wrap="square" anchor="t" lIns="0" rIns="0" tIns="0" bIns="0">
            <a:spAutoFit/>
          </a:bodyPr>
          <a:lstStyle/>
          <a:p>
            <a:pPr algn="l"/>
            <a:r>
              <a:rPr sz="1000" b="1">
                <a:solidFill>
                  <a:srgbClr val="27AE60"/>
                </a:solidFill>
                <a:latin typeface="Arial"/>
              </a:rPr>
              <a:t>WHAT IT MEANS</a:t>
            </a:r>
          </a:p>
        </p:txBody>
      </p:sp>
      <p:sp>
        <p:nvSpPr>
          <p:cNvPr id="18" name="TextBox 17"/>
          <p:cNvSpPr txBox="1"/>
          <p:nvPr/>
        </p:nvSpPr>
        <p:spPr>
          <a:xfrm>
            <a:off x="7406640" y="2286000"/>
            <a:ext cx="4114800" cy="3840480"/>
          </a:xfrm>
          <a:prstGeom prst="rect">
            <a:avLst/>
          </a:prstGeom>
          <a:noFill/>
        </p:spPr>
        <p:txBody>
          <a:bodyPr wrap="square" anchor="t" lIns="0" rIns="0" tIns="0" bIns="0">
            <a:spAutoFit/>
          </a:bodyPr>
          <a:lstStyle/>
          <a:p>
            <a:pPr algn="l"/>
            <a:r>
              <a:rPr sz="950" b="0">
                <a:solidFill>
                  <a:srgbClr val="32373E"/>
                </a:solidFill>
                <a:latin typeface="Arial"/>
              </a:rPr>
              <a:t>Media is expanding the audience: June brought the highest Spanish-language visitor count of the year.</a:t>
            </a:r>
          </a:p>
          <a:p>
            <a:pPr algn="l">
              <a:spcBef>
                <a:spcPts val="600"/>
              </a:spcBef>
            </a:pPr>
            <a:r>
              <a:rPr sz="950" b="0">
                <a:solidFill>
                  <a:srgbClr val="32373E"/>
                </a:solidFill>
                <a:latin typeface="Arial"/>
              </a:rPr>
              <a:t>Measurement is working: site analytics capture roughly 57% of paid social clicks as sessions, and search reconciles exactly.</a:t>
            </a:r>
          </a:p>
          <a:p>
            <a:pPr algn="l">
              <a:spcBef>
                <a:spcPts val="600"/>
              </a:spcBef>
            </a:pPr>
            <a:r>
              <a:rPr sz="950" b="0">
                <a:solidFill>
                  <a:srgbClr val="32373E"/>
                </a:solidFill>
                <a:latin typeface="Arial"/>
              </a:rPr>
              <a:t>The gap between traffic growth and application growth is a conversion problem, not a traffic or measurement problem, which is why the funnel work on the previous slide leads the recommendations.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JUNE 2026  ·  EXECUTIVE SUMMARY</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The biggest GCG media month of 2026, with one channel at its ceiling.</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7 / 15</a:t>
            </a:r>
          </a:p>
        </p:txBody>
      </p:sp>
      <p:graphicFrame>
        <p:nvGraphicFramePr>
          <p:cNvPr id="10" name="Table 9"/>
          <p:cNvGraphicFramePr>
            <a:graphicFrameLocks noGrp="1"/>
          </p:cNvGraphicFramePr>
          <p:nvPr/>
        </p:nvGraphicFramePr>
        <p:xfrm>
          <a:off x="457200" y="1737360"/>
          <a:ext cx="6784848" cy="2103120"/>
        </p:xfrm>
        <a:graphic>
          <a:graphicData uri="http://schemas.openxmlformats.org/drawingml/2006/table">
            <a:tbl>
              <a:tblPr>
                <a:tableStyleId>{5C22544A-7EE6-4342-B048-85BDC9FD1C3A}</a:tableStyleId>
              </a:tblPr>
              <a:tblGrid>
                <a:gridCol w="2130552"/>
                <a:gridCol w="969264"/>
                <a:gridCol w="969264"/>
                <a:gridCol w="969264"/>
                <a:gridCol w="777240"/>
                <a:gridCol w="969264"/>
              </a:tblGrid>
              <a:tr h="300445">
                <a:tc>
                  <a:txBody>
                    <a:bodyPr/>
                    <a:lstStyle/>
                    <a:p>
                      <a:r>
                        <a:rPr sz="850" b="1">
                          <a:solidFill>
                            <a:srgbClr val="FFFFFF"/>
                          </a:solidFill>
                          <a:latin typeface="Arial"/>
                        </a:rPr>
                        <a:t>Channel</a:t>
                      </a:r>
                    </a:p>
                  </a:txBody>
                  <a:tcPr marL="54864" marR="54864" marT="27432" marB="27432">
                    <a:solidFill>
                      <a:srgbClr val="3B5998"/>
                    </a:solidFill>
                  </a:tcPr>
                </a:tc>
                <a:tc>
                  <a:txBody>
                    <a:bodyPr/>
                    <a:lstStyle/>
                    <a:p>
                      <a:pPr algn="r"/>
                      <a:r>
                        <a:rPr sz="850" b="1">
                          <a:solidFill>
                            <a:srgbClr val="FFFFFF"/>
                          </a:solidFill>
                          <a:latin typeface="Arial"/>
                        </a:rPr>
                        <a:t>Spend</a:t>
                      </a:r>
                    </a:p>
                  </a:txBody>
                  <a:tcPr marL="54864" marR="54864" marT="27432" marB="27432">
                    <a:solidFill>
                      <a:srgbClr val="3B5998"/>
                    </a:solidFill>
                  </a:tcPr>
                </a:tc>
                <a:tc>
                  <a:txBody>
                    <a:bodyPr/>
                    <a:lstStyle/>
                    <a:p>
                      <a:pPr algn="r"/>
                      <a:r>
                        <a:rPr sz="850" b="1">
                          <a:solidFill>
                            <a:srgbClr val="FFFFFF"/>
                          </a:solidFill>
                          <a:latin typeface="Arial"/>
                        </a:rPr>
                        <a:t>Impr</a:t>
                      </a:r>
                    </a:p>
                  </a:txBody>
                  <a:tcPr marL="54864" marR="54864" marT="27432" marB="27432">
                    <a:solidFill>
                      <a:srgbClr val="3B5998"/>
                    </a:solidFill>
                  </a:tcPr>
                </a:tc>
                <a:tc>
                  <a:txBody>
                    <a:bodyPr/>
                    <a:lstStyle/>
                    <a:p>
                      <a:pPr algn="r"/>
                      <a:r>
                        <a:rPr sz="850" b="1">
                          <a:solidFill>
                            <a:srgbClr val="FFFFFF"/>
                          </a:solidFill>
                          <a:latin typeface="Arial"/>
                        </a:rPr>
                        <a:t>Clicks</a:t>
                      </a:r>
                    </a:p>
                  </a:txBody>
                  <a:tcPr marL="54864" marR="54864" marT="27432" marB="27432">
                    <a:solidFill>
                      <a:srgbClr val="3B5998"/>
                    </a:solidFill>
                  </a:tcPr>
                </a:tc>
                <a:tc>
                  <a:txBody>
                    <a:bodyPr/>
                    <a:lstStyle/>
                    <a:p>
                      <a:pPr algn="r"/>
                      <a:r>
                        <a:rPr sz="850" b="1">
                          <a:solidFill>
                            <a:srgbClr val="FFFFFF"/>
                          </a:solidFill>
                          <a:latin typeface="Arial"/>
                        </a:rPr>
                        <a:t>Conv</a:t>
                      </a:r>
                    </a:p>
                  </a:txBody>
                  <a:tcPr marL="54864" marR="54864" marT="27432" marB="27432">
                    <a:solidFill>
                      <a:srgbClr val="3B5998"/>
                    </a:solidFill>
                  </a:tcPr>
                </a:tc>
                <a:tc>
                  <a:txBody>
                    <a:bodyPr/>
                    <a:lstStyle/>
                    <a:p>
                      <a:pPr algn="r"/>
                      <a:r>
                        <a:rPr sz="850" b="1">
                          <a:solidFill>
                            <a:srgbClr val="FFFFFF"/>
                          </a:solidFill>
                          <a:latin typeface="Arial"/>
                        </a:rPr>
                        <a:t>CPA</a:t>
                      </a:r>
                    </a:p>
                  </a:txBody>
                  <a:tcPr marL="54864" marR="54864" marT="27432" marB="27432">
                    <a:solidFill>
                      <a:srgbClr val="3B5998"/>
                    </a:solidFill>
                  </a:tcPr>
                </a:tc>
              </a:tr>
              <a:tr h="300445">
                <a:tc>
                  <a:txBody>
                    <a:bodyPr/>
                    <a:lstStyle/>
                    <a:p>
                      <a:r>
                        <a:rPr sz="850" b="1">
                          <a:solidFill>
                            <a:srgbClr val="32373E"/>
                          </a:solidFill>
                          <a:latin typeface="Arial"/>
                        </a:rPr>
                        <a:t>Google Ads</a:t>
                      </a:r>
                    </a:p>
                  </a:txBody>
                  <a:tcPr marL="54864" marR="54864" marT="27432" marB="27432">
                    <a:solidFill>
                      <a:srgbClr val="FFFFFF"/>
                    </a:solidFill>
                  </a:tcPr>
                </a:tc>
                <a:tc>
                  <a:txBody>
                    <a:bodyPr/>
                    <a:lstStyle/>
                    <a:p>
                      <a:pPr algn="r"/>
                      <a:r>
                        <a:rPr sz="850" b="0">
                          <a:solidFill>
                            <a:srgbClr val="32373E"/>
                          </a:solidFill>
                          <a:latin typeface="Arial"/>
                        </a:rPr>
                        <a:t>$22,524</a:t>
                      </a:r>
                    </a:p>
                  </a:txBody>
                  <a:tcPr marL="54864" marR="54864" marT="27432" marB="27432">
                    <a:solidFill>
                      <a:srgbClr val="FFFFFF"/>
                    </a:solidFill>
                  </a:tcPr>
                </a:tc>
                <a:tc>
                  <a:txBody>
                    <a:bodyPr/>
                    <a:lstStyle/>
                    <a:p>
                      <a:pPr algn="r"/>
                      <a:r>
                        <a:rPr sz="850" b="0">
                          <a:solidFill>
                            <a:srgbClr val="32373E"/>
                          </a:solidFill>
                          <a:latin typeface="Arial"/>
                        </a:rPr>
                        <a:t>181,470</a:t>
                      </a:r>
                    </a:p>
                  </a:txBody>
                  <a:tcPr marL="54864" marR="54864" marT="27432" marB="27432">
                    <a:solidFill>
                      <a:srgbClr val="FFFFFF"/>
                    </a:solidFill>
                  </a:tcPr>
                </a:tc>
                <a:tc>
                  <a:txBody>
                    <a:bodyPr/>
                    <a:lstStyle/>
                    <a:p>
                      <a:pPr algn="r"/>
                      <a:r>
                        <a:rPr sz="850" b="0">
                          <a:solidFill>
                            <a:srgbClr val="32373E"/>
                          </a:solidFill>
                          <a:latin typeface="Arial"/>
                        </a:rPr>
                        <a:t>12,888</a:t>
                      </a:r>
                    </a:p>
                  </a:txBody>
                  <a:tcPr marL="54864" marR="54864" marT="27432" marB="27432">
                    <a:solidFill>
                      <a:srgbClr val="FFFFFF"/>
                    </a:solidFill>
                  </a:tcPr>
                </a:tc>
                <a:tc>
                  <a:txBody>
                    <a:bodyPr/>
                    <a:lstStyle/>
                    <a:p>
                      <a:pPr algn="r"/>
                      <a:r>
                        <a:rPr sz="850" b="0">
                          <a:solidFill>
                            <a:srgbClr val="32373E"/>
                          </a:solidFill>
                          <a:latin typeface="Arial"/>
                        </a:rPr>
                        <a:t>67</a:t>
                      </a:r>
                    </a:p>
                  </a:txBody>
                  <a:tcPr marL="54864" marR="54864" marT="27432" marB="27432">
                    <a:solidFill>
                      <a:srgbClr val="FFFFFF"/>
                    </a:solidFill>
                  </a:tcPr>
                </a:tc>
                <a:tc>
                  <a:txBody>
                    <a:bodyPr/>
                    <a:lstStyle/>
                    <a:p>
                      <a:pPr algn="r"/>
                      <a:r>
                        <a:rPr sz="850" b="0">
                          <a:solidFill>
                            <a:srgbClr val="32373E"/>
                          </a:solidFill>
                          <a:latin typeface="Arial"/>
                        </a:rPr>
                        <a:t>$336</a:t>
                      </a:r>
                    </a:p>
                  </a:txBody>
                  <a:tcPr marL="54864" marR="54864" marT="27432" marB="27432">
                    <a:solidFill>
                      <a:srgbClr val="FFFFFF"/>
                    </a:solidFill>
                  </a:tcPr>
                </a:tc>
              </a:tr>
              <a:tr h="300445">
                <a:tc>
                  <a:txBody>
                    <a:bodyPr/>
                    <a:lstStyle/>
                    <a:p>
                      <a:r>
                        <a:rPr sz="850" b="1">
                          <a:solidFill>
                            <a:srgbClr val="32373E"/>
                          </a:solidFill>
                          <a:latin typeface="Arial"/>
                        </a:rPr>
                        <a:t>Meta</a:t>
                      </a:r>
                    </a:p>
                  </a:txBody>
                  <a:tcPr marL="54864" marR="54864" marT="27432" marB="27432">
                    <a:solidFill>
                      <a:srgbClr val="F3F3F3"/>
                    </a:solidFill>
                  </a:tcPr>
                </a:tc>
                <a:tc>
                  <a:txBody>
                    <a:bodyPr/>
                    <a:lstStyle/>
                    <a:p>
                      <a:pPr algn="r"/>
                      <a:r>
                        <a:rPr sz="850" b="0">
                          <a:solidFill>
                            <a:srgbClr val="32373E"/>
                          </a:solidFill>
                          <a:latin typeface="Arial"/>
                        </a:rPr>
                        <a:t>$30,711</a:t>
                      </a:r>
                    </a:p>
                  </a:txBody>
                  <a:tcPr marL="54864" marR="54864" marT="27432" marB="27432">
                    <a:solidFill>
                      <a:srgbClr val="F3F3F3"/>
                    </a:solidFill>
                  </a:tcPr>
                </a:tc>
                <a:tc>
                  <a:txBody>
                    <a:bodyPr/>
                    <a:lstStyle/>
                    <a:p>
                      <a:pPr algn="r"/>
                      <a:r>
                        <a:rPr sz="850" b="0">
                          <a:solidFill>
                            <a:srgbClr val="32373E"/>
                          </a:solidFill>
                          <a:latin typeface="Arial"/>
                        </a:rPr>
                        <a:t>3.06M</a:t>
                      </a:r>
                    </a:p>
                  </a:txBody>
                  <a:tcPr marL="54864" marR="54864" marT="27432" marB="27432">
                    <a:solidFill>
                      <a:srgbClr val="F3F3F3"/>
                    </a:solidFill>
                  </a:tcPr>
                </a:tc>
                <a:tc>
                  <a:txBody>
                    <a:bodyPr/>
                    <a:lstStyle/>
                    <a:p>
                      <a:pPr algn="r"/>
                      <a:r>
                        <a:rPr sz="850" b="0">
                          <a:solidFill>
                            <a:srgbClr val="32373E"/>
                          </a:solidFill>
                          <a:latin typeface="Arial"/>
                        </a:rPr>
                        <a:t>74,572</a:t>
                      </a:r>
                    </a:p>
                  </a:txBody>
                  <a:tcPr marL="54864" marR="54864" marT="27432" marB="27432">
                    <a:solidFill>
                      <a:srgbClr val="F3F3F3"/>
                    </a:solidFill>
                  </a:tcPr>
                </a:tc>
                <a:tc>
                  <a:txBody>
                    <a:bodyPr/>
                    <a:lstStyle/>
                    <a:p>
                      <a:pPr algn="r"/>
                      <a:r>
                        <a:rPr sz="850" b="0">
                          <a:solidFill>
                            <a:srgbClr val="32373E"/>
                          </a:solidFill>
                          <a:latin typeface="Arial"/>
                        </a:rPr>
                        <a:t>136*</a:t>
                      </a:r>
                    </a:p>
                  </a:txBody>
                  <a:tcPr marL="54864" marR="54864" marT="27432" marB="27432">
                    <a:solidFill>
                      <a:srgbClr val="F3F3F3"/>
                    </a:solidFill>
                  </a:tcPr>
                </a:tc>
                <a:tc>
                  <a:txBody>
                    <a:bodyPr/>
                    <a:lstStyle/>
                    <a:p>
                      <a:pPr algn="r"/>
                      <a:r>
                        <a:rPr sz="850" b="0">
                          <a:solidFill>
                            <a:srgbClr val="32373E"/>
                          </a:solidFill>
                          <a:latin typeface="Arial"/>
                        </a:rPr>
                        <a:t>—</a:t>
                      </a:r>
                    </a:p>
                  </a:txBody>
                  <a:tcPr marL="54864" marR="54864" marT="27432" marB="27432">
                    <a:solidFill>
                      <a:srgbClr val="F3F3F3"/>
                    </a:solidFill>
                  </a:tcPr>
                </a:tc>
              </a:tr>
              <a:tr h="300445">
                <a:tc>
                  <a:txBody>
                    <a:bodyPr/>
                    <a:lstStyle/>
                    <a:p>
                      <a:r>
                        <a:rPr sz="850" b="1">
                          <a:solidFill>
                            <a:srgbClr val="32373E"/>
                          </a:solidFill>
                          <a:latin typeface="Arial"/>
                        </a:rPr>
                        <a:t>Quantcast</a:t>
                      </a:r>
                    </a:p>
                  </a:txBody>
                  <a:tcPr marL="54864" marR="54864" marT="27432" marB="27432">
                    <a:solidFill>
                      <a:srgbClr val="FFFFFF"/>
                    </a:solidFill>
                  </a:tcPr>
                </a:tc>
                <a:tc>
                  <a:txBody>
                    <a:bodyPr/>
                    <a:lstStyle/>
                    <a:p>
                      <a:pPr algn="r"/>
                      <a:r>
                        <a:rPr sz="850" b="0">
                          <a:solidFill>
                            <a:srgbClr val="32373E"/>
                          </a:solidFill>
                          <a:latin typeface="Arial"/>
                        </a:rPr>
                        <a:t>$30,559</a:t>
                      </a:r>
                    </a:p>
                  </a:txBody>
                  <a:tcPr marL="54864" marR="54864" marT="27432" marB="27432">
                    <a:solidFill>
                      <a:srgbClr val="FFFFFF"/>
                    </a:solidFill>
                  </a:tcPr>
                </a:tc>
                <a:tc>
                  <a:txBody>
                    <a:bodyPr/>
                    <a:lstStyle/>
                    <a:p>
                      <a:pPr algn="r"/>
                      <a:r>
                        <a:rPr sz="850" b="0">
                          <a:solidFill>
                            <a:srgbClr val="32373E"/>
                          </a:solidFill>
                          <a:latin typeface="Arial"/>
                        </a:rPr>
                        <a:t>37.2M</a:t>
                      </a:r>
                    </a:p>
                  </a:txBody>
                  <a:tcPr marL="54864" marR="54864" marT="27432" marB="27432">
                    <a:solidFill>
                      <a:srgbClr val="FFFFFF"/>
                    </a:solidFill>
                  </a:tcPr>
                </a:tc>
                <a:tc>
                  <a:txBody>
                    <a:bodyPr/>
                    <a:lstStyle/>
                    <a:p>
                      <a:pPr algn="r"/>
                      <a:r>
                        <a:rPr sz="850" b="0">
                          <a:solidFill>
                            <a:srgbClr val="32373E"/>
                          </a:solidFill>
                          <a:latin typeface="Arial"/>
                        </a:rPr>
                        <a:t>2,942</a:t>
                      </a:r>
                    </a:p>
                  </a:txBody>
                  <a:tcPr marL="54864" marR="54864" marT="27432" marB="27432">
                    <a:solidFill>
                      <a:srgbClr val="FFFFFF"/>
                    </a:solidFill>
                  </a:tcPr>
                </a:tc>
                <a:tc>
                  <a:txBody>
                    <a:bodyPr/>
                    <a:lstStyle/>
                    <a:p>
                      <a:pPr algn="r"/>
                      <a:r>
                        <a:rPr sz="850" b="0">
                          <a:solidFill>
                            <a:srgbClr val="32373E"/>
                          </a:solidFill>
                          <a:latin typeface="Arial"/>
                        </a:rPr>
                        <a:t>15 VT*</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r>
              <a:tr h="300445">
                <a:tc>
                  <a:txBody>
                    <a:bodyPr/>
                    <a:lstStyle/>
                    <a:p>
                      <a:r>
                        <a:rPr sz="850" b="1">
                          <a:solidFill>
                            <a:srgbClr val="32373E"/>
                          </a:solidFill>
                          <a:latin typeface="Arial"/>
                        </a:rPr>
                        <a:t>Azerion</a:t>
                      </a:r>
                    </a:p>
                  </a:txBody>
                  <a:tcPr marL="54864" marR="54864" marT="27432" marB="27432">
                    <a:solidFill>
                      <a:srgbClr val="F3F3F3"/>
                    </a:solidFill>
                  </a:tcPr>
                </a:tc>
                <a:tc>
                  <a:txBody>
                    <a:bodyPr/>
                    <a:lstStyle/>
                    <a:p>
                      <a:pPr algn="r"/>
                      <a:r>
                        <a:rPr sz="850" b="0">
                          <a:solidFill>
                            <a:srgbClr val="32373E"/>
                          </a:solidFill>
                          <a:latin typeface="Arial"/>
                        </a:rPr>
                        <a:t>$29,586</a:t>
                      </a:r>
                    </a:p>
                  </a:txBody>
                  <a:tcPr marL="54864" marR="54864" marT="27432" marB="27432">
                    <a:solidFill>
                      <a:srgbClr val="F3F3F3"/>
                    </a:solidFill>
                  </a:tcPr>
                </a:tc>
                <a:tc>
                  <a:txBody>
                    <a:bodyPr/>
                    <a:lstStyle/>
                    <a:p>
                      <a:pPr algn="r"/>
                      <a:r>
                        <a:rPr sz="850" b="0">
                          <a:solidFill>
                            <a:srgbClr val="32373E"/>
                          </a:solidFill>
                          <a:latin typeface="Arial"/>
                        </a:rPr>
                        <a:t>pending</a:t>
                      </a:r>
                    </a:p>
                  </a:txBody>
                  <a:tcPr marL="54864" marR="54864" marT="27432" marB="27432">
                    <a:solidFill>
                      <a:srgbClr val="F3F3F3"/>
                    </a:solidFill>
                  </a:tcPr>
                </a:tc>
                <a:tc>
                  <a:txBody>
                    <a:bodyPr/>
                    <a:lstStyle/>
                    <a:p>
                      <a:pPr algn="r"/>
                      <a:r>
                        <a:rPr sz="850" b="0">
                          <a:solidFill>
                            <a:srgbClr val="32373E"/>
                          </a:solidFill>
                          <a:latin typeface="Arial"/>
                        </a:rPr>
                        <a:t>—</a:t>
                      </a:r>
                    </a:p>
                  </a:txBody>
                  <a:tcPr marL="54864" marR="54864" marT="27432" marB="27432">
                    <a:solidFill>
                      <a:srgbClr val="F3F3F3"/>
                    </a:solidFill>
                  </a:tcPr>
                </a:tc>
                <a:tc>
                  <a:txBody>
                    <a:bodyPr/>
                    <a:lstStyle/>
                    <a:p>
                      <a:pPr algn="r"/>
                      <a:r>
                        <a:rPr sz="850" b="0">
                          <a:solidFill>
                            <a:srgbClr val="32373E"/>
                          </a:solidFill>
                          <a:latin typeface="Arial"/>
                        </a:rPr>
                        <a:t>pending</a:t>
                      </a:r>
                    </a:p>
                  </a:txBody>
                  <a:tcPr marL="54864" marR="54864" marT="27432" marB="27432">
                    <a:solidFill>
                      <a:srgbClr val="F3F3F3"/>
                    </a:solidFill>
                  </a:tcPr>
                </a:tc>
                <a:tc>
                  <a:txBody>
                    <a:bodyPr/>
                    <a:lstStyle/>
                    <a:p>
                      <a:pPr algn="r"/>
                      <a:r>
                        <a:rPr sz="850" b="0">
                          <a:solidFill>
                            <a:srgbClr val="32373E"/>
                          </a:solidFill>
                          <a:latin typeface="Arial"/>
                        </a:rPr>
                        <a:t>—</a:t>
                      </a:r>
                    </a:p>
                  </a:txBody>
                  <a:tcPr marL="54864" marR="54864" marT="27432" marB="27432">
                    <a:solidFill>
                      <a:srgbClr val="F3F3F3"/>
                    </a:solidFill>
                  </a:tcPr>
                </a:tc>
              </a:tr>
              <a:tr h="300445">
                <a:tc>
                  <a:txBody>
                    <a:bodyPr/>
                    <a:lstStyle/>
                    <a:p>
                      <a:r>
                        <a:rPr sz="850" b="1">
                          <a:solidFill>
                            <a:srgbClr val="32373E"/>
                          </a:solidFill>
                          <a:latin typeface="Arial"/>
                        </a:rPr>
                        <a:t>Native</a:t>
                      </a:r>
                    </a:p>
                  </a:txBody>
                  <a:tcPr marL="54864" marR="54864" marT="27432" marB="27432">
                    <a:solidFill>
                      <a:srgbClr val="FFFFFF"/>
                    </a:solidFill>
                  </a:tcPr>
                </a:tc>
                <a:tc>
                  <a:txBody>
                    <a:bodyPr/>
                    <a:lstStyle/>
                    <a:p>
                      <a:pPr algn="r"/>
                      <a:r>
                        <a:rPr sz="850" b="0">
                          <a:solidFill>
                            <a:srgbClr val="32373E"/>
                          </a:solidFill>
                          <a:latin typeface="Arial"/>
                        </a:rPr>
                        <a:t>$3,645</a:t>
                      </a:r>
                    </a:p>
                  </a:txBody>
                  <a:tcPr marL="54864" marR="54864" marT="27432" marB="27432">
                    <a:solidFill>
                      <a:srgbClr val="FFFFFF"/>
                    </a:solidFill>
                  </a:tcPr>
                </a:tc>
                <a:tc>
                  <a:txBody>
                    <a:bodyPr/>
                    <a:lstStyle/>
                    <a:p>
                      <a:pPr algn="r"/>
                      <a:r>
                        <a:rPr sz="850" b="0">
                          <a:solidFill>
                            <a:srgbClr val="32373E"/>
                          </a:solidFill>
                          <a:latin typeface="Arial"/>
                        </a:rPr>
                        <a:t>pilot</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c>
                  <a:txBody>
                    <a:bodyPr/>
                    <a:lstStyle/>
                    <a:p>
                      <a:pPr algn="r"/>
                      <a:r>
                        <a:rPr sz="850" b="0">
                          <a:solidFill>
                            <a:srgbClr val="32373E"/>
                          </a:solidFill>
                          <a:latin typeface="Arial"/>
                        </a:rPr>
                        <a:t>—</a:t>
                      </a:r>
                    </a:p>
                  </a:txBody>
                  <a:tcPr marL="54864" marR="54864" marT="27432" marB="27432">
                    <a:solidFill>
                      <a:srgbClr val="FFFFFF"/>
                    </a:solidFill>
                  </a:tcPr>
                </a:tc>
              </a:tr>
              <a:tr h="300450">
                <a:tc>
                  <a:txBody>
                    <a:bodyPr/>
                    <a:lstStyle/>
                    <a:p>
                      <a:r>
                        <a:rPr sz="850" b="1">
                          <a:solidFill>
                            <a:srgbClr val="32373E"/>
                          </a:solidFill>
                          <a:latin typeface="Arial"/>
                        </a:rPr>
                        <a:t>Total</a:t>
                      </a:r>
                    </a:p>
                  </a:txBody>
                  <a:tcPr marL="54864" marR="54864" marT="27432" marB="27432">
                    <a:solidFill>
                      <a:srgbClr val="F3F3F3"/>
                    </a:solidFill>
                  </a:tcPr>
                </a:tc>
                <a:tc>
                  <a:txBody>
                    <a:bodyPr/>
                    <a:lstStyle/>
                    <a:p>
                      <a:pPr algn="r"/>
                      <a:r>
                        <a:rPr sz="850" b="1">
                          <a:solidFill>
                            <a:srgbClr val="32373E"/>
                          </a:solidFill>
                          <a:latin typeface="Arial"/>
                        </a:rPr>
                        <a:t>$117,024</a:t>
                      </a:r>
                    </a:p>
                  </a:txBody>
                  <a:tcPr marL="54864" marR="54864" marT="27432" marB="27432">
                    <a:solidFill>
                      <a:srgbClr val="F3F3F3"/>
                    </a:solidFill>
                  </a:tcPr>
                </a:tc>
                <a:tc>
                  <a:txBody>
                    <a:bodyPr/>
                    <a:lstStyle/>
                    <a:p>
                      <a:pPr algn="r"/>
                      <a:r>
                        <a:rPr sz="850" b="1">
                          <a:solidFill>
                            <a:srgbClr val="32373E"/>
                          </a:solidFill>
                          <a:latin typeface="Arial"/>
                        </a:rPr>
                        <a:t>—</a:t>
                      </a:r>
                    </a:p>
                  </a:txBody>
                  <a:tcPr marL="54864" marR="54864" marT="27432" marB="27432">
                    <a:solidFill>
                      <a:srgbClr val="F3F3F3"/>
                    </a:solidFill>
                  </a:tcPr>
                </a:tc>
                <a:tc>
                  <a:txBody>
                    <a:bodyPr/>
                    <a:lstStyle/>
                    <a:p>
                      <a:pPr algn="r"/>
                      <a:r>
                        <a:rPr sz="850" b="1">
                          <a:solidFill>
                            <a:srgbClr val="32373E"/>
                          </a:solidFill>
                          <a:latin typeface="Arial"/>
                        </a:rPr>
                        <a:t>—</a:t>
                      </a:r>
                    </a:p>
                  </a:txBody>
                  <a:tcPr marL="54864" marR="54864" marT="27432" marB="27432">
                    <a:solidFill>
                      <a:srgbClr val="F3F3F3"/>
                    </a:solidFill>
                  </a:tcPr>
                </a:tc>
                <a:tc>
                  <a:txBody>
                    <a:bodyPr/>
                    <a:lstStyle/>
                    <a:p>
                      <a:pPr algn="r"/>
                      <a:r>
                        <a:rPr sz="850" b="1">
                          <a:solidFill>
                            <a:srgbClr val="32373E"/>
                          </a:solidFill>
                          <a:latin typeface="Arial"/>
                        </a:rPr>
                        <a:t>—</a:t>
                      </a:r>
                    </a:p>
                  </a:txBody>
                  <a:tcPr marL="54864" marR="54864" marT="27432" marB="27432">
                    <a:solidFill>
                      <a:srgbClr val="F3F3F3"/>
                    </a:solidFill>
                  </a:tcPr>
                </a:tc>
                <a:tc>
                  <a:txBody>
                    <a:bodyPr/>
                    <a:lstStyle/>
                    <a:p>
                      <a:pPr algn="r"/>
                      <a:r>
                        <a:rPr sz="850" b="1">
                          <a:solidFill>
                            <a:srgbClr val="32373E"/>
                          </a:solidFill>
                          <a:latin typeface="Arial"/>
                        </a:rPr>
                        <a:t>—</a:t>
                      </a:r>
                    </a:p>
                  </a:txBody>
                  <a:tcPr marL="54864" marR="54864" marT="27432" marB="27432">
                    <a:solidFill>
                      <a:srgbClr val="F3F3F3"/>
                    </a:solidFill>
                  </a:tcPr>
                </a:tc>
              </a:tr>
            </a:tbl>
          </a:graphicData>
        </a:graphic>
      </p:graphicFrame>
      <p:sp>
        <p:nvSpPr>
          <p:cNvPr id="11" name="TextBox 10"/>
          <p:cNvSpPr txBox="1"/>
          <p:nvPr/>
        </p:nvSpPr>
        <p:spPr>
          <a:xfrm>
            <a:off x="457200" y="3977639"/>
            <a:ext cx="6766560" cy="411480"/>
          </a:xfrm>
          <a:prstGeom prst="rect">
            <a:avLst/>
          </a:prstGeom>
          <a:noFill/>
        </p:spPr>
        <p:txBody>
          <a:bodyPr wrap="square" anchor="t" lIns="0" rIns="0" tIns="0" bIns="0">
            <a:spAutoFit/>
          </a:bodyPr>
          <a:lstStyle/>
          <a:p>
            <a:pPr algn="l"/>
            <a:r>
              <a:rPr sz="750" b="0">
                <a:solidFill>
                  <a:srgbClr val="5A5A5A"/>
                </a:solidFill>
                <a:latin typeface="Arial"/>
              </a:rPr>
              <a:t>* Meta counts pixel application events (mostly starts) on a traffic objective. Programmatic view-through is directional only. Conversions use different events per channel and are never summed.</a:t>
            </a:r>
          </a:p>
        </p:txBody>
      </p:sp>
      <p:sp>
        <p:nvSpPr>
          <p:cNvPr id="12" name="Rectangle 11"/>
          <p:cNvSpPr/>
          <p:nvPr/>
        </p:nvSpPr>
        <p:spPr>
          <a:xfrm>
            <a:off x="7406640" y="1737360"/>
            <a:ext cx="4297680" cy="21945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429768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19" y="1920240"/>
            <a:ext cx="3931920" cy="274320"/>
          </a:xfrm>
          <a:prstGeom prst="rect">
            <a:avLst/>
          </a:prstGeom>
          <a:noFill/>
        </p:spPr>
        <p:txBody>
          <a:bodyPr wrap="square" anchor="t" lIns="0" rIns="0" tIns="0" bIns="0">
            <a:spAutoFit/>
          </a:bodyPr>
          <a:lstStyle/>
          <a:p>
            <a:pPr algn="l"/>
            <a:r>
              <a:rPr sz="1000" b="1">
                <a:solidFill>
                  <a:srgbClr val="27AE60"/>
                </a:solidFill>
                <a:latin typeface="Arial"/>
              </a:rPr>
              <a:t>HEADLINES</a:t>
            </a:r>
          </a:p>
        </p:txBody>
      </p:sp>
      <p:sp>
        <p:nvSpPr>
          <p:cNvPr id="15" name="TextBox 14"/>
          <p:cNvSpPr txBox="1"/>
          <p:nvPr/>
        </p:nvSpPr>
        <p:spPr>
          <a:xfrm>
            <a:off x="7589519" y="2240280"/>
            <a:ext cx="3931920" cy="1508760"/>
          </a:xfrm>
          <a:prstGeom prst="rect">
            <a:avLst/>
          </a:prstGeom>
          <a:noFill/>
        </p:spPr>
        <p:txBody>
          <a:bodyPr wrap="square" anchor="t" lIns="0" rIns="0" tIns="0" bIns="0">
            <a:spAutoFit/>
          </a:bodyPr>
          <a:lstStyle/>
          <a:p>
            <a:pPr algn="l"/>
            <a:r>
              <a:rPr sz="950" b="0">
                <a:solidFill>
                  <a:srgbClr val="32373E"/>
                </a:solidFill>
                <a:latin typeface="Arial"/>
              </a:rPr>
              <a:t>June was the biggest GCG media month of 2026: $117,024 across five lines, up 53% from May. Search produced 67 submitted applications at $336, and the Native pilot entered the market.</a:t>
            </a:r>
          </a:p>
        </p:txBody>
      </p:sp>
      <p:sp>
        <p:nvSpPr>
          <p:cNvPr id="16" name="Rectangle 15"/>
          <p:cNvSpPr/>
          <p:nvPr/>
        </p:nvSpPr>
        <p:spPr>
          <a:xfrm>
            <a:off x="457200" y="4526280"/>
            <a:ext cx="6766560" cy="18288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4526280"/>
            <a:ext cx="676656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709160"/>
            <a:ext cx="6400800" cy="274320"/>
          </a:xfrm>
          <a:prstGeom prst="rect">
            <a:avLst/>
          </a:prstGeom>
          <a:noFill/>
        </p:spPr>
        <p:txBody>
          <a:bodyPr wrap="square" anchor="t" lIns="0" rIns="0" tIns="0" bIns="0">
            <a:spAutoFit/>
          </a:bodyPr>
          <a:lstStyle/>
          <a:p>
            <a:pPr algn="l"/>
            <a:r>
              <a:rPr sz="1000" b="1">
                <a:solidFill>
                  <a:srgbClr val="3B5998"/>
                </a:solidFill>
                <a:latin typeface="Arial"/>
              </a:rPr>
              <a:t>WHAT THE DATA SAYS</a:t>
            </a:r>
          </a:p>
        </p:txBody>
      </p:sp>
      <p:sp>
        <p:nvSpPr>
          <p:cNvPr id="19" name="TextBox 18"/>
          <p:cNvSpPr txBox="1"/>
          <p:nvPr/>
        </p:nvSpPr>
        <p:spPr>
          <a:xfrm>
            <a:off x="640080" y="5029200"/>
            <a:ext cx="6400800" cy="1143000"/>
          </a:xfrm>
          <a:prstGeom prst="rect">
            <a:avLst/>
          </a:prstGeom>
          <a:noFill/>
        </p:spPr>
        <p:txBody>
          <a:bodyPr wrap="square" anchor="t" lIns="0" rIns="0" tIns="0" bIns="0">
            <a:spAutoFit/>
          </a:bodyPr>
          <a:lstStyle/>
          <a:p>
            <a:pPr algn="l"/>
            <a:r>
              <a:rPr sz="950" b="0">
                <a:solidFill>
                  <a:srgbClr val="32373E"/>
                </a:solidFill>
                <a:latin typeface="Arial"/>
              </a:rPr>
              <a:t>Search hit its rank ceiling: +48% spend bought -12% applications. Paid social scaled 151% with healthy delivery (71% of clicks became landing-page views). The reach line scaled 37% and its viewability fell to 46.9%, which the blocklist addresses.</a:t>
            </a:r>
          </a:p>
        </p:txBody>
      </p:sp>
      <p:sp>
        <p:nvSpPr>
          <p:cNvPr id="20" name="Rectangle 19"/>
          <p:cNvSpPr/>
          <p:nvPr/>
        </p:nvSpPr>
        <p:spPr>
          <a:xfrm>
            <a:off x="7406640" y="4526280"/>
            <a:ext cx="4297680" cy="18288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4526280"/>
            <a:ext cx="4297680" cy="914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19" y="4709160"/>
            <a:ext cx="3931920" cy="274320"/>
          </a:xfrm>
          <a:prstGeom prst="rect">
            <a:avLst/>
          </a:prstGeom>
          <a:noFill/>
        </p:spPr>
        <p:txBody>
          <a:bodyPr wrap="square" anchor="t" lIns="0" rIns="0" tIns="0" bIns="0">
            <a:spAutoFit/>
          </a:bodyPr>
          <a:lstStyle/>
          <a:p>
            <a:pPr algn="l"/>
            <a:r>
              <a:rPr sz="1000" b="1">
                <a:solidFill>
                  <a:srgbClr val="E74C3C"/>
                </a:solidFill>
                <a:latin typeface="Arial"/>
              </a:rPr>
              <a:t>JUNE PRIORITY</a:t>
            </a:r>
          </a:p>
        </p:txBody>
      </p:sp>
      <p:sp>
        <p:nvSpPr>
          <p:cNvPr id="23" name="TextBox 22"/>
          <p:cNvSpPr txBox="1"/>
          <p:nvPr/>
        </p:nvSpPr>
        <p:spPr>
          <a:xfrm>
            <a:off x="7589519" y="5029200"/>
            <a:ext cx="3931920" cy="1143000"/>
          </a:xfrm>
          <a:prstGeom prst="rect">
            <a:avLst/>
          </a:prstGeom>
          <a:noFill/>
        </p:spPr>
        <p:txBody>
          <a:bodyPr wrap="square" anchor="t" lIns="0" rIns="0" tIns="0" bIns="0">
            <a:spAutoFit/>
          </a:bodyPr>
          <a:lstStyle/>
          <a:p>
            <a:pPr algn="l"/>
            <a:r>
              <a:rPr sz="950" b="0">
                <a:solidFill>
                  <a:srgbClr val="32373E"/>
                </a:solidFill>
                <a:latin typeface="Arial"/>
              </a:rPr>
              <a:t>Shift paid social to the conversion objective, run the search ad-rank program before adding budget, and apply the programmatic blocklist with a viewability floor.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CONT' EXECUTIVE SUMMARY</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Three moves shape July.</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8 / 15</a:t>
            </a:r>
          </a:p>
        </p:txBody>
      </p:sp>
      <p:sp>
        <p:nvSpPr>
          <p:cNvPr id="10" name="Rectangle 9"/>
          <p:cNvSpPr/>
          <p:nvPr/>
        </p:nvSpPr>
        <p:spPr>
          <a:xfrm>
            <a:off x="457200" y="1737360"/>
            <a:ext cx="5577840" cy="46634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557784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5212079" cy="274320"/>
          </a:xfrm>
          <a:prstGeom prst="rect">
            <a:avLst/>
          </a:prstGeom>
          <a:noFill/>
        </p:spPr>
        <p:txBody>
          <a:bodyPr wrap="square" anchor="t" lIns="0" rIns="0" tIns="0" bIns="0">
            <a:spAutoFit/>
          </a:bodyPr>
          <a:lstStyle/>
          <a:p>
            <a:pPr algn="l"/>
            <a:r>
              <a:rPr sz="1000" b="1">
                <a:solidFill>
                  <a:srgbClr val="3B5998"/>
                </a:solidFill>
                <a:latin typeface="Arial"/>
              </a:rPr>
              <a:t>WHAT IS STILL FORMING</a:t>
            </a:r>
          </a:p>
        </p:txBody>
      </p:sp>
      <p:sp>
        <p:nvSpPr>
          <p:cNvPr id="13" name="TextBox 12"/>
          <p:cNvSpPr txBox="1"/>
          <p:nvPr/>
        </p:nvSpPr>
        <p:spPr>
          <a:xfrm>
            <a:off x="640080" y="2240280"/>
            <a:ext cx="5212079" cy="3977639"/>
          </a:xfrm>
          <a:prstGeom prst="rect">
            <a:avLst/>
          </a:prstGeom>
          <a:noFill/>
        </p:spPr>
        <p:txBody>
          <a:bodyPr wrap="square" anchor="t" lIns="0" rIns="0" tIns="0" bIns="0">
            <a:spAutoFit/>
          </a:bodyPr>
          <a:lstStyle/>
          <a:p>
            <a:pPr algn="l"/>
            <a:r>
              <a:rPr sz="950" b="0">
                <a:solidFill>
                  <a:srgbClr val="32373E"/>
                </a:solidFill>
                <a:latin typeface="Arial"/>
              </a:rPr>
              <a:t>Search efficiency at scale. June proved the account is rank-limited: every campaign loses 64-76% of available impressions to ad rank and only 9-13% to budget. More budget at current ad rank buys worse auctions.</a:t>
            </a:r>
          </a:p>
          <a:p>
            <a:pPr algn="l">
              <a:spcBef>
                <a:spcPts val="600"/>
              </a:spcBef>
            </a:pPr>
            <a:r>
              <a:rPr sz="950" b="0">
                <a:solidFill>
                  <a:srgbClr val="32373E"/>
                </a:solidFill>
                <a:latin typeface="Arial"/>
              </a:rPr>
              <a:t>Paid social conversion measurement. Delivery and site capture are healthy, but the campaign still runs a traffic objective, so its 136 pixel events are mostly application starts rather than submitted applications.</a:t>
            </a:r>
          </a:p>
          <a:p>
            <a:pPr algn="l">
              <a:spcBef>
                <a:spcPts val="600"/>
              </a:spcBef>
            </a:pPr>
            <a:r>
              <a:rPr sz="950" b="0">
                <a:solidFill>
                  <a:srgbClr val="32373E"/>
                </a:solidFill>
                <a:latin typeface="Arial"/>
              </a:rPr>
              <a:t>Vendor detail for the two newest stories: the Azerion June file (its largest-converter status) and the first Native pilot read.</a:t>
            </a:r>
          </a:p>
        </p:txBody>
      </p:sp>
      <p:sp>
        <p:nvSpPr>
          <p:cNvPr id="14" name="Rectangle 13"/>
          <p:cNvSpPr/>
          <p:nvPr/>
        </p:nvSpPr>
        <p:spPr>
          <a:xfrm>
            <a:off x="6309360" y="1737360"/>
            <a:ext cx="5394960" cy="46634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539496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920240"/>
            <a:ext cx="5029200" cy="274320"/>
          </a:xfrm>
          <a:prstGeom prst="rect">
            <a:avLst/>
          </a:prstGeom>
          <a:noFill/>
        </p:spPr>
        <p:txBody>
          <a:bodyPr wrap="square" anchor="t" lIns="0" rIns="0" tIns="0" bIns="0">
            <a:spAutoFit/>
          </a:bodyPr>
          <a:lstStyle/>
          <a:p>
            <a:pPr algn="l"/>
            <a:r>
              <a:rPr sz="1000" b="1">
                <a:solidFill>
                  <a:srgbClr val="27AE60"/>
                </a:solidFill>
                <a:latin typeface="Arial"/>
              </a:rPr>
              <a:t>WHAT WE RECOMMEND</a:t>
            </a:r>
          </a:p>
        </p:txBody>
      </p:sp>
      <p:sp>
        <p:nvSpPr>
          <p:cNvPr id="17" name="TextBox 16"/>
          <p:cNvSpPr txBox="1"/>
          <p:nvPr/>
        </p:nvSpPr>
        <p:spPr>
          <a:xfrm>
            <a:off x="6492240" y="2240280"/>
            <a:ext cx="5029200" cy="3977639"/>
          </a:xfrm>
          <a:prstGeom prst="rect">
            <a:avLst/>
          </a:prstGeom>
          <a:noFill/>
        </p:spPr>
        <p:txBody>
          <a:bodyPr wrap="square" anchor="t" lIns="0" rIns="0" tIns="0" bIns="0">
            <a:spAutoFit/>
          </a:bodyPr>
          <a:lstStyle/>
          <a:p>
            <a:pPr algn="l"/>
            <a:r>
              <a:rPr sz="950" b="0">
                <a:solidFill>
                  <a:srgbClr val="32373E"/>
                </a:solidFill>
                <a:latin typeface="Arial"/>
              </a:rPr>
              <a:t>Complete the paid-social shift to a conversion objective and judge the channel on submitted applications from July.</a:t>
            </a:r>
          </a:p>
          <a:p>
            <a:pPr algn="l">
              <a:spcBef>
                <a:spcPts val="600"/>
              </a:spcBef>
            </a:pPr>
            <a:r>
              <a:rPr sz="950" b="0">
                <a:solidFill>
                  <a:srgbClr val="32373E"/>
                </a:solidFill>
                <a:latin typeface="Arial"/>
              </a:rPr>
              <a:t>Run the search ad-rank program on the proven TrackB terms: bid and quality work plus an RSA refresh, then scale into the recovered impression share.</a:t>
            </a:r>
          </a:p>
          <a:p>
            <a:pPr algn="l">
              <a:spcBef>
                <a:spcPts val="600"/>
              </a:spcBef>
            </a:pPr>
            <a:r>
              <a:rPr sz="950" b="0">
                <a:solidFill>
                  <a:srgbClr val="32373E"/>
                </a:solidFill>
                <a:latin typeface="Arial"/>
              </a:rPr>
              <a:t>Apply the 18-site programmatic blocklist (32% of June spend on that line) and set a campaign-level viewability floor.</a:t>
            </a:r>
          </a:p>
          <a:p>
            <a:pPr algn="l">
              <a:spcBef>
                <a:spcPts val="600"/>
              </a:spcBef>
            </a:pPr>
            <a:r>
              <a:rPr sz="950" b="0">
                <a:solidFill>
                  <a:srgbClr val="32373E"/>
                </a:solidFill>
                <a:latin typeface="Arial"/>
              </a:rPr>
              <a:t>Put the start-to-submit funnel step on the joint roadmap with the client; media is filling the top of the funnel.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GOOGLE ADS  ·  PERFORMANCE</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67 submitted applications at $336. The account hit its rank ceiling.</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9 / 15</a:t>
            </a:r>
          </a:p>
        </p:txBody>
      </p:sp>
      <p:sp>
        <p:nvSpPr>
          <p:cNvPr id="10" name="Rectangle 9"/>
          <p:cNvSpPr/>
          <p:nvPr/>
        </p:nvSpPr>
        <p:spPr>
          <a:xfrm>
            <a:off x="4572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SPEND</a:t>
            </a:r>
          </a:p>
        </p:txBody>
      </p:sp>
      <p:sp>
        <p:nvSpPr>
          <p:cNvPr id="13" name="TextBox 12"/>
          <p:cNvSpPr txBox="1"/>
          <p:nvPr/>
        </p:nvSpPr>
        <p:spPr>
          <a:xfrm>
            <a:off x="6400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$22,524</a:t>
            </a:r>
          </a:p>
        </p:txBody>
      </p:sp>
      <p:sp>
        <p:nvSpPr>
          <p:cNvPr id="14" name="TextBox 13"/>
          <p:cNvSpPr txBox="1"/>
          <p:nvPr/>
        </p:nvSpPr>
        <p:spPr>
          <a:xfrm>
            <a:off x="6400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+48% MoM</a:t>
            </a:r>
          </a:p>
        </p:txBody>
      </p:sp>
      <p:sp>
        <p:nvSpPr>
          <p:cNvPr id="15" name="Rectangle 14"/>
          <p:cNvSpPr/>
          <p:nvPr/>
        </p:nvSpPr>
        <p:spPr>
          <a:xfrm>
            <a:off x="22860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860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688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IMPRESSIONS</a:t>
            </a:r>
          </a:p>
        </p:txBody>
      </p:sp>
      <p:sp>
        <p:nvSpPr>
          <p:cNvPr id="18" name="TextBox 17"/>
          <p:cNvSpPr txBox="1"/>
          <p:nvPr/>
        </p:nvSpPr>
        <p:spPr>
          <a:xfrm>
            <a:off x="24688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181,470</a:t>
            </a:r>
          </a:p>
        </p:txBody>
      </p:sp>
      <p:sp>
        <p:nvSpPr>
          <p:cNvPr id="19" name="TextBox 18"/>
          <p:cNvSpPr txBox="1"/>
          <p:nvPr/>
        </p:nvSpPr>
        <p:spPr>
          <a:xfrm>
            <a:off x="24688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4 campaigns</a:t>
            </a:r>
          </a:p>
        </p:txBody>
      </p:sp>
      <p:sp>
        <p:nvSpPr>
          <p:cNvPr id="20" name="Rectangle 19"/>
          <p:cNvSpPr/>
          <p:nvPr/>
        </p:nvSpPr>
        <p:spPr>
          <a:xfrm>
            <a:off x="41148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CLICKS</a:t>
            </a:r>
          </a:p>
        </p:txBody>
      </p:sp>
      <p:sp>
        <p:nvSpPr>
          <p:cNvPr id="23" name="TextBox 22"/>
          <p:cNvSpPr txBox="1"/>
          <p:nvPr/>
        </p:nvSpPr>
        <p:spPr>
          <a:xfrm>
            <a:off x="42976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12,888</a:t>
            </a:r>
          </a:p>
        </p:txBody>
      </p:sp>
      <p:sp>
        <p:nvSpPr>
          <p:cNvPr id="24" name="TextBox 23"/>
          <p:cNvSpPr txBox="1"/>
          <p:nvPr/>
        </p:nvSpPr>
        <p:spPr>
          <a:xfrm>
            <a:off x="42976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CTR 7.10%</a:t>
            </a:r>
          </a:p>
        </p:txBody>
      </p:sp>
      <p:sp>
        <p:nvSpPr>
          <p:cNvPr id="25" name="Rectangle 24"/>
          <p:cNvSpPr/>
          <p:nvPr/>
        </p:nvSpPr>
        <p:spPr>
          <a:xfrm>
            <a:off x="59436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AVG CPC</a:t>
            </a:r>
          </a:p>
        </p:txBody>
      </p:sp>
      <p:sp>
        <p:nvSpPr>
          <p:cNvPr id="28" name="TextBox 27"/>
          <p:cNvSpPr txBox="1"/>
          <p:nvPr/>
        </p:nvSpPr>
        <p:spPr>
          <a:xfrm>
            <a:off x="61264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$1.75</a:t>
            </a:r>
          </a:p>
        </p:txBody>
      </p:sp>
      <p:sp>
        <p:nvSpPr>
          <p:cNvPr id="29" name="TextBox 28"/>
          <p:cNvSpPr txBox="1"/>
          <p:nvPr/>
        </p:nvSpPr>
        <p:spPr>
          <a:xfrm>
            <a:off x="61264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May: $1.53</a:t>
            </a:r>
          </a:p>
        </p:txBody>
      </p:sp>
      <p:sp>
        <p:nvSpPr>
          <p:cNvPr id="30" name="Rectangle 29"/>
          <p:cNvSpPr/>
          <p:nvPr/>
        </p:nvSpPr>
        <p:spPr>
          <a:xfrm>
            <a:off x="77724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79" y="1783080"/>
            <a:ext cx="1463039" cy="274320"/>
          </a:xfrm>
          <a:prstGeom prst="rect">
            <a:avLst/>
          </a:prstGeom>
          <a:noFill/>
        </p:spPr>
        <p:txBody>
          <a:bodyPr wrap="square" anchor="t" lIns="0" rIns="0" tIns="0" bIns="0">
            <a:spAutoFit/>
          </a:bodyPr>
          <a:lstStyle/>
          <a:p>
            <a:pPr algn="l"/>
            <a:r>
              <a:rPr sz="800" b="1">
                <a:solidFill>
                  <a:srgbClr val="78828C"/>
                </a:solidFill>
                <a:latin typeface="Arial"/>
              </a:rPr>
              <a:t>SUBMITTED APPS</a:t>
            </a:r>
          </a:p>
        </p:txBody>
      </p:sp>
      <p:sp>
        <p:nvSpPr>
          <p:cNvPr id="33" name="TextBox 32"/>
          <p:cNvSpPr txBox="1"/>
          <p:nvPr/>
        </p:nvSpPr>
        <p:spPr>
          <a:xfrm>
            <a:off x="7955279" y="2029967"/>
            <a:ext cx="1463039" cy="457200"/>
          </a:xfrm>
          <a:prstGeom prst="rect">
            <a:avLst/>
          </a:prstGeom>
          <a:noFill/>
        </p:spPr>
        <p:txBody>
          <a:bodyPr wrap="square" anchor="t" lIns="0" rIns="0" tIns="0" bIns="0">
            <a:spAutoFit/>
          </a:bodyPr>
          <a:lstStyle/>
          <a:p>
            <a:pPr algn="l"/>
            <a:r>
              <a:rPr sz="1500" b="1">
                <a:solidFill>
                  <a:srgbClr val="1A2A3A"/>
                </a:solidFill>
                <a:latin typeface="Arial"/>
              </a:rPr>
              <a:t>67</a:t>
            </a:r>
          </a:p>
        </p:txBody>
      </p:sp>
      <p:sp>
        <p:nvSpPr>
          <p:cNvPr id="34" name="TextBox 33"/>
          <p:cNvSpPr txBox="1"/>
          <p:nvPr/>
        </p:nvSpPr>
        <p:spPr>
          <a:xfrm>
            <a:off x="7955279" y="2487168"/>
            <a:ext cx="1463039" cy="219456"/>
          </a:xfrm>
          <a:prstGeom prst="rect">
            <a:avLst/>
          </a:prstGeom>
          <a:noFill/>
        </p:spPr>
        <p:txBody>
          <a:bodyPr wrap="square" anchor="t" lIns="0" rIns="0" tIns="0" bIns="0">
            <a:spAutoFit/>
          </a:bodyPr>
          <a:lstStyle/>
          <a:p>
            <a:pPr algn="l"/>
            <a:r>
              <a:rPr sz="800" b="0">
                <a:solidFill>
                  <a:srgbClr val="5A5A5A"/>
                </a:solidFill>
                <a:latin typeface="Arial"/>
              </a:rPr>
              <a:t>May: 76</a:t>
            </a:r>
          </a:p>
        </p:txBody>
      </p:sp>
      <p:sp>
        <p:nvSpPr>
          <p:cNvPr id="35" name="Rectangle 34"/>
          <p:cNvSpPr/>
          <p:nvPr/>
        </p:nvSpPr>
        <p:spPr>
          <a:xfrm>
            <a:off x="96012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601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CPA</a:t>
            </a:r>
          </a:p>
        </p:txBody>
      </p:sp>
      <p:sp>
        <p:nvSpPr>
          <p:cNvPr id="38" name="TextBox 37"/>
          <p:cNvSpPr txBox="1"/>
          <p:nvPr/>
        </p:nvSpPr>
        <p:spPr>
          <a:xfrm>
            <a:off x="97840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$336</a:t>
            </a:r>
          </a:p>
        </p:txBody>
      </p:sp>
      <p:sp>
        <p:nvSpPr>
          <p:cNvPr id="39" name="TextBox 38"/>
          <p:cNvSpPr txBox="1"/>
          <p:nvPr/>
        </p:nvSpPr>
        <p:spPr>
          <a:xfrm>
            <a:off x="97840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May: $200</a:t>
            </a:r>
          </a:p>
        </p:txBody>
      </p:sp>
      <p:sp>
        <p:nvSpPr>
          <p:cNvPr id="40" name="TextBox 39"/>
          <p:cNvSpPr txBox="1"/>
          <p:nvPr/>
        </p:nvSpPr>
        <p:spPr>
          <a:xfrm>
            <a:off x="457200" y="3063240"/>
            <a:ext cx="6400800" cy="274320"/>
          </a:xfrm>
          <a:prstGeom prst="rect">
            <a:avLst/>
          </a:prstGeom>
          <a:noFill/>
        </p:spPr>
        <p:txBody>
          <a:bodyPr wrap="square" anchor="t" lIns="0" rIns="0" tIns="0" bIns="0">
            <a:spAutoFit/>
          </a:bodyPr>
          <a:lstStyle/>
          <a:p>
            <a:pPr algn="l"/>
            <a:r>
              <a:rPr sz="1100" b="1">
                <a:solidFill>
                  <a:srgbClr val="1A2A3A"/>
                </a:solidFill>
                <a:latin typeface="Arial"/>
              </a:rPr>
              <a:t>Campaigns</a:t>
            </a:r>
          </a:p>
        </p:txBody>
      </p:sp>
      <p:graphicFrame>
        <p:nvGraphicFramePr>
          <p:cNvPr id="41" name="Table 40"/>
          <p:cNvGraphicFramePr>
            <a:graphicFrameLocks noGrp="1"/>
          </p:cNvGraphicFramePr>
          <p:nvPr/>
        </p:nvGraphicFramePr>
        <p:xfrm>
          <a:off x="457200" y="3337560"/>
          <a:ext cx="6949440" cy="1554480"/>
        </p:xfrm>
        <a:graphic>
          <a:graphicData uri="http://schemas.openxmlformats.org/drawingml/2006/table">
            <a:tbl>
              <a:tblPr>
                <a:tableStyleId>{5C22544A-7EE6-4342-B048-85BDC9FD1C3A}</a:tableStyleId>
              </a:tblPr>
              <a:tblGrid>
                <a:gridCol w="2194560"/>
                <a:gridCol w="1005840"/>
                <a:gridCol w="1005840"/>
                <a:gridCol w="731520"/>
                <a:gridCol w="914400"/>
                <a:gridCol w="1097280"/>
              </a:tblGrid>
              <a:tr h="310896">
                <a:tc>
                  <a:txBody>
                    <a:bodyPr/>
                    <a:lstStyle/>
                    <a:p>
                      <a:r>
                        <a:rPr sz="850" b="1">
                          <a:solidFill>
                            <a:srgbClr val="FFFFFF"/>
                          </a:solidFill>
                          <a:latin typeface="Arial"/>
                        </a:rPr>
                        <a:t>Campaign</a:t>
                      </a:r>
                    </a:p>
                  </a:txBody>
                  <a:tcPr marL="54864" marR="54864" marT="27432" marB="27432">
                    <a:solidFill>
                      <a:srgbClr val="3B5998"/>
                    </a:solidFill>
                  </a:tcPr>
                </a:tc>
                <a:tc>
                  <a:txBody>
                    <a:bodyPr/>
                    <a:lstStyle/>
                    <a:p>
                      <a:pPr algn="r"/>
                      <a:r>
                        <a:rPr sz="850" b="1">
                          <a:solidFill>
                            <a:srgbClr val="FFFFFF"/>
                          </a:solidFill>
                          <a:latin typeface="Arial"/>
                        </a:rPr>
                        <a:t>Spend</a:t>
                      </a:r>
                    </a:p>
                  </a:txBody>
                  <a:tcPr marL="54864" marR="54864" marT="27432" marB="27432">
                    <a:solidFill>
                      <a:srgbClr val="3B5998"/>
                    </a:solidFill>
                  </a:tcPr>
                </a:tc>
                <a:tc>
                  <a:txBody>
                    <a:bodyPr/>
                    <a:lstStyle/>
                    <a:p>
                      <a:pPr algn="r"/>
                      <a:r>
                        <a:rPr sz="850" b="1">
                          <a:solidFill>
                            <a:srgbClr val="FFFFFF"/>
                          </a:solidFill>
                          <a:latin typeface="Arial"/>
                        </a:rPr>
                        <a:t>Clicks</a:t>
                      </a:r>
                    </a:p>
                  </a:txBody>
                  <a:tcPr marL="54864" marR="54864" marT="27432" marB="27432">
                    <a:solidFill>
                      <a:srgbClr val="3B5998"/>
                    </a:solidFill>
                  </a:tcPr>
                </a:tc>
                <a:tc>
                  <a:txBody>
                    <a:bodyPr/>
                    <a:lstStyle/>
                    <a:p>
                      <a:pPr algn="r"/>
                      <a:r>
                        <a:rPr sz="850" b="1">
                          <a:solidFill>
                            <a:srgbClr val="FFFFFF"/>
                          </a:solidFill>
                          <a:latin typeface="Arial"/>
                        </a:rPr>
                        <a:t>Apps</a:t>
                      </a:r>
                    </a:p>
                  </a:txBody>
                  <a:tcPr marL="54864" marR="54864" marT="27432" marB="27432">
                    <a:solidFill>
                      <a:srgbClr val="3B5998"/>
                    </a:solidFill>
                  </a:tcPr>
                </a:tc>
                <a:tc>
                  <a:txBody>
                    <a:bodyPr/>
                    <a:lstStyle/>
                    <a:p>
                      <a:pPr algn="r"/>
                      <a:r>
                        <a:rPr sz="850" b="1">
                          <a:solidFill>
                            <a:srgbClr val="FFFFFF"/>
                          </a:solidFill>
                          <a:latin typeface="Arial"/>
                        </a:rPr>
                        <a:t>CPA</a:t>
                      </a:r>
                    </a:p>
                  </a:txBody>
                  <a:tcPr marL="54864" marR="54864" marT="27432" marB="27432">
                    <a:solidFill>
                      <a:srgbClr val="3B5998"/>
                    </a:solidFill>
                  </a:tcPr>
                </a:tc>
                <a:tc>
                  <a:txBody>
                    <a:bodyPr/>
                    <a:lstStyle/>
                    <a:p>
                      <a:pPr algn="r"/>
                      <a:r>
                        <a:rPr sz="850" b="1">
                          <a:solidFill>
                            <a:srgbClr val="FFFFFF"/>
                          </a:solidFill>
                          <a:latin typeface="Arial"/>
                        </a:rPr>
                        <a:t>Search IS</a:t>
                      </a:r>
                    </a:p>
                  </a:txBody>
                  <a:tcPr marL="54864" marR="54864" marT="27432" marB="27432">
                    <a:solidFill>
                      <a:srgbClr val="3B5998"/>
                    </a:solidFill>
                  </a:tcPr>
                </a:tc>
              </a:tr>
              <a:tr h="310896">
                <a:tc>
                  <a:txBody>
                    <a:bodyPr/>
                    <a:lstStyle/>
                    <a:p>
                      <a:r>
                        <a:rPr sz="850" b="1">
                          <a:solidFill>
                            <a:srgbClr val="32373E"/>
                          </a:solidFill>
                          <a:latin typeface="Arial"/>
                        </a:rPr>
                        <a:t>TrackA Trust</a:t>
                      </a:r>
                    </a:p>
                  </a:txBody>
                  <a:tcPr marL="54864" marR="54864" marT="27432" marB="27432">
                    <a:solidFill>
                      <a:srgbClr val="FFFFFF"/>
                    </a:solidFill>
                  </a:tcPr>
                </a:tc>
                <a:tc>
                  <a:txBody>
                    <a:bodyPr/>
                    <a:lstStyle/>
                    <a:p>
                      <a:pPr algn="r"/>
                      <a:r>
                        <a:rPr sz="850" b="0">
                          <a:solidFill>
                            <a:srgbClr val="32373E"/>
                          </a:solidFill>
                          <a:latin typeface="Arial"/>
                        </a:rPr>
                        <a:t>$7,796</a:t>
                      </a:r>
                    </a:p>
                  </a:txBody>
                  <a:tcPr marL="54864" marR="54864" marT="27432" marB="27432">
                    <a:solidFill>
                      <a:srgbClr val="FFFFFF"/>
                    </a:solidFill>
                  </a:tcPr>
                </a:tc>
                <a:tc>
                  <a:txBody>
                    <a:bodyPr/>
                    <a:lstStyle/>
                    <a:p>
                      <a:pPr algn="r"/>
                      <a:r>
                        <a:rPr sz="850" b="0">
                          <a:solidFill>
                            <a:srgbClr val="32373E"/>
                          </a:solidFill>
                          <a:latin typeface="Arial"/>
                        </a:rPr>
                        <a:t>5,712</a:t>
                      </a:r>
                    </a:p>
                  </a:txBody>
                  <a:tcPr marL="54864" marR="54864" marT="27432" marB="27432">
                    <a:solidFill>
                      <a:srgbClr val="FFFFFF"/>
                    </a:solidFill>
                  </a:tcPr>
                </a:tc>
                <a:tc>
                  <a:txBody>
                    <a:bodyPr/>
                    <a:lstStyle/>
                    <a:p>
                      <a:pPr algn="r"/>
                      <a:r>
                        <a:rPr sz="850" b="0">
                          <a:solidFill>
                            <a:srgbClr val="32373E"/>
                          </a:solidFill>
                          <a:latin typeface="Arial"/>
                        </a:rPr>
                        <a:t>18</a:t>
                      </a:r>
                    </a:p>
                  </a:txBody>
                  <a:tcPr marL="54864" marR="54864" marT="27432" marB="27432">
                    <a:solidFill>
                      <a:srgbClr val="FFFFFF"/>
                    </a:solidFill>
                  </a:tcPr>
                </a:tc>
                <a:tc>
                  <a:txBody>
                    <a:bodyPr/>
                    <a:lstStyle/>
                    <a:p>
                      <a:pPr algn="r"/>
                      <a:r>
                        <a:rPr sz="850" b="0">
                          <a:solidFill>
                            <a:srgbClr val="32373E"/>
                          </a:solidFill>
                          <a:latin typeface="Arial"/>
                        </a:rPr>
                        <a:t>$433</a:t>
                      </a:r>
                    </a:p>
                  </a:txBody>
                  <a:tcPr marL="54864" marR="54864" marT="27432" marB="27432">
                    <a:solidFill>
                      <a:srgbClr val="FFFFFF"/>
                    </a:solidFill>
                  </a:tcPr>
                </a:tc>
                <a:tc>
                  <a:txBody>
                    <a:bodyPr/>
                    <a:lstStyle/>
                    <a:p>
                      <a:pPr algn="r"/>
                      <a:r>
                        <a:rPr sz="850" b="0">
                          <a:solidFill>
                            <a:srgbClr val="32373E"/>
                          </a:solidFill>
                          <a:latin typeface="Arial"/>
                        </a:rPr>
                        <a:t>27%</a:t>
                      </a:r>
                    </a:p>
                  </a:txBody>
                  <a:tcPr marL="54864" marR="54864" marT="27432" marB="27432">
                    <a:solidFill>
                      <a:srgbClr val="FFFFFF"/>
                    </a:solidFill>
                  </a:tcPr>
                </a:tc>
              </a:tr>
              <a:tr h="310896">
                <a:tc>
                  <a:txBody>
                    <a:bodyPr/>
                    <a:lstStyle/>
                    <a:p>
                      <a:r>
                        <a:rPr sz="850" b="1">
                          <a:solidFill>
                            <a:srgbClr val="32373E"/>
                          </a:solidFill>
                          <a:latin typeface="Arial"/>
                        </a:rPr>
                        <a:t>TrackB Authority</a:t>
                      </a:r>
                    </a:p>
                  </a:txBody>
                  <a:tcPr marL="54864" marR="54864" marT="27432" marB="27432">
                    <a:solidFill>
                      <a:srgbClr val="F3F3F3"/>
                    </a:solidFill>
                  </a:tcPr>
                </a:tc>
                <a:tc>
                  <a:txBody>
                    <a:bodyPr/>
                    <a:lstStyle/>
                    <a:p>
                      <a:pPr algn="r"/>
                      <a:r>
                        <a:rPr sz="850" b="0">
                          <a:solidFill>
                            <a:srgbClr val="32373E"/>
                          </a:solidFill>
                          <a:latin typeface="Arial"/>
                        </a:rPr>
                        <a:t>$6,826</a:t>
                      </a:r>
                    </a:p>
                  </a:txBody>
                  <a:tcPr marL="54864" marR="54864" marT="27432" marB="27432">
                    <a:solidFill>
                      <a:srgbClr val="F3F3F3"/>
                    </a:solidFill>
                  </a:tcPr>
                </a:tc>
                <a:tc>
                  <a:txBody>
                    <a:bodyPr/>
                    <a:lstStyle/>
                    <a:p>
                      <a:pPr algn="r"/>
                      <a:r>
                        <a:rPr sz="850" b="0">
                          <a:solidFill>
                            <a:srgbClr val="32373E"/>
                          </a:solidFill>
                          <a:latin typeface="Arial"/>
                        </a:rPr>
                        <a:t>3,198</a:t>
                      </a:r>
                    </a:p>
                  </a:txBody>
                  <a:tcPr marL="54864" marR="54864" marT="27432" marB="27432">
                    <a:solidFill>
                      <a:srgbClr val="F3F3F3"/>
                    </a:solidFill>
                  </a:tcPr>
                </a:tc>
                <a:tc>
                  <a:txBody>
                    <a:bodyPr/>
                    <a:lstStyle/>
                    <a:p>
                      <a:pPr algn="r"/>
                      <a:r>
                        <a:rPr sz="850" b="0">
                          <a:solidFill>
                            <a:srgbClr val="32373E"/>
                          </a:solidFill>
                          <a:latin typeface="Arial"/>
                        </a:rPr>
                        <a:t>23</a:t>
                      </a:r>
                    </a:p>
                  </a:txBody>
                  <a:tcPr marL="54864" marR="54864" marT="27432" marB="27432">
                    <a:solidFill>
                      <a:srgbClr val="F3F3F3"/>
                    </a:solidFill>
                  </a:tcPr>
                </a:tc>
                <a:tc>
                  <a:txBody>
                    <a:bodyPr/>
                    <a:lstStyle/>
                    <a:p>
                      <a:pPr algn="r"/>
                      <a:r>
                        <a:rPr sz="850" b="0">
                          <a:solidFill>
                            <a:srgbClr val="32373E"/>
                          </a:solidFill>
                          <a:latin typeface="Arial"/>
                        </a:rPr>
                        <a:t>$297</a:t>
                      </a:r>
                    </a:p>
                  </a:txBody>
                  <a:tcPr marL="54864" marR="54864" marT="27432" marB="27432">
                    <a:solidFill>
                      <a:srgbClr val="F3F3F3"/>
                    </a:solidFill>
                  </a:tcPr>
                </a:tc>
                <a:tc>
                  <a:txBody>
                    <a:bodyPr/>
                    <a:lstStyle/>
                    <a:p>
                      <a:pPr algn="r"/>
                      <a:r>
                        <a:rPr sz="850" b="0">
                          <a:solidFill>
                            <a:srgbClr val="32373E"/>
                          </a:solidFill>
                          <a:latin typeface="Arial"/>
                        </a:rPr>
                        <a:t>24%</a:t>
                      </a:r>
                    </a:p>
                  </a:txBody>
                  <a:tcPr marL="54864" marR="54864" marT="27432" marB="27432">
                    <a:solidFill>
                      <a:srgbClr val="F3F3F3"/>
                    </a:solidFill>
                  </a:tcPr>
                </a:tc>
              </a:tr>
              <a:tr h="310896">
                <a:tc>
                  <a:txBody>
                    <a:bodyPr/>
                    <a:lstStyle/>
                    <a:p>
                      <a:r>
                        <a:rPr sz="850" b="1">
                          <a:solidFill>
                            <a:srgbClr val="32373E"/>
                          </a:solidFill>
                          <a:latin typeface="Arial"/>
                        </a:rPr>
                        <a:t>TrackB Platform</a:t>
                      </a:r>
                    </a:p>
                  </a:txBody>
                  <a:tcPr marL="54864" marR="54864" marT="27432" marB="27432">
                    <a:solidFill>
                      <a:srgbClr val="FFFFFF"/>
                    </a:solidFill>
                  </a:tcPr>
                </a:tc>
                <a:tc>
                  <a:txBody>
                    <a:bodyPr/>
                    <a:lstStyle/>
                    <a:p>
                      <a:pPr algn="r"/>
                      <a:r>
                        <a:rPr sz="850" b="0">
                          <a:solidFill>
                            <a:srgbClr val="32373E"/>
                          </a:solidFill>
                          <a:latin typeface="Arial"/>
                        </a:rPr>
                        <a:t>$4,489</a:t>
                      </a:r>
                    </a:p>
                  </a:txBody>
                  <a:tcPr marL="54864" marR="54864" marT="27432" marB="27432">
                    <a:solidFill>
                      <a:srgbClr val="FFFFFF"/>
                    </a:solidFill>
                  </a:tcPr>
                </a:tc>
                <a:tc>
                  <a:txBody>
                    <a:bodyPr/>
                    <a:lstStyle/>
                    <a:p>
                      <a:pPr algn="r"/>
                      <a:r>
                        <a:rPr sz="850" b="0">
                          <a:solidFill>
                            <a:srgbClr val="32373E"/>
                          </a:solidFill>
                          <a:latin typeface="Arial"/>
                        </a:rPr>
                        <a:t>2,568</a:t>
                      </a:r>
                    </a:p>
                  </a:txBody>
                  <a:tcPr marL="54864" marR="54864" marT="27432" marB="27432">
                    <a:solidFill>
                      <a:srgbClr val="FFFFFF"/>
                    </a:solidFill>
                  </a:tcPr>
                </a:tc>
                <a:tc>
                  <a:txBody>
                    <a:bodyPr/>
                    <a:lstStyle/>
                    <a:p>
                      <a:pPr algn="r"/>
                      <a:r>
                        <a:rPr sz="850" b="0">
                          <a:solidFill>
                            <a:srgbClr val="32373E"/>
                          </a:solidFill>
                          <a:latin typeface="Arial"/>
                        </a:rPr>
                        <a:t>17</a:t>
                      </a:r>
                    </a:p>
                  </a:txBody>
                  <a:tcPr marL="54864" marR="54864" marT="27432" marB="27432">
                    <a:solidFill>
                      <a:srgbClr val="FFFFFF"/>
                    </a:solidFill>
                  </a:tcPr>
                </a:tc>
                <a:tc>
                  <a:txBody>
                    <a:bodyPr/>
                    <a:lstStyle/>
                    <a:p>
                      <a:pPr algn="r"/>
                      <a:r>
                        <a:rPr sz="850" b="0">
                          <a:solidFill>
                            <a:srgbClr val="32373E"/>
                          </a:solidFill>
                          <a:latin typeface="Arial"/>
                        </a:rPr>
                        <a:t>$264</a:t>
                      </a:r>
                    </a:p>
                  </a:txBody>
                  <a:tcPr marL="54864" marR="54864" marT="27432" marB="27432">
                    <a:solidFill>
                      <a:srgbClr val="FFFFFF"/>
                    </a:solidFill>
                  </a:tcPr>
                </a:tc>
                <a:tc>
                  <a:txBody>
                    <a:bodyPr/>
                    <a:lstStyle/>
                    <a:p>
                      <a:pPr algn="r"/>
                      <a:r>
                        <a:rPr sz="850" b="0">
                          <a:solidFill>
                            <a:srgbClr val="32373E"/>
                          </a:solidFill>
                          <a:latin typeface="Arial"/>
                        </a:rPr>
                        <a:t>13%</a:t>
                      </a:r>
                    </a:p>
                  </a:txBody>
                  <a:tcPr marL="54864" marR="54864" marT="27432" marB="27432">
                    <a:solidFill>
                      <a:srgbClr val="FFFFFF"/>
                    </a:solidFill>
                  </a:tcPr>
                </a:tc>
              </a:tr>
              <a:tr h="310896">
                <a:tc>
                  <a:txBody>
                    <a:bodyPr/>
                    <a:lstStyle/>
                    <a:p>
                      <a:r>
                        <a:rPr sz="850" b="1">
                          <a:solidFill>
                            <a:srgbClr val="32373E"/>
                          </a:solidFill>
                          <a:latin typeface="Arial"/>
                        </a:rPr>
                        <a:t>Brand Search</a:t>
                      </a:r>
                    </a:p>
                  </a:txBody>
                  <a:tcPr marL="54864" marR="54864" marT="27432" marB="27432">
                    <a:solidFill>
                      <a:srgbClr val="F3F3F3"/>
                    </a:solidFill>
                  </a:tcPr>
                </a:tc>
                <a:tc>
                  <a:txBody>
                    <a:bodyPr/>
                    <a:lstStyle/>
                    <a:p>
                      <a:pPr algn="r"/>
                      <a:r>
                        <a:rPr sz="850" b="0">
                          <a:solidFill>
                            <a:srgbClr val="32373E"/>
                          </a:solidFill>
                          <a:latin typeface="Arial"/>
                        </a:rPr>
                        <a:t>$3,413</a:t>
                      </a:r>
                    </a:p>
                  </a:txBody>
                  <a:tcPr marL="54864" marR="54864" marT="27432" marB="27432">
                    <a:solidFill>
                      <a:srgbClr val="F3F3F3"/>
                    </a:solidFill>
                  </a:tcPr>
                </a:tc>
                <a:tc>
                  <a:txBody>
                    <a:bodyPr/>
                    <a:lstStyle/>
                    <a:p>
                      <a:pPr algn="r"/>
                      <a:r>
                        <a:rPr sz="850" b="0">
                          <a:solidFill>
                            <a:srgbClr val="32373E"/>
                          </a:solidFill>
                          <a:latin typeface="Arial"/>
                        </a:rPr>
                        <a:t>1,410</a:t>
                      </a:r>
                    </a:p>
                  </a:txBody>
                  <a:tcPr marL="54864" marR="54864" marT="27432" marB="27432">
                    <a:solidFill>
                      <a:srgbClr val="F3F3F3"/>
                    </a:solidFill>
                  </a:tcPr>
                </a:tc>
                <a:tc>
                  <a:txBody>
                    <a:bodyPr/>
                    <a:lstStyle/>
                    <a:p>
                      <a:pPr algn="r"/>
                      <a:r>
                        <a:rPr sz="850" b="0">
                          <a:solidFill>
                            <a:srgbClr val="32373E"/>
                          </a:solidFill>
                          <a:latin typeface="Arial"/>
                        </a:rPr>
                        <a:t>9</a:t>
                      </a:r>
                    </a:p>
                  </a:txBody>
                  <a:tcPr marL="54864" marR="54864" marT="27432" marB="27432">
                    <a:solidFill>
                      <a:srgbClr val="F3F3F3"/>
                    </a:solidFill>
                  </a:tcPr>
                </a:tc>
                <a:tc>
                  <a:txBody>
                    <a:bodyPr/>
                    <a:lstStyle/>
                    <a:p>
                      <a:pPr algn="r"/>
                      <a:r>
                        <a:rPr sz="850" b="0">
                          <a:solidFill>
                            <a:srgbClr val="32373E"/>
                          </a:solidFill>
                          <a:latin typeface="Arial"/>
                        </a:rPr>
                        <a:t>$379</a:t>
                      </a:r>
                    </a:p>
                  </a:txBody>
                  <a:tcPr marL="54864" marR="54864" marT="27432" marB="27432">
                    <a:solidFill>
                      <a:srgbClr val="F3F3F3"/>
                    </a:solidFill>
                  </a:tcPr>
                </a:tc>
                <a:tc>
                  <a:txBody>
                    <a:bodyPr/>
                    <a:lstStyle/>
                    <a:p>
                      <a:pPr algn="r"/>
                      <a:r>
                        <a:rPr sz="850" b="0">
                          <a:solidFill>
                            <a:srgbClr val="32373E"/>
                          </a:solidFill>
                          <a:latin typeface="Arial"/>
                        </a:rPr>
                        <a:t>11%</a:t>
                      </a:r>
                    </a:p>
                  </a:txBody>
                  <a:tcPr marL="54864" marR="54864" marT="27432" marB="27432">
                    <a:solidFill>
                      <a:srgbClr val="F3F3F3"/>
                    </a:solidFill>
                  </a:tcPr>
                </a:tc>
              </a:tr>
            </a:tbl>
          </a:graphicData>
        </a:graphic>
      </p:graphicFrame>
      <p:sp>
        <p:nvSpPr>
          <p:cNvPr id="42" name="Rectangle 41"/>
          <p:cNvSpPr/>
          <p:nvPr/>
        </p:nvSpPr>
        <p:spPr>
          <a:xfrm>
            <a:off x="7680960" y="3063240"/>
            <a:ext cx="4023360" cy="3246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680960" y="3063240"/>
            <a:ext cx="402336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0" y="3246120"/>
            <a:ext cx="3657600" cy="274320"/>
          </a:xfrm>
          <a:prstGeom prst="rect">
            <a:avLst/>
          </a:prstGeom>
          <a:noFill/>
        </p:spPr>
        <p:txBody>
          <a:bodyPr wrap="square" anchor="t" lIns="0" rIns="0" tIns="0" bIns="0">
            <a:spAutoFit/>
          </a:bodyPr>
          <a:lstStyle/>
          <a:p>
            <a:pPr algn="l"/>
            <a:r>
              <a:rPr sz="1000" b="1">
                <a:solidFill>
                  <a:srgbClr val="27AE60"/>
                </a:solidFill>
                <a:latin typeface="Arial"/>
              </a:rPr>
              <a:t>HIGHLIGHTS</a:t>
            </a:r>
          </a:p>
        </p:txBody>
      </p:sp>
      <p:sp>
        <p:nvSpPr>
          <p:cNvPr id="45" name="TextBox 44"/>
          <p:cNvSpPr txBox="1"/>
          <p:nvPr/>
        </p:nvSpPr>
        <p:spPr>
          <a:xfrm>
            <a:off x="7863840" y="3566160"/>
            <a:ext cx="3657600" cy="2560320"/>
          </a:xfrm>
          <a:prstGeom prst="rect">
            <a:avLst/>
          </a:prstGeom>
          <a:noFill/>
        </p:spPr>
        <p:txBody>
          <a:bodyPr wrap="square" anchor="t" lIns="0" rIns="0" tIns="0" bIns="0">
            <a:spAutoFit/>
          </a:bodyPr>
          <a:lstStyle/>
          <a:p>
            <a:pPr algn="l"/>
            <a:r>
              <a:rPr sz="950" b="0">
                <a:solidFill>
                  <a:srgbClr val="32373E"/>
                </a:solidFill>
                <a:latin typeface="Arial"/>
              </a:rPr>
              <a:t>All 67 conversions are submitted applications (Step 5 goal, definition unchanged from May).</a:t>
            </a:r>
          </a:p>
          <a:p>
            <a:pPr algn="l">
              <a:spcBef>
                <a:spcPts val="600"/>
              </a:spcBef>
            </a:pPr>
            <a:r>
              <a:rPr sz="950" b="0">
                <a:solidFill>
                  <a:srgbClr val="32373E"/>
                </a:solidFill>
                <a:latin typeface="Arial"/>
              </a:rPr>
              <a:t>TrackB stayed the efficiency core: Platform $264 and Authority $297. TrackA Trust converted at $433.</a:t>
            </a:r>
          </a:p>
          <a:p>
            <a:pPr algn="l">
              <a:spcBef>
                <a:spcPts val="600"/>
              </a:spcBef>
            </a:pPr>
            <a:r>
              <a:rPr sz="950" b="0">
                <a:solidFill>
                  <a:srgbClr val="32373E"/>
                </a:solidFill>
                <a:latin typeface="Arial"/>
              </a:rPr>
              <a:t>Spend rose 48% but applications fell 12%, because extra budget at current ad rank bought worse auctions, not more volume.</a:t>
            </a:r>
          </a:p>
        </p:txBody>
      </p:sp>
      <p:sp>
        <p:nvSpPr>
          <p:cNvPr id="46" name="TextBox 45"/>
          <p:cNvSpPr txBox="1"/>
          <p:nvPr/>
        </p:nvSpPr>
        <p:spPr>
          <a:xfrm>
            <a:off x="457200" y="5074920"/>
            <a:ext cx="6949440" cy="1188720"/>
          </a:xfrm>
          <a:prstGeom prst="rect">
            <a:avLst/>
          </a:prstGeom>
          <a:noFill/>
        </p:spPr>
        <p:txBody>
          <a:bodyPr wrap="square" anchor="t" lIns="0" rIns="0" tIns="0" bIns="0">
            <a:spAutoFit/>
          </a:bodyPr>
          <a:lstStyle/>
          <a:p>
            <a:pPr algn="l"/>
            <a:r>
              <a:rPr sz="950" b="0">
                <a:solidFill>
                  <a:srgbClr val="32373E"/>
                </a:solidFill>
                <a:latin typeface="Arial"/>
              </a:rPr>
              <a:t>Impression share tells the story: campaigns lose 64-76% of available impressions to ad rank and only 9-13% to budget. Brand holds just 11% of its own auctions. The account has a large runway that budget alone cannot buy.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GOOGLE ADS  ·  READ &amp; RECOMMENDATIONS</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Earn rank first. Then scale.</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10 / 15</a:t>
            </a:r>
          </a:p>
        </p:txBody>
      </p:sp>
      <p:sp>
        <p:nvSpPr>
          <p:cNvPr id="10" name="Rectangle 9"/>
          <p:cNvSpPr/>
          <p:nvPr/>
        </p:nvSpPr>
        <p:spPr>
          <a:xfrm>
            <a:off x="457200" y="1737360"/>
            <a:ext cx="5577840" cy="46634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557784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5212079" cy="274320"/>
          </a:xfrm>
          <a:prstGeom prst="rect">
            <a:avLst/>
          </a:prstGeom>
          <a:noFill/>
        </p:spPr>
        <p:txBody>
          <a:bodyPr wrap="square" anchor="t" lIns="0" rIns="0" tIns="0" bIns="0">
            <a:spAutoFit/>
          </a:bodyPr>
          <a:lstStyle/>
          <a:p>
            <a:pPr algn="l"/>
            <a:r>
              <a:rPr sz="1000" b="1">
                <a:solidFill>
                  <a:srgbClr val="3B5998"/>
                </a:solidFill>
                <a:latin typeface="Arial"/>
              </a:rPr>
              <a:t>WHAT THE DATA SHOWS</a:t>
            </a:r>
          </a:p>
        </p:txBody>
      </p:sp>
      <p:sp>
        <p:nvSpPr>
          <p:cNvPr id="13" name="TextBox 12"/>
          <p:cNvSpPr txBox="1"/>
          <p:nvPr/>
        </p:nvSpPr>
        <p:spPr>
          <a:xfrm>
            <a:off x="640080" y="2240280"/>
            <a:ext cx="5212079" cy="3977639"/>
          </a:xfrm>
          <a:prstGeom prst="rect">
            <a:avLst/>
          </a:prstGeom>
          <a:noFill/>
        </p:spPr>
        <p:txBody>
          <a:bodyPr wrap="square" anchor="t" lIns="0" rIns="0" tIns="0" bIns="0">
            <a:spAutoFit/>
          </a:bodyPr>
          <a:lstStyle/>
          <a:p>
            <a:pPr algn="l"/>
            <a:r>
              <a:rPr sz="950" b="0">
                <a:solidFill>
                  <a:srgbClr val="32373E"/>
                </a:solidFill>
                <a:latin typeface="Arial"/>
              </a:rPr>
              <a:t>May was the efficiency peak: 76 applications at $200 with even weekly pacing. June added 48% more budget and got 12% fewer applications at $336.</a:t>
            </a:r>
          </a:p>
          <a:p>
            <a:pPr algn="l">
              <a:spcBef>
                <a:spcPts val="600"/>
              </a:spcBef>
            </a:pPr>
            <a:r>
              <a:rPr sz="950" b="0">
                <a:solidFill>
                  <a:srgbClr val="32373E"/>
                </a:solidFill>
                <a:latin typeface="Arial"/>
              </a:rPr>
              <a:t>The auction data isolates the cause: lost impression share is rank-driven everywhere (64-76%), not budget-driven (9-13%). The account cannot buy its way past ad rank at current bids, quality, and ad strength.</a:t>
            </a:r>
          </a:p>
          <a:p>
            <a:pPr algn="l">
              <a:spcBef>
                <a:spcPts val="600"/>
              </a:spcBef>
            </a:pPr>
            <a:r>
              <a:rPr sz="950" b="0">
                <a:solidFill>
                  <a:srgbClr val="32373E"/>
                </a:solidFill>
                <a:latin typeface="Arial"/>
              </a:rPr>
              <a:t>TrackB remains the proven converter set ($264-$297); Brand at 11% impression share is under-defended.</a:t>
            </a:r>
          </a:p>
        </p:txBody>
      </p:sp>
      <p:sp>
        <p:nvSpPr>
          <p:cNvPr id="14" name="Rectangle 13"/>
          <p:cNvSpPr/>
          <p:nvPr/>
        </p:nvSpPr>
        <p:spPr>
          <a:xfrm>
            <a:off x="6309360" y="1737360"/>
            <a:ext cx="5394960" cy="46634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539496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920240"/>
            <a:ext cx="5029200" cy="274320"/>
          </a:xfrm>
          <a:prstGeom prst="rect">
            <a:avLst/>
          </a:prstGeom>
          <a:noFill/>
        </p:spPr>
        <p:txBody>
          <a:bodyPr wrap="square" anchor="t" lIns="0" rIns="0" tIns="0" bIns="0">
            <a:spAutoFit/>
          </a:bodyPr>
          <a:lstStyle/>
          <a:p>
            <a:pPr algn="l"/>
            <a:r>
              <a:rPr sz="1000" b="1">
                <a:solidFill>
                  <a:srgbClr val="27AE60"/>
                </a:solidFill>
                <a:latin typeface="Arial"/>
              </a:rPr>
              <a:t>WHAT WE RECOMMEND</a:t>
            </a:r>
          </a:p>
        </p:txBody>
      </p:sp>
      <p:sp>
        <p:nvSpPr>
          <p:cNvPr id="17" name="TextBox 16"/>
          <p:cNvSpPr txBox="1"/>
          <p:nvPr/>
        </p:nvSpPr>
        <p:spPr>
          <a:xfrm>
            <a:off x="6492240" y="2240280"/>
            <a:ext cx="5029200" cy="3977639"/>
          </a:xfrm>
          <a:prstGeom prst="rect">
            <a:avLst/>
          </a:prstGeom>
          <a:noFill/>
        </p:spPr>
        <p:txBody>
          <a:bodyPr wrap="square" anchor="t" lIns="0" rIns="0" tIns="0" bIns="0">
            <a:spAutoFit/>
          </a:bodyPr>
          <a:lstStyle/>
          <a:p>
            <a:pPr algn="l"/>
            <a:r>
              <a:rPr sz="950" b="0">
                <a:solidFill>
                  <a:srgbClr val="32373E"/>
                </a:solidFill>
                <a:latin typeface="Arial"/>
              </a:rPr>
              <a:t>Run the ad-rank program before adding budget: bid up the proven TrackB terms, refresh RSAs to lift ad strength, and rebuild quality score on the Trust track.</a:t>
            </a:r>
          </a:p>
          <a:p>
            <a:pPr algn="l">
              <a:spcBef>
                <a:spcPts val="600"/>
              </a:spcBef>
            </a:pPr>
            <a:r>
              <a:rPr sz="950" b="0">
                <a:solidFill>
                  <a:srgbClr val="32373E"/>
                </a:solidFill>
                <a:latin typeface="Arial"/>
              </a:rPr>
              <a:t>Defend Brand: 11% impression share on brand terms leaves the highest-intent auctions to competitors.</a:t>
            </a:r>
          </a:p>
          <a:p>
            <a:pPr algn="l">
              <a:spcBef>
                <a:spcPts val="600"/>
              </a:spcBef>
            </a:pPr>
            <a:r>
              <a:rPr sz="950" b="0">
                <a:solidFill>
                  <a:srgbClr val="32373E"/>
                </a:solidFill>
                <a:latin typeface="Arial"/>
              </a:rPr>
              <a:t>Hold June budget levels while rank recovers, then scale into the impression share the rank work opens.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META  ·  PERFORMANCE</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Scaled 2.5x with clean delivery. Ready for the conversion objective.</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11 / 15</a:t>
            </a:r>
          </a:p>
        </p:txBody>
      </p:sp>
      <p:sp>
        <p:nvSpPr>
          <p:cNvPr id="10" name="Rectangle 9"/>
          <p:cNvSpPr/>
          <p:nvPr/>
        </p:nvSpPr>
        <p:spPr>
          <a:xfrm>
            <a:off x="4572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SPEND</a:t>
            </a:r>
          </a:p>
        </p:txBody>
      </p:sp>
      <p:sp>
        <p:nvSpPr>
          <p:cNvPr id="13" name="TextBox 12"/>
          <p:cNvSpPr txBox="1"/>
          <p:nvPr/>
        </p:nvSpPr>
        <p:spPr>
          <a:xfrm>
            <a:off x="6400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$30,711</a:t>
            </a:r>
          </a:p>
        </p:txBody>
      </p:sp>
      <p:sp>
        <p:nvSpPr>
          <p:cNvPr id="14" name="TextBox 13"/>
          <p:cNvSpPr txBox="1"/>
          <p:nvPr/>
        </p:nvSpPr>
        <p:spPr>
          <a:xfrm>
            <a:off x="6400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+151% MoM</a:t>
            </a:r>
          </a:p>
        </p:txBody>
      </p:sp>
      <p:sp>
        <p:nvSpPr>
          <p:cNvPr id="15" name="Rectangle 14"/>
          <p:cNvSpPr/>
          <p:nvPr/>
        </p:nvSpPr>
        <p:spPr>
          <a:xfrm>
            <a:off x="22860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860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688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IMPRESSIONS</a:t>
            </a:r>
          </a:p>
        </p:txBody>
      </p:sp>
      <p:sp>
        <p:nvSpPr>
          <p:cNvPr id="18" name="TextBox 17"/>
          <p:cNvSpPr txBox="1"/>
          <p:nvPr/>
        </p:nvSpPr>
        <p:spPr>
          <a:xfrm>
            <a:off x="24688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3.06M</a:t>
            </a:r>
          </a:p>
        </p:txBody>
      </p:sp>
      <p:sp>
        <p:nvSpPr>
          <p:cNvPr id="19" name="TextBox 18"/>
          <p:cNvSpPr txBox="1"/>
          <p:nvPr/>
        </p:nvSpPr>
        <p:spPr>
          <a:xfrm>
            <a:off x="24688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CPM $10.04</a:t>
            </a:r>
          </a:p>
        </p:txBody>
      </p:sp>
      <p:sp>
        <p:nvSpPr>
          <p:cNvPr id="20" name="Rectangle 19"/>
          <p:cNvSpPr/>
          <p:nvPr/>
        </p:nvSpPr>
        <p:spPr>
          <a:xfrm>
            <a:off x="41148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REACH</a:t>
            </a:r>
          </a:p>
        </p:txBody>
      </p:sp>
      <p:sp>
        <p:nvSpPr>
          <p:cNvPr id="23" name="TextBox 22"/>
          <p:cNvSpPr txBox="1"/>
          <p:nvPr/>
        </p:nvSpPr>
        <p:spPr>
          <a:xfrm>
            <a:off x="42976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1.53M</a:t>
            </a:r>
          </a:p>
        </p:txBody>
      </p:sp>
      <p:sp>
        <p:nvSpPr>
          <p:cNvPr id="24" name="TextBox 23"/>
          <p:cNvSpPr txBox="1"/>
          <p:nvPr/>
        </p:nvSpPr>
        <p:spPr>
          <a:xfrm>
            <a:off x="42976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freq 2.0</a:t>
            </a:r>
          </a:p>
        </p:txBody>
      </p:sp>
      <p:sp>
        <p:nvSpPr>
          <p:cNvPr id="25" name="Rectangle 24"/>
          <p:cNvSpPr/>
          <p:nvPr/>
        </p:nvSpPr>
        <p:spPr>
          <a:xfrm>
            <a:off x="59436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LINK CLICKS</a:t>
            </a:r>
          </a:p>
        </p:txBody>
      </p:sp>
      <p:sp>
        <p:nvSpPr>
          <p:cNvPr id="28" name="TextBox 27"/>
          <p:cNvSpPr txBox="1"/>
          <p:nvPr/>
        </p:nvSpPr>
        <p:spPr>
          <a:xfrm>
            <a:off x="61264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74,572</a:t>
            </a:r>
          </a:p>
        </p:txBody>
      </p:sp>
      <p:sp>
        <p:nvSpPr>
          <p:cNvPr id="29" name="TextBox 28"/>
          <p:cNvSpPr txBox="1"/>
          <p:nvPr/>
        </p:nvSpPr>
        <p:spPr>
          <a:xfrm>
            <a:off x="61264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CTR 2.44%</a:t>
            </a:r>
          </a:p>
        </p:txBody>
      </p:sp>
      <p:sp>
        <p:nvSpPr>
          <p:cNvPr id="30" name="Rectangle 29"/>
          <p:cNvSpPr/>
          <p:nvPr/>
        </p:nvSpPr>
        <p:spPr>
          <a:xfrm>
            <a:off x="77724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79" y="1783080"/>
            <a:ext cx="1463039" cy="274320"/>
          </a:xfrm>
          <a:prstGeom prst="rect">
            <a:avLst/>
          </a:prstGeom>
          <a:noFill/>
        </p:spPr>
        <p:txBody>
          <a:bodyPr wrap="square" anchor="t" lIns="0" rIns="0" tIns="0" bIns="0">
            <a:spAutoFit/>
          </a:bodyPr>
          <a:lstStyle/>
          <a:p>
            <a:pPr algn="l"/>
            <a:r>
              <a:rPr sz="800" b="1">
                <a:solidFill>
                  <a:srgbClr val="78828C"/>
                </a:solidFill>
                <a:latin typeface="Arial"/>
              </a:rPr>
              <a:t>LP VIEWS</a:t>
            </a:r>
          </a:p>
        </p:txBody>
      </p:sp>
      <p:sp>
        <p:nvSpPr>
          <p:cNvPr id="33" name="TextBox 32"/>
          <p:cNvSpPr txBox="1"/>
          <p:nvPr/>
        </p:nvSpPr>
        <p:spPr>
          <a:xfrm>
            <a:off x="7955279" y="2029967"/>
            <a:ext cx="1463039" cy="457200"/>
          </a:xfrm>
          <a:prstGeom prst="rect">
            <a:avLst/>
          </a:prstGeom>
          <a:noFill/>
        </p:spPr>
        <p:txBody>
          <a:bodyPr wrap="square" anchor="t" lIns="0" rIns="0" tIns="0" bIns="0">
            <a:spAutoFit/>
          </a:bodyPr>
          <a:lstStyle/>
          <a:p>
            <a:pPr algn="l"/>
            <a:r>
              <a:rPr sz="1500" b="1">
                <a:solidFill>
                  <a:srgbClr val="1A2A3A"/>
                </a:solidFill>
                <a:latin typeface="Arial"/>
              </a:rPr>
              <a:t>52,639</a:t>
            </a:r>
          </a:p>
        </p:txBody>
      </p:sp>
      <p:sp>
        <p:nvSpPr>
          <p:cNvPr id="34" name="TextBox 33"/>
          <p:cNvSpPr txBox="1"/>
          <p:nvPr/>
        </p:nvSpPr>
        <p:spPr>
          <a:xfrm>
            <a:off x="7955279" y="2487168"/>
            <a:ext cx="1463039" cy="219456"/>
          </a:xfrm>
          <a:prstGeom prst="rect">
            <a:avLst/>
          </a:prstGeom>
          <a:noFill/>
        </p:spPr>
        <p:txBody>
          <a:bodyPr wrap="square" anchor="t" lIns="0" rIns="0" tIns="0" bIns="0">
            <a:spAutoFit/>
          </a:bodyPr>
          <a:lstStyle/>
          <a:p>
            <a:pPr algn="l"/>
            <a:r>
              <a:rPr sz="800" b="0">
                <a:solidFill>
                  <a:srgbClr val="5A5A5A"/>
                </a:solidFill>
                <a:latin typeface="Arial"/>
              </a:rPr>
              <a:t>70.6% of clicks</a:t>
            </a:r>
          </a:p>
        </p:txBody>
      </p:sp>
      <p:sp>
        <p:nvSpPr>
          <p:cNvPr id="35" name="Rectangle 34"/>
          <p:cNvSpPr/>
          <p:nvPr/>
        </p:nvSpPr>
        <p:spPr>
          <a:xfrm>
            <a:off x="96012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601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PIXEL EVENTS</a:t>
            </a:r>
          </a:p>
        </p:txBody>
      </p:sp>
      <p:sp>
        <p:nvSpPr>
          <p:cNvPr id="38" name="TextBox 37"/>
          <p:cNvSpPr txBox="1"/>
          <p:nvPr/>
        </p:nvSpPr>
        <p:spPr>
          <a:xfrm>
            <a:off x="97840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136</a:t>
            </a:r>
          </a:p>
        </p:txBody>
      </p:sp>
      <p:sp>
        <p:nvSpPr>
          <p:cNvPr id="39" name="TextBox 38"/>
          <p:cNvSpPr txBox="1"/>
          <p:nvPr/>
        </p:nvSpPr>
        <p:spPr>
          <a:xfrm>
            <a:off x="97840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starts rollup</a:t>
            </a:r>
          </a:p>
        </p:txBody>
      </p:sp>
      <p:sp>
        <p:nvSpPr>
          <p:cNvPr id="40" name="TextBox 39"/>
          <p:cNvSpPr txBox="1"/>
          <p:nvPr/>
        </p:nvSpPr>
        <p:spPr>
          <a:xfrm>
            <a:off x="457200" y="3063240"/>
            <a:ext cx="5486400" cy="274320"/>
          </a:xfrm>
          <a:prstGeom prst="rect">
            <a:avLst/>
          </a:prstGeom>
          <a:noFill/>
        </p:spPr>
        <p:txBody>
          <a:bodyPr wrap="square" anchor="t" lIns="0" rIns="0" tIns="0" bIns="0">
            <a:spAutoFit/>
          </a:bodyPr>
          <a:lstStyle/>
          <a:p>
            <a:pPr algn="l"/>
            <a:r>
              <a:rPr sz="1100" b="1">
                <a:solidFill>
                  <a:srgbClr val="1A2A3A"/>
                </a:solidFill>
                <a:latin typeface="Arial"/>
              </a:rPr>
              <a:t>Ad Sets</a:t>
            </a:r>
          </a:p>
        </p:txBody>
      </p:sp>
      <p:graphicFrame>
        <p:nvGraphicFramePr>
          <p:cNvPr id="41" name="Table 40"/>
          <p:cNvGraphicFramePr>
            <a:graphicFrameLocks noGrp="1"/>
          </p:cNvGraphicFramePr>
          <p:nvPr/>
        </p:nvGraphicFramePr>
        <p:xfrm>
          <a:off x="457200" y="3337560"/>
          <a:ext cx="6126480" cy="1280160"/>
        </p:xfrm>
        <a:graphic>
          <a:graphicData uri="http://schemas.openxmlformats.org/drawingml/2006/table">
            <a:tbl>
              <a:tblPr>
                <a:tableStyleId>{5C22544A-7EE6-4342-B048-85BDC9FD1C3A}</a:tableStyleId>
              </a:tblPr>
              <a:tblGrid>
                <a:gridCol w="2011680"/>
                <a:gridCol w="1005840"/>
                <a:gridCol w="1097280"/>
                <a:gridCol w="914400"/>
                <a:gridCol w="1097280"/>
              </a:tblGrid>
              <a:tr h="426720">
                <a:tc>
                  <a:txBody>
                    <a:bodyPr/>
                    <a:lstStyle/>
                    <a:p>
                      <a:r>
                        <a:rPr sz="850" b="1">
                          <a:solidFill>
                            <a:srgbClr val="FFFFFF"/>
                          </a:solidFill>
                          <a:latin typeface="Arial"/>
                        </a:rPr>
                        <a:t>Ad set</a:t>
                      </a:r>
                    </a:p>
                  </a:txBody>
                  <a:tcPr marL="54864" marR="54864" marT="27432" marB="27432">
                    <a:solidFill>
                      <a:srgbClr val="3B5998"/>
                    </a:solidFill>
                  </a:tcPr>
                </a:tc>
                <a:tc>
                  <a:txBody>
                    <a:bodyPr/>
                    <a:lstStyle/>
                    <a:p>
                      <a:pPr algn="r"/>
                      <a:r>
                        <a:rPr sz="850" b="1">
                          <a:solidFill>
                            <a:srgbClr val="FFFFFF"/>
                          </a:solidFill>
                          <a:latin typeface="Arial"/>
                        </a:rPr>
                        <a:t>Spend</a:t>
                      </a:r>
                    </a:p>
                  </a:txBody>
                  <a:tcPr marL="54864" marR="54864" marT="27432" marB="27432">
                    <a:solidFill>
                      <a:srgbClr val="3B5998"/>
                    </a:solidFill>
                  </a:tcPr>
                </a:tc>
                <a:tc>
                  <a:txBody>
                    <a:bodyPr/>
                    <a:lstStyle/>
                    <a:p>
                      <a:pPr algn="r"/>
                      <a:r>
                        <a:rPr sz="850" b="1">
                          <a:solidFill>
                            <a:srgbClr val="FFFFFF"/>
                          </a:solidFill>
                          <a:latin typeface="Arial"/>
                        </a:rPr>
                        <a:t>Link clicks</a:t>
                      </a:r>
                    </a:p>
                  </a:txBody>
                  <a:tcPr marL="54864" marR="54864" marT="27432" marB="27432">
                    <a:solidFill>
                      <a:srgbClr val="3B5998"/>
                    </a:solidFill>
                  </a:tcPr>
                </a:tc>
                <a:tc>
                  <a:txBody>
                    <a:bodyPr/>
                    <a:lstStyle/>
                    <a:p>
                      <a:pPr algn="r"/>
                      <a:r>
                        <a:rPr sz="850" b="1">
                          <a:solidFill>
                            <a:srgbClr val="FFFFFF"/>
                          </a:solidFill>
                          <a:latin typeface="Arial"/>
                        </a:rPr>
                        <a:t>LPV</a:t>
                      </a:r>
                    </a:p>
                  </a:txBody>
                  <a:tcPr marL="54864" marR="54864" marT="27432" marB="27432">
                    <a:solidFill>
                      <a:srgbClr val="3B5998"/>
                    </a:solidFill>
                  </a:tcPr>
                </a:tc>
                <a:tc>
                  <a:txBody>
                    <a:bodyPr/>
                    <a:lstStyle/>
                    <a:p>
                      <a:pPr algn="r"/>
                      <a:r>
                        <a:rPr sz="850" b="1">
                          <a:solidFill>
                            <a:srgbClr val="FFFFFF"/>
                          </a:solidFill>
                          <a:latin typeface="Arial"/>
                        </a:rPr>
                        <a:t>Pixel events</a:t>
                      </a:r>
                    </a:p>
                  </a:txBody>
                  <a:tcPr marL="54864" marR="54864" marT="27432" marB="27432">
                    <a:solidFill>
                      <a:srgbClr val="3B5998"/>
                    </a:solidFill>
                  </a:tcPr>
                </a:tc>
              </a:tr>
              <a:tr h="426720">
                <a:tc>
                  <a:txBody>
                    <a:bodyPr/>
                    <a:lstStyle/>
                    <a:p>
                      <a:r>
                        <a:rPr sz="850" b="1">
                          <a:solidFill>
                            <a:srgbClr val="32373E"/>
                          </a:solidFill>
                          <a:latin typeface="Arial"/>
                        </a:rPr>
                        <a:t>trackA_pros_us_es</a:t>
                      </a:r>
                    </a:p>
                  </a:txBody>
                  <a:tcPr marL="54864" marR="54864" marT="27432" marB="27432">
                    <a:solidFill>
                      <a:srgbClr val="FFFFFF"/>
                    </a:solidFill>
                  </a:tcPr>
                </a:tc>
                <a:tc>
                  <a:txBody>
                    <a:bodyPr/>
                    <a:lstStyle/>
                    <a:p>
                      <a:pPr algn="r"/>
                      <a:r>
                        <a:rPr sz="850" b="0">
                          <a:solidFill>
                            <a:srgbClr val="32373E"/>
                          </a:solidFill>
                          <a:latin typeface="Arial"/>
                        </a:rPr>
                        <a:t>$16,924</a:t>
                      </a:r>
                    </a:p>
                  </a:txBody>
                  <a:tcPr marL="54864" marR="54864" marT="27432" marB="27432">
                    <a:solidFill>
                      <a:srgbClr val="FFFFFF"/>
                    </a:solidFill>
                  </a:tcPr>
                </a:tc>
                <a:tc>
                  <a:txBody>
                    <a:bodyPr/>
                    <a:lstStyle/>
                    <a:p>
                      <a:pPr algn="r"/>
                      <a:r>
                        <a:rPr sz="850" b="0">
                          <a:solidFill>
                            <a:srgbClr val="32373E"/>
                          </a:solidFill>
                          <a:latin typeface="Arial"/>
                        </a:rPr>
                        <a:t>35,710</a:t>
                      </a:r>
                    </a:p>
                  </a:txBody>
                  <a:tcPr marL="54864" marR="54864" marT="27432" marB="27432">
                    <a:solidFill>
                      <a:srgbClr val="FFFFFF"/>
                    </a:solidFill>
                  </a:tcPr>
                </a:tc>
                <a:tc>
                  <a:txBody>
                    <a:bodyPr/>
                    <a:lstStyle/>
                    <a:p>
                      <a:pPr algn="r"/>
                      <a:r>
                        <a:rPr sz="850" b="0">
                          <a:solidFill>
                            <a:srgbClr val="32373E"/>
                          </a:solidFill>
                          <a:latin typeface="Arial"/>
                        </a:rPr>
                        <a:t>25,078</a:t>
                      </a:r>
                    </a:p>
                  </a:txBody>
                  <a:tcPr marL="54864" marR="54864" marT="27432" marB="27432">
                    <a:solidFill>
                      <a:srgbClr val="FFFFFF"/>
                    </a:solidFill>
                  </a:tcPr>
                </a:tc>
                <a:tc>
                  <a:txBody>
                    <a:bodyPr/>
                    <a:lstStyle/>
                    <a:p>
                      <a:pPr algn="r"/>
                      <a:r>
                        <a:rPr sz="850" b="0">
                          <a:solidFill>
                            <a:srgbClr val="32373E"/>
                          </a:solidFill>
                          <a:latin typeface="Arial"/>
                        </a:rPr>
                        <a:t>84</a:t>
                      </a:r>
                    </a:p>
                  </a:txBody>
                  <a:tcPr marL="54864" marR="54864" marT="27432" marB="27432">
                    <a:solidFill>
                      <a:srgbClr val="FFFFFF"/>
                    </a:solidFill>
                  </a:tcPr>
                </a:tc>
              </a:tr>
              <a:tr h="426720">
                <a:tc>
                  <a:txBody>
                    <a:bodyPr/>
                    <a:lstStyle/>
                    <a:p>
                      <a:r>
                        <a:rPr sz="850" b="1">
                          <a:solidFill>
                            <a:srgbClr val="32373E"/>
                          </a:solidFill>
                          <a:latin typeface="Arial"/>
                        </a:rPr>
                        <a:t>trackB_pros_us_es</a:t>
                      </a:r>
                    </a:p>
                  </a:txBody>
                  <a:tcPr marL="54864" marR="54864" marT="27432" marB="27432">
                    <a:solidFill>
                      <a:srgbClr val="F3F3F3"/>
                    </a:solidFill>
                  </a:tcPr>
                </a:tc>
                <a:tc>
                  <a:txBody>
                    <a:bodyPr/>
                    <a:lstStyle/>
                    <a:p>
                      <a:pPr algn="r"/>
                      <a:r>
                        <a:rPr sz="850" b="0">
                          <a:solidFill>
                            <a:srgbClr val="32373E"/>
                          </a:solidFill>
                          <a:latin typeface="Arial"/>
                        </a:rPr>
                        <a:t>$17,787</a:t>
                      </a:r>
                    </a:p>
                  </a:txBody>
                  <a:tcPr marL="54864" marR="54864" marT="27432" marB="27432">
                    <a:solidFill>
                      <a:srgbClr val="F3F3F3"/>
                    </a:solidFill>
                  </a:tcPr>
                </a:tc>
                <a:tc>
                  <a:txBody>
                    <a:bodyPr/>
                    <a:lstStyle/>
                    <a:p>
                      <a:pPr algn="r"/>
                      <a:r>
                        <a:rPr sz="850" b="0">
                          <a:solidFill>
                            <a:srgbClr val="32373E"/>
                          </a:solidFill>
                          <a:latin typeface="Arial"/>
                        </a:rPr>
                        <a:t>38,862</a:t>
                      </a:r>
                    </a:p>
                  </a:txBody>
                  <a:tcPr marL="54864" marR="54864" marT="27432" marB="27432">
                    <a:solidFill>
                      <a:srgbClr val="F3F3F3"/>
                    </a:solidFill>
                  </a:tcPr>
                </a:tc>
                <a:tc>
                  <a:txBody>
                    <a:bodyPr/>
                    <a:lstStyle/>
                    <a:p>
                      <a:pPr algn="r"/>
                      <a:r>
                        <a:rPr sz="850" b="0">
                          <a:solidFill>
                            <a:srgbClr val="32373E"/>
                          </a:solidFill>
                          <a:latin typeface="Arial"/>
                        </a:rPr>
                        <a:t>27,561</a:t>
                      </a:r>
                    </a:p>
                  </a:txBody>
                  <a:tcPr marL="54864" marR="54864" marT="27432" marB="27432">
                    <a:solidFill>
                      <a:srgbClr val="F3F3F3"/>
                    </a:solidFill>
                  </a:tcPr>
                </a:tc>
                <a:tc>
                  <a:txBody>
                    <a:bodyPr/>
                    <a:lstStyle/>
                    <a:p>
                      <a:pPr algn="r"/>
                      <a:r>
                        <a:rPr sz="850" b="0">
                          <a:solidFill>
                            <a:srgbClr val="32373E"/>
                          </a:solidFill>
                          <a:latin typeface="Arial"/>
                        </a:rPr>
                        <a:t>52</a:t>
                      </a:r>
                    </a:p>
                  </a:txBody>
                  <a:tcPr marL="54864" marR="54864" marT="27432" marB="27432">
                    <a:solidFill>
                      <a:srgbClr val="F3F3F3"/>
                    </a:solidFill>
                  </a:tcPr>
                </a:tc>
              </a:tr>
            </a:tbl>
          </a:graphicData>
        </a:graphic>
      </p:graphicFrame>
      <p:sp>
        <p:nvSpPr>
          <p:cNvPr id="42" name="Rectangle 41"/>
          <p:cNvSpPr/>
          <p:nvPr/>
        </p:nvSpPr>
        <p:spPr>
          <a:xfrm>
            <a:off x="6583680" y="3063240"/>
            <a:ext cx="5120640" cy="3246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83680" y="3063240"/>
            <a:ext cx="512064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0" y="3246120"/>
            <a:ext cx="4754879" cy="274320"/>
          </a:xfrm>
          <a:prstGeom prst="rect">
            <a:avLst/>
          </a:prstGeom>
          <a:noFill/>
        </p:spPr>
        <p:txBody>
          <a:bodyPr wrap="square" anchor="t" lIns="0" rIns="0" tIns="0" bIns="0">
            <a:spAutoFit/>
          </a:bodyPr>
          <a:lstStyle/>
          <a:p>
            <a:pPr algn="l"/>
            <a:r>
              <a:rPr sz="1000" b="1">
                <a:solidFill>
                  <a:srgbClr val="27AE60"/>
                </a:solidFill>
                <a:latin typeface="Arial"/>
              </a:rPr>
              <a:t>HIGHLIGHTS</a:t>
            </a:r>
          </a:p>
        </p:txBody>
      </p:sp>
      <p:sp>
        <p:nvSpPr>
          <p:cNvPr id="45" name="TextBox 44"/>
          <p:cNvSpPr txBox="1"/>
          <p:nvPr/>
        </p:nvSpPr>
        <p:spPr>
          <a:xfrm>
            <a:off x="6766560" y="3566160"/>
            <a:ext cx="4754879" cy="2560320"/>
          </a:xfrm>
          <a:prstGeom prst="rect">
            <a:avLst/>
          </a:prstGeom>
          <a:noFill/>
        </p:spPr>
        <p:txBody>
          <a:bodyPr wrap="square" anchor="t" lIns="0" rIns="0" tIns="0" bIns="0">
            <a:spAutoFit/>
          </a:bodyPr>
          <a:lstStyle/>
          <a:p>
            <a:pPr algn="l"/>
            <a:r>
              <a:rPr sz="950" b="0">
                <a:solidFill>
                  <a:srgbClr val="32373E"/>
                </a:solidFill>
                <a:latin typeface="Arial"/>
              </a:rPr>
              <a:t>Delivery held through a 2.5x scale-up: landing-page views ran at 70.6% of link clicks (May: 65.9%) and site analytics capture roughly 57% of clicks as sessions. The measurement chain works.</a:t>
            </a:r>
          </a:p>
          <a:p>
            <a:pPr algn="l">
              <a:spcBef>
                <a:spcPts val="600"/>
              </a:spcBef>
            </a:pPr>
            <a:r>
              <a:rPr sz="950" b="0">
                <a:solidFill>
                  <a:srgbClr val="32373E"/>
                </a:solidFill>
                <a:latin typeface="Arial"/>
              </a:rPr>
              <a:t>The campaign still runs the Q2 traffic objective, so its 136 pixel events are mostly application starts. The conversion-objective shift is the unlock for judging this channel on submitted applications.</a:t>
            </a:r>
          </a:p>
        </p:txBody>
      </p:sp>
      <p:sp>
        <p:nvSpPr>
          <p:cNvPr id="46" name="TextBox 45"/>
          <p:cNvSpPr txBox="1"/>
          <p:nvPr/>
        </p:nvSpPr>
        <p:spPr>
          <a:xfrm>
            <a:off x="457200" y="4892040"/>
            <a:ext cx="5852160" cy="1188720"/>
          </a:xfrm>
          <a:prstGeom prst="rect">
            <a:avLst/>
          </a:prstGeom>
          <a:noFill/>
        </p:spPr>
        <p:txBody>
          <a:bodyPr wrap="square" anchor="t" lIns="0" rIns="0" tIns="0" bIns="0">
            <a:spAutoFit/>
          </a:bodyPr>
          <a:lstStyle/>
          <a:p>
            <a:pPr algn="l"/>
            <a:r>
              <a:rPr sz="950" b="0">
                <a:solidFill>
                  <a:srgbClr val="32373E"/>
                </a:solidFill>
                <a:latin typeface="Arial"/>
              </a:rPr>
              <a:t>June audience delivery reached 1.53M people at 2.0 frequency, the largest Spanish-language reach of any GCG channel with verified site arrival.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META  ·  READ &amp; RECOMMENDATIONS</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Make the objective match the goal.</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12 / 15</a:t>
            </a:r>
          </a:p>
        </p:txBody>
      </p:sp>
      <p:sp>
        <p:nvSpPr>
          <p:cNvPr id="10" name="Rectangle 9"/>
          <p:cNvSpPr/>
          <p:nvPr/>
        </p:nvSpPr>
        <p:spPr>
          <a:xfrm>
            <a:off x="457200" y="1737360"/>
            <a:ext cx="5577840" cy="46634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557784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5212079" cy="274320"/>
          </a:xfrm>
          <a:prstGeom prst="rect">
            <a:avLst/>
          </a:prstGeom>
          <a:noFill/>
        </p:spPr>
        <p:txBody>
          <a:bodyPr wrap="square" anchor="t" lIns="0" rIns="0" tIns="0" bIns="0">
            <a:spAutoFit/>
          </a:bodyPr>
          <a:lstStyle/>
          <a:p>
            <a:pPr algn="l"/>
            <a:r>
              <a:rPr sz="1000" b="1">
                <a:solidFill>
                  <a:srgbClr val="3B5998"/>
                </a:solidFill>
                <a:latin typeface="Arial"/>
              </a:rPr>
              <a:t>WHAT THE DATA SHOWS</a:t>
            </a:r>
          </a:p>
        </p:txBody>
      </p:sp>
      <p:sp>
        <p:nvSpPr>
          <p:cNvPr id="13" name="TextBox 12"/>
          <p:cNvSpPr txBox="1"/>
          <p:nvPr/>
        </p:nvSpPr>
        <p:spPr>
          <a:xfrm>
            <a:off x="640080" y="2240280"/>
            <a:ext cx="5212079" cy="3977639"/>
          </a:xfrm>
          <a:prstGeom prst="rect">
            <a:avLst/>
          </a:prstGeom>
          <a:noFill/>
        </p:spPr>
        <p:txBody>
          <a:bodyPr wrap="square" anchor="t" lIns="0" rIns="0" tIns="0" bIns="0">
            <a:spAutoFit/>
          </a:bodyPr>
          <a:lstStyle/>
          <a:p>
            <a:pPr algn="l"/>
            <a:r>
              <a:rPr sz="950" b="0">
                <a:solidFill>
                  <a:srgbClr val="32373E"/>
                </a:solidFill>
                <a:latin typeface="Arial"/>
              </a:rPr>
              <a:t>The channel does what a traffic objective asks: cheap, verified site visitors at scale. What it does not do yet is optimize toward applications, because the objective never asked it to.</a:t>
            </a:r>
          </a:p>
          <a:p>
            <a:pPr algn="l">
              <a:spcBef>
                <a:spcPts val="600"/>
              </a:spcBef>
            </a:pPr>
            <a:r>
              <a:rPr sz="950" b="0">
                <a:solidFill>
                  <a:srgbClr val="32373E"/>
                </a:solidFill>
                <a:latin typeface="Arial"/>
              </a:rPr>
              <a:t>Every delivery signal supports the shift: stable CPM through the scale-up, improving click-to-LPV rate, healthy analytics capture, and a growing retargeting pool from four months of traffic.</a:t>
            </a:r>
          </a:p>
        </p:txBody>
      </p:sp>
      <p:sp>
        <p:nvSpPr>
          <p:cNvPr id="14" name="Rectangle 13"/>
          <p:cNvSpPr/>
          <p:nvPr/>
        </p:nvSpPr>
        <p:spPr>
          <a:xfrm>
            <a:off x="6309360" y="1737360"/>
            <a:ext cx="5394960" cy="46634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539496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920240"/>
            <a:ext cx="5029200" cy="274320"/>
          </a:xfrm>
          <a:prstGeom prst="rect">
            <a:avLst/>
          </a:prstGeom>
          <a:noFill/>
        </p:spPr>
        <p:txBody>
          <a:bodyPr wrap="square" anchor="t" lIns="0" rIns="0" tIns="0" bIns="0">
            <a:spAutoFit/>
          </a:bodyPr>
          <a:lstStyle/>
          <a:p>
            <a:pPr algn="l"/>
            <a:r>
              <a:rPr sz="1000" b="1">
                <a:solidFill>
                  <a:srgbClr val="27AE60"/>
                </a:solidFill>
                <a:latin typeface="Arial"/>
              </a:rPr>
              <a:t>WHAT WE RECOMMEND</a:t>
            </a:r>
          </a:p>
        </p:txBody>
      </p:sp>
      <p:sp>
        <p:nvSpPr>
          <p:cNvPr id="17" name="TextBox 16"/>
          <p:cNvSpPr txBox="1"/>
          <p:nvPr/>
        </p:nvSpPr>
        <p:spPr>
          <a:xfrm>
            <a:off x="6492240" y="2240280"/>
            <a:ext cx="5029200" cy="3977639"/>
          </a:xfrm>
          <a:prstGeom prst="rect">
            <a:avLst/>
          </a:prstGeom>
          <a:noFill/>
        </p:spPr>
        <p:txBody>
          <a:bodyPr wrap="square" anchor="t" lIns="0" rIns="0" tIns="0" bIns="0">
            <a:spAutoFit/>
          </a:bodyPr>
          <a:lstStyle/>
          <a:p>
            <a:pPr algn="l"/>
            <a:r>
              <a:rPr sz="950" b="0">
                <a:solidFill>
                  <a:srgbClr val="32373E"/>
                </a:solidFill>
                <a:latin typeface="Arial"/>
              </a:rPr>
              <a:t>Complete the shift to a conversion objective in July and judge the channel on submitted applications.</a:t>
            </a:r>
          </a:p>
          <a:p>
            <a:pPr algn="l">
              <a:spcBef>
                <a:spcPts val="600"/>
              </a:spcBef>
            </a:pPr>
            <a:r>
              <a:rPr sz="950" b="0">
                <a:solidFill>
                  <a:srgbClr val="32373E"/>
                </a:solidFill>
                <a:latin typeface="Arial"/>
              </a:rPr>
              <a:t>Seed the conversion campaigns with the pixel and the four-month retargeting pool before scaling prospecting.</a:t>
            </a:r>
          </a:p>
          <a:p>
            <a:pPr algn="l">
              <a:spcBef>
                <a:spcPts val="600"/>
              </a:spcBef>
            </a:pPr>
            <a:r>
              <a:rPr sz="950" b="0">
                <a:solidFill>
                  <a:srgbClr val="32373E"/>
                </a:solidFill>
                <a:latin typeface="Arial"/>
              </a:rPr>
              <a:t>Keep the trackA/trackB split so creative learnings carry over from the search program.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QUANTCAST  ·  PERFORMANCE &amp; READ</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A deliberate reach month, with the same quality bill to manage.</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13 / 15</a:t>
            </a:r>
          </a:p>
        </p:txBody>
      </p:sp>
      <p:sp>
        <p:nvSpPr>
          <p:cNvPr id="10" name="Rectangle 9"/>
          <p:cNvSpPr/>
          <p:nvPr/>
        </p:nvSpPr>
        <p:spPr>
          <a:xfrm>
            <a:off x="4572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SPEND</a:t>
            </a:r>
          </a:p>
        </p:txBody>
      </p:sp>
      <p:sp>
        <p:nvSpPr>
          <p:cNvPr id="13" name="TextBox 12"/>
          <p:cNvSpPr txBox="1"/>
          <p:nvPr/>
        </p:nvSpPr>
        <p:spPr>
          <a:xfrm>
            <a:off x="6400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$30,559</a:t>
            </a:r>
          </a:p>
        </p:txBody>
      </p:sp>
      <p:sp>
        <p:nvSpPr>
          <p:cNvPr id="14" name="TextBox 13"/>
          <p:cNvSpPr txBox="1"/>
          <p:nvPr/>
        </p:nvSpPr>
        <p:spPr>
          <a:xfrm>
            <a:off x="6400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+37% MoM</a:t>
            </a:r>
          </a:p>
        </p:txBody>
      </p:sp>
      <p:sp>
        <p:nvSpPr>
          <p:cNvPr id="15" name="Rectangle 14"/>
          <p:cNvSpPr/>
          <p:nvPr/>
        </p:nvSpPr>
        <p:spPr>
          <a:xfrm>
            <a:off x="22860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860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688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IMPRESSIONS</a:t>
            </a:r>
          </a:p>
        </p:txBody>
      </p:sp>
      <p:sp>
        <p:nvSpPr>
          <p:cNvPr id="18" name="TextBox 17"/>
          <p:cNvSpPr txBox="1"/>
          <p:nvPr/>
        </p:nvSpPr>
        <p:spPr>
          <a:xfrm>
            <a:off x="24688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37.2M</a:t>
            </a:r>
          </a:p>
        </p:txBody>
      </p:sp>
      <p:sp>
        <p:nvSpPr>
          <p:cNvPr id="19" name="TextBox 18"/>
          <p:cNvSpPr txBox="1"/>
          <p:nvPr/>
        </p:nvSpPr>
        <p:spPr>
          <a:xfrm>
            <a:off x="24688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+38% MoM</a:t>
            </a:r>
          </a:p>
        </p:txBody>
      </p:sp>
      <p:sp>
        <p:nvSpPr>
          <p:cNvPr id="20" name="Rectangle 19"/>
          <p:cNvSpPr/>
          <p:nvPr/>
        </p:nvSpPr>
        <p:spPr>
          <a:xfrm>
            <a:off x="41148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CPM</a:t>
            </a:r>
          </a:p>
        </p:txBody>
      </p:sp>
      <p:sp>
        <p:nvSpPr>
          <p:cNvPr id="23" name="TextBox 22"/>
          <p:cNvSpPr txBox="1"/>
          <p:nvPr/>
        </p:nvSpPr>
        <p:spPr>
          <a:xfrm>
            <a:off x="42976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$0.82</a:t>
            </a:r>
          </a:p>
        </p:txBody>
      </p:sp>
      <p:sp>
        <p:nvSpPr>
          <p:cNvPr id="24" name="TextBox 23"/>
          <p:cNvSpPr txBox="1"/>
          <p:nvPr/>
        </p:nvSpPr>
        <p:spPr>
          <a:xfrm>
            <a:off x="42976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May: $0.83</a:t>
            </a:r>
          </a:p>
        </p:txBody>
      </p:sp>
      <p:sp>
        <p:nvSpPr>
          <p:cNvPr id="25" name="Rectangle 24"/>
          <p:cNvSpPr/>
          <p:nvPr/>
        </p:nvSpPr>
        <p:spPr>
          <a:xfrm>
            <a:off x="59436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DEVICE REACH</a:t>
            </a:r>
          </a:p>
        </p:txBody>
      </p:sp>
      <p:sp>
        <p:nvSpPr>
          <p:cNvPr id="28" name="TextBox 27"/>
          <p:cNvSpPr txBox="1"/>
          <p:nvPr/>
        </p:nvSpPr>
        <p:spPr>
          <a:xfrm>
            <a:off x="61264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23.2M</a:t>
            </a:r>
          </a:p>
        </p:txBody>
      </p:sp>
      <p:sp>
        <p:nvSpPr>
          <p:cNvPr id="29" name="TextBox 28"/>
          <p:cNvSpPr txBox="1"/>
          <p:nvPr/>
        </p:nvSpPr>
        <p:spPr>
          <a:xfrm>
            <a:off x="61264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freq 1.6</a:t>
            </a:r>
          </a:p>
        </p:txBody>
      </p:sp>
      <p:sp>
        <p:nvSpPr>
          <p:cNvPr id="30" name="Rectangle 29"/>
          <p:cNvSpPr/>
          <p:nvPr/>
        </p:nvSpPr>
        <p:spPr>
          <a:xfrm>
            <a:off x="77724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79" y="1783080"/>
            <a:ext cx="1463039" cy="274320"/>
          </a:xfrm>
          <a:prstGeom prst="rect">
            <a:avLst/>
          </a:prstGeom>
          <a:noFill/>
        </p:spPr>
        <p:txBody>
          <a:bodyPr wrap="square" anchor="t" lIns="0" rIns="0" tIns="0" bIns="0">
            <a:spAutoFit/>
          </a:bodyPr>
          <a:lstStyle/>
          <a:p>
            <a:pPr algn="l"/>
            <a:r>
              <a:rPr sz="800" b="1">
                <a:solidFill>
                  <a:srgbClr val="78828C"/>
                </a:solidFill>
                <a:latin typeface="Arial"/>
              </a:rPr>
              <a:t>VIEWABILITY</a:t>
            </a:r>
          </a:p>
        </p:txBody>
      </p:sp>
      <p:sp>
        <p:nvSpPr>
          <p:cNvPr id="33" name="TextBox 32"/>
          <p:cNvSpPr txBox="1"/>
          <p:nvPr/>
        </p:nvSpPr>
        <p:spPr>
          <a:xfrm>
            <a:off x="7955279" y="2029967"/>
            <a:ext cx="1463039" cy="457200"/>
          </a:xfrm>
          <a:prstGeom prst="rect">
            <a:avLst/>
          </a:prstGeom>
          <a:noFill/>
        </p:spPr>
        <p:txBody>
          <a:bodyPr wrap="square" anchor="t" lIns="0" rIns="0" tIns="0" bIns="0">
            <a:spAutoFit/>
          </a:bodyPr>
          <a:lstStyle/>
          <a:p>
            <a:pPr algn="l"/>
            <a:r>
              <a:rPr sz="1500" b="1">
                <a:solidFill>
                  <a:srgbClr val="1A2A3A"/>
                </a:solidFill>
                <a:latin typeface="Arial"/>
              </a:rPr>
              <a:t>46.9%</a:t>
            </a:r>
          </a:p>
        </p:txBody>
      </p:sp>
      <p:sp>
        <p:nvSpPr>
          <p:cNvPr id="34" name="TextBox 33"/>
          <p:cNvSpPr txBox="1"/>
          <p:nvPr/>
        </p:nvSpPr>
        <p:spPr>
          <a:xfrm>
            <a:off x="7955279" y="2487168"/>
            <a:ext cx="1463039" cy="219456"/>
          </a:xfrm>
          <a:prstGeom prst="rect">
            <a:avLst/>
          </a:prstGeom>
          <a:noFill/>
        </p:spPr>
        <p:txBody>
          <a:bodyPr wrap="square" anchor="t" lIns="0" rIns="0" tIns="0" bIns="0">
            <a:spAutoFit/>
          </a:bodyPr>
          <a:lstStyle/>
          <a:p>
            <a:pPr algn="l"/>
            <a:r>
              <a:rPr sz="800" b="0">
                <a:solidFill>
                  <a:srgbClr val="5A5A5A"/>
                </a:solidFill>
                <a:latin typeface="Arial"/>
              </a:rPr>
              <a:t>70% standard</a:t>
            </a:r>
          </a:p>
        </p:txBody>
      </p:sp>
      <p:sp>
        <p:nvSpPr>
          <p:cNvPr id="35" name="Rectangle 34"/>
          <p:cNvSpPr/>
          <p:nvPr/>
        </p:nvSpPr>
        <p:spPr>
          <a:xfrm>
            <a:off x="9601200" y="1737360"/>
            <a:ext cx="17373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601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0" y="1783080"/>
            <a:ext cx="1463039" cy="274320"/>
          </a:xfrm>
          <a:prstGeom prst="rect">
            <a:avLst/>
          </a:prstGeom>
          <a:noFill/>
        </p:spPr>
        <p:txBody>
          <a:bodyPr wrap="square" anchor="t" lIns="0" rIns="0" tIns="0" bIns="0">
            <a:spAutoFit/>
          </a:bodyPr>
          <a:lstStyle/>
          <a:p>
            <a:pPr algn="l"/>
            <a:r>
              <a:rPr sz="800" b="1">
                <a:solidFill>
                  <a:srgbClr val="78828C"/>
                </a:solidFill>
                <a:latin typeface="Arial"/>
              </a:rPr>
              <a:t>RESULTS</a:t>
            </a:r>
          </a:p>
        </p:txBody>
      </p:sp>
      <p:sp>
        <p:nvSpPr>
          <p:cNvPr id="38" name="TextBox 37"/>
          <p:cNvSpPr txBox="1"/>
          <p:nvPr/>
        </p:nvSpPr>
        <p:spPr>
          <a:xfrm>
            <a:off x="9784080" y="2029967"/>
            <a:ext cx="1463039" cy="457200"/>
          </a:xfrm>
          <a:prstGeom prst="rect">
            <a:avLst/>
          </a:prstGeom>
          <a:noFill/>
        </p:spPr>
        <p:txBody>
          <a:bodyPr wrap="square" anchor="t" lIns="0" rIns="0" tIns="0" bIns="0">
            <a:spAutoFit/>
          </a:bodyPr>
          <a:lstStyle/>
          <a:p>
            <a:pPr algn="l"/>
            <a:r>
              <a:rPr sz="1500" b="1">
                <a:solidFill>
                  <a:srgbClr val="1A2A3A"/>
                </a:solidFill>
                <a:latin typeface="Arial"/>
              </a:rPr>
              <a:t>15</a:t>
            </a:r>
          </a:p>
        </p:txBody>
      </p:sp>
      <p:sp>
        <p:nvSpPr>
          <p:cNvPr id="39" name="TextBox 38"/>
          <p:cNvSpPr txBox="1"/>
          <p:nvPr/>
        </p:nvSpPr>
        <p:spPr>
          <a:xfrm>
            <a:off x="9784080" y="2487168"/>
            <a:ext cx="1463039" cy="219456"/>
          </a:xfrm>
          <a:prstGeom prst="rect">
            <a:avLst/>
          </a:prstGeom>
          <a:noFill/>
        </p:spPr>
        <p:txBody>
          <a:bodyPr wrap="square" anchor="t" lIns="0" rIns="0" tIns="0" bIns="0">
            <a:spAutoFit/>
          </a:bodyPr>
          <a:lstStyle/>
          <a:p>
            <a:pPr algn="l"/>
            <a:r>
              <a:rPr sz="800" b="0">
                <a:solidFill>
                  <a:srgbClr val="5A5A5A"/>
                </a:solidFill>
                <a:latin typeface="Arial"/>
              </a:rPr>
              <a:t>13 view-through</a:t>
            </a:r>
          </a:p>
        </p:txBody>
      </p:sp>
      <p:sp>
        <p:nvSpPr>
          <p:cNvPr id="40" name="Rectangle 39"/>
          <p:cNvSpPr/>
          <p:nvPr/>
        </p:nvSpPr>
        <p:spPr>
          <a:xfrm>
            <a:off x="457200" y="3063240"/>
            <a:ext cx="5577840" cy="3246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63240"/>
            <a:ext cx="557784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3246120"/>
            <a:ext cx="5212079" cy="274320"/>
          </a:xfrm>
          <a:prstGeom prst="rect">
            <a:avLst/>
          </a:prstGeom>
          <a:noFill/>
        </p:spPr>
        <p:txBody>
          <a:bodyPr wrap="square" anchor="t" lIns="0" rIns="0" tIns="0" bIns="0">
            <a:spAutoFit/>
          </a:bodyPr>
          <a:lstStyle/>
          <a:p>
            <a:pPr algn="l"/>
            <a:r>
              <a:rPr sz="1000" b="1">
                <a:solidFill>
                  <a:srgbClr val="3B5998"/>
                </a:solidFill>
                <a:latin typeface="Arial"/>
              </a:rPr>
              <a:t>READ</a:t>
            </a:r>
          </a:p>
        </p:txBody>
      </p:sp>
      <p:sp>
        <p:nvSpPr>
          <p:cNvPr id="43" name="TextBox 42"/>
          <p:cNvSpPr txBox="1"/>
          <p:nvPr/>
        </p:nvSpPr>
        <p:spPr>
          <a:xfrm>
            <a:off x="640080" y="3566160"/>
            <a:ext cx="5212079" cy="2560320"/>
          </a:xfrm>
          <a:prstGeom prst="rect">
            <a:avLst/>
          </a:prstGeom>
          <a:noFill/>
        </p:spPr>
        <p:txBody>
          <a:bodyPr wrap="square" anchor="t" lIns="0" rIns="0" tIns="0" bIns="0">
            <a:spAutoFit/>
          </a:bodyPr>
          <a:lstStyle/>
          <a:p>
            <a:pPr algn="l"/>
            <a:r>
              <a:rPr sz="950" b="0">
                <a:solidFill>
                  <a:srgbClr val="32373E"/>
                </a:solidFill>
                <a:latin typeface="Arial"/>
              </a:rPr>
              <a:t>The reach line scaled on purpose: 37.2M impressions to 23.2M devices at a flat $0.82 CPM.</a:t>
            </a:r>
          </a:p>
          <a:p>
            <a:pPr algn="l">
              <a:spcBef>
                <a:spcPts val="600"/>
              </a:spcBef>
            </a:pPr>
            <a:r>
              <a:rPr sz="950" b="0">
                <a:solidFill>
                  <a:srgbClr val="32373E"/>
                </a:solidFill>
                <a:latin typeface="Arial"/>
              </a:rPr>
              <a:t>Viewability fell to 46.9%, well under the 70% standard. We delivered an 18-site blocklist covering $9,752 (32%) of June spend on this line and recommend a campaign-level viewability floor.</a:t>
            </a:r>
          </a:p>
          <a:p>
            <a:pPr algn="l">
              <a:spcBef>
                <a:spcPts val="600"/>
              </a:spcBef>
            </a:pPr>
            <a:r>
              <a:rPr sz="950" b="0">
                <a:solidFill>
                  <a:srgbClr val="32373E"/>
                </a:solidFill>
                <a:latin typeface="Arial"/>
              </a:rPr>
              <a:t>Results rose 8 to 15, but 13 of 15 are view-through: directional support, not proven response.</a:t>
            </a:r>
          </a:p>
        </p:txBody>
      </p:sp>
      <p:sp>
        <p:nvSpPr>
          <p:cNvPr id="44" name="Rectangle 43"/>
          <p:cNvSpPr/>
          <p:nvPr/>
        </p:nvSpPr>
        <p:spPr>
          <a:xfrm>
            <a:off x="6309360" y="3063240"/>
            <a:ext cx="5394960" cy="3246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63240"/>
            <a:ext cx="5394960" cy="914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92240" y="3246120"/>
            <a:ext cx="5029200" cy="274320"/>
          </a:xfrm>
          <a:prstGeom prst="rect">
            <a:avLst/>
          </a:prstGeom>
          <a:noFill/>
        </p:spPr>
        <p:txBody>
          <a:bodyPr wrap="square" anchor="t" lIns="0" rIns="0" tIns="0" bIns="0">
            <a:spAutoFit/>
          </a:bodyPr>
          <a:lstStyle/>
          <a:p>
            <a:pPr algn="l"/>
            <a:r>
              <a:rPr sz="1000" b="1">
                <a:solidFill>
                  <a:srgbClr val="E74C3C"/>
                </a:solidFill>
                <a:latin typeface="Arial"/>
              </a:rPr>
              <a:t>TOP BLOCKLIST ENTRIES</a:t>
            </a:r>
          </a:p>
        </p:txBody>
      </p:sp>
      <p:sp>
        <p:nvSpPr>
          <p:cNvPr id="47" name="TextBox 46"/>
          <p:cNvSpPr txBox="1"/>
          <p:nvPr/>
        </p:nvSpPr>
        <p:spPr>
          <a:xfrm>
            <a:off x="6492240" y="3566160"/>
            <a:ext cx="5029200" cy="2560320"/>
          </a:xfrm>
          <a:prstGeom prst="rect">
            <a:avLst/>
          </a:prstGeom>
          <a:noFill/>
        </p:spPr>
        <p:txBody>
          <a:bodyPr wrap="square" anchor="t" lIns="0" rIns="0" tIns="0" bIns="0">
            <a:spAutoFit/>
          </a:bodyPr>
          <a:lstStyle/>
          <a:p>
            <a:pPr algn="l"/>
            <a:r>
              <a:rPr sz="950" b="0">
                <a:solidFill>
                  <a:srgbClr val="32373E"/>
                </a:solidFill>
                <a:latin typeface="Arial"/>
              </a:rPr>
              <a:t>yahoo.com $2,270 at 15.7% viewability; clarin.com $1,315 at 26%; weather.com $1,278 at 17.7%; genius.com $771 at 0.9%; zillow.com $685 at 5.6%.</a:t>
            </a:r>
          </a:p>
          <a:p>
            <a:pPr algn="l">
              <a:spcBef>
                <a:spcPts val="600"/>
              </a:spcBef>
            </a:pPr>
            <a:r>
              <a:rPr sz="950" b="0">
                <a:solidFill>
                  <a:srgbClr val="32373E"/>
                </a:solidFill>
                <a:latin typeface="Arial"/>
              </a:rPr>
              <a:t>The list ships with this report; applying it plus a viewability floor moves the line toward the standard without giving up the reach efficiency.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AZERION &amp; NATIVE</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The largest converter and the newest pilot report with the vendor files.</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14 / 15</a:t>
            </a:r>
          </a:p>
        </p:txBody>
      </p:sp>
      <p:sp>
        <p:nvSpPr>
          <p:cNvPr id="10" name="Rectangle 9"/>
          <p:cNvSpPr/>
          <p:nvPr/>
        </p:nvSpPr>
        <p:spPr>
          <a:xfrm>
            <a:off x="457200" y="1737360"/>
            <a:ext cx="21945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83080"/>
            <a:ext cx="1920240" cy="274320"/>
          </a:xfrm>
          <a:prstGeom prst="rect">
            <a:avLst/>
          </a:prstGeom>
          <a:noFill/>
        </p:spPr>
        <p:txBody>
          <a:bodyPr wrap="square" anchor="t" lIns="0" rIns="0" tIns="0" bIns="0">
            <a:spAutoFit/>
          </a:bodyPr>
          <a:lstStyle/>
          <a:p>
            <a:pPr algn="l"/>
            <a:r>
              <a:rPr sz="800" b="1">
                <a:solidFill>
                  <a:srgbClr val="78828C"/>
                </a:solidFill>
                <a:latin typeface="Arial"/>
              </a:rPr>
              <a:t>AZERION SPEND</a:t>
            </a:r>
          </a:p>
        </p:txBody>
      </p:sp>
      <p:sp>
        <p:nvSpPr>
          <p:cNvPr id="13" name="TextBox 12"/>
          <p:cNvSpPr txBox="1"/>
          <p:nvPr/>
        </p:nvSpPr>
        <p:spPr>
          <a:xfrm>
            <a:off x="640080" y="2029967"/>
            <a:ext cx="1920240" cy="457200"/>
          </a:xfrm>
          <a:prstGeom prst="rect">
            <a:avLst/>
          </a:prstGeom>
          <a:noFill/>
        </p:spPr>
        <p:txBody>
          <a:bodyPr wrap="square" anchor="t" lIns="0" rIns="0" tIns="0" bIns="0">
            <a:spAutoFit/>
          </a:bodyPr>
          <a:lstStyle/>
          <a:p>
            <a:pPr algn="l"/>
            <a:r>
              <a:rPr sz="1500" b="1">
                <a:solidFill>
                  <a:srgbClr val="1A2A3A"/>
                </a:solidFill>
                <a:latin typeface="Arial"/>
              </a:rPr>
              <a:t>$29,586</a:t>
            </a:r>
          </a:p>
        </p:txBody>
      </p:sp>
      <p:sp>
        <p:nvSpPr>
          <p:cNvPr id="14" name="TextBox 13"/>
          <p:cNvSpPr txBox="1"/>
          <p:nvPr/>
        </p:nvSpPr>
        <p:spPr>
          <a:xfrm>
            <a:off x="640080" y="2487168"/>
            <a:ext cx="1920240" cy="219456"/>
          </a:xfrm>
          <a:prstGeom prst="rect">
            <a:avLst/>
          </a:prstGeom>
          <a:noFill/>
        </p:spPr>
        <p:txBody>
          <a:bodyPr wrap="square" anchor="t" lIns="0" rIns="0" tIns="0" bIns="0">
            <a:spAutoFit/>
          </a:bodyPr>
          <a:lstStyle/>
          <a:p>
            <a:pPr algn="l"/>
            <a:r>
              <a:rPr sz="800" b="0">
                <a:solidFill>
                  <a:srgbClr val="5A5A5A"/>
                </a:solidFill>
                <a:latin typeface="Arial"/>
              </a:rPr>
              <a:t>+12% MoM</a:t>
            </a:r>
          </a:p>
        </p:txBody>
      </p:sp>
      <p:sp>
        <p:nvSpPr>
          <p:cNvPr id="15" name="Rectangle 14"/>
          <p:cNvSpPr/>
          <p:nvPr/>
        </p:nvSpPr>
        <p:spPr>
          <a:xfrm>
            <a:off x="2743200" y="1737360"/>
            <a:ext cx="21945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0" y="1783080"/>
            <a:ext cx="1920240" cy="274320"/>
          </a:xfrm>
          <a:prstGeom prst="rect">
            <a:avLst/>
          </a:prstGeom>
          <a:noFill/>
        </p:spPr>
        <p:txBody>
          <a:bodyPr wrap="square" anchor="t" lIns="0" rIns="0" tIns="0" bIns="0">
            <a:spAutoFit/>
          </a:bodyPr>
          <a:lstStyle/>
          <a:p>
            <a:pPr algn="l"/>
            <a:r>
              <a:rPr sz="800" b="1">
                <a:solidFill>
                  <a:srgbClr val="78828C"/>
                </a:solidFill>
                <a:latin typeface="Arial"/>
              </a:rPr>
              <a:t>MAY BASELINE</a:t>
            </a:r>
          </a:p>
        </p:txBody>
      </p:sp>
      <p:sp>
        <p:nvSpPr>
          <p:cNvPr id="18" name="TextBox 17"/>
          <p:cNvSpPr txBox="1"/>
          <p:nvPr/>
        </p:nvSpPr>
        <p:spPr>
          <a:xfrm>
            <a:off x="2926080" y="2029967"/>
            <a:ext cx="1920240" cy="457200"/>
          </a:xfrm>
          <a:prstGeom prst="rect">
            <a:avLst/>
          </a:prstGeom>
          <a:noFill/>
        </p:spPr>
        <p:txBody>
          <a:bodyPr wrap="square" anchor="t" lIns="0" rIns="0" tIns="0" bIns="0">
            <a:spAutoFit/>
          </a:bodyPr>
          <a:lstStyle/>
          <a:p>
            <a:pPr algn="l"/>
            <a:r>
              <a:rPr sz="1500" b="1">
                <a:solidFill>
                  <a:srgbClr val="1A2A3A"/>
                </a:solidFill>
                <a:latin typeface="Arial"/>
              </a:rPr>
              <a:t>43 apps</a:t>
            </a:r>
          </a:p>
        </p:txBody>
      </p:sp>
      <p:sp>
        <p:nvSpPr>
          <p:cNvPr id="19" name="TextBox 18"/>
          <p:cNvSpPr txBox="1"/>
          <p:nvPr/>
        </p:nvSpPr>
        <p:spPr>
          <a:xfrm>
            <a:off x="2926080" y="2487168"/>
            <a:ext cx="1920240" cy="219456"/>
          </a:xfrm>
          <a:prstGeom prst="rect">
            <a:avLst/>
          </a:prstGeom>
          <a:noFill/>
        </p:spPr>
        <p:txBody>
          <a:bodyPr wrap="square" anchor="t" lIns="0" rIns="0" tIns="0" bIns="0">
            <a:spAutoFit/>
          </a:bodyPr>
          <a:lstStyle/>
          <a:p>
            <a:pPr algn="l"/>
            <a:r>
              <a:rPr sz="800" b="0">
                <a:solidFill>
                  <a:srgbClr val="5A5A5A"/>
                </a:solidFill>
                <a:latin typeface="Arial"/>
              </a:rPr>
              <a:t>$616 CPA</a:t>
            </a:r>
          </a:p>
        </p:txBody>
      </p:sp>
      <p:sp>
        <p:nvSpPr>
          <p:cNvPr id="20" name="Rectangle 19"/>
          <p:cNvSpPr/>
          <p:nvPr/>
        </p:nvSpPr>
        <p:spPr>
          <a:xfrm>
            <a:off x="5029200" y="1737360"/>
            <a:ext cx="2194560" cy="10058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0" y="1737360"/>
            <a:ext cx="91440" cy="10058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1783080"/>
            <a:ext cx="1920240" cy="274320"/>
          </a:xfrm>
          <a:prstGeom prst="rect">
            <a:avLst/>
          </a:prstGeom>
          <a:noFill/>
        </p:spPr>
        <p:txBody>
          <a:bodyPr wrap="square" anchor="t" lIns="0" rIns="0" tIns="0" bIns="0">
            <a:spAutoFit/>
          </a:bodyPr>
          <a:lstStyle/>
          <a:p>
            <a:pPr algn="l"/>
            <a:r>
              <a:rPr sz="800" b="1">
                <a:solidFill>
                  <a:srgbClr val="78828C"/>
                </a:solidFill>
                <a:latin typeface="Arial"/>
              </a:rPr>
              <a:t>NATIVE SPEND</a:t>
            </a:r>
          </a:p>
        </p:txBody>
      </p:sp>
      <p:sp>
        <p:nvSpPr>
          <p:cNvPr id="23" name="TextBox 22"/>
          <p:cNvSpPr txBox="1"/>
          <p:nvPr/>
        </p:nvSpPr>
        <p:spPr>
          <a:xfrm>
            <a:off x="5212080" y="2029967"/>
            <a:ext cx="1920240" cy="457200"/>
          </a:xfrm>
          <a:prstGeom prst="rect">
            <a:avLst/>
          </a:prstGeom>
          <a:noFill/>
        </p:spPr>
        <p:txBody>
          <a:bodyPr wrap="square" anchor="t" lIns="0" rIns="0" tIns="0" bIns="0">
            <a:spAutoFit/>
          </a:bodyPr>
          <a:lstStyle/>
          <a:p>
            <a:pPr algn="l"/>
            <a:r>
              <a:rPr sz="1500" b="1">
                <a:solidFill>
                  <a:srgbClr val="1A2A3A"/>
                </a:solidFill>
                <a:latin typeface="Arial"/>
              </a:rPr>
              <a:t>$3,645</a:t>
            </a:r>
          </a:p>
        </p:txBody>
      </p:sp>
      <p:sp>
        <p:nvSpPr>
          <p:cNvPr id="24" name="TextBox 23"/>
          <p:cNvSpPr txBox="1"/>
          <p:nvPr/>
        </p:nvSpPr>
        <p:spPr>
          <a:xfrm>
            <a:off x="5212080" y="2487168"/>
            <a:ext cx="1920240" cy="219456"/>
          </a:xfrm>
          <a:prstGeom prst="rect">
            <a:avLst/>
          </a:prstGeom>
          <a:noFill/>
        </p:spPr>
        <p:txBody>
          <a:bodyPr wrap="square" anchor="t" lIns="0" rIns="0" tIns="0" bIns="0">
            <a:spAutoFit/>
          </a:bodyPr>
          <a:lstStyle/>
          <a:p>
            <a:pPr algn="l"/>
            <a:r>
              <a:rPr sz="800" b="0">
                <a:solidFill>
                  <a:srgbClr val="5A5A5A"/>
                </a:solidFill>
                <a:latin typeface="Arial"/>
              </a:rPr>
              <a:t>pilot month 1</a:t>
            </a:r>
          </a:p>
        </p:txBody>
      </p:sp>
      <p:sp>
        <p:nvSpPr>
          <p:cNvPr id="25" name="Rectangle 24"/>
          <p:cNvSpPr/>
          <p:nvPr/>
        </p:nvSpPr>
        <p:spPr>
          <a:xfrm>
            <a:off x="457200" y="3063240"/>
            <a:ext cx="5577840" cy="3246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3063240"/>
            <a:ext cx="557784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246120"/>
            <a:ext cx="5212079" cy="274320"/>
          </a:xfrm>
          <a:prstGeom prst="rect">
            <a:avLst/>
          </a:prstGeom>
          <a:noFill/>
        </p:spPr>
        <p:txBody>
          <a:bodyPr wrap="square" anchor="t" lIns="0" rIns="0" tIns="0" bIns="0">
            <a:spAutoFit/>
          </a:bodyPr>
          <a:lstStyle/>
          <a:p>
            <a:pPr algn="l"/>
            <a:r>
              <a:rPr sz="1000" b="1">
                <a:solidFill>
                  <a:srgbClr val="3B5998"/>
                </a:solidFill>
                <a:latin typeface="Arial"/>
              </a:rPr>
              <a:t>WHAT WE KNOW</a:t>
            </a:r>
          </a:p>
        </p:txBody>
      </p:sp>
      <p:sp>
        <p:nvSpPr>
          <p:cNvPr id="28" name="TextBox 27"/>
          <p:cNvSpPr txBox="1"/>
          <p:nvPr/>
        </p:nvSpPr>
        <p:spPr>
          <a:xfrm>
            <a:off x="640080" y="3566160"/>
            <a:ext cx="5212079" cy="2560320"/>
          </a:xfrm>
          <a:prstGeom prst="rect">
            <a:avLst/>
          </a:prstGeom>
          <a:noFill/>
        </p:spPr>
        <p:txBody>
          <a:bodyPr wrap="square" anchor="t" lIns="0" rIns="0" tIns="0" bIns="0">
            <a:spAutoFit/>
          </a:bodyPr>
          <a:lstStyle/>
          <a:p>
            <a:pPr algn="l"/>
            <a:r>
              <a:rPr sz="950" b="0">
                <a:solidFill>
                  <a:srgbClr val="32373E"/>
                </a:solidFill>
                <a:latin typeface="Arial"/>
              </a:rPr>
              <a:t>Azerion grew 12% to $29,586 per the budget tracker. It has been GCG's largest converter (76 applications in April, 43 in May with 1,398 starts), and its June application detail arrives with the vendor file.</a:t>
            </a:r>
          </a:p>
          <a:p>
            <a:pPr algn="l">
              <a:spcBef>
                <a:spcPts val="600"/>
              </a:spcBef>
            </a:pPr>
            <a:r>
              <a:rPr sz="950" b="0">
                <a:solidFill>
                  <a:srgbClr val="32373E"/>
                </a:solidFill>
                <a:latin typeface="Arial"/>
              </a:rPr>
              <a:t>Native entered the market with $3,645 in June, the first new channel since the program launched.</a:t>
            </a:r>
          </a:p>
        </p:txBody>
      </p:sp>
      <p:sp>
        <p:nvSpPr>
          <p:cNvPr id="29" name="Rectangle 28"/>
          <p:cNvSpPr/>
          <p:nvPr/>
        </p:nvSpPr>
        <p:spPr>
          <a:xfrm>
            <a:off x="6309360" y="3063240"/>
            <a:ext cx="5394960" cy="3246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3063240"/>
            <a:ext cx="539496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3246120"/>
            <a:ext cx="5029200" cy="274320"/>
          </a:xfrm>
          <a:prstGeom prst="rect">
            <a:avLst/>
          </a:prstGeom>
          <a:noFill/>
        </p:spPr>
        <p:txBody>
          <a:bodyPr wrap="square" anchor="t" lIns="0" rIns="0" tIns="0" bIns="0">
            <a:spAutoFit/>
          </a:bodyPr>
          <a:lstStyle/>
          <a:p>
            <a:pPr algn="l"/>
            <a:r>
              <a:rPr sz="1000" b="1">
                <a:solidFill>
                  <a:srgbClr val="27AE60"/>
                </a:solidFill>
                <a:latin typeface="Arial"/>
              </a:rPr>
              <a:t>WHAT COMES WITH THE VENDOR DETAIL</a:t>
            </a:r>
          </a:p>
        </p:txBody>
      </p:sp>
      <p:sp>
        <p:nvSpPr>
          <p:cNvPr id="32" name="TextBox 31"/>
          <p:cNvSpPr txBox="1"/>
          <p:nvPr/>
        </p:nvSpPr>
        <p:spPr>
          <a:xfrm>
            <a:off x="6492240" y="3566160"/>
            <a:ext cx="5029200" cy="2560320"/>
          </a:xfrm>
          <a:prstGeom prst="rect">
            <a:avLst/>
          </a:prstGeom>
          <a:noFill/>
        </p:spPr>
        <p:txBody>
          <a:bodyPr wrap="square" anchor="t" lIns="0" rIns="0" tIns="0" bIns="0">
            <a:spAutoFit/>
          </a:bodyPr>
          <a:lstStyle/>
          <a:p>
            <a:pPr algn="l"/>
            <a:r>
              <a:rPr sz="950" b="0">
                <a:solidFill>
                  <a:srgbClr val="32373E"/>
                </a:solidFill>
                <a:latin typeface="Arial"/>
              </a:rPr>
              <a:t>Azerion: June applications and starts, ad-set performance, and the step-one-to-application trend that drives its optimization.</a:t>
            </a:r>
          </a:p>
          <a:p>
            <a:pPr algn="l">
              <a:spcBef>
                <a:spcPts val="600"/>
              </a:spcBef>
            </a:pPr>
            <a:r>
              <a:rPr sz="950" b="0">
                <a:solidFill>
                  <a:srgbClr val="32373E"/>
                </a:solidFill>
                <a:latin typeface="Arial"/>
              </a:rPr>
              <a:t>Native: delivery, audience, and the first cost-per-application read, judged against the search and display range from July onward.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57200"/>
          </a:xfrm>
          <a:prstGeom prst="rect">
            <a:avLst/>
          </a:prstGeom>
          <a:solidFill>
            <a:srgbClr val="1A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8229600" cy="274320"/>
          </a:xfrm>
          <a:prstGeom prst="rect">
            <a:avLst/>
          </a:prstGeom>
          <a:noFill/>
        </p:spPr>
        <p:txBody>
          <a:bodyPr wrap="square" anchor="t" lIns="0" rIns="0" tIns="0" bIns="0">
            <a:spAutoFit/>
          </a:bodyPr>
          <a:lstStyle/>
          <a:p>
            <a:pPr algn="l"/>
            <a:r>
              <a:rPr sz="900" b="1">
                <a:solidFill>
                  <a:srgbClr val="FFFFFF"/>
                </a:solidFill>
                <a:latin typeface="Arial"/>
              </a:rPr>
              <a:t>FOREX.com  |  GCG (US Hispanic)  ·  June 2026</a:t>
            </a:r>
          </a:p>
        </p:txBody>
      </p:sp>
      <p:pic>
        <p:nvPicPr>
          <p:cNvPr id="4" name="Picture 3" descr="logo_1_fd6b9b.png"/>
          <p:cNvPicPr>
            <a:picLocks noChangeAspect="1"/>
          </p:cNvPicPr>
          <p:nvPr/>
        </p:nvPicPr>
        <p:blipFill>
          <a:blip r:embed="rId2"/>
          <a:stretch>
            <a:fillRect/>
          </a:stretch>
        </p:blipFill>
        <p:spPr>
          <a:xfrm>
            <a:off x="11155680" y="100584"/>
            <a:ext cx="896112" cy="256032"/>
          </a:xfrm>
          <a:prstGeom prst="rect">
            <a:avLst/>
          </a:prstGeom>
        </p:spPr>
      </p:pic>
      <p:sp>
        <p:nvSpPr>
          <p:cNvPr id="5" name="TextBox 4"/>
          <p:cNvSpPr txBox="1"/>
          <p:nvPr/>
        </p:nvSpPr>
        <p:spPr>
          <a:xfrm>
            <a:off x="457200" y="566928"/>
            <a:ext cx="10972800" cy="274320"/>
          </a:xfrm>
          <a:prstGeom prst="rect">
            <a:avLst/>
          </a:prstGeom>
          <a:noFill/>
        </p:spPr>
        <p:txBody>
          <a:bodyPr wrap="square" anchor="t" lIns="0" rIns="0" tIns="0" bIns="0">
            <a:spAutoFit/>
          </a:bodyPr>
          <a:lstStyle/>
          <a:p>
            <a:pPr algn="l"/>
            <a:r>
              <a:rPr sz="1100" b="1">
                <a:solidFill>
                  <a:srgbClr val="3B5998"/>
                </a:solidFill>
                <a:latin typeface="Arial"/>
              </a:rPr>
              <a:t>CROSS-CHANNEL PRIORITIES + NEXT STEPS</a:t>
            </a:r>
          </a:p>
        </p:txBody>
      </p:sp>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A2A3A"/>
                </a:solidFill>
                <a:latin typeface="Arial"/>
              </a:rPr>
              <a:t>Convert the traffic. Earn the rank. Guard the quality.</a:t>
            </a:r>
          </a:p>
        </p:txBody>
      </p:sp>
      <p:sp>
        <p:nvSpPr>
          <p:cNvPr id="7" name="Rectangle 6"/>
          <p:cNvSpPr/>
          <p:nvPr/>
        </p:nvSpPr>
        <p:spPr>
          <a:xfrm>
            <a:off x="0" y="6583680"/>
            <a:ext cx="12191695"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11112"/>
            <a:ext cx="5486400" cy="201168"/>
          </a:xfrm>
          <a:prstGeom prst="rect">
            <a:avLst/>
          </a:prstGeom>
          <a:noFill/>
        </p:spPr>
        <p:txBody>
          <a:bodyPr wrap="square" anchor="t" lIns="0" rIns="0" tIns="0" bIns="0">
            <a:spAutoFit/>
          </a:bodyPr>
          <a:lstStyle/>
          <a:p>
            <a:pPr algn="l"/>
            <a:r>
              <a:rPr sz="800" b="0">
                <a:solidFill>
                  <a:srgbClr val="78828C"/>
                </a:solidFill>
                <a:latin typeface="Arial"/>
              </a:rPr>
              <a:t>Performance Review</a:t>
            </a:r>
          </a:p>
        </p:txBody>
      </p:sp>
      <p:sp>
        <p:nvSpPr>
          <p:cNvPr id="9" name="TextBox 8"/>
          <p:cNvSpPr txBox="1"/>
          <p:nvPr/>
        </p:nvSpPr>
        <p:spPr>
          <a:xfrm>
            <a:off x="11064240" y="6611112"/>
            <a:ext cx="822960" cy="201168"/>
          </a:xfrm>
          <a:prstGeom prst="rect">
            <a:avLst/>
          </a:prstGeom>
          <a:noFill/>
        </p:spPr>
        <p:txBody>
          <a:bodyPr wrap="square" anchor="t" lIns="0" rIns="0" tIns="0" bIns="0">
            <a:spAutoFit/>
          </a:bodyPr>
          <a:lstStyle/>
          <a:p>
            <a:pPr algn="r"/>
            <a:r>
              <a:rPr sz="800" b="0">
                <a:solidFill>
                  <a:srgbClr val="78828C"/>
                </a:solidFill>
                <a:latin typeface="Arial"/>
              </a:rPr>
              <a:t>15 / 15</a:t>
            </a:r>
          </a:p>
        </p:txBody>
      </p:sp>
      <p:sp>
        <p:nvSpPr>
          <p:cNvPr id="10" name="Rectangle 9"/>
          <p:cNvSpPr/>
          <p:nvPr/>
        </p:nvSpPr>
        <p:spPr>
          <a:xfrm>
            <a:off x="457200" y="1737360"/>
            <a:ext cx="3657600" cy="40233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3657600" cy="914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291840" cy="274320"/>
          </a:xfrm>
          <a:prstGeom prst="rect">
            <a:avLst/>
          </a:prstGeom>
          <a:noFill/>
        </p:spPr>
        <p:txBody>
          <a:bodyPr wrap="square" anchor="t" lIns="0" rIns="0" tIns="0" bIns="0">
            <a:spAutoFit/>
          </a:bodyPr>
          <a:lstStyle/>
          <a:p>
            <a:pPr algn="l"/>
            <a:r>
              <a:rPr sz="1000" b="1">
                <a:solidFill>
                  <a:srgbClr val="E74C3C"/>
                </a:solidFill>
                <a:latin typeface="Arial"/>
              </a:rPr>
              <a:t>PRIORITY</a:t>
            </a:r>
          </a:p>
        </p:txBody>
      </p:sp>
      <p:sp>
        <p:nvSpPr>
          <p:cNvPr id="13" name="TextBox 12"/>
          <p:cNvSpPr txBox="1"/>
          <p:nvPr/>
        </p:nvSpPr>
        <p:spPr>
          <a:xfrm>
            <a:off x="640080" y="2240280"/>
            <a:ext cx="3291840" cy="3337560"/>
          </a:xfrm>
          <a:prstGeom prst="rect">
            <a:avLst/>
          </a:prstGeom>
          <a:noFill/>
        </p:spPr>
        <p:txBody>
          <a:bodyPr wrap="square" anchor="t" lIns="0" rIns="0" tIns="0" bIns="0">
            <a:spAutoFit/>
          </a:bodyPr>
          <a:lstStyle/>
          <a:p>
            <a:pPr algn="l"/>
            <a:r>
              <a:rPr sz="950" b="0">
                <a:solidFill>
                  <a:srgbClr val="32373E"/>
                </a:solidFill>
                <a:latin typeface="Arial"/>
              </a:rPr>
              <a:t>Shift paid social to the conversion objective and judge it on submitted applications.</a:t>
            </a:r>
          </a:p>
          <a:p>
            <a:pPr algn="l">
              <a:spcBef>
                <a:spcPts val="600"/>
              </a:spcBef>
            </a:pPr>
            <a:r>
              <a:rPr sz="950" b="0">
                <a:solidFill>
                  <a:srgbClr val="32373E"/>
                </a:solidFill>
                <a:latin typeface="Arial"/>
              </a:rPr>
              <a:t>Put the start-to-submit funnel step on the joint roadmap; media is filling the top of the funnel and conversion is the constraint.</a:t>
            </a:r>
          </a:p>
        </p:txBody>
      </p:sp>
      <p:sp>
        <p:nvSpPr>
          <p:cNvPr id="14" name="Rectangle 13"/>
          <p:cNvSpPr/>
          <p:nvPr/>
        </p:nvSpPr>
        <p:spPr>
          <a:xfrm>
            <a:off x="4389120" y="1737360"/>
            <a:ext cx="3657600" cy="40233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1737360"/>
            <a:ext cx="3657600" cy="914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1920240"/>
            <a:ext cx="3291840" cy="274320"/>
          </a:xfrm>
          <a:prstGeom prst="rect">
            <a:avLst/>
          </a:prstGeom>
          <a:noFill/>
        </p:spPr>
        <p:txBody>
          <a:bodyPr wrap="square" anchor="t" lIns="0" rIns="0" tIns="0" bIns="0">
            <a:spAutoFit/>
          </a:bodyPr>
          <a:lstStyle/>
          <a:p>
            <a:pPr algn="l"/>
            <a:r>
              <a:rPr sz="1000" b="1">
                <a:solidFill>
                  <a:srgbClr val="27AE60"/>
                </a:solidFill>
                <a:latin typeface="Arial"/>
              </a:rPr>
              <a:t>SCALING &amp; OPPORTUNITY</a:t>
            </a:r>
          </a:p>
        </p:txBody>
      </p:sp>
      <p:sp>
        <p:nvSpPr>
          <p:cNvPr id="17" name="TextBox 16"/>
          <p:cNvSpPr txBox="1"/>
          <p:nvPr/>
        </p:nvSpPr>
        <p:spPr>
          <a:xfrm>
            <a:off x="4572000" y="2240280"/>
            <a:ext cx="3291840" cy="3337560"/>
          </a:xfrm>
          <a:prstGeom prst="rect">
            <a:avLst/>
          </a:prstGeom>
          <a:noFill/>
        </p:spPr>
        <p:txBody>
          <a:bodyPr wrap="square" anchor="t" lIns="0" rIns="0" tIns="0" bIns="0">
            <a:spAutoFit/>
          </a:bodyPr>
          <a:lstStyle/>
          <a:p>
            <a:pPr algn="l"/>
            <a:r>
              <a:rPr sz="950" b="0">
                <a:solidFill>
                  <a:srgbClr val="32373E"/>
                </a:solidFill>
                <a:latin typeface="Arial"/>
              </a:rPr>
              <a:t>Run the search ad-rank program (bids, quality, RSA refresh) on TrackB terms, defend Brand, then scale into the recovered impression share.</a:t>
            </a:r>
          </a:p>
          <a:p>
            <a:pPr algn="l">
              <a:spcBef>
                <a:spcPts val="600"/>
              </a:spcBef>
            </a:pPr>
            <a:r>
              <a:rPr sz="950" b="0">
                <a:solidFill>
                  <a:srgbClr val="32373E"/>
                </a:solidFill>
                <a:latin typeface="Arial"/>
              </a:rPr>
              <a:t>Hold the reach line at pace once the blocklist and viewability floor land.</a:t>
            </a:r>
          </a:p>
        </p:txBody>
      </p:sp>
      <p:sp>
        <p:nvSpPr>
          <p:cNvPr id="18" name="Rectangle 17"/>
          <p:cNvSpPr/>
          <p:nvPr/>
        </p:nvSpPr>
        <p:spPr>
          <a:xfrm>
            <a:off x="8229600" y="1737360"/>
            <a:ext cx="3474720" cy="40233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37360"/>
            <a:ext cx="3474720" cy="91440"/>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0" y="1920240"/>
            <a:ext cx="3108960" cy="274320"/>
          </a:xfrm>
          <a:prstGeom prst="rect">
            <a:avLst/>
          </a:prstGeom>
          <a:noFill/>
        </p:spPr>
        <p:txBody>
          <a:bodyPr wrap="square" anchor="t" lIns="0" rIns="0" tIns="0" bIns="0">
            <a:spAutoFit/>
          </a:bodyPr>
          <a:lstStyle/>
          <a:p>
            <a:pPr algn="l"/>
            <a:r>
              <a:rPr sz="1000" b="1">
                <a:solidFill>
                  <a:srgbClr val="3B5998"/>
                </a:solidFill>
                <a:latin typeface="Arial"/>
              </a:rPr>
              <a:t>TO CLOSE THE QUARTER</a:t>
            </a:r>
          </a:p>
        </p:txBody>
      </p:sp>
      <p:sp>
        <p:nvSpPr>
          <p:cNvPr id="21" name="TextBox 20"/>
          <p:cNvSpPr txBox="1"/>
          <p:nvPr/>
        </p:nvSpPr>
        <p:spPr>
          <a:xfrm>
            <a:off x="8412480" y="2240280"/>
            <a:ext cx="3108960" cy="3337560"/>
          </a:xfrm>
          <a:prstGeom prst="rect">
            <a:avLst/>
          </a:prstGeom>
          <a:noFill/>
        </p:spPr>
        <p:txBody>
          <a:bodyPr wrap="square" anchor="t" lIns="0" rIns="0" tIns="0" bIns="0">
            <a:spAutoFit/>
          </a:bodyPr>
          <a:lstStyle/>
          <a:p>
            <a:pPr algn="l"/>
            <a:r>
              <a:rPr sz="950" b="0">
                <a:solidFill>
                  <a:srgbClr val="32373E"/>
                </a:solidFill>
                <a:latin typeface="Arial"/>
              </a:rPr>
              <a:t>Azerion June vendor file completes the application picture (its Apr-May total leads all channels).</a:t>
            </a:r>
          </a:p>
          <a:p>
            <a:pPr algn="l">
              <a:spcBef>
                <a:spcPts val="600"/>
              </a:spcBef>
            </a:pPr>
            <a:r>
              <a:rPr sz="950" b="0">
                <a:solidFill>
                  <a:srgbClr val="32373E"/>
                </a:solidFill>
                <a:latin typeface="Arial"/>
              </a:rPr>
              <a:t>First Native pilot read lands with vendor reporting; judged on cost per submitted application.</a:t>
            </a:r>
          </a:p>
        </p:txBody>
      </p:sp>
      <p:sp>
        <p:nvSpPr>
          <p:cNvPr id="22" name="Rectangle 21"/>
          <p:cNvSpPr/>
          <p:nvPr/>
        </p:nvSpPr>
        <p:spPr>
          <a:xfrm>
            <a:off x="457200" y="5943600"/>
            <a:ext cx="11247120" cy="5029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5943600"/>
            <a:ext cx="11247120" cy="73152"/>
          </a:xfrm>
          <a:prstGeom prst="rect">
            <a:avLst/>
          </a:prstGeom>
          <a:solidFill>
            <a:srgbClr val="3B59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062472"/>
            <a:ext cx="10881360" cy="320040"/>
          </a:xfrm>
          <a:prstGeom prst="rect">
            <a:avLst/>
          </a:prstGeom>
          <a:noFill/>
        </p:spPr>
        <p:txBody>
          <a:bodyPr wrap="square" anchor="t" lIns="0" rIns="0" tIns="0" bIns="0">
            <a:spAutoFit/>
          </a:bodyPr>
          <a:lstStyle/>
          <a:p>
            <a:pPr algn="l"/>
            <a:r>
              <a:rPr sz="1000" b="1">
                <a:solidFill>
                  <a:srgbClr val="1A2A3A"/>
                </a:solidFill>
                <a:latin typeface="Arial"/>
              </a:rPr>
              <a:t>Media is filling the funnel. July converts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