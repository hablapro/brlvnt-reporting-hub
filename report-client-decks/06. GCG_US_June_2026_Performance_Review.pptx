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Sessions</c:v>
                </c:pt>
              </c:strCache>
            </c:strRef>
          </c:tx>
          <c:spPr>
            <a:ln w="28575">
              <a:solidFill>
                <a:srgbClr val="3B5998"/>
              </a:solidFill>
            </a:ln>
          </c:spPr>
          <c:marker>
            <c:symbol val="circle"/>
            <c:size val="6"/>
            <c:spPr>
              <a:solidFill>
                <a:srgbClr val="3B599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69895</c:v>
                </c:pt>
                <c:pt idx="1">
                  <c:v>58481</c:v>
                </c:pt>
                <c:pt idx="2">
                  <c:v>74971</c:v>
                </c:pt>
                <c:pt idx="3">
                  <c:v>69553</c:v>
                </c:pt>
                <c:pt idx="4">
                  <c:v>69927</c:v>
                </c:pt>
                <c:pt idx="5">
                  <c:v>80231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Unique visitors</c:v>
                </c:pt>
              </c:strCache>
            </c:strRef>
          </c:tx>
          <c:spPr>
            <a:ln w="28575">
              <a:solidFill>
                <a:srgbClr val="27AE60"/>
              </a:solidFill>
            </a:ln>
          </c:spPr>
          <c:marker>
            <c:symbol val="circle"/>
            <c:size val="6"/>
            <c:spPr>
              <a:solidFill>
                <a:srgbClr val="27AE60"/>
              </a:solidFill>
              <a:ln>
                <a:solidFill>
                  <a:srgbClr val="FFFFFF"/>
                </a:solidFill>
              </a:ln>
            </c:spPr>
          </c:marker>
          <c:dLbls>
            <c:numFmt formatCode="#,##0" sourceLinked="0"/>
            <c:txPr>
              <a:bodyPr/>
              <a:lstStyle/>
              <a:p>
                <a:pPr>
                  <a:defRPr sz="750">
                    <a:solidFill>
                      <a:srgbClr val="32373E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24928</c:v>
                </c:pt>
                <c:pt idx="1">
                  <c:v>20841</c:v>
                </c:pt>
                <c:pt idx="2">
                  <c:v>29355</c:v>
                </c:pt>
                <c:pt idx="3">
                  <c:v>30251</c:v>
                </c:pt>
                <c:pt idx="4">
                  <c:v>29808</c:v>
                </c:pt>
                <c:pt idx="5">
                  <c:v>41795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2373E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998"/>
                </a:solidFill>
                <a:latin typeface="Arial"/>
              </a:rPr>
              <a:t>QUARTERLY BUSINESS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A2A3A"/>
                </a:solidFill>
                <a:latin typeface="Arial"/>
              </a:rPr>
              <a:t>GCG (US Hispanic)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1A2A3A"/>
                </a:solidFill>
                <a:latin typeface="Arial"/>
              </a:rPr>
              <a:t>Q3 FY2026 Business Review  ·  June 2026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Google Ads · Meta · Azerion · Quantcast · 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Reporting period: June 1–30, 2026   |   Currency: USD   |   Prepared by Berelvant · 07.17.2026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SUMMARY  ·  BLENDED VIEW (ORGANIC + PAID)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Volume is arriving. The start-to-submit step is the constraint.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2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28346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•  June live applications rose 6% to 306 and submissions 7% to 322; the approval rate held at 45%.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New funded held at 41 and new traded closed at 30. The fund step (28%) remains the gate to account growth.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Working media reached $117,024 in June (+53% MoM), the biggest GCG month of 2026, with the Native pilot adding a fifth channel.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Sessions grew 30% MoM on the paid scale-up while application starts stayed flat, so conversion, not volume, is the constraint.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Q2 closed 14% below Q1 on applications (1,033 vs 1,203) while media scaled 5x quarter over quarter.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566160" y="1828800"/>
          <a:ext cx="8129016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886968"/>
                <a:gridCol w="886968"/>
                <a:gridCol w="886968"/>
                <a:gridCol w="886968"/>
                <a:gridCol w="886968"/>
                <a:gridCol w="886968"/>
                <a:gridCol w="841248"/>
              </a:tblGrid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GCG — blended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Feb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Working Media Spend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$2,237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$49,106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$58,324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$76,274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$117,024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+53%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Unique Sessions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4,187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5,075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31,785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43,192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52,137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67,542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+30%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 Starts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2,306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1,871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2,820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2,767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2,617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2,590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Live Apps Submitted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+6%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Approved Clients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Approval Rate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0pp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Funded Clients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+3%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Fund Rate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-2pp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Cost per Funded Client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$1,116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$897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$1,907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$2,854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+50%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Traded Clients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-3%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Cost per Traded Client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$1,488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$1,100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$2,460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$3,901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+59%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66160" y="52120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Funnel metrics are blended organic + paid (client dashboard). Working media per the budget tracker. MoM = June vs May.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Q3 FY2026 IN REVIEW  ·  SPEND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program doubled from April and added a fifth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3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1051560"/>
                <a:gridCol w="1051560"/>
                <a:gridCol w="1097280"/>
                <a:gridCol w="1097280"/>
              </a:tblGrid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Google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$15,120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$15,201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$22,524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$52,845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$12,167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$12,243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$30,711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$55,121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$15,015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$22,359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$30,559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$67,933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$16,021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$26,472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$29,586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$72,079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Native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$3,645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$3,645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$58,324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$76,274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$117,024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$251,621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38912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Month-over-month growth: +31% into May, +53% into June. June ran at 2x the April level.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Q3 closed at $251,621 in working media, roughly 16% of the FY2026 budget; the program is at 19.35% of budget year to date.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mix stayed balanced as it scaled: no channel above 27% of June spend, with search, social, and two programmatic lines all growing and the Native pilot launching as the fifth channel.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Paid social led June growth (+151%), followed by search (+48%) and the reach line (+37%).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Q3 FY2026 IN REVIEW  · 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Search and display carried the measured volume.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4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68680"/>
                <a:gridCol w="868680"/>
                <a:gridCol w="914400"/>
                <a:gridCol w="1005840"/>
              </a:tblGrid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Google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 (pixel events)*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Measured submitted apps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43484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* Meta counts pixel application events, mostly application starts, on a traffic objective; not comparable to submitted applications. Quantcast is view-through, directional only. Measured submitted apps = Google + Azerion.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quarter delivered 332 measured submitted applications, with June its best month (125).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Azerion returned to form in June: 58 applications, up 35% on a 12% budget increase, at a $510 CPA (down 17%).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June exposed the search ceiling: spend rose 48% and applications fell 12%, because the account is rank-limited (64-76% of available impressions lost to ad rank, only 9-13% to budget). July search work is bids, quality, and ad strength before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Q1 VS Q2  ·  BLENDED FUNNEL (ORGANIC + PAID)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Four times the traffic, the same funded accounts.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5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585216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280160"/>
                <a:gridCol w="1280160"/>
                <a:gridCol w="1097280"/>
              </a:tblGrid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Q1 (Jan-Mar)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Q2 (Apr-Jun)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Unique Sessions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41,047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162,871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+297%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 Starts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6,997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7,974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+14%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Submitted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1,203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1,033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Live Apps Submitted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1,165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Approved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Funded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Traded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-3%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8006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Client dashboard, calendar quarters, blended organic + paid.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Traffic quadrupled quarter over quarter while application starts grew 14% and submissions fell 14%. Each funnel stage dampened the volume the media bought: the start rate diluted from 17% to 5% and the submit rate from 17% to 13%.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Funded and traded held flat, so the business outcome absorbed none of the scale yet.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work that converts this traffic is funnel work: the start-to-submit step first, then the approved-to-funded step. Media is filling the top; the next accounts come from conversion.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SITE TRAFFIC  ·  SPANISH-LANGUAGE AUDIENCE (GA4, 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 stable base with a paid June lift. No organic problem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6 / 15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783080"/>
          <a:ext cx="6400800" cy="2606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572000"/>
            <a:ext cx="6400800" cy="1737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640080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THE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6035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Spanish-language sessions on the US property held near 70K from January through May and rose 15% in June with the media scale-up; unique visitors rose 40% to 41,795. The traffic base under GCG is healthy and growing.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1783080"/>
            <a:ext cx="4480560" cy="45262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23760" y="1783080"/>
            <a:ext cx="44805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19659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286000"/>
            <a:ext cx="41148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Media is expanding the audience: June brought the highest Spanish-language visitor count of the year.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Measurement is working: site analytics capture roughly 57% of paid social clicks as sessions, and search reconciles exactly.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gap between traffic growth and application growth is a conversion problem, not a traffic or measurement problem, which is why the funnel work on the previous slide leads the recommendations.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JUNE 2026  · 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biggest GCG media month of 2026, with one channel at its ceiling.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7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84848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0552"/>
                <a:gridCol w="969264"/>
                <a:gridCol w="969264"/>
                <a:gridCol w="969264"/>
                <a:gridCol w="777240"/>
                <a:gridCol w="969264"/>
              </a:tblGrid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Conv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Google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$22,524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181,470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12,888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$30,711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3.06M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74,572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136*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$30,559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37.2M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2,942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15 VT*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$29,586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4.52M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19,653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Native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$3,645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pilot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$117,024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977639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* Meta counts pixel application events (mostly starts) on a traffic objective. Programmatic view-through is directional only. Conversions use different events per channel and are never summed.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HEADLINES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was the biggest GCG media month of 2026: $117,024 across five lines, up 53% from May. Azerion led conversion with 58 applications at $510 (+35%), search added 67 at $336, and the Native pilot entered the market.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26280"/>
            <a:ext cx="6766560" cy="1828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52628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29200"/>
            <a:ext cx="6400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Search hit its rank ceiling: +48% spend bought -12% applications. Paid social scaled 151% with healthy delivery (71% of clicks became landing-page views). The reach line scaled 37% and its viewability fell to 46.9%, which the blocklist addresses.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4526280"/>
            <a:ext cx="4297680" cy="1828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452628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19" y="470916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JUNE PRIORITY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19" y="5029200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Shift paid social to the conversion objective, run the search ad-rank program before adding budget, and apply the programmatic blocklist with a viewability floor.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CONT'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Three moves shape July.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8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IS STILL FORMING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Search efficiency at scale. June proved the account is rank-limited: every campaign loses 64-76% of available impressions to ad rank and only 9-13% to budget. More budget at current ad rank buys worse auctions.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Paid social conversion measurement. Delivery and site capture are healthy, but the campaign still runs a traffic objective, so its 136 pixel events are mostly application starts rather than submitted applications.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Native pilot. The June flight ($3,645) was an intentionally small first burn, below the volume for a meaningful cost-per-application read. The full pilot reports with July.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paid-social shift to a conversion objective and judge the channel on submitted applications from July.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the search ad-rank program on the proven TrackB terms: bid and quality work plus an RSA refresh, then scale into the recovered impression share.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Apply the 18-site programmatic blocklist (32% of June spend on that line) and set a campaign-level viewability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Put the start-to-submit funnel step on the joint roadmap with the client; media is filling the top of the funnel.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GOOGLE ADS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67 submitted applications at $336. The account hit its rank ceiling.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9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$22,524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+48%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181,470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4 campaigns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12,888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7.10%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AVG CPC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$1.75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$1.53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SUBMITTED APPS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76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Campaigns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6949440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731520"/>
                <a:gridCol w="914400"/>
                <a:gridCol w="1097280"/>
              </a:tblGrid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Search IS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TrackA Trust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$7,796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5,712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TrackB Authority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$6,826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3,198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$297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TrackB Platform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$4,489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2,568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$264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Brand Search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$3,413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1,410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$379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All 67 conversions are submitted applications (Step 5 goal, definition unchanged from May).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TrackB stayed the efficiency core: Platform $264 and Authority $297. TrackA Trust converted at $433.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Spend rose 48% but applications fell 12%, because extra budget at current ad rank bought worse auctions, not more volume.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74920"/>
            <a:ext cx="6949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Impression share tells the story: campaigns lose 64-76% of available impressions to ad rank and only 9-13% to budget. Brand holds just 11% of its own auctions. The account has a large runway that budget alone cannot buy.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GOOGLE ADS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Earn rank first. Then scale.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10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May was the efficiency peak: 76 applications at $200 with even weekly pacing. June added 48% more budget and got 12% fewer applications at $336.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auction data isolates the cause: lost impression share is rank-driven everywhere (64-76%), not budget-driven (9-13%). The account cannot buy its way past ad rank at current bids, quality, and ad strength.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TrackB remains the proven converter set ($264-$297); Brand at 11% impression share is under-defended.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Run the ad-rank program before adding budget: bid up the proven TrackB terms, refresh RSAs to lift ad strength, and rebuild quality score on the Trust track.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Defend Brand: 11% impression share on brand terms leaves the highest-intent auctions to competitors.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Hold June budget levels while rank recovers, then scale into the impression share the rank work opens.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Scaled 2.5x with clean delivery. Ready for the conversion objective.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11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$30,711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+151%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3.06M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CPM $10.04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REACH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1.53M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freq 2.0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LINK CLICKS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74,572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2.44%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LP 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52,639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70.6% of clicks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PIXEL EVENTS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starts rollup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Ad Sets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6126480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005840"/>
                <a:gridCol w="1097280"/>
                <a:gridCol w="914400"/>
                <a:gridCol w="1097280"/>
              </a:tblGrid>
              <a:tr h="4267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 set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Link 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LPV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Pixel events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trackA_pros_us_es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$16,924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35,710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25,078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trackB_pros_us_es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$17,787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38,862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27,561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583680" y="3063240"/>
            <a:ext cx="512064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0" y="3063240"/>
            <a:ext cx="512064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0" y="3246120"/>
            <a:ext cx="4754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3566160"/>
            <a:ext cx="475487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Delivery held through a 2.5x scale-up: landing-page views ran at 70.6% of link clicks (May: 65.9%) and site analytics capture roughly 57% of clicks as sessions. The measurement chain works.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campaign still runs the Q2 traffic objective, so its 136 pixel events are mostly application starts. The conversion-objective shift is the unlock for judging this channel on submitted applications.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892040"/>
            <a:ext cx="5852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audience delivery reached 1.53M people at 2.0 frequency, the largest Spanish-language reach of any GCG channel with verified site arrival.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Make the objective match the goal.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12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channel does what a traffic objective asks: cheap, verified site visitors at scale. What it does not do yet is optimize toward applications, because the objective never asked it to.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Every delivery signal supports the shift: stable CPM through the scale-up, improving click-to-LPV rate, healthy analytics capture, and a growing retargeting pool from four months of traffic.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shift to a conversion objective in July and judge the channel on submitted applications.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Seed the conversion campaigns with the pixel and the four-month retargeting pool before scaling prospecting.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Keep the trackA/trackB split so creative learnings carry over from the search program.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QUANTCAST  ·  PERFORMANCE &amp;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 deliberate reach month, with the same quality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$30,559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+37%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37.2M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+38% MoM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$0.82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$0.83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DEVICE REACH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23.2M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freq 1.6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46.9%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70% standard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RESULTS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13 view-through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reach line scaled on purpose: 37.2M impressions to 23.2M devices at a flat $0.82 CPM.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Viewability fell to 46.9%, well under the 70% standard. We delivered an 18-site blocklist covering $9,752 (32%) of June spend on this line and recommend a campaign-level viewability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Results rose 8 to 15, but 13 of 15 are view-through: directional support, not proven response.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TOP BLOCKLIST ENTRIES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yahoo.com $2,270 at 15.7% viewability; clarin.com $1,315 at 26%; weather.com $1,278 at 17.7%; genius.com $771 at 0.9%; zillow.com $685 at 5.6%.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list ships with this report; applying it plus a viewability floor moves the line toward the standard without giving up the reach efficiency.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AZERION  ·  PERFORMANCE &amp;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58 applications, up 35% on a 12% budget increase. Fewer starts, better starts.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14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$29,586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+12%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4.52M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CPM $6.55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19,653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0.44%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APP STARTS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1,398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$510 CPA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58.8%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70% standard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Ad Sets (Applications)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530352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005840"/>
                <a:gridCol w="822960"/>
                <a:gridCol w="1097280"/>
              </a:tblGrid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 Set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Trusted Broker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$352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Broker 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$4,964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$382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Language Broker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Professional Tools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$4,940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$549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Spanish Platform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Trust HTML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$4,916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$983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217920" y="3063240"/>
            <a:ext cx="5486400" cy="27432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READ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566160"/>
            <a:ext cx="51206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Applications rose 35% (43 to 58) at a $510 CPA, down 17%: the strongest converter of the June program.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Application starts fell 1,398 to 447 while completion improved from 3.1% to 13.0%, which is the start-to-submit fix May called for: fewer, better-qualified starts.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Delivery is confirmed US-only (state-level geo report). Viewability at 58.8% sits under the 70% standard; the 300x600 format converts best ($124 vendor-basis) and 728x90 worst.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5943600"/>
            <a:ext cx="5486400" cy="5029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5943600"/>
            <a:ext cx="5486400" cy="731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605332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32373E"/>
                </a:solidFill>
                <a:latin typeface="Arial"/>
              </a:rPr>
              <a:t>Native pilot: $3,645 intentionally small first flight; full pilot read reports with July.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CROSS-CHANNEL PRIORITIES +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Convert the traffic. Earn the rank. Guard the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15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Shift paid social to the conversion objective and judge it on submitted applications.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Put the start-to-submit funnel step on the joint roadmap; media is filling the top of the funnel and conversion is the constraint.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SCALING &amp;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Run the search ad-rank program (bids, quality, RSA refresh) on TrackB terms, defend Brand, then scale into the recovered impression share.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Hold the reach line at pace once the blocklist and viewability floor land.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TO CLOSE THE QUARTER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Carry the Azerion start-quality fix forward: completion tripled to 13% in June; concentrate budget on Trusted Broker and Broker 1 and push viewability over the standard.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Native pilot reports in full with July: the June flight was an intentionally small first burn, judged then on cost per submitted application.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2A3A"/>
                </a:solidFill>
                <a:latin typeface="Arial"/>
              </a:rPr>
              <a:t>Media is filling the funnel. July converts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