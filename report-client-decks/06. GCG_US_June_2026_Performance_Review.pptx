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Sessions</c:v>
                </c:pt>
              </c:strCache>
            </c:strRef>
          </c:tx>
          <c:spPr>
            <a:ln w="28575">
              <a:solidFill>
                <a:srgbClr val="3B5998"/>
              </a:solidFill>
            </a:ln>
          </c:spPr>
          <c:marker>
            <c:symbol val="circle"/>
            <c:size val="6"/>
            <c:spPr>
              <a:solidFill>
                <a:srgbClr val="3B5998"/>
              </a:solidFill>
              <a:ln>
                <a:solidFill>
                  <a:srgbClr val="FFFFFF"/>
                </a:solidFill>
              </a:ln>
            </c:spPr>
          </c:marker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69895</c:v>
                </c:pt>
                <c:pt idx="1">
                  <c:v>58481</c:v>
                </c:pt>
                <c:pt idx="2">
                  <c:v>74971</c:v>
                </c:pt>
                <c:pt idx="3">
                  <c:v>69553</c:v>
                </c:pt>
                <c:pt idx="4">
                  <c:v>69927</c:v>
                </c:pt>
                <c:pt idx="5">
                  <c:v>80231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Unique visitors</c:v>
                </c:pt>
              </c:strCache>
            </c:strRef>
          </c:tx>
          <c:spPr>
            <a:ln w="28575">
              <a:solidFill>
                <a:srgbClr val="27AE60"/>
              </a:solidFill>
            </a:ln>
          </c:spPr>
          <c:marker>
            <c:symbol val="circle"/>
            <c:size val="6"/>
            <c:spPr>
              <a:solidFill>
                <a:srgbClr val="27AE60"/>
              </a:solidFill>
              <a:ln>
                <a:solidFill>
                  <a:srgbClr val="FFFFFF"/>
                </a:solidFill>
              </a:ln>
            </c:spPr>
          </c:marker>
          <c:dLbls>
            <c:numFmt formatCode="#,##0" sourceLinked="0"/>
            <c:txPr>
              <a:bodyPr/>
              <a:lstStyle/>
              <a:p>
                <a:pPr>
                  <a:defRPr sz="750">
                    <a:solidFill>
                      <a:srgbClr val="32373E"/>
                    </a:solidFill>
                  </a:defRPr>
                </a:pPr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Sheet1!$A$2:$A$7</c:f>
              <c:strCache>
                <c:ptCount val="6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</c:strCache>
            </c: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24928</c:v>
                </c:pt>
                <c:pt idx="1">
                  <c:v>20841</c:v>
                </c:pt>
                <c:pt idx="2">
                  <c:v>29355</c:v>
                </c:pt>
                <c:pt idx="3">
                  <c:v>30251</c:v>
                </c:pt>
                <c:pt idx="4">
                  <c:v>29808</c:v>
                </c:pt>
                <c:pt idx="5">
                  <c:v>41795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spPr>
          <a:ln>
            <a:solidFill>
              <a:srgbClr val="D9D9D9"/>
            </a:solidFill>
          </a:ln>
        </c:sp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>
          <c:spPr>
            <a:ln w="6350">
              <a:solidFill>
                <a:srgbClr val="D9D9D9"/>
              </a:solidFill>
            </a:ln>
          </c:spPr>
        </c:majorGridlines>
        <c:numFmt formatCode="#,##0" sourceLinked="0"/>
        <c:majorTickMark val="out"/>
        <c:minorTickMark val="none"/>
        <c:tickLblPos val="nextTo"/>
        <c:spPr>
          <a:ln>
            <a:noFill/>
          </a:ln>
        </c:sp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800"/>
          </a:pPr>
        </a:p>
      </c:txPr>
    </c:legend>
    <c:plotVisOnly val="1"/>
    <c:dispBlanksAs val="gap"/>
    <c:showDLblsOverMax val="0"/>
  </c:chart>
  <c:txPr>
    <a:bodyPr/>
    <a:lstStyle/>
    <a:p>
      <a:pPr>
        <a:defRPr sz="800">
          <a:solidFill>
            <a:srgbClr val="32373E"/>
          </a:solidFill>
          <a:latin typeface="Arial"/>
        </a:defRPr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chart" Target="../charts/chart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852160"/>
            <a:ext cx="12191695" cy="1005840"/>
          </a:xfrm>
          <a:prstGeom prst="rect">
            <a:avLst/>
          </a:prstGeom>
          <a:solidFill>
            <a:srgbClr val="1A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2011680"/>
            <a:ext cx="91440" cy="2286000"/>
          </a:xfrm>
          <a:prstGeom prst="rect">
            <a:avLst/>
          </a:prstGeom>
          <a:solidFill>
            <a:srgbClr val="3B59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_1_fd6b9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457200"/>
            <a:ext cx="2286000" cy="64922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22960" y="2011680"/>
            <a:ext cx="10058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>
                <a:solidFill>
                  <a:srgbClr val="3B5998"/>
                </a:solidFill>
                <a:latin typeface="Arial"/>
              </a:rPr>
              <a:t>QUARTERLY BUSINESS REVIEW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468880"/>
            <a:ext cx="1097280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600" b="1">
                <a:solidFill>
                  <a:srgbClr val="1A2A3A"/>
                </a:solidFill>
                <a:latin typeface="Arial"/>
              </a:rPr>
              <a:t>GCG (US Hispanic) — Paid Media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474720"/>
            <a:ext cx="109728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200" b="0">
                <a:solidFill>
                  <a:srgbClr val="1A2A3A"/>
                </a:solidFill>
                <a:latin typeface="Arial"/>
              </a:rPr>
              <a:t>Q3 FY2026 Business Review  ·  June 2026 Performance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411480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>
                <a:solidFill>
                  <a:srgbClr val="5A5A5A"/>
                </a:solidFill>
                <a:latin typeface="Arial"/>
              </a:rPr>
              <a:t>Google Ads · Meta · Azerion · Quantcast · Native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6080760"/>
            <a:ext cx="10972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>
                <a:solidFill>
                  <a:srgbClr val="FFFFFF"/>
                </a:solidFill>
                <a:latin typeface="Arial"/>
              </a:rPr>
              <a:t>Reporting period: June 1–30, 2026   |   Currency: USD   |   Prepared by Berelvant · 07.17.2026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0"/>
          </a:xfrm>
          <a:prstGeom prst="rect">
            <a:avLst/>
          </a:prstGeom>
          <a:solidFill>
            <a:srgbClr val="1A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Arial"/>
              </a:rPr>
              <a:t>FOREX.com  |  GCG (US Hispanic)  ·  June 2026</a:t>
            </a:r>
          </a:p>
        </p:txBody>
      </p:sp>
      <p:pic>
        <p:nvPicPr>
          <p:cNvPr id="4" name="Picture 3" descr="logo_1_fd6b9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55680" y="100584"/>
            <a:ext cx="896112" cy="25603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566928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3B5998"/>
                </a:solidFill>
                <a:latin typeface="Arial"/>
              </a:rPr>
              <a:t>SUMMARY  ·  BLENDED VIEW (ORGANIC + PAID)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471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>
                <a:solidFill>
                  <a:srgbClr val="1A2A3A"/>
                </a:solidFill>
                <a:latin typeface="Arial"/>
              </a:rPr>
              <a:t>Volume is arriving. The start-to-submit step is the constraint.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611112"/>
            <a:ext cx="54864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78828C"/>
                </a:solidFill>
                <a:latin typeface="Arial"/>
              </a:rPr>
              <a:t>Performance Review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64240" y="6611112"/>
            <a:ext cx="8229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>
                <a:solidFill>
                  <a:srgbClr val="78828C"/>
                </a:solidFill>
                <a:latin typeface="Arial"/>
              </a:rPr>
              <a:t>2 / 15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1828800"/>
            <a:ext cx="2834640" cy="4389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32373E"/>
                </a:solidFill>
                <a:latin typeface="Arial"/>
              </a:rPr>
              <a:t>•  June live applications rose 6% to 306 and submissions 7% to 322; the approval rate held at 45%.</a:t>
            </a:r>
          </a:p>
          <a:p>
            <a:pPr algn="l">
              <a:spcBef>
                <a:spcPts val="600"/>
              </a:spcBef>
            </a:pPr>
            <a:r>
              <a:rPr sz="950" b="0">
                <a:solidFill>
                  <a:srgbClr val="32373E"/>
                </a:solidFill>
                <a:latin typeface="Arial"/>
              </a:rPr>
              <a:t>•  New funded held at 41 and new traded closed at 30. The fund step (28%) remains the gate to account growth.</a:t>
            </a:r>
          </a:p>
          <a:p>
            <a:pPr algn="l">
              <a:spcBef>
                <a:spcPts val="600"/>
              </a:spcBef>
            </a:pPr>
            <a:r>
              <a:rPr sz="950" b="0">
                <a:solidFill>
                  <a:srgbClr val="32373E"/>
                </a:solidFill>
                <a:latin typeface="Arial"/>
              </a:rPr>
              <a:t>•  Working media reached $117,024 in June (+53% MoM), the biggest GCG month of 2026, with the Native pilot adding a fifth channel.</a:t>
            </a:r>
          </a:p>
          <a:p>
            <a:pPr algn="l">
              <a:spcBef>
                <a:spcPts val="600"/>
              </a:spcBef>
            </a:pPr>
            <a:r>
              <a:rPr sz="950" b="0">
                <a:solidFill>
                  <a:srgbClr val="32373E"/>
                </a:solidFill>
                <a:latin typeface="Arial"/>
              </a:rPr>
              <a:t>•  Sessions grew 30% MoM on the paid scale-up while application starts stayed flat, so conversion, not volume, is the constraint.</a:t>
            </a:r>
          </a:p>
          <a:p>
            <a:pPr algn="l">
              <a:spcBef>
                <a:spcPts val="600"/>
              </a:spcBef>
            </a:pPr>
            <a:r>
              <a:rPr sz="950" b="0">
                <a:solidFill>
                  <a:srgbClr val="32373E"/>
                </a:solidFill>
                <a:latin typeface="Arial"/>
              </a:rPr>
              <a:t>•  Q2 closed 14% below Q1 on applications (1,033 vs 1,203) while media scaled 5x quarter over quarter.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566160" y="1828800"/>
          <a:ext cx="8129016" cy="32004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965960"/>
                <a:gridCol w="886968"/>
                <a:gridCol w="886968"/>
                <a:gridCol w="886968"/>
                <a:gridCol w="886968"/>
                <a:gridCol w="886968"/>
                <a:gridCol w="886968"/>
                <a:gridCol w="841248"/>
              </a:tblGrid>
              <a:tr h="266700"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GCG — blended</a:t>
                      </a:r>
                    </a:p>
                  </a:txBody>
                  <a:tcPr marL="54864" marR="54864" marT="27432" marB="27432">
                    <a:solidFill>
                      <a:srgbClr val="3B599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Jan</a:t>
                      </a:r>
                    </a:p>
                  </a:txBody>
                  <a:tcPr marL="54864" marR="54864" marT="27432" marB="27432">
                    <a:solidFill>
                      <a:srgbClr val="3B599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Feb</a:t>
                      </a:r>
                    </a:p>
                  </a:txBody>
                  <a:tcPr marL="54864" marR="54864" marT="27432" marB="27432">
                    <a:solidFill>
                      <a:srgbClr val="3B599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Mar</a:t>
                      </a:r>
                    </a:p>
                  </a:txBody>
                  <a:tcPr marL="54864" marR="54864" marT="27432" marB="27432">
                    <a:solidFill>
                      <a:srgbClr val="3B599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Apr</a:t>
                      </a:r>
                    </a:p>
                  </a:txBody>
                  <a:tcPr marL="54864" marR="54864" marT="27432" marB="27432">
                    <a:solidFill>
                      <a:srgbClr val="3B599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May</a:t>
                      </a:r>
                    </a:p>
                  </a:txBody>
                  <a:tcPr marL="54864" marR="54864" marT="27432" marB="27432">
                    <a:solidFill>
                      <a:srgbClr val="3B599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</a:t>
                      </a:r>
                    </a:p>
                  </a:txBody>
                  <a:tcPr marL="54864" marR="54864" marT="27432" marB="27432">
                    <a:solidFill>
                      <a:srgbClr val="3B599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54864" marR="54864" marT="27432" marB="27432">
                    <a:solidFill>
                      <a:srgbClr val="3B5998"/>
                    </a:solidFill>
                  </a:tcPr>
                </a:tc>
              </a:tr>
              <a:tr h="266700"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32373E"/>
                          </a:solidFill>
                          <a:latin typeface="Arial"/>
                        </a:rPr>
                        <a:t>Working Media Spend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$2,237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$49,106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$58,324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$76,274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$117,024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+53%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266700"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32373E"/>
                          </a:solidFill>
                          <a:latin typeface="Arial"/>
                        </a:rPr>
                        <a:t>Unique Sessions</a:t>
                      </a:r>
                    </a:p>
                  </a:txBody>
                  <a:tcPr marL="54864" marR="54864" marT="27432" marB="27432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4,187</a:t>
                      </a:r>
                    </a:p>
                  </a:txBody>
                  <a:tcPr marL="54864" marR="54864" marT="27432" marB="27432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5,075</a:t>
                      </a:r>
                    </a:p>
                  </a:txBody>
                  <a:tcPr marL="54864" marR="54864" marT="27432" marB="27432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31,785</a:t>
                      </a:r>
                    </a:p>
                  </a:txBody>
                  <a:tcPr marL="54864" marR="54864" marT="27432" marB="27432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43,192</a:t>
                      </a:r>
                    </a:p>
                  </a:txBody>
                  <a:tcPr marL="54864" marR="54864" marT="27432" marB="27432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52,137</a:t>
                      </a:r>
                    </a:p>
                  </a:txBody>
                  <a:tcPr marL="54864" marR="54864" marT="27432" marB="27432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67,542</a:t>
                      </a:r>
                    </a:p>
                  </a:txBody>
                  <a:tcPr marL="54864" marR="54864" marT="27432" marB="27432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+30%</a:t>
                      </a:r>
                    </a:p>
                  </a:txBody>
                  <a:tcPr marL="54864" marR="54864" marT="27432" marB="27432">
                    <a:solidFill>
                      <a:srgbClr val="F3F3F3"/>
                    </a:solidFill>
                  </a:tcPr>
                </a:tc>
              </a:tr>
              <a:tr h="266700"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32373E"/>
                          </a:solidFill>
                          <a:latin typeface="Arial"/>
                        </a:rPr>
                        <a:t>App Starts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2,306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1,871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2,820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2,767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2,617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2,590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-1%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266700"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32373E"/>
                          </a:solidFill>
                          <a:latin typeface="Arial"/>
                        </a:rPr>
                        <a:t>Live Apps Submitted</a:t>
                      </a:r>
                    </a:p>
                  </a:txBody>
                  <a:tcPr marL="54864" marR="54864" marT="27432" marB="27432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430</a:t>
                      </a:r>
                    </a:p>
                  </a:txBody>
                  <a:tcPr marL="54864" marR="54864" marT="27432" marB="27432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344</a:t>
                      </a:r>
                    </a:p>
                  </a:txBody>
                  <a:tcPr marL="54864" marR="54864" marT="27432" marB="27432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391</a:t>
                      </a:r>
                    </a:p>
                  </a:txBody>
                  <a:tcPr marL="54864" marR="54864" marT="27432" marB="27432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398</a:t>
                      </a:r>
                    </a:p>
                  </a:txBody>
                  <a:tcPr marL="54864" marR="54864" marT="27432" marB="27432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289</a:t>
                      </a:r>
                    </a:p>
                  </a:txBody>
                  <a:tcPr marL="54864" marR="54864" marT="27432" marB="27432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306</a:t>
                      </a:r>
                    </a:p>
                  </a:txBody>
                  <a:tcPr marL="54864" marR="54864" marT="27432" marB="27432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+6%</a:t>
                      </a:r>
                    </a:p>
                  </a:txBody>
                  <a:tcPr marL="54864" marR="54864" marT="27432" marB="27432">
                    <a:solidFill>
                      <a:srgbClr val="F3F3F3"/>
                    </a:solidFill>
                  </a:tcPr>
                </a:tc>
              </a:tr>
              <a:tr h="266700"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32373E"/>
                          </a:solidFill>
                          <a:latin typeface="Arial"/>
                        </a:rPr>
                        <a:t>Approved Clients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202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150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172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186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134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145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+8%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266700"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32373E"/>
                          </a:solidFill>
                          <a:latin typeface="Arial"/>
                        </a:rPr>
                        <a:t>Approval Rate</a:t>
                      </a:r>
                    </a:p>
                  </a:txBody>
                  <a:tcPr marL="54864" marR="54864" marT="27432" marB="27432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46%</a:t>
                      </a:r>
                    </a:p>
                  </a:txBody>
                  <a:tcPr marL="54864" marR="54864" marT="27432" marB="27432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43%</a:t>
                      </a:r>
                    </a:p>
                  </a:txBody>
                  <a:tcPr marL="54864" marR="54864" marT="27432" marB="27432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42%</a:t>
                      </a:r>
                    </a:p>
                  </a:txBody>
                  <a:tcPr marL="54864" marR="54864" marT="27432" marB="27432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45%</a:t>
                      </a:r>
                    </a:p>
                  </a:txBody>
                  <a:tcPr marL="54864" marR="54864" marT="27432" marB="27432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45%</a:t>
                      </a:r>
                    </a:p>
                  </a:txBody>
                  <a:tcPr marL="54864" marR="54864" marT="27432" marB="27432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45%</a:t>
                      </a:r>
                    </a:p>
                  </a:txBody>
                  <a:tcPr marL="54864" marR="54864" marT="27432" marB="27432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0pp</a:t>
                      </a:r>
                    </a:p>
                  </a:txBody>
                  <a:tcPr marL="54864" marR="54864" marT="27432" marB="27432">
                    <a:solidFill>
                      <a:srgbClr val="F3F3F3"/>
                    </a:solidFill>
                  </a:tcPr>
                </a:tc>
              </a:tr>
              <a:tr h="266700"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32373E"/>
                          </a:solidFill>
                          <a:latin typeface="Arial"/>
                        </a:rPr>
                        <a:t>New Funded Clients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58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46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44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65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+3%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266700"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32373E"/>
                          </a:solidFill>
                          <a:latin typeface="Arial"/>
                        </a:rPr>
                        <a:t>Fund Rate</a:t>
                      </a:r>
                    </a:p>
                  </a:txBody>
                  <a:tcPr marL="54864" marR="54864" marT="27432" marB="27432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29%</a:t>
                      </a:r>
                    </a:p>
                  </a:txBody>
                  <a:tcPr marL="54864" marR="54864" marT="27432" marB="27432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31%</a:t>
                      </a:r>
                    </a:p>
                  </a:txBody>
                  <a:tcPr marL="54864" marR="54864" marT="27432" marB="27432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26%</a:t>
                      </a:r>
                    </a:p>
                  </a:txBody>
                  <a:tcPr marL="54864" marR="54864" marT="27432" marB="27432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35%</a:t>
                      </a:r>
                    </a:p>
                  </a:txBody>
                  <a:tcPr marL="54864" marR="54864" marT="27432" marB="27432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30%</a:t>
                      </a:r>
                    </a:p>
                  </a:txBody>
                  <a:tcPr marL="54864" marR="54864" marT="27432" marB="27432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28%</a:t>
                      </a:r>
                    </a:p>
                  </a:txBody>
                  <a:tcPr marL="54864" marR="54864" marT="27432" marB="27432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-2pp</a:t>
                      </a:r>
                    </a:p>
                  </a:txBody>
                  <a:tcPr marL="54864" marR="54864" marT="27432" marB="27432">
                    <a:solidFill>
                      <a:srgbClr val="F3F3F3"/>
                    </a:solidFill>
                  </a:tcPr>
                </a:tc>
              </a:tr>
              <a:tr h="266700"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32373E"/>
                          </a:solidFill>
                          <a:latin typeface="Arial"/>
                        </a:rPr>
                        <a:t>Cost per Funded Client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$49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$1,116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$897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$1,907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$2,854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+50%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266700"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32373E"/>
                          </a:solidFill>
                          <a:latin typeface="Arial"/>
                        </a:rPr>
                        <a:t>New Traded Clients</a:t>
                      </a:r>
                    </a:p>
                  </a:txBody>
                  <a:tcPr marL="54864" marR="54864" marT="27432" marB="27432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L="54864" marR="54864" marT="27432" marB="27432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40</a:t>
                      </a:r>
                    </a:p>
                  </a:txBody>
                  <a:tcPr marL="54864" marR="54864" marT="27432" marB="27432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33</a:t>
                      </a:r>
                    </a:p>
                  </a:txBody>
                  <a:tcPr marL="54864" marR="54864" marT="27432" marB="27432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53</a:t>
                      </a:r>
                    </a:p>
                  </a:txBody>
                  <a:tcPr marL="54864" marR="54864" marT="27432" marB="27432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54864" marR="54864" marT="27432" marB="27432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30</a:t>
                      </a:r>
                    </a:p>
                  </a:txBody>
                  <a:tcPr marL="54864" marR="54864" marT="27432" marB="27432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-3%</a:t>
                      </a:r>
                    </a:p>
                  </a:txBody>
                  <a:tcPr marL="54864" marR="54864" marT="27432" marB="27432">
                    <a:solidFill>
                      <a:srgbClr val="F3F3F3"/>
                    </a:solidFill>
                  </a:tcPr>
                </a:tc>
              </a:tr>
              <a:tr h="266700"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32373E"/>
                          </a:solidFill>
                          <a:latin typeface="Arial"/>
                        </a:rPr>
                        <a:t>Cost per Traded Client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$56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$1,488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$1,100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$2,460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$3,901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+59%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3566160" y="5212080"/>
            <a:ext cx="8138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>
                <a:solidFill>
                  <a:srgbClr val="5A5A5A"/>
                </a:solidFill>
                <a:latin typeface="Arial"/>
              </a:rPr>
              <a:t>Funnel metrics are blended organic + paid (client dashboard). Working media per the budget tracker. MoM = June vs May.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0"/>
          </a:xfrm>
          <a:prstGeom prst="rect">
            <a:avLst/>
          </a:prstGeom>
          <a:solidFill>
            <a:srgbClr val="1A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Arial"/>
              </a:rPr>
              <a:t>FOREX.com  |  GCG (US Hispanic)  ·  June 2026</a:t>
            </a:r>
          </a:p>
        </p:txBody>
      </p:sp>
      <p:pic>
        <p:nvPicPr>
          <p:cNvPr id="4" name="Picture 3" descr="logo_1_fd6b9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55680" y="100584"/>
            <a:ext cx="896112" cy="25603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566928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3B5998"/>
                </a:solidFill>
                <a:latin typeface="Arial"/>
              </a:rPr>
              <a:t>Q3 FY2026 IN REVIEW  ·  SPEND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471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>
                <a:solidFill>
                  <a:srgbClr val="1A2A3A"/>
                </a:solidFill>
                <a:latin typeface="Arial"/>
              </a:rPr>
              <a:t>The program doubled from April and added a fifth channel.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611112"/>
            <a:ext cx="54864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78828C"/>
                </a:solidFill>
                <a:latin typeface="Arial"/>
              </a:rPr>
              <a:t>Performance Review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64240" y="6611112"/>
            <a:ext cx="8229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>
                <a:solidFill>
                  <a:srgbClr val="78828C"/>
                </a:solidFill>
                <a:latin typeface="Arial"/>
              </a:rPr>
              <a:t>3 / 15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57200" y="1737360"/>
          <a:ext cx="6035040" cy="246888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737360"/>
                <a:gridCol w="1051560"/>
                <a:gridCol w="1051560"/>
                <a:gridCol w="1097280"/>
                <a:gridCol w="1097280"/>
              </a:tblGrid>
              <a:tr h="352697"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Channel</a:t>
                      </a:r>
                    </a:p>
                  </a:txBody>
                  <a:tcPr marL="54864" marR="54864" marT="27432" marB="27432">
                    <a:solidFill>
                      <a:srgbClr val="3B599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Apr</a:t>
                      </a:r>
                    </a:p>
                  </a:txBody>
                  <a:tcPr marL="54864" marR="54864" marT="27432" marB="27432">
                    <a:solidFill>
                      <a:srgbClr val="3B599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May</a:t>
                      </a:r>
                    </a:p>
                  </a:txBody>
                  <a:tcPr marL="54864" marR="54864" marT="27432" marB="27432">
                    <a:solidFill>
                      <a:srgbClr val="3B599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</a:t>
                      </a:r>
                    </a:p>
                  </a:txBody>
                  <a:tcPr marL="54864" marR="54864" marT="27432" marB="27432">
                    <a:solidFill>
                      <a:srgbClr val="3B599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Q3</a:t>
                      </a:r>
                    </a:p>
                  </a:txBody>
                  <a:tcPr marL="54864" marR="54864" marT="27432" marB="27432">
                    <a:solidFill>
                      <a:srgbClr val="3B5998"/>
                    </a:solidFill>
                  </a:tcPr>
                </a:tc>
              </a:tr>
              <a:tr h="352697"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32373E"/>
                          </a:solidFill>
                          <a:latin typeface="Arial"/>
                        </a:rPr>
                        <a:t>Google Ads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$15,120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$15,201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$22,524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$52,845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352697"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32373E"/>
                          </a:solidFill>
                          <a:latin typeface="Arial"/>
                        </a:rPr>
                        <a:t>Meta</a:t>
                      </a:r>
                    </a:p>
                  </a:txBody>
                  <a:tcPr marL="54864" marR="54864" marT="27432" marB="27432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$12,167</a:t>
                      </a:r>
                    </a:p>
                  </a:txBody>
                  <a:tcPr marL="54864" marR="54864" marT="27432" marB="27432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$12,243</a:t>
                      </a:r>
                    </a:p>
                  </a:txBody>
                  <a:tcPr marL="54864" marR="54864" marT="27432" marB="27432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$30,711</a:t>
                      </a:r>
                    </a:p>
                  </a:txBody>
                  <a:tcPr marL="54864" marR="54864" marT="27432" marB="27432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$55,121</a:t>
                      </a:r>
                    </a:p>
                  </a:txBody>
                  <a:tcPr marL="54864" marR="54864" marT="27432" marB="27432">
                    <a:solidFill>
                      <a:srgbClr val="F3F3F3"/>
                    </a:solidFill>
                  </a:tcPr>
                </a:tc>
              </a:tr>
              <a:tr h="352697"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32373E"/>
                          </a:solidFill>
                          <a:latin typeface="Arial"/>
                        </a:rPr>
                        <a:t>Quantcast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$15,015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$22,359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$30,559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$67,933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352697"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32373E"/>
                          </a:solidFill>
                          <a:latin typeface="Arial"/>
                        </a:rPr>
                        <a:t>Azerion</a:t>
                      </a:r>
                    </a:p>
                  </a:txBody>
                  <a:tcPr marL="54864" marR="54864" marT="27432" marB="27432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$16,021</a:t>
                      </a:r>
                    </a:p>
                  </a:txBody>
                  <a:tcPr marL="54864" marR="54864" marT="27432" marB="27432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$26,472</a:t>
                      </a:r>
                    </a:p>
                  </a:txBody>
                  <a:tcPr marL="54864" marR="54864" marT="27432" marB="27432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$29,586</a:t>
                      </a:r>
                    </a:p>
                  </a:txBody>
                  <a:tcPr marL="54864" marR="54864" marT="27432" marB="27432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$72,079</a:t>
                      </a:r>
                    </a:p>
                  </a:txBody>
                  <a:tcPr marL="54864" marR="54864" marT="27432" marB="27432">
                    <a:solidFill>
                      <a:srgbClr val="F3F3F3"/>
                    </a:solidFill>
                  </a:tcPr>
                </a:tc>
              </a:tr>
              <a:tr h="352697"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32373E"/>
                          </a:solidFill>
                          <a:latin typeface="Arial"/>
                        </a:rPr>
                        <a:t>Native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$3,645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$3,645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352698"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32373E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54864" marR="54864" marT="27432" marB="27432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32373E"/>
                          </a:solidFill>
                          <a:latin typeface="Arial"/>
                        </a:rPr>
                        <a:t>$58,324</a:t>
                      </a:r>
                    </a:p>
                  </a:txBody>
                  <a:tcPr marL="54864" marR="54864" marT="27432" marB="27432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32373E"/>
                          </a:solidFill>
                          <a:latin typeface="Arial"/>
                        </a:rPr>
                        <a:t>$76,274</a:t>
                      </a:r>
                    </a:p>
                  </a:txBody>
                  <a:tcPr marL="54864" marR="54864" marT="27432" marB="27432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32373E"/>
                          </a:solidFill>
                          <a:latin typeface="Arial"/>
                        </a:rPr>
                        <a:t>$117,024</a:t>
                      </a:r>
                    </a:p>
                  </a:txBody>
                  <a:tcPr marL="54864" marR="54864" marT="27432" marB="27432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32373E"/>
                          </a:solidFill>
                          <a:latin typeface="Arial"/>
                        </a:rPr>
                        <a:t>$251,621</a:t>
                      </a:r>
                    </a:p>
                  </a:txBody>
                  <a:tcPr marL="54864" marR="54864" marT="27432" marB="27432">
                    <a:solidFill>
                      <a:srgbClr val="F3F3F3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457200" y="4389120"/>
            <a:ext cx="60350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32373E"/>
                </a:solidFill>
                <a:latin typeface="Arial"/>
              </a:rPr>
              <a:t>Month-over-month growth: +31% into May, +53% into June. June ran at 2x the April level.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858000" y="1737360"/>
            <a:ext cx="4846320" cy="4572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858000" y="1737360"/>
            <a:ext cx="4846320" cy="91440"/>
          </a:xfrm>
          <a:prstGeom prst="rect">
            <a:avLst/>
          </a:prstGeom>
          <a:solidFill>
            <a:srgbClr val="3B59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040880" y="1920240"/>
            <a:ext cx="448055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3B5998"/>
                </a:solidFill>
                <a:latin typeface="Arial"/>
              </a:rPr>
              <a:t>READ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2240280"/>
            <a:ext cx="4480559" cy="3886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32373E"/>
                </a:solidFill>
                <a:latin typeface="Arial"/>
              </a:rPr>
              <a:t>Q3 closed at $251,621 in working media, roughly 16% of the FY2026 budget; the program is at 19.35% of budget year to date.</a:t>
            </a:r>
          </a:p>
          <a:p>
            <a:pPr algn="l">
              <a:spcBef>
                <a:spcPts val="600"/>
              </a:spcBef>
            </a:pPr>
            <a:r>
              <a:rPr sz="950" b="0">
                <a:solidFill>
                  <a:srgbClr val="32373E"/>
                </a:solidFill>
                <a:latin typeface="Arial"/>
              </a:rPr>
              <a:t>The mix stayed balanced as it scaled: no channel above 27% of June spend, with search, social, and two programmatic lines all growing and the Native pilot launching as the fifth channel.</a:t>
            </a:r>
          </a:p>
          <a:p>
            <a:pPr algn="l">
              <a:spcBef>
                <a:spcPts val="600"/>
              </a:spcBef>
            </a:pPr>
            <a:r>
              <a:rPr sz="950" b="0">
                <a:solidFill>
                  <a:srgbClr val="32373E"/>
                </a:solidFill>
                <a:latin typeface="Arial"/>
              </a:rPr>
              <a:t>Paid social led June growth (+151%), followed by search (+48%) and the reach line (+37%).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0"/>
          </a:xfrm>
          <a:prstGeom prst="rect">
            <a:avLst/>
          </a:prstGeom>
          <a:solidFill>
            <a:srgbClr val="1A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Arial"/>
              </a:rPr>
              <a:t>FOREX.com  |  GCG (US Hispanic)  ·  June 2026</a:t>
            </a:r>
          </a:p>
        </p:txBody>
      </p:sp>
      <p:pic>
        <p:nvPicPr>
          <p:cNvPr id="4" name="Picture 3" descr="logo_1_fd6b9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55680" y="100584"/>
            <a:ext cx="896112" cy="25603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566928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3B5998"/>
                </a:solidFill>
                <a:latin typeface="Arial"/>
              </a:rPr>
              <a:t>Q3 FY2026 IN REVIEW  ·  APPLICATIONS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471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>
                <a:solidFill>
                  <a:srgbClr val="1A2A3A"/>
                </a:solidFill>
                <a:latin typeface="Arial"/>
              </a:rPr>
              <a:t>Search and display carried the measured volume.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611112"/>
            <a:ext cx="54864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78828C"/>
                </a:solidFill>
                <a:latin typeface="Arial"/>
              </a:rPr>
              <a:t>Performance Review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64240" y="6611112"/>
            <a:ext cx="8229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>
                <a:solidFill>
                  <a:srgbClr val="78828C"/>
                </a:solidFill>
                <a:latin typeface="Arial"/>
              </a:rPr>
              <a:t>4 / 15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57200" y="1737360"/>
          <a:ext cx="6035040" cy="246888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77440"/>
                <a:gridCol w="868680"/>
                <a:gridCol w="868680"/>
                <a:gridCol w="914400"/>
                <a:gridCol w="1005840"/>
              </a:tblGrid>
              <a:tr h="411480"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Channel</a:t>
                      </a:r>
                    </a:p>
                  </a:txBody>
                  <a:tcPr marL="54864" marR="54864" marT="27432" marB="27432">
                    <a:solidFill>
                      <a:srgbClr val="3B599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Apr</a:t>
                      </a:r>
                    </a:p>
                  </a:txBody>
                  <a:tcPr marL="54864" marR="54864" marT="27432" marB="27432">
                    <a:solidFill>
                      <a:srgbClr val="3B599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May</a:t>
                      </a:r>
                    </a:p>
                  </a:txBody>
                  <a:tcPr marL="54864" marR="54864" marT="27432" marB="27432">
                    <a:solidFill>
                      <a:srgbClr val="3B599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</a:t>
                      </a:r>
                    </a:p>
                  </a:txBody>
                  <a:tcPr marL="54864" marR="54864" marT="27432" marB="27432">
                    <a:solidFill>
                      <a:srgbClr val="3B599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Q3</a:t>
                      </a:r>
                    </a:p>
                  </a:txBody>
                  <a:tcPr marL="54864" marR="54864" marT="27432" marB="27432">
                    <a:solidFill>
                      <a:srgbClr val="3B5998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32373E"/>
                          </a:solidFill>
                          <a:latin typeface="Arial"/>
                        </a:rPr>
                        <a:t>Google Ads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76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67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155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32373E"/>
                          </a:solidFill>
                          <a:latin typeface="Arial"/>
                        </a:rPr>
                        <a:t>Azerion</a:t>
                      </a:r>
                    </a:p>
                  </a:txBody>
                  <a:tcPr marL="54864" marR="54864" marT="27432" marB="27432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76</a:t>
                      </a:r>
                    </a:p>
                  </a:txBody>
                  <a:tcPr marL="54864" marR="54864" marT="27432" marB="27432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43</a:t>
                      </a:r>
                    </a:p>
                  </a:txBody>
                  <a:tcPr marL="54864" marR="54864" marT="27432" marB="27432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58</a:t>
                      </a:r>
                    </a:p>
                  </a:txBody>
                  <a:tcPr marL="54864" marR="54864" marT="27432" marB="27432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177</a:t>
                      </a:r>
                    </a:p>
                  </a:txBody>
                  <a:tcPr marL="54864" marR="54864" marT="27432" marB="27432">
                    <a:solidFill>
                      <a:srgbClr val="F3F3F3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32373E"/>
                          </a:solidFill>
                          <a:latin typeface="Arial"/>
                        </a:rPr>
                        <a:t>Quantcast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25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32373E"/>
                          </a:solidFill>
                          <a:latin typeface="Arial"/>
                        </a:rPr>
                        <a:t>Meta (pixel events)*</a:t>
                      </a:r>
                    </a:p>
                  </a:txBody>
                  <a:tcPr marL="54864" marR="54864" marT="27432" marB="27432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73</a:t>
                      </a:r>
                    </a:p>
                  </a:txBody>
                  <a:tcPr marL="54864" marR="54864" marT="27432" marB="27432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109</a:t>
                      </a:r>
                    </a:p>
                  </a:txBody>
                  <a:tcPr marL="54864" marR="54864" marT="27432" marB="27432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136</a:t>
                      </a:r>
                    </a:p>
                  </a:txBody>
                  <a:tcPr marL="54864" marR="54864" marT="27432" marB="27432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318</a:t>
                      </a:r>
                    </a:p>
                  </a:txBody>
                  <a:tcPr marL="54864" marR="54864" marT="27432" marB="27432">
                    <a:solidFill>
                      <a:srgbClr val="F3F3F3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32373E"/>
                          </a:solidFill>
                          <a:latin typeface="Arial"/>
                        </a:rPr>
                        <a:t>Measured submitted apps</a:t>
                      </a:r>
                    </a:p>
                  </a:txBody>
                  <a:tcPr marL="54864" marR="54864" marT="27432" marB="27432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32373E"/>
                          </a:solidFill>
                          <a:latin typeface="Arial"/>
                        </a:rPr>
                        <a:t>88</a:t>
                      </a:r>
                    </a:p>
                  </a:txBody>
                  <a:tcPr marL="54864" marR="54864" marT="27432" marB="27432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32373E"/>
                          </a:solidFill>
                          <a:latin typeface="Arial"/>
                        </a:rPr>
                        <a:t>119</a:t>
                      </a:r>
                    </a:p>
                  </a:txBody>
                  <a:tcPr marL="54864" marR="54864" marT="27432" marB="27432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32373E"/>
                          </a:solidFill>
                          <a:latin typeface="Arial"/>
                        </a:rPr>
                        <a:t>125</a:t>
                      </a:r>
                    </a:p>
                  </a:txBody>
                  <a:tcPr marL="54864" marR="54864" marT="27432" marB="27432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32373E"/>
                          </a:solidFill>
                          <a:latin typeface="Arial"/>
                        </a:rPr>
                        <a:t>332</a:t>
                      </a:r>
                    </a:p>
                  </a:txBody>
                  <a:tcPr marL="54864" marR="54864" marT="27432" marB="27432">
                    <a:solidFill>
                      <a:srgbClr val="F3F3F3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457200" y="4434840"/>
            <a:ext cx="603504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>
                <a:solidFill>
                  <a:srgbClr val="5A5A5A"/>
                </a:solidFill>
                <a:latin typeface="Arial"/>
              </a:rPr>
              <a:t>* Meta counts pixel application events, mostly application starts, on a traffic objective; not comparable to submitted applications. Quantcast is view-through, directional only. Measured submitted apps = Google + Azerion.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858000" y="1737360"/>
            <a:ext cx="4846320" cy="4572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858000" y="1737360"/>
            <a:ext cx="4846320" cy="91440"/>
          </a:xfrm>
          <a:prstGeom prst="rect">
            <a:avLst/>
          </a:prstGeom>
          <a:solidFill>
            <a:srgbClr val="27AE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040880" y="1920240"/>
            <a:ext cx="448055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27AE60"/>
                </a:solidFill>
                <a:latin typeface="Arial"/>
              </a:rPr>
              <a:t>READ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2240280"/>
            <a:ext cx="4480559" cy="3886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32373E"/>
                </a:solidFill>
                <a:latin typeface="Arial"/>
              </a:rPr>
              <a:t>The quarter delivered 332 measured submitted applications, with June its best month (125).</a:t>
            </a:r>
          </a:p>
          <a:p>
            <a:pPr algn="l">
              <a:spcBef>
                <a:spcPts val="600"/>
              </a:spcBef>
            </a:pPr>
            <a:r>
              <a:rPr sz="950" b="0">
                <a:solidFill>
                  <a:srgbClr val="32373E"/>
                </a:solidFill>
                <a:latin typeface="Arial"/>
              </a:rPr>
              <a:t>Azerion returned to form in June: 58 applications, up 35% on a 12% budget increase, at a $510 CPA (down 17%).</a:t>
            </a:r>
          </a:p>
          <a:p>
            <a:pPr algn="l">
              <a:spcBef>
                <a:spcPts val="600"/>
              </a:spcBef>
            </a:pPr>
            <a:r>
              <a:rPr sz="950" b="0">
                <a:solidFill>
                  <a:srgbClr val="32373E"/>
                </a:solidFill>
                <a:latin typeface="Arial"/>
              </a:rPr>
              <a:t>June exposed the search ceiling: spend rose 48% and applications fell 12%, because the account is rank-limited (64-76% of available impressions lost to ad rank, only 9-13% to budget). July search work is bids, quality, and ad strength before budget.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0"/>
          </a:xfrm>
          <a:prstGeom prst="rect">
            <a:avLst/>
          </a:prstGeom>
          <a:solidFill>
            <a:srgbClr val="1A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Arial"/>
              </a:rPr>
              <a:t>FOREX.com  |  GCG (US Hispanic)  ·  June 2026</a:t>
            </a:r>
          </a:p>
        </p:txBody>
      </p:sp>
      <p:pic>
        <p:nvPicPr>
          <p:cNvPr id="4" name="Picture 3" descr="logo_1_fd6b9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55680" y="100584"/>
            <a:ext cx="896112" cy="25603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566928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3B5998"/>
                </a:solidFill>
                <a:latin typeface="Arial"/>
              </a:rPr>
              <a:t>Q1 VS Q2  ·  BLENDED FUNNEL (ORGANIC + PAID)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471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>
                <a:solidFill>
                  <a:srgbClr val="1A2A3A"/>
                </a:solidFill>
                <a:latin typeface="Arial"/>
              </a:rPr>
              <a:t>Four times the traffic, the same funded accounts.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611112"/>
            <a:ext cx="54864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78828C"/>
                </a:solidFill>
                <a:latin typeface="Arial"/>
              </a:rPr>
              <a:t>Performance Review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64240" y="6611112"/>
            <a:ext cx="8229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>
                <a:solidFill>
                  <a:srgbClr val="78828C"/>
                </a:solidFill>
                <a:latin typeface="Arial"/>
              </a:rPr>
              <a:t>5 / 15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57200" y="1737360"/>
          <a:ext cx="5852160" cy="28346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194560"/>
                <a:gridCol w="1280160"/>
                <a:gridCol w="1280160"/>
                <a:gridCol w="1097280"/>
              </a:tblGrid>
              <a:tr h="354330"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Metric</a:t>
                      </a:r>
                    </a:p>
                  </a:txBody>
                  <a:tcPr marL="54864" marR="54864" marT="27432" marB="27432">
                    <a:solidFill>
                      <a:srgbClr val="3B599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Q1 (Jan-Mar)</a:t>
                      </a:r>
                    </a:p>
                  </a:txBody>
                  <a:tcPr marL="54864" marR="54864" marT="27432" marB="27432">
                    <a:solidFill>
                      <a:srgbClr val="3B599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Q2 (Apr-Jun)</a:t>
                      </a:r>
                    </a:p>
                  </a:txBody>
                  <a:tcPr marL="54864" marR="54864" marT="27432" marB="27432">
                    <a:solidFill>
                      <a:srgbClr val="3B599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Change</a:t>
                      </a:r>
                    </a:p>
                  </a:txBody>
                  <a:tcPr marL="54864" marR="54864" marT="27432" marB="27432">
                    <a:solidFill>
                      <a:srgbClr val="3B5998"/>
                    </a:solidFill>
                  </a:tcPr>
                </a:tc>
              </a:tr>
              <a:tr h="354330"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32373E"/>
                          </a:solidFill>
                          <a:latin typeface="Arial"/>
                        </a:rPr>
                        <a:t>Unique Sessions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41,047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162,871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+297%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354330"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32373E"/>
                          </a:solidFill>
                          <a:latin typeface="Arial"/>
                        </a:rPr>
                        <a:t>App Starts</a:t>
                      </a:r>
                    </a:p>
                  </a:txBody>
                  <a:tcPr marL="54864" marR="54864" marT="27432" marB="27432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6,997</a:t>
                      </a:r>
                    </a:p>
                  </a:txBody>
                  <a:tcPr marL="54864" marR="54864" marT="27432" marB="27432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7,974</a:t>
                      </a:r>
                    </a:p>
                  </a:txBody>
                  <a:tcPr marL="54864" marR="54864" marT="27432" marB="27432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+14%</a:t>
                      </a:r>
                    </a:p>
                  </a:txBody>
                  <a:tcPr marL="54864" marR="54864" marT="27432" marB="27432">
                    <a:solidFill>
                      <a:srgbClr val="F3F3F3"/>
                    </a:solidFill>
                  </a:tcPr>
                </a:tc>
              </a:tr>
              <a:tr h="354330"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32373E"/>
                          </a:solidFill>
                          <a:latin typeface="Arial"/>
                        </a:rPr>
                        <a:t>Submitted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1,203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1,033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-14%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354330"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32373E"/>
                          </a:solidFill>
                          <a:latin typeface="Arial"/>
                        </a:rPr>
                        <a:t>Live Apps Submitted</a:t>
                      </a:r>
                    </a:p>
                  </a:txBody>
                  <a:tcPr marL="54864" marR="54864" marT="27432" marB="27432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1,165</a:t>
                      </a:r>
                    </a:p>
                  </a:txBody>
                  <a:tcPr marL="54864" marR="54864" marT="27432" marB="27432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993</a:t>
                      </a:r>
                    </a:p>
                  </a:txBody>
                  <a:tcPr marL="54864" marR="54864" marT="27432" marB="27432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-15%</a:t>
                      </a:r>
                    </a:p>
                  </a:txBody>
                  <a:tcPr marL="54864" marR="54864" marT="27432" marB="27432">
                    <a:solidFill>
                      <a:srgbClr val="F3F3F3"/>
                    </a:solidFill>
                  </a:tcPr>
                </a:tc>
              </a:tr>
              <a:tr h="354330"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32373E"/>
                          </a:solidFill>
                          <a:latin typeface="Arial"/>
                        </a:rPr>
                        <a:t>Approved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524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465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-11%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354330"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32373E"/>
                          </a:solidFill>
                          <a:latin typeface="Arial"/>
                        </a:rPr>
                        <a:t>New Funded</a:t>
                      </a:r>
                    </a:p>
                  </a:txBody>
                  <a:tcPr marL="54864" marR="54864" marT="27432" marB="27432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148</a:t>
                      </a:r>
                    </a:p>
                  </a:txBody>
                  <a:tcPr marL="54864" marR="54864" marT="27432" marB="27432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146</a:t>
                      </a:r>
                    </a:p>
                  </a:txBody>
                  <a:tcPr marL="54864" marR="54864" marT="27432" marB="27432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-1%</a:t>
                      </a:r>
                    </a:p>
                  </a:txBody>
                  <a:tcPr marL="54864" marR="54864" marT="27432" marB="27432">
                    <a:solidFill>
                      <a:srgbClr val="F3F3F3"/>
                    </a:solidFill>
                  </a:tcPr>
                </a:tc>
              </a:tr>
              <a:tr h="354330"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32373E"/>
                          </a:solidFill>
                          <a:latin typeface="Arial"/>
                        </a:rPr>
                        <a:t>New Traded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118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114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-3%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457200" y="4800600"/>
            <a:ext cx="6035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>
                <a:solidFill>
                  <a:srgbClr val="5A5A5A"/>
                </a:solidFill>
                <a:latin typeface="Arial"/>
              </a:rPr>
              <a:t>Client dashboard, calendar quarters, blended organic + paid.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858000" y="1737360"/>
            <a:ext cx="4846320" cy="45720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858000" y="1737360"/>
            <a:ext cx="4846320" cy="91440"/>
          </a:xfrm>
          <a:prstGeom prst="rect">
            <a:avLst/>
          </a:prstGeom>
          <a:solidFill>
            <a:srgbClr val="3B59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040880" y="1920240"/>
            <a:ext cx="448055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3B5998"/>
                </a:solidFill>
                <a:latin typeface="Arial"/>
              </a:rPr>
              <a:t>READ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40880" y="2240280"/>
            <a:ext cx="4480559" cy="3886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32373E"/>
                </a:solidFill>
                <a:latin typeface="Arial"/>
              </a:rPr>
              <a:t>Traffic quadrupled quarter over quarter while application starts grew 14% and submissions fell 14%. Each funnel stage dampened the volume the media bought: the start rate diluted from 17% to 5% and the submit rate from 17% to 13%.</a:t>
            </a:r>
          </a:p>
          <a:p>
            <a:pPr algn="l">
              <a:spcBef>
                <a:spcPts val="600"/>
              </a:spcBef>
            </a:pPr>
            <a:r>
              <a:rPr sz="950" b="0">
                <a:solidFill>
                  <a:srgbClr val="32373E"/>
                </a:solidFill>
                <a:latin typeface="Arial"/>
              </a:rPr>
              <a:t>Funded and traded held flat, so the business outcome absorbed none of the scale yet.</a:t>
            </a:r>
          </a:p>
          <a:p>
            <a:pPr algn="l">
              <a:spcBef>
                <a:spcPts val="600"/>
              </a:spcBef>
            </a:pPr>
            <a:r>
              <a:rPr sz="950" b="0">
                <a:solidFill>
                  <a:srgbClr val="32373E"/>
                </a:solidFill>
                <a:latin typeface="Arial"/>
              </a:rPr>
              <a:t>The work that converts this traffic is funnel work: the start-to-submit step first, then the approved-to-funded step. Media is filling the top; the next accounts come from conversion.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0"/>
          </a:xfrm>
          <a:prstGeom prst="rect">
            <a:avLst/>
          </a:prstGeom>
          <a:solidFill>
            <a:srgbClr val="1A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Arial"/>
              </a:rPr>
              <a:t>FOREX.com  |  GCG (US Hispanic)  ·  June 2026</a:t>
            </a:r>
          </a:p>
        </p:txBody>
      </p:sp>
      <p:pic>
        <p:nvPicPr>
          <p:cNvPr id="4" name="Picture 3" descr="logo_1_fd6b9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55680" y="100584"/>
            <a:ext cx="896112" cy="25603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566928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3B5998"/>
                </a:solidFill>
                <a:latin typeface="Arial"/>
              </a:rPr>
              <a:t>SITE TRAFFIC  ·  SPANISH-LANGUAGE AUDIENCE (GA4, US)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471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>
                <a:solidFill>
                  <a:srgbClr val="1A2A3A"/>
                </a:solidFill>
                <a:latin typeface="Arial"/>
              </a:rPr>
              <a:t>A stable base with a paid June lift. No organic problem here.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611112"/>
            <a:ext cx="54864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78828C"/>
                </a:solidFill>
                <a:latin typeface="Arial"/>
              </a:rPr>
              <a:t>Performance Review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64240" y="6611112"/>
            <a:ext cx="8229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>
                <a:solidFill>
                  <a:srgbClr val="78828C"/>
                </a:solidFill>
                <a:latin typeface="Arial"/>
              </a:rPr>
              <a:t>6 / 15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457200" y="1783080"/>
          <a:ext cx="6400800" cy="260604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1" name="Rectangle 10"/>
          <p:cNvSpPr/>
          <p:nvPr/>
        </p:nvSpPr>
        <p:spPr>
          <a:xfrm>
            <a:off x="457200" y="4572000"/>
            <a:ext cx="6400800" cy="173736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4572000"/>
            <a:ext cx="6400800" cy="91440"/>
          </a:xfrm>
          <a:prstGeom prst="rect">
            <a:avLst/>
          </a:prstGeom>
          <a:solidFill>
            <a:srgbClr val="3B59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4754880"/>
            <a:ext cx="60350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3B5998"/>
                </a:solidFill>
                <a:latin typeface="Arial"/>
              </a:rPr>
              <a:t>THE READ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5074920"/>
            <a:ext cx="6035040" cy="1051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32373E"/>
                </a:solidFill>
                <a:latin typeface="Arial"/>
              </a:rPr>
              <a:t>Spanish-language sessions on the US property held near 70K from January through May and rose 15% in June with the media scale-up; unique visitors rose 40% to 41,795. The traffic base under GCG is healthy and growing.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223760" y="1783080"/>
            <a:ext cx="4480560" cy="452628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7223760" y="1783080"/>
            <a:ext cx="4480560" cy="91440"/>
          </a:xfrm>
          <a:prstGeom prst="rect">
            <a:avLst/>
          </a:prstGeom>
          <a:solidFill>
            <a:srgbClr val="27AE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406640" y="1965960"/>
            <a:ext cx="4114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27AE60"/>
                </a:solidFill>
                <a:latin typeface="Arial"/>
              </a:rPr>
              <a:t>WHAT IT MEANS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06640" y="2286000"/>
            <a:ext cx="4114800" cy="3840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32373E"/>
                </a:solidFill>
                <a:latin typeface="Arial"/>
              </a:rPr>
              <a:t>Media is expanding the audience: June brought the highest Spanish-language visitor count of the year.</a:t>
            </a:r>
          </a:p>
          <a:p>
            <a:pPr algn="l">
              <a:spcBef>
                <a:spcPts val="600"/>
              </a:spcBef>
            </a:pPr>
            <a:r>
              <a:rPr sz="950" b="0">
                <a:solidFill>
                  <a:srgbClr val="32373E"/>
                </a:solidFill>
                <a:latin typeface="Arial"/>
              </a:rPr>
              <a:t>Measurement is working: site analytics capture roughly 57% of paid social clicks as sessions, and search reconciles exactly.</a:t>
            </a:r>
          </a:p>
          <a:p>
            <a:pPr algn="l">
              <a:spcBef>
                <a:spcPts val="600"/>
              </a:spcBef>
            </a:pPr>
            <a:r>
              <a:rPr sz="950" b="0">
                <a:solidFill>
                  <a:srgbClr val="32373E"/>
                </a:solidFill>
                <a:latin typeface="Arial"/>
              </a:rPr>
              <a:t>The gap between traffic growth and application growth is a conversion problem, not a traffic or measurement problem, which is why the funnel work on the previous slide leads the recommendations.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0"/>
          </a:xfrm>
          <a:prstGeom prst="rect">
            <a:avLst/>
          </a:prstGeom>
          <a:solidFill>
            <a:srgbClr val="1A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Arial"/>
              </a:rPr>
              <a:t>FOREX.com  |  GCG (US Hispanic)  ·  June 2026</a:t>
            </a:r>
          </a:p>
        </p:txBody>
      </p:sp>
      <p:pic>
        <p:nvPicPr>
          <p:cNvPr id="4" name="Picture 3" descr="logo_1_fd6b9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55680" y="100584"/>
            <a:ext cx="896112" cy="25603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566928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3B5998"/>
                </a:solidFill>
                <a:latin typeface="Arial"/>
              </a:rPr>
              <a:t>JUNE 2026  ·  EXECUTIVE SUMMARY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471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>
                <a:solidFill>
                  <a:srgbClr val="1A2A3A"/>
                </a:solidFill>
                <a:latin typeface="Arial"/>
              </a:rPr>
              <a:t>The biggest GCG media month of 2026, with one channel at its ceiling.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611112"/>
            <a:ext cx="54864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78828C"/>
                </a:solidFill>
                <a:latin typeface="Arial"/>
              </a:rPr>
              <a:t>Performance Review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64240" y="6611112"/>
            <a:ext cx="8229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>
                <a:solidFill>
                  <a:srgbClr val="78828C"/>
                </a:solidFill>
                <a:latin typeface="Arial"/>
              </a:rPr>
              <a:t>7 / 15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57200" y="1737360"/>
          <a:ext cx="6784848" cy="21031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130552"/>
                <a:gridCol w="969264"/>
                <a:gridCol w="969264"/>
                <a:gridCol w="969264"/>
                <a:gridCol w="777240"/>
                <a:gridCol w="969264"/>
              </a:tblGrid>
              <a:tr h="300445"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Channel</a:t>
                      </a:r>
                    </a:p>
                  </a:txBody>
                  <a:tcPr marL="54864" marR="54864" marT="27432" marB="27432">
                    <a:solidFill>
                      <a:srgbClr val="3B599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Spend</a:t>
                      </a:r>
                    </a:p>
                  </a:txBody>
                  <a:tcPr marL="54864" marR="54864" marT="27432" marB="27432">
                    <a:solidFill>
                      <a:srgbClr val="3B599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Impr</a:t>
                      </a:r>
                    </a:p>
                  </a:txBody>
                  <a:tcPr marL="54864" marR="54864" marT="27432" marB="27432">
                    <a:solidFill>
                      <a:srgbClr val="3B599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Clicks</a:t>
                      </a:r>
                    </a:p>
                  </a:txBody>
                  <a:tcPr marL="54864" marR="54864" marT="27432" marB="27432">
                    <a:solidFill>
                      <a:srgbClr val="3B599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Conv</a:t>
                      </a:r>
                    </a:p>
                  </a:txBody>
                  <a:tcPr marL="54864" marR="54864" marT="27432" marB="27432">
                    <a:solidFill>
                      <a:srgbClr val="3B599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CPA</a:t>
                      </a:r>
                    </a:p>
                  </a:txBody>
                  <a:tcPr marL="54864" marR="54864" marT="27432" marB="27432">
                    <a:solidFill>
                      <a:srgbClr val="3B5998"/>
                    </a:solidFill>
                  </a:tcPr>
                </a:tc>
              </a:tr>
              <a:tr h="300445"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32373E"/>
                          </a:solidFill>
                          <a:latin typeface="Arial"/>
                        </a:rPr>
                        <a:t>Google Ads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$22,524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181,470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12,888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67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$336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300445"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32373E"/>
                          </a:solidFill>
                          <a:latin typeface="Arial"/>
                        </a:rPr>
                        <a:t>Meta</a:t>
                      </a:r>
                    </a:p>
                  </a:txBody>
                  <a:tcPr marL="54864" marR="54864" marT="27432" marB="27432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$30,711</a:t>
                      </a:r>
                    </a:p>
                  </a:txBody>
                  <a:tcPr marL="54864" marR="54864" marT="27432" marB="27432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3.06M</a:t>
                      </a:r>
                    </a:p>
                  </a:txBody>
                  <a:tcPr marL="54864" marR="54864" marT="27432" marB="27432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74,572</a:t>
                      </a:r>
                    </a:p>
                  </a:txBody>
                  <a:tcPr marL="54864" marR="54864" marT="27432" marB="27432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136*</a:t>
                      </a:r>
                    </a:p>
                  </a:txBody>
                  <a:tcPr marL="54864" marR="54864" marT="27432" marB="27432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27432" marB="27432">
                    <a:solidFill>
                      <a:srgbClr val="F3F3F3"/>
                    </a:solidFill>
                  </a:tcPr>
                </a:tc>
              </a:tr>
              <a:tr h="300445"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32373E"/>
                          </a:solidFill>
                          <a:latin typeface="Arial"/>
                        </a:rPr>
                        <a:t>Quantcast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$30,559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37.2M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2,942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15 VT*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300445"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32373E"/>
                          </a:solidFill>
                          <a:latin typeface="Arial"/>
                        </a:rPr>
                        <a:t>Azerion</a:t>
                      </a:r>
                    </a:p>
                  </a:txBody>
                  <a:tcPr marL="54864" marR="54864" marT="27432" marB="27432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$29,586</a:t>
                      </a:r>
                    </a:p>
                  </a:txBody>
                  <a:tcPr marL="54864" marR="54864" marT="27432" marB="27432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4.52M</a:t>
                      </a:r>
                    </a:p>
                  </a:txBody>
                  <a:tcPr marL="54864" marR="54864" marT="27432" marB="27432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19,653</a:t>
                      </a:r>
                    </a:p>
                  </a:txBody>
                  <a:tcPr marL="54864" marR="54864" marT="27432" marB="27432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58</a:t>
                      </a:r>
                    </a:p>
                  </a:txBody>
                  <a:tcPr marL="54864" marR="54864" marT="27432" marB="27432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$510</a:t>
                      </a:r>
                    </a:p>
                  </a:txBody>
                  <a:tcPr marL="54864" marR="54864" marT="27432" marB="27432">
                    <a:solidFill>
                      <a:srgbClr val="F3F3F3"/>
                    </a:solidFill>
                  </a:tcPr>
                </a:tc>
              </a:tr>
              <a:tr h="300445"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32373E"/>
                          </a:solidFill>
                          <a:latin typeface="Arial"/>
                        </a:rPr>
                        <a:t>Native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$3,645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pilot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300450"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32373E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54864" marR="54864" marT="27432" marB="27432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32373E"/>
                          </a:solidFill>
                          <a:latin typeface="Arial"/>
                        </a:rPr>
                        <a:t>$117,024</a:t>
                      </a:r>
                    </a:p>
                  </a:txBody>
                  <a:tcPr marL="54864" marR="54864" marT="27432" marB="27432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32373E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27432" marB="27432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32373E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27432" marB="27432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32373E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27432" marB="27432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32373E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54864" marR="54864" marT="27432" marB="27432">
                    <a:solidFill>
                      <a:srgbClr val="F3F3F3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457200" y="3977639"/>
            <a:ext cx="676656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>
                <a:solidFill>
                  <a:srgbClr val="5A5A5A"/>
                </a:solidFill>
                <a:latin typeface="Arial"/>
              </a:rPr>
              <a:t>* Meta counts pixel application events (mostly starts) on a traffic objective. Programmatic view-through is directional only. Conversions use different events per channel and are never summed.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406640" y="1737360"/>
            <a:ext cx="4297680" cy="219456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406640" y="1737360"/>
            <a:ext cx="4297680" cy="91440"/>
          </a:xfrm>
          <a:prstGeom prst="rect">
            <a:avLst/>
          </a:prstGeom>
          <a:solidFill>
            <a:srgbClr val="27AE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589519" y="1920240"/>
            <a:ext cx="3931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27AE60"/>
                </a:solidFill>
                <a:latin typeface="Arial"/>
              </a:rPr>
              <a:t>HEADLINES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589519" y="2240280"/>
            <a:ext cx="3931920" cy="1508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32373E"/>
                </a:solidFill>
                <a:latin typeface="Arial"/>
              </a:rPr>
              <a:t>June was the biggest GCG media month of 2026: $117,024 across five lines, up 53% from May. Azerion led conversion with 58 applications at $510 (+35%), search added 67 at $336, and the Native pilot entered the market.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4526280"/>
            <a:ext cx="6766560" cy="18288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57200" y="4526280"/>
            <a:ext cx="6766560" cy="91440"/>
          </a:xfrm>
          <a:prstGeom prst="rect">
            <a:avLst/>
          </a:prstGeom>
          <a:solidFill>
            <a:srgbClr val="3B59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" y="4709160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3B5998"/>
                </a:solidFill>
                <a:latin typeface="Arial"/>
              </a:rPr>
              <a:t>WHAT THE DATA SAYS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029200"/>
            <a:ext cx="6400800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32373E"/>
                </a:solidFill>
                <a:latin typeface="Arial"/>
              </a:rPr>
              <a:t>Search hit its rank ceiling: +48% spend bought -12% applications. Paid social scaled 151% with healthy delivery (71% of clicks became landing-page views). The reach line scaled 37% and its viewability fell to 46.9%, which the blocklist addresses.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406640" y="4526280"/>
            <a:ext cx="4297680" cy="18288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406640" y="4526280"/>
            <a:ext cx="4297680" cy="91440"/>
          </a:xfrm>
          <a:prstGeom prst="rect">
            <a:avLst/>
          </a:prstGeom>
          <a:solidFill>
            <a:srgbClr val="E74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589519" y="4709160"/>
            <a:ext cx="39319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E74C3C"/>
                </a:solidFill>
                <a:latin typeface="Arial"/>
              </a:rPr>
              <a:t>JUNE PRIORITY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589519" y="5029200"/>
            <a:ext cx="3931920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32373E"/>
                </a:solidFill>
                <a:latin typeface="Arial"/>
              </a:rPr>
              <a:t>Shift paid social to the conversion objective, run the search ad-rank program before adding budget, and apply the programmatic blocklist with a viewability floor.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0"/>
          </a:xfrm>
          <a:prstGeom prst="rect">
            <a:avLst/>
          </a:prstGeom>
          <a:solidFill>
            <a:srgbClr val="1A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Arial"/>
              </a:rPr>
              <a:t>FOREX.com  |  GCG (US Hispanic)  ·  June 2026</a:t>
            </a:r>
          </a:p>
        </p:txBody>
      </p:sp>
      <p:pic>
        <p:nvPicPr>
          <p:cNvPr id="4" name="Picture 3" descr="logo_1_fd6b9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55680" y="100584"/>
            <a:ext cx="896112" cy="25603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566928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3B5998"/>
                </a:solidFill>
                <a:latin typeface="Arial"/>
              </a:rPr>
              <a:t>CONT' EXECUTIVE SUMMARY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471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>
                <a:solidFill>
                  <a:srgbClr val="1A2A3A"/>
                </a:solidFill>
                <a:latin typeface="Arial"/>
              </a:rPr>
              <a:t>Three moves shape July.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611112"/>
            <a:ext cx="54864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78828C"/>
                </a:solidFill>
                <a:latin typeface="Arial"/>
              </a:rPr>
              <a:t>Performance Review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64240" y="6611112"/>
            <a:ext cx="8229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>
                <a:solidFill>
                  <a:srgbClr val="78828C"/>
                </a:solidFill>
                <a:latin typeface="Arial"/>
              </a:rPr>
              <a:t>8 / 15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1737360"/>
            <a:ext cx="5577840" cy="466344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7200" y="1737360"/>
            <a:ext cx="5577840" cy="91440"/>
          </a:xfrm>
          <a:prstGeom prst="rect">
            <a:avLst/>
          </a:prstGeom>
          <a:solidFill>
            <a:srgbClr val="3B59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1920240"/>
            <a:ext cx="521207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3B5998"/>
                </a:solidFill>
                <a:latin typeface="Arial"/>
              </a:rPr>
              <a:t>WHAT IS STILL FORMING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2240280"/>
            <a:ext cx="5212079" cy="39776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32373E"/>
                </a:solidFill>
                <a:latin typeface="Arial"/>
              </a:rPr>
              <a:t>Search efficiency at scale. June proved the account is rank-limited: every campaign loses 64-76% of available impressions to ad rank and only 9-13% to budget. More budget at current ad rank buys worse auctions.</a:t>
            </a:r>
          </a:p>
          <a:p>
            <a:pPr algn="l">
              <a:spcBef>
                <a:spcPts val="600"/>
              </a:spcBef>
            </a:pPr>
            <a:r>
              <a:rPr sz="950" b="0">
                <a:solidFill>
                  <a:srgbClr val="32373E"/>
                </a:solidFill>
                <a:latin typeface="Arial"/>
              </a:rPr>
              <a:t>Paid social conversion measurement. Delivery and site capture are healthy, but the campaign still runs a traffic objective, so its 136 pixel events are mostly application starts rather than submitted applications.</a:t>
            </a:r>
          </a:p>
          <a:p>
            <a:pPr algn="l">
              <a:spcBef>
                <a:spcPts val="600"/>
              </a:spcBef>
            </a:pPr>
            <a:r>
              <a:rPr sz="950" b="0">
                <a:solidFill>
                  <a:srgbClr val="32373E"/>
                </a:solidFill>
                <a:latin typeface="Arial"/>
              </a:rPr>
              <a:t>The Native pilot. $3,645 entered the market in June; the first delivery and cost-per-application read lands with vendor reporting.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309360" y="1737360"/>
            <a:ext cx="5394960" cy="466344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309360" y="1737360"/>
            <a:ext cx="5394960" cy="91440"/>
          </a:xfrm>
          <a:prstGeom prst="rect">
            <a:avLst/>
          </a:prstGeom>
          <a:solidFill>
            <a:srgbClr val="27AE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92240" y="1920240"/>
            <a:ext cx="502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27AE60"/>
                </a:solidFill>
                <a:latin typeface="Arial"/>
              </a:rPr>
              <a:t>WHAT WE RECOMMEND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92240" y="2240280"/>
            <a:ext cx="5029200" cy="39776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32373E"/>
                </a:solidFill>
                <a:latin typeface="Arial"/>
              </a:rPr>
              <a:t>Complete the paid-social shift to a conversion objective and judge the channel on submitted applications from July.</a:t>
            </a:r>
          </a:p>
          <a:p>
            <a:pPr algn="l">
              <a:spcBef>
                <a:spcPts val="600"/>
              </a:spcBef>
            </a:pPr>
            <a:r>
              <a:rPr sz="950" b="0">
                <a:solidFill>
                  <a:srgbClr val="32373E"/>
                </a:solidFill>
                <a:latin typeface="Arial"/>
              </a:rPr>
              <a:t>Run the search ad-rank program on the proven TrackB terms: bid and quality work plus an RSA refresh, then scale into the recovered impression share.</a:t>
            </a:r>
          </a:p>
          <a:p>
            <a:pPr algn="l">
              <a:spcBef>
                <a:spcPts val="600"/>
              </a:spcBef>
            </a:pPr>
            <a:r>
              <a:rPr sz="950" b="0">
                <a:solidFill>
                  <a:srgbClr val="32373E"/>
                </a:solidFill>
                <a:latin typeface="Arial"/>
              </a:rPr>
              <a:t>Apply the 18-site programmatic blocklist (32% of June spend on that line) and set a campaign-level viewability floor.</a:t>
            </a:r>
          </a:p>
          <a:p>
            <a:pPr algn="l">
              <a:spcBef>
                <a:spcPts val="600"/>
              </a:spcBef>
            </a:pPr>
            <a:r>
              <a:rPr sz="950" b="0">
                <a:solidFill>
                  <a:srgbClr val="32373E"/>
                </a:solidFill>
                <a:latin typeface="Arial"/>
              </a:rPr>
              <a:t>Put the start-to-submit funnel step on the joint roadmap with the client; media is filling the top of the funnel.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0"/>
          </a:xfrm>
          <a:prstGeom prst="rect">
            <a:avLst/>
          </a:prstGeom>
          <a:solidFill>
            <a:srgbClr val="1A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Arial"/>
              </a:rPr>
              <a:t>FOREX.com  |  GCG (US Hispanic)  ·  June 2026</a:t>
            </a:r>
          </a:p>
        </p:txBody>
      </p:sp>
      <p:pic>
        <p:nvPicPr>
          <p:cNvPr id="4" name="Picture 3" descr="logo_1_fd6b9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55680" y="100584"/>
            <a:ext cx="896112" cy="25603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566928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3B5998"/>
                </a:solidFill>
                <a:latin typeface="Arial"/>
              </a:rPr>
              <a:t>GOOGLE ADS  ·  PERFORMANCE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471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>
                <a:solidFill>
                  <a:srgbClr val="1A2A3A"/>
                </a:solidFill>
                <a:latin typeface="Arial"/>
              </a:rPr>
              <a:t>67 submitted applications at $336. The account hit its rank ceiling.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611112"/>
            <a:ext cx="54864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78828C"/>
                </a:solidFill>
                <a:latin typeface="Arial"/>
              </a:rPr>
              <a:t>Performance Review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64240" y="6611112"/>
            <a:ext cx="8229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>
                <a:solidFill>
                  <a:srgbClr val="78828C"/>
                </a:solidFill>
                <a:latin typeface="Arial"/>
              </a:rPr>
              <a:t>9 / 15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1737360"/>
            <a:ext cx="1737360" cy="100584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7200" y="1737360"/>
            <a:ext cx="91440" cy="1005840"/>
          </a:xfrm>
          <a:prstGeom prst="rect">
            <a:avLst/>
          </a:prstGeom>
          <a:solidFill>
            <a:srgbClr val="3B59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1783080"/>
            <a:ext cx="146303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78828C"/>
                </a:solidFill>
                <a:latin typeface="Arial"/>
              </a:rPr>
              <a:t>SPEND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2029967"/>
            <a:ext cx="146303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A2A3A"/>
                </a:solidFill>
                <a:latin typeface="Arial"/>
              </a:rPr>
              <a:t>$22,524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2487168"/>
            <a:ext cx="146303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5A5A5A"/>
                </a:solidFill>
                <a:latin typeface="Arial"/>
              </a:rPr>
              <a:t>+48% MoM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286000" y="1737360"/>
            <a:ext cx="1737360" cy="100584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286000" y="1737360"/>
            <a:ext cx="91440" cy="1005840"/>
          </a:xfrm>
          <a:prstGeom prst="rect">
            <a:avLst/>
          </a:prstGeom>
          <a:solidFill>
            <a:srgbClr val="3B59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468880" y="1783080"/>
            <a:ext cx="146303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78828C"/>
                </a:solidFill>
                <a:latin typeface="Arial"/>
              </a:rPr>
              <a:t>IMPRESSIONS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468880" y="2029967"/>
            <a:ext cx="146303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A2A3A"/>
                </a:solidFill>
                <a:latin typeface="Arial"/>
              </a:rPr>
              <a:t>181,470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468880" y="2487168"/>
            <a:ext cx="146303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5A5A5A"/>
                </a:solidFill>
                <a:latin typeface="Arial"/>
              </a:rPr>
              <a:t>4 campaigns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114800" y="1737360"/>
            <a:ext cx="1737360" cy="100584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114800" y="1737360"/>
            <a:ext cx="91440" cy="1005840"/>
          </a:xfrm>
          <a:prstGeom prst="rect">
            <a:avLst/>
          </a:prstGeom>
          <a:solidFill>
            <a:srgbClr val="3B59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297680" y="1783080"/>
            <a:ext cx="146303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78828C"/>
                </a:solidFill>
                <a:latin typeface="Arial"/>
              </a:rPr>
              <a:t>CLICKS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97680" y="2029967"/>
            <a:ext cx="146303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A2A3A"/>
                </a:solidFill>
                <a:latin typeface="Arial"/>
              </a:rPr>
              <a:t>12,888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80" y="2487168"/>
            <a:ext cx="146303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5A5A5A"/>
                </a:solidFill>
                <a:latin typeface="Arial"/>
              </a:rPr>
              <a:t>CTR 7.10%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943600" y="1737360"/>
            <a:ext cx="1737360" cy="100584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943600" y="1737360"/>
            <a:ext cx="91440" cy="1005840"/>
          </a:xfrm>
          <a:prstGeom prst="rect">
            <a:avLst/>
          </a:prstGeom>
          <a:solidFill>
            <a:srgbClr val="3B59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126480" y="1783080"/>
            <a:ext cx="146303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78828C"/>
                </a:solidFill>
                <a:latin typeface="Arial"/>
              </a:rPr>
              <a:t>AVG CPC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126480" y="2029967"/>
            <a:ext cx="146303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A2A3A"/>
                </a:solidFill>
                <a:latin typeface="Arial"/>
              </a:rPr>
              <a:t>$1.75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126480" y="2487168"/>
            <a:ext cx="146303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5A5A5A"/>
                </a:solidFill>
                <a:latin typeface="Arial"/>
              </a:rPr>
              <a:t>May: $1.53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772400" y="1737360"/>
            <a:ext cx="1737360" cy="100584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7772400" y="1737360"/>
            <a:ext cx="91440" cy="1005840"/>
          </a:xfrm>
          <a:prstGeom prst="rect">
            <a:avLst/>
          </a:prstGeom>
          <a:solidFill>
            <a:srgbClr val="3B59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955279" y="1783080"/>
            <a:ext cx="146303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78828C"/>
                </a:solidFill>
                <a:latin typeface="Arial"/>
              </a:rPr>
              <a:t>SUBMITTED APPS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955279" y="2029967"/>
            <a:ext cx="146303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A2A3A"/>
                </a:solidFill>
                <a:latin typeface="Arial"/>
              </a:rPr>
              <a:t>67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955279" y="2487168"/>
            <a:ext cx="146303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5A5A5A"/>
                </a:solidFill>
                <a:latin typeface="Arial"/>
              </a:rPr>
              <a:t>May: 76</a:t>
            </a:r>
          </a:p>
        </p:txBody>
      </p:sp>
      <p:sp>
        <p:nvSpPr>
          <p:cNvPr id="35" name="Rectangle 34"/>
          <p:cNvSpPr/>
          <p:nvPr/>
        </p:nvSpPr>
        <p:spPr>
          <a:xfrm>
            <a:off x="9601200" y="1737360"/>
            <a:ext cx="1737360" cy="100584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9601200" y="1737360"/>
            <a:ext cx="91440" cy="1005840"/>
          </a:xfrm>
          <a:prstGeom prst="rect">
            <a:avLst/>
          </a:prstGeom>
          <a:solidFill>
            <a:srgbClr val="3B59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784080" y="1783080"/>
            <a:ext cx="146303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78828C"/>
                </a:solidFill>
                <a:latin typeface="Arial"/>
              </a:rPr>
              <a:t>CPA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784080" y="2029967"/>
            <a:ext cx="146303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A2A3A"/>
                </a:solidFill>
                <a:latin typeface="Arial"/>
              </a:rPr>
              <a:t>$336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784080" y="2487168"/>
            <a:ext cx="146303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5A5A5A"/>
                </a:solidFill>
                <a:latin typeface="Arial"/>
              </a:rPr>
              <a:t>May: $200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57200" y="3063240"/>
            <a:ext cx="6400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1A2A3A"/>
                </a:solidFill>
                <a:latin typeface="Arial"/>
              </a:rPr>
              <a:t>Campaigns</a:t>
            </a:r>
          </a:p>
        </p:txBody>
      </p:sp>
      <p:graphicFrame>
        <p:nvGraphicFramePr>
          <p:cNvPr id="41" name="Table 40"/>
          <p:cNvGraphicFramePr>
            <a:graphicFrameLocks noGrp="1"/>
          </p:cNvGraphicFramePr>
          <p:nvPr/>
        </p:nvGraphicFramePr>
        <p:xfrm>
          <a:off x="457200" y="3337560"/>
          <a:ext cx="6949440" cy="155448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194560"/>
                <a:gridCol w="1005840"/>
                <a:gridCol w="1005840"/>
                <a:gridCol w="731520"/>
                <a:gridCol w="914400"/>
                <a:gridCol w="1097280"/>
              </a:tblGrid>
              <a:tr h="310896"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Campaign</a:t>
                      </a:r>
                    </a:p>
                  </a:txBody>
                  <a:tcPr marL="54864" marR="54864" marT="27432" marB="27432">
                    <a:solidFill>
                      <a:srgbClr val="3B599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Spend</a:t>
                      </a:r>
                    </a:p>
                  </a:txBody>
                  <a:tcPr marL="54864" marR="54864" marT="27432" marB="27432">
                    <a:solidFill>
                      <a:srgbClr val="3B599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Clicks</a:t>
                      </a:r>
                    </a:p>
                  </a:txBody>
                  <a:tcPr marL="54864" marR="54864" marT="27432" marB="27432">
                    <a:solidFill>
                      <a:srgbClr val="3B599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Apps</a:t>
                      </a:r>
                    </a:p>
                  </a:txBody>
                  <a:tcPr marL="54864" marR="54864" marT="27432" marB="27432">
                    <a:solidFill>
                      <a:srgbClr val="3B599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CPA</a:t>
                      </a:r>
                    </a:p>
                  </a:txBody>
                  <a:tcPr marL="54864" marR="54864" marT="27432" marB="27432">
                    <a:solidFill>
                      <a:srgbClr val="3B599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Search IS</a:t>
                      </a:r>
                    </a:p>
                  </a:txBody>
                  <a:tcPr marL="54864" marR="54864" marT="27432" marB="27432">
                    <a:solidFill>
                      <a:srgbClr val="3B5998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32373E"/>
                          </a:solidFill>
                          <a:latin typeface="Arial"/>
                        </a:rPr>
                        <a:t>TrackA Trust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$7,796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5,712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$433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27%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32373E"/>
                          </a:solidFill>
                          <a:latin typeface="Arial"/>
                        </a:rPr>
                        <a:t>TrackB Authority</a:t>
                      </a:r>
                    </a:p>
                  </a:txBody>
                  <a:tcPr marL="54864" marR="54864" marT="27432" marB="27432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$6,826</a:t>
                      </a:r>
                    </a:p>
                  </a:txBody>
                  <a:tcPr marL="54864" marR="54864" marT="27432" marB="27432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3,198</a:t>
                      </a:r>
                    </a:p>
                  </a:txBody>
                  <a:tcPr marL="54864" marR="54864" marT="27432" marB="27432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54864" marR="54864" marT="27432" marB="27432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$297</a:t>
                      </a:r>
                    </a:p>
                  </a:txBody>
                  <a:tcPr marL="54864" marR="54864" marT="27432" marB="27432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24%</a:t>
                      </a:r>
                    </a:p>
                  </a:txBody>
                  <a:tcPr marL="54864" marR="54864" marT="27432" marB="27432">
                    <a:solidFill>
                      <a:srgbClr val="F3F3F3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32373E"/>
                          </a:solidFill>
                          <a:latin typeface="Arial"/>
                        </a:rPr>
                        <a:t>TrackB Platform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$4,489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2,568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$264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13%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32373E"/>
                          </a:solidFill>
                          <a:latin typeface="Arial"/>
                        </a:rPr>
                        <a:t>Brand Search</a:t>
                      </a:r>
                    </a:p>
                  </a:txBody>
                  <a:tcPr marL="54864" marR="54864" marT="27432" marB="27432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$3,413</a:t>
                      </a:r>
                    </a:p>
                  </a:txBody>
                  <a:tcPr marL="54864" marR="54864" marT="27432" marB="27432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1,410</a:t>
                      </a:r>
                    </a:p>
                  </a:txBody>
                  <a:tcPr marL="54864" marR="54864" marT="27432" marB="27432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54864" marR="54864" marT="27432" marB="27432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$379</a:t>
                      </a:r>
                    </a:p>
                  </a:txBody>
                  <a:tcPr marL="54864" marR="54864" marT="27432" marB="27432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11%</a:t>
                      </a:r>
                    </a:p>
                  </a:txBody>
                  <a:tcPr marL="54864" marR="54864" marT="27432" marB="27432">
                    <a:solidFill>
                      <a:srgbClr val="F3F3F3"/>
                    </a:solidFill>
                  </a:tcPr>
                </a:tc>
              </a:tr>
            </a:tbl>
          </a:graphicData>
        </a:graphic>
      </p:graphicFrame>
      <p:sp>
        <p:nvSpPr>
          <p:cNvPr id="42" name="Rectangle 41"/>
          <p:cNvSpPr/>
          <p:nvPr/>
        </p:nvSpPr>
        <p:spPr>
          <a:xfrm>
            <a:off x="7680960" y="3063240"/>
            <a:ext cx="4023360" cy="324612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7680960" y="3063240"/>
            <a:ext cx="4023360" cy="91440"/>
          </a:xfrm>
          <a:prstGeom prst="rect">
            <a:avLst/>
          </a:prstGeom>
          <a:solidFill>
            <a:srgbClr val="27AE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7863840" y="3246120"/>
            <a:ext cx="3657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27AE60"/>
                </a:solidFill>
                <a:latin typeface="Arial"/>
              </a:rPr>
              <a:t>HIGHLIGHTS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863840" y="3566160"/>
            <a:ext cx="3657600" cy="2560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32373E"/>
                </a:solidFill>
                <a:latin typeface="Arial"/>
              </a:rPr>
              <a:t>All 67 conversions are submitted applications (Step 5 goal, definition unchanged from May).</a:t>
            </a:r>
          </a:p>
          <a:p>
            <a:pPr algn="l">
              <a:spcBef>
                <a:spcPts val="600"/>
              </a:spcBef>
            </a:pPr>
            <a:r>
              <a:rPr sz="950" b="0">
                <a:solidFill>
                  <a:srgbClr val="32373E"/>
                </a:solidFill>
                <a:latin typeface="Arial"/>
              </a:rPr>
              <a:t>TrackB stayed the efficiency core: Platform $264 and Authority $297. TrackA Trust converted at $433.</a:t>
            </a:r>
          </a:p>
          <a:p>
            <a:pPr algn="l">
              <a:spcBef>
                <a:spcPts val="600"/>
              </a:spcBef>
            </a:pPr>
            <a:r>
              <a:rPr sz="950" b="0">
                <a:solidFill>
                  <a:srgbClr val="32373E"/>
                </a:solidFill>
                <a:latin typeface="Arial"/>
              </a:rPr>
              <a:t>Spend rose 48% but applications fell 12%, because extra budget at current ad rank bought worse auctions, not more volume.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57200" y="5074920"/>
            <a:ext cx="694944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32373E"/>
                </a:solidFill>
                <a:latin typeface="Arial"/>
              </a:rPr>
              <a:t>Impression share tells the story: campaigns lose 64-76% of available impressions to ad rank and only 9-13% to budget. Brand holds just 11% of its own auctions. The account has a large runway that budget alone cannot buy.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0"/>
          </a:xfrm>
          <a:prstGeom prst="rect">
            <a:avLst/>
          </a:prstGeom>
          <a:solidFill>
            <a:srgbClr val="1A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Arial"/>
              </a:rPr>
              <a:t>FOREX.com  |  GCG (US Hispanic)  ·  June 2026</a:t>
            </a:r>
          </a:p>
        </p:txBody>
      </p:sp>
      <p:pic>
        <p:nvPicPr>
          <p:cNvPr id="4" name="Picture 3" descr="logo_1_fd6b9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55680" y="100584"/>
            <a:ext cx="896112" cy="25603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566928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3B5998"/>
                </a:solidFill>
                <a:latin typeface="Arial"/>
              </a:rPr>
              <a:t>GOOGLE ADS  ·  READ &amp; RECOMMENDATIONS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471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>
                <a:solidFill>
                  <a:srgbClr val="1A2A3A"/>
                </a:solidFill>
                <a:latin typeface="Arial"/>
              </a:rPr>
              <a:t>Earn rank first. Then scale.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611112"/>
            <a:ext cx="54864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78828C"/>
                </a:solidFill>
                <a:latin typeface="Arial"/>
              </a:rPr>
              <a:t>Performance Review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64240" y="6611112"/>
            <a:ext cx="8229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>
                <a:solidFill>
                  <a:srgbClr val="78828C"/>
                </a:solidFill>
                <a:latin typeface="Arial"/>
              </a:rPr>
              <a:t>10 / 15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1737360"/>
            <a:ext cx="5577840" cy="466344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7200" y="1737360"/>
            <a:ext cx="5577840" cy="91440"/>
          </a:xfrm>
          <a:prstGeom prst="rect">
            <a:avLst/>
          </a:prstGeom>
          <a:solidFill>
            <a:srgbClr val="3B59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1920240"/>
            <a:ext cx="521207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3B5998"/>
                </a:solidFill>
                <a:latin typeface="Arial"/>
              </a:rPr>
              <a:t>WHAT THE DATA SHOWS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2240280"/>
            <a:ext cx="5212079" cy="39776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32373E"/>
                </a:solidFill>
                <a:latin typeface="Arial"/>
              </a:rPr>
              <a:t>May was the efficiency peak: 76 applications at $200 with even weekly pacing. June added 48% more budget and got 12% fewer applications at $336.</a:t>
            </a:r>
          </a:p>
          <a:p>
            <a:pPr algn="l">
              <a:spcBef>
                <a:spcPts val="600"/>
              </a:spcBef>
            </a:pPr>
            <a:r>
              <a:rPr sz="950" b="0">
                <a:solidFill>
                  <a:srgbClr val="32373E"/>
                </a:solidFill>
                <a:latin typeface="Arial"/>
              </a:rPr>
              <a:t>The auction data isolates the cause: lost impression share is rank-driven everywhere (64-76%), not budget-driven (9-13%). The account cannot buy its way past ad rank at current bids, quality, and ad strength.</a:t>
            </a:r>
          </a:p>
          <a:p>
            <a:pPr algn="l">
              <a:spcBef>
                <a:spcPts val="600"/>
              </a:spcBef>
            </a:pPr>
            <a:r>
              <a:rPr sz="950" b="0">
                <a:solidFill>
                  <a:srgbClr val="32373E"/>
                </a:solidFill>
                <a:latin typeface="Arial"/>
              </a:rPr>
              <a:t>TrackB remains the proven converter set ($264-$297); Brand at 11% impression share is under-defended.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309360" y="1737360"/>
            <a:ext cx="5394960" cy="466344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309360" y="1737360"/>
            <a:ext cx="5394960" cy="91440"/>
          </a:xfrm>
          <a:prstGeom prst="rect">
            <a:avLst/>
          </a:prstGeom>
          <a:solidFill>
            <a:srgbClr val="27AE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92240" y="1920240"/>
            <a:ext cx="502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27AE60"/>
                </a:solidFill>
                <a:latin typeface="Arial"/>
              </a:rPr>
              <a:t>WHAT WE RECOMMEND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92240" y="2240280"/>
            <a:ext cx="5029200" cy="39776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32373E"/>
                </a:solidFill>
                <a:latin typeface="Arial"/>
              </a:rPr>
              <a:t>Run the ad-rank program before adding budget: bid up the proven TrackB terms, refresh RSAs to lift ad strength, and rebuild quality score on the Trust track.</a:t>
            </a:r>
          </a:p>
          <a:p>
            <a:pPr algn="l">
              <a:spcBef>
                <a:spcPts val="600"/>
              </a:spcBef>
            </a:pPr>
            <a:r>
              <a:rPr sz="950" b="0">
                <a:solidFill>
                  <a:srgbClr val="32373E"/>
                </a:solidFill>
                <a:latin typeface="Arial"/>
              </a:rPr>
              <a:t>Defend Brand: 11% impression share on brand terms leaves the highest-intent auctions to competitors.</a:t>
            </a:r>
          </a:p>
          <a:p>
            <a:pPr algn="l">
              <a:spcBef>
                <a:spcPts val="600"/>
              </a:spcBef>
            </a:pPr>
            <a:r>
              <a:rPr sz="950" b="0">
                <a:solidFill>
                  <a:srgbClr val="32373E"/>
                </a:solidFill>
                <a:latin typeface="Arial"/>
              </a:rPr>
              <a:t>Hold June budget levels while rank recovers, then scale into the impression share the rank work opens.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0"/>
          </a:xfrm>
          <a:prstGeom prst="rect">
            <a:avLst/>
          </a:prstGeom>
          <a:solidFill>
            <a:srgbClr val="1A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Arial"/>
              </a:rPr>
              <a:t>FOREX.com  |  GCG (US Hispanic)  ·  June 2026</a:t>
            </a:r>
          </a:p>
        </p:txBody>
      </p:sp>
      <p:pic>
        <p:nvPicPr>
          <p:cNvPr id="4" name="Picture 3" descr="logo_1_fd6b9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55680" y="100584"/>
            <a:ext cx="896112" cy="25603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566928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3B5998"/>
                </a:solidFill>
                <a:latin typeface="Arial"/>
              </a:rPr>
              <a:t>META  ·  PERFORMANCE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471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>
                <a:solidFill>
                  <a:srgbClr val="1A2A3A"/>
                </a:solidFill>
                <a:latin typeface="Arial"/>
              </a:rPr>
              <a:t>Scaled 2.5x with clean delivery. Ready for the conversion objective.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611112"/>
            <a:ext cx="54864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78828C"/>
                </a:solidFill>
                <a:latin typeface="Arial"/>
              </a:rPr>
              <a:t>Performance Review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64240" y="6611112"/>
            <a:ext cx="8229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>
                <a:solidFill>
                  <a:srgbClr val="78828C"/>
                </a:solidFill>
                <a:latin typeface="Arial"/>
              </a:rPr>
              <a:t>11 / 15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1737360"/>
            <a:ext cx="1737360" cy="100584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7200" y="1737360"/>
            <a:ext cx="91440" cy="1005840"/>
          </a:xfrm>
          <a:prstGeom prst="rect">
            <a:avLst/>
          </a:prstGeom>
          <a:solidFill>
            <a:srgbClr val="3B59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1783080"/>
            <a:ext cx="146303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78828C"/>
                </a:solidFill>
                <a:latin typeface="Arial"/>
              </a:rPr>
              <a:t>SPEND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2029967"/>
            <a:ext cx="146303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A2A3A"/>
                </a:solidFill>
                <a:latin typeface="Arial"/>
              </a:rPr>
              <a:t>$30,711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2487168"/>
            <a:ext cx="146303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5A5A5A"/>
                </a:solidFill>
                <a:latin typeface="Arial"/>
              </a:rPr>
              <a:t>+151% MoM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286000" y="1737360"/>
            <a:ext cx="1737360" cy="100584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286000" y="1737360"/>
            <a:ext cx="91440" cy="1005840"/>
          </a:xfrm>
          <a:prstGeom prst="rect">
            <a:avLst/>
          </a:prstGeom>
          <a:solidFill>
            <a:srgbClr val="3B59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468880" y="1783080"/>
            <a:ext cx="146303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78828C"/>
                </a:solidFill>
                <a:latin typeface="Arial"/>
              </a:rPr>
              <a:t>IMPRESSIONS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468880" y="2029967"/>
            <a:ext cx="146303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A2A3A"/>
                </a:solidFill>
                <a:latin typeface="Arial"/>
              </a:rPr>
              <a:t>3.06M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468880" y="2487168"/>
            <a:ext cx="146303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5A5A5A"/>
                </a:solidFill>
                <a:latin typeface="Arial"/>
              </a:rPr>
              <a:t>CPM $10.04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114800" y="1737360"/>
            <a:ext cx="1737360" cy="100584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114800" y="1737360"/>
            <a:ext cx="91440" cy="1005840"/>
          </a:xfrm>
          <a:prstGeom prst="rect">
            <a:avLst/>
          </a:prstGeom>
          <a:solidFill>
            <a:srgbClr val="3B59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297680" y="1783080"/>
            <a:ext cx="146303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78828C"/>
                </a:solidFill>
                <a:latin typeface="Arial"/>
              </a:rPr>
              <a:t>REACH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97680" y="2029967"/>
            <a:ext cx="146303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A2A3A"/>
                </a:solidFill>
                <a:latin typeface="Arial"/>
              </a:rPr>
              <a:t>1.53M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80" y="2487168"/>
            <a:ext cx="146303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5A5A5A"/>
                </a:solidFill>
                <a:latin typeface="Arial"/>
              </a:rPr>
              <a:t>freq 2.0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943600" y="1737360"/>
            <a:ext cx="1737360" cy="100584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943600" y="1737360"/>
            <a:ext cx="91440" cy="1005840"/>
          </a:xfrm>
          <a:prstGeom prst="rect">
            <a:avLst/>
          </a:prstGeom>
          <a:solidFill>
            <a:srgbClr val="3B59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126480" y="1783080"/>
            <a:ext cx="146303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78828C"/>
                </a:solidFill>
                <a:latin typeface="Arial"/>
              </a:rPr>
              <a:t>LINK CLICKS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126480" y="2029967"/>
            <a:ext cx="146303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A2A3A"/>
                </a:solidFill>
                <a:latin typeface="Arial"/>
              </a:rPr>
              <a:t>74,572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126480" y="2487168"/>
            <a:ext cx="146303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5A5A5A"/>
                </a:solidFill>
                <a:latin typeface="Arial"/>
              </a:rPr>
              <a:t>CTR 2.44%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772400" y="1737360"/>
            <a:ext cx="1737360" cy="100584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7772400" y="1737360"/>
            <a:ext cx="91440" cy="1005840"/>
          </a:xfrm>
          <a:prstGeom prst="rect">
            <a:avLst/>
          </a:prstGeom>
          <a:solidFill>
            <a:srgbClr val="3B59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955279" y="1783080"/>
            <a:ext cx="146303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78828C"/>
                </a:solidFill>
                <a:latin typeface="Arial"/>
              </a:rPr>
              <a:t>LP VIEWS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955279" y="2029967"/>
            <a:ext cx="146303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A2A3A"/>
                </a:solidFill>
                <a:latin typeface="Arial"/>
              </a:rPr>
              <a:t>52,639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955279" y="2487168"/>
            <a:ext cx="146303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5A5A5A"/>
                </a:solidFill>
                <a:latin typeface="Arial"/>
              </a:rPr>
              <a:t>70.6% of clicks</a:t>
            </a:r>
          </a:p>
        </p:txBody>
      </p:sp>
      <p:sp>
        <p:nvSpPr>
          <p:cNvPr id="35" name="Rectangle 34"/>
          <p:cNvSpPr/>
          <p:nvPr/>
        </p:nvSpPr>
        <p:spPr>
          <a:xfrm>
            <a:off x="9601200" y="1737360"/>
            <a:ext cx="1737360" cy="100584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9601200" y="1737360"/>
            <a:ext cx="91440" cy="1005840"/>
          </a:xfrm>
          <a:prstGeom prst="rect">
            <a:avLst/>
          </a:prstGeom>
          <a:solidFill>
            <a:srgbClr val="3B59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784080" y="1783080"/>
            <a:ext cx="146303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78828C"/>
                </a:solidFill>
                <a:latin typeface="Arial"/>
              </a:rPr>
              <a:t>PIXEL EVENTS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784080" y="2029967"/>
            <a:ext cx="146303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A2A3A"/>
                </a:solidFill>
                <a:latin typeface="Arial"/>
              </a:rPr>
              <a:t>136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784080" y="2487168"/>
            <a:ext cx="146303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5A5A5A"/>
                </a:solidFill>
                <a:latin typeface="Arial"/>
              </a:rPr>
              <a:t>starts rollup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57200" y="306324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1A2A3A"/>
                </a:solidFill>
                <a:latin typeface="Arial"/>
              </a:rPr>
              <a:t>Ad Sets</a:t>
            </a:r>
          </a:p>
        </p:txBody>
      </p:sp>
      <p:graphicFrame>
        <p:nvGraphicFramePr>
          <p:cNvPr id="41" name="Table 40"/>
          <p:cNvGraphicFramePr>
            <a:graphicFrameLocks noGrp="1"/>
          </p:cNvGraphicFramePr>
          <p:nvPr/>
        </p:nvGraphicFramePr>
        <p:xfrm>
          <a:off x="457200" y="3337560"/>
          <a:ext cx="6126480" cy="128016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011680"/>
                <a:gridCol w="1005840"/>
                <a:gridCol w="1097280"/>
                <a:gridCol w="914400"/>
                <a:gridCol w="1097280"/>
              </a:tblGrid>
              <a:tr h="426720"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Ad set</a:t>
                      </a:r>
                    </a:p>
                  </a:txBody>
                  <a:tcPr marL="54864" marR="54864" marT="27432" marB="27432">
                    <a:solidFill>
                      <a:srgbClr val="3B599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Spend</a:t>
                      </a:r>
                    </a:p>
                  </a:txBody>
                  <a:tcPr marL="54864" marR="54864" marT="27432" marB="27432">
                    <a:solidFill>
                      <a:srgbClr val="3B599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Link clicks</a:t>
                      </a:r>
                    </a:p>
                  </a:txBody>
                  <a:tcPr marL="54864" marR="54864" marT="27432" marB="27432">
                    <a:solidFill>
                      <a:srgbClr val="3B599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LPV</a:t>
                      </a:r>
                    </a:p>
                  </a:txBody>
                  <a:tcPr marL="54864" marR="54864" marT="27432" marB="27432">
                    <a:solidFill>
                      <a:srgbClr val="3B599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Pixel events</a:t>
                      </a:r>
                    </a:p>
                  </a:txBody>
                  <a:tcPr marL="54864" marR="54864" marT="27432" marB="27432">
                    <a:solidFill>
                      <a:srgbClr val="3B5998"/>
                    </a:solidFill>
                  </a:tcPr>
                </a:tc>
              </a:tr>
              <a:tr h="426720"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32373E"/>
                          </a:solidFill>
                          <a:latin typeface="Arial"/>
                        </a:rPr>
                        <a:t>trackA_pros_us_es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$16,924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35,710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25,078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84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426720"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32373E"/>
                          </a:solidFill>
                          <a:latin typeface="Arial"/>
                        </a:rPr>
                        <a:t>trackB_pros_us_es</a:t>
                      </a:r>
                    </a:p>
                  </a:txBody>
                  <a:tcPr marL="54864" marR="54864" marT="27432" marB="27432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$17,787</a:t>
                      </a:r>
                    </a:p>
                  </a:txBody>
                  <a:tcPr marL="54864" marR="54864" marT="27432" marB="27432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38,862</a:t>
                      </a:r>
                    </a:p>
                  </a:txBody>
                  <a:tcPr marL="54864" marR="54864" marT="27432" marB="27432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27,561</a:t>
                      </a:r>
                    </a:p>
                  </a:txBody>
                  <a:tcPr marL="54864" marR="54864" marT="27432" marB="27432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52</a:t>
                      </a:r>
                    </a:p>
                  </a:txBody>
                  <a:tcPr marL="54864" marR="54864" marT="27432" marB="27432">
                    <a:solidFill>
                      <a:srgbClr val="F3F3F3"/>
                    </a:solidFill>
                  </a:tcPr>
                </a:tc>
              </a:tr>
            </a:tbl>
          </a:graphicData>
        </a:graphic>
      </p:graphicFrame>
      <p:sp>
        <p:nvSpPr>
          <p:cNvPr id="42" name="Rectangle 41"/>
          <p:cNvSpPr/>
          <p:nvPr/>
        </p:nvSpPr>
        <p:spPr>
          <a:xfrm>
            <a:off x="6583680" y="3063240"/>
            <a:ext cx="5120640" cy="324612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6583680" y="3063240"/>
            <a:ext cx="5120640" cy="91440"/>
          </a:xfrm>
          <a:prstGeom prst="rect">
            <a:avLst/>
          </a:prstGeom>
          <a:solidFill>
            <a:srgbClr val="27AE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766560" y="3246120"/>
            <a:ext cx="475487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27AE60"/>
                </a:solidFill>
                <a:latin typeface="Arial"/>
              </a:rPr>
              <a:t>HIGHLIGHTS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766560" y="3566160"/>
            <a:ext cx="4754879" cy="2560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32373E"/>
                </a:solidFill>
                <a:latin typeface="Arial"/>
              </a:rPr>
              <a:t>Delivery held through a 2.5x scale-up: landing-page views ran at 70.6% of link clicks (May: 65.9%) and site analytics capture roughly 57% of clicks as sessions. The measurement chain works.</a:t>
            </a:r>
          </a:p>
          <a:p>
            <a:pPr algn="l">
              <a:spcBef>
                <a:spcPts val="600"/>
              </a:spcBef>
            </a:pPr>
            <a:r>
              <a:rPr sz="950" b="0">
                <a:solidFill>
                  <a:srgbClr val="32373E"/>
                </a:solidFill>
                <a:latin typeface="Arial"/>
              </a:rPr>
              <a:t>The campaign still runs the Q2 traffic objective, so its 136 pixel events are mostly application starts. The conversion-objective shift is the unlock for judging this channel on submitted applications.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57200" y="4892040"/>
            <a:ext cx="585216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32373E"/>
                </a:solidFill>
                <a:latin typeface="Arial"/>
              </a:rPr>
              <a:t>June audience delivery reached 1.53M people at 2.0 frequency, the largest Spanish-language reach of any GCG channel with verified site arrival.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0"/>
          </a:xfrm>
          <a:prstGeom prst="rect">
            <a:avLst/>
          </a:prstGeom>
          <a:solidFill>
            <a:srgbClr val="1A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Arial"/>
              </a:rPr>
              <a:t>FOREX.com  |  GCG (US Hispanic)  ·  June 2026</a:t>
            </a:r>
          </a:p>
        </p:txBody>
      </p:sp>
      <p:pic>
        <p:nvPicPr>
          <p:cNvPr id="4" name="Picture 3" descr="logo_1_fd6b9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55680" y="100584"/>
            <a:ext cx="896112" cy="25603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566928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3B5998"/>
                </a:solidFill>
                <a:latin typeface="Arial"/>
              </a:rPr>
              <a:t>META  ·  READ &amp; RECOMMENDATIONS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471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>
                <a:solidFill>
                  <a:srgbClr val="1A2A3A"/>
                </a:solidFill>
                <a:latin typeface="Arial"/>
              </a:rPr>
              <a:t>Make the objective match the goal.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611112"/>
            <a:ext cx="54864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78828C"/>
                </a:solidFill>
                <a:latin typeface="Arial"/>
              </a:rPr>
              <a:t>Performance Review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64240" y="6611112"/>
            <a:ext cx="8229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>
                <a:solidFill>
                  <a:srgbClr val="78828C"/>
                </a:solidFill>
                <a:latin typeface="Arial"/>
              </a:rPr>
              <a:t>12 / 15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1737360"/>
            <a:ext cx="5577840" cy="466344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7200" y="1737360"/>
            <a:ext cx="5577840" cy="91440"/>
          </a:xfrm>
          <a:prstGeom prst="rect">
            <a:avLst/>
          </a:prstGeom>
          <a:solidFill>
            <a:srgbClr val="3B59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1920240"/>
            <a:ext cx="521207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3B5998"/>
                </a:solidFill>
                <a:latin typeface="Arial"/>
              </a:rPr>
              <a:t>WHAT THE DATA SHOWS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2240280"/>
            <a:ext cx="5212079" cy="39776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32373E"/>
                </a:solidFill>
                <a:latin typeface="Arial"/>
              </a:rPr>
              <a:t>The channel does what a traffic objective asks: cheap, verified site visitors at scale. What it does not do yet is optimize toward applications, because the objective never asked it to.</a:t>
            </a:r>
          </a:p>
          <a:p>
            <a:pPr algn="l">
              <a:spcBef>
                <a:spcPts val="600"/>
              </a:spcBef>
            </a:pPr>
            <a:r>
              <a:rPr sz="950" b="0">
                <a:solidFill>
                  <a:srgbClr val="32373E"/>
                </a:solidFill>
                <a:latin typeface="Arial"/>
              </a:rPr>
              <a:t>Every delivery signal supports the shift: stable CPM through the scale-up, improving click-to-LPV rate, healthy analytics capture, and a growing retargeting pool from four months of traffic.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309360" y="1737360"/>
            <a:ext cx="5394960" cy="466344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309360" y="1737360"/>
            <a:ext cx="5394960" cy="91440"/>
          </a:xfrm>
          <a:prstGeom prst="rect">
            <a:avLst/>
          </a:prstGeom>
          <a:solidFill>
            <a:srgbClr val="27AE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92240" y="1920240"/>
            <a:ext cx="502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27AE60"/>
                </a:solidFill>
                <a:latin typeface="Arial"/>
              </a:rPr>
              <a:t>WHAT WE RECOMMEND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92240" y="2240280"/>
            <a:ext cx="5029200" cy="397763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32373E"/>
                </a:solidFill>
                <a:latin typeface="Arial"/>
              </a:rPr>
              <a:t>Complete the shift to a conversion objective in July and judge the channel on submitted applications.</a:t>
            </a:r>
          </a:p>
          <a:p>
            <a:pPr algn="l">
              <a:spcBef>
                <a:spcPts val="600"/>
              </a:spcBef>
            </a:pPr>
            <a:r>
              <a:rPr sz="950" b="0">
                <a:solidFill>
                  <a:srgbClr val="32373E"/>
                </a:solidFill>
                <a:latin typeface="Arial"/>
              </a:rPr>
              <a:t>Seed the conversion campaigns with the pixel and the four-month retargeting pool before scaling prospecting.</a:t>
            </a:r>
          </a:p>
          <a:p>
            <a:pPr algn="l">
              <a:spcBef>
                <a:spcPts val="600"/>
              </a:spcBef>
            </a:pPr>
            <a:r>
              <a:rPr sz="950" b="0">
                <a:solidFill>
                  <a:srgbClr val="32373E"/>
                </a:solidFill>
                <a:latin typeface="Arial"/>
              </a:rPr>
              <a:t>Keep the trackA/trackB split so creative learnings carry over from the search program.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0"/>
          </a:xfrm>
          <a:prstGeom prst="rect">
            <a:avLst/>
          </a:prstGeom>
          <a:solidFill>
            <a:srgbClr val="1A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Arial"/>
              </a:rPr>
              <a:t>FOREX.com  |  GCG (US Hispanic)  ·  June 2026</a:t>
            </a:r>
          </a:p>
        </p:txBody>
      </p:sp>
      <p:pic>
        <p:nvPicPr>
          <p:cNvPr id="4" name="Picture 3" descr="logo_1_fd6b9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55680" y="100584"/>
            <a:ext cx="896112" cy="25603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566928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3B5998"/>
                </a:solidFill>
                <a:latin typeface="Arial"/>
              </a:rPr>
              <a:t>QUANTCAST  ·  PERFORMANCE &amp; READ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471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>
                <a:solidFill>
                  <a:srgbClr val="1A2A3A"/>
                </a:solidFill>
                <a:latin typeface="Arial"/>
              </a:rPr>
              <a:t>A deliberate reach month, with the same quality bill to manage.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611112"/>
            <a:ext cx="54864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78828C"/>
                </a:solidFill>
                <a:latin typeface="Arial"/>
              </a:rPr>
              <a:t>Performance Review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64240" y="6611112"/>
            <a:ext cx="8229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>
                <a:solidFill>
                  <a:srgbClr val="78828C"/>
                </a:solidFill>
                <a:latin typeface="Arial"/>
              </a:rPr>
              <a:t>13 / 15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1737360"/>
            <a:ext cx="1737360" cy="100584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7200" y="1737360"/>
            <a:ext cx="91440" cy="1005840"/>
          </a:xfrm>
          <a:prstGeom prst="rect">
            <a:avLst/>
          </a:prstGeom>
          <a:solidFill>
            <a:srgbClr val="3B59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1783080"/>
            <a:ext cx="146303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78828C"/>
                </a:solidFill>
                <a:latin typeface="Arial"/>
              </a:rPr>
              <a:t>SPEND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2029967"/>
            <a:ext cx="146303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A2A3A"/>
                </a:solidFill>
                <a:latin typeface="Arial"/>
              </a:rPr>
              <a:t>$30,559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2487168"/>
            <a:ext cx="146303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5A5A5A"/>
                </a:solidFill>
                <a:latin typeface="Arial"/>
              </a:rPr>
              <a:t>+37% MoM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286000" y="1737360"/>
            <a:ext cx="1737360" cy="100584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286000" y="1737360"/>
            <a:ext cx="91440" cy="1005840"/>
          </a:xfrm>
          <a:prstGeom prst="rect">
            <a:avLst/>
          </a:prstGeom>
          <a:solidFill>
            <a:srgbClr val="3B59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468880" y="1783080"/>
            <a:ext cx="146303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78828C"/>
                </a:solidFill>
                <a:latin typeface="Arial"/>
              </a:rPr>
              <a:t>IMPRESSIONS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468880" y="2029967"/>
            <a:ext cx="146303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A2A3A"/>
                </a:solidFill>
                <a:latin typeface="Arial"/>
              </a:rPr>
              <a:t>37.2M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468880" y="2487168"/>
            <a:ext cx="146303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5A5A5A"/>
                </a:solidFill>
                <a:latin typeface="Arial"/>
              </a:rPr>
              <a:t>+38% MoM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114800" y="1737360"/>
            <a:ext cx="1737360" cy="100584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114800" y="1737360"/>
            <a:ext cx="91440" cy="1005840"/>
          </a:xfrm>
          <a:prstGeom prst="rect">
            <a:avLst/>
          </a:prstGeom>
          <a:solidFill>
            <a:srgbClr val="3B59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297680" y="1783080"/>
            <a:ext cx="146303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78828C"/>
                </a:solidFill>
                <a:latin typeface="Arial"/>
              </a:rPr>
              <a:t>CPM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97680" y="2029967"/>
            <a:ext cx="146303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A2A3A"/>
                </a:solidFill>
                <a:latin typeface="Arial"/>
              </a:rPr>
              <a:t>$0.82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80" y="2487168"/>
            <a:ext cx="146303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5A5A5A"/>
                </a:solidFill>
                <a:latin typeface="Arial"/>
              </a:rPr>
              <a:t>May: $0.83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943600" y="1737360"/>
            <a:ext cx="1737360" cy="100584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943600" y="1737360"/>
            <a:ext cx="91440" cy="1005840"/>
          </a:xfrm>
          <a:prstGeom prst="rect">
            <a:avLst/>
          </a:prstGeom>
          <a:solidFill>
            <a:srgbClr val="3B59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126480" y="1783080"/>
            <a:ext cx="146303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78828C"/>
                </a:solidFill>
                <a:latin typeface="Arial"/>
              </a:rPr>
              <a:t>DEVICE REACH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126480" y="2029967"/>
            <a:ext cx="146303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A2A3A"/>
                </a:solidFill>
                <a:latin typeface="Arial"/>
              </a:rPr>
              <a:t>23.2M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126480" y="2487168"/>
            <a:ext cx="146303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5A5A5A"/>
                </a:solidFill>
                <a:latin typeface="Arial"/>
              </a:rPr>
              <a:t>freq 1.6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772400" y="1737360"/>
            <a:ext cx="1737360" cy="100584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7772400" y="1737360"/>
            <a:ext cx="91440" cy="1005840"/>
          </a:xfrm>
          <a:prstGeom prst="rect">
            <a:avLst/>
          </a:prstGeom>
          <a:solidFill>
            <a:srgbClr val="3B59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955279" y="1783080"/>
            <a:ext cx="146303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78828C"/>
                </a:solidFill>
                <a:latin typeface="Arial"/>
              </a:rPr>
              <a:t>VIEWABILITY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955279" y="2029967"/>
            <a:ext cx="146303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A2A3A"/>
                </a:solidFill>
                <a:latin typeface="Arial"/>
              </a:rPr>
              <a:t>46.9%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955279" y="2487168"/>
            <a:ext cx="146303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5A5A5A"/>
                </a:solidFill>
                <a:latin typeface="Arial"/>
              </a:rPr>
              <a:t>70% standard</a:t>
            </a:r>
          </a:p>
        </p:txBody>
      </p:sp>
      <p:sp>
        <p:nvSpPr>
          <p:cNvPr id="35" name="Rectangle 34"/>
          <p:cNvSpPr/>
          <p:nvPr/>
        </p:nvSpPr>
        <p:spPr>
          <a:xfrm>
            <a:off x="9601200" y="1737360"/>
            <a:ext cx="1737360" cy="100584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9601200" y="1737360"/>
            <a:ext cx="91440" cy="1005840"/>
          </a:xfrm>
          <a:prstGeom prst="rect">
            <a:avLst/>
          </a:prstGeom>
          <a:solidFill>
            <a:srgbClr val="3B59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784080" y="1783080"/>
            <a:ext cx="146303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78828C"/>
                </a:solidFill>
                <a:latin typeface="Arial"/>
              </a:rPr>
              <a:t>RESULTS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784080" y="2029967"/>
            <a:ext cx="146303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A2A3A"/>
                </a:solidFill>
                <a:latin typeface="Arial"/>
              </a:rPr>
              <a:t>15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784080" y="2487168"/>
            <a:ext cx="146303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5A5A5A"/>
                </a:solidFill>
                <a:latin typeface="Arial"/>
              </a:rPr>
              <a:t>13 view-through</a:t>
            </a:r>
          </a:p>
        </p:txBody>
      </p:sp>
      <p:sp>
        <p:nvSpPr>
          <p:cNvPr id="40" name="Rectangle 39"/>
          <p:cNvSpPr/>
          <p:nvPr/>
        </p:nvSpPr>
        <p:spPr>
          <a:xfrm>
            <a:off x="457200" y="3063240"/>
            <a:ext cx="5577840" cy="324612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457200" y="3063240"/>
            <a:ext cx="5577840" cy="91440"/>
          </a:xfrm>
          <a:prstGeom prst="rect">
            <a:avLst/>
          </a:prstGeom>
          <a:solidFill>
            <a:srgbClr val="3B59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40080" y="3246120"/>
            <a:ext cx="521207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3B5998"/>
                </a:solidFill>
                <a:latin typeface="Arial"/>
              </a:rPr>
              <a:t>READ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40080" y="3566160"/>
            <a:ext cx="5212079" cy="2560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32373E"/>
                </a:solidFill>
                <a:latin typeface="Arial"/>
              </a:rPr>
              <a:t>The reach line scaled on purpose: 37.2M impressions to 23.2M devices at a flat $0.82 CPM.</a:t>
            </a:r>
          </a:p>
          <a:p>
            <a:pPr algn="l">
              <a:spcBef>
                <a:spcPts val="600"/>
              </a:spcBef>
            </a:pPr>
            <a:r>
              <a:rPr sz="950" b="0">
                <a:solidFill>
                  <a:srgbClr val="32373E"/>
                </a:solidFill>
                <a:latin typeface="Arial"/>
              </a:rPr>
              <a:t>Viewability fell to 46.9%, well under the 70% standard. We delivered an 18-site blocklist covering $9,752 (32%) of June spend on this line and recommend a campaign-level viewability floor.</a:t>
            </a:r>
          </a:p>
          <a:p>
            <a:pPr algn="l">
              <a:spcBef>
                <a:spcPts val="600"/>
              </a:spcBef>
            </a:pPr>
            <a:r>
              <a:rPr sz="950" b="0">
                <a:solidFill>
                  <a:srgbClr val="32373E"/>
                </a:solidFill>
                <a:latin typeface="Arial"/>
              </a:rPr>
              <a:t>Results rose 8 to 15, but 13 of 15 are view-through: directional support, not proven response.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309360" y="3063240"/>
            <a:ext cx="5394960" cy="324612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6309360" y="3063240"/>
            <a:ext cx="5394960" cy="91440"/>
          </a:xfrm>
          <a:prstGeom prst="rect">
            <a:avLst/>
          </a:prstGeom>
          <a:solidFill>
            <a:srgbClr val="E74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492240" y="3246120"/>
            <a:ext cx="50292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E74C3C"/>
                </a:solidFill>
                <a:latin typeface="Arial"/>
              </a:rPr>
              <a:t>TOP BLOCKLIST ENTRIES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492240" y="3566160"/>
            <a:ext cx="5029200" cy="2560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32373E"/>
                </a:solidFill>
                <a:latin typeface="Arial"/>
              </a:rPr>
              <a:t>yahoo.com $2,270 at 15.7% viewability; clarin.com $1,315 at 26%; weather.com $1,278 at 17.7%; genius.com $771 at 0.9%; zillow.com $685 at 5.6%.</a:t>
            </a:r>
          </a:p>
          <a:p>
            <a:pPr algn="l">
              <a:spcBef>
                <a:spcPts val="600"/>
              </a:spcBef>
            </a:pPr>
            <a:r>
              <a:rPr sz="950" b="0">
                <a:solidFill>
                  <a:srgbClr val="32373E"/>
                </a:solidFill>
                <a:latin typeface="Arial"/>
              </a:rPr>
              <a:t>The list ships with this report; applying it plus a viewability floor moves the line toward the standard without giving up the reach efficiency.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0"/>
          </a:xfrm>
          <a:prstGeom prst="rect">
            <a:avLst/>
          </a:prstGeom>
          <a:solidFill>
            <a:srgbClr val="1A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Arial"/>
              </a:rPr>
              <a:t>FOREX.com  |  GCG (US Hispanic)  ·  June 2026</a:t>
            </a:r>
          </a:p>
        </p:txBody>
      </p:sp>
      <p:pic>
        <p:nvPicPr>
          <p:cNvPr id="4" name="Picture 3" descr="logo_1_fd6b9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55680" y="100584"/>
            <a:ext cx="896112" cy="25603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566928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3B5998"/>
                </a:solidFill>
                <a:latin typeface="Arial"/>
              </a:rPr>
              <a:t>AZERION  ·  PERFORMANCE &amp; READ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471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>
                <a:solidFill>
                  <a:srgbClr val="1A2A3A"/>
                </a:solidFill>
                <a:latin typeface="Arial"/>
              </a:rPr>
              <a:t>58 applications, up 35% on a 12% budget increase. Fewer starts, better starts.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611112"/>
            <a:ext cx="54864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78828C"/>
                </a:solidFill>
                <a:latin typeface="Arial"/>
              </a:rPr>
              <a:t>Performance Review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64240" y="6611112"/>
            <a:ext cx="8229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>
                <a:solidFill>
                  <a:srgbClr val="78828C"/>
                </a:solidFill>
                <a:latin typeface="Arial"/>
              </a:rPr>
              <a:t>14 / 15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1737360"/>
            <a:ext cx="1737360" cy="100584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7200" y="1737360"/>
            <a:ext cx="91440" cy="1005840"/>
          </a:xfrm>
          <a:prstGeom prst="rect">
            <a:avLst/>
          </a:prstGeom>
          <a:solidFill>
            <a:srgbClr val="3B59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1783080"/>
            <a:ext cx="146303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78828C"/>
                </a:solidFill>
                <a:latin typeface="Arial"/>
              </a:rPr>
              <a:t>SPEND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2029967"/>
            <a:ext cx="146303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A2A3A"/>
                </a:solidFill>
                <a:latin typeface="Arial"/>
              </a:rPr>
              <a:t>$29,586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2487168"/>
            <a:ext cx="146303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5A5A5A"/>
                </a:solidFill>
                <a:latin typeface="Arial"/>
              </a:rPr>
              <a:t>+12% MoM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286000" y="1737360"/>
            <a:ext cx="1737360" cy="100584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286000" y="1737360"/>
            <a:ext cx="91440" cy="1005840"/>
          </a:xfrm>
          <a:prstGeom prst="rect">
            <a:avLst/>
          </a:prstGeom>
          <a:solidFill>
            <a:srgbClr val="3B59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468880" y="1783080"/>
            <a:ext cx="146303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78828C"/>
                </a:solidFill>
                <a:latin typeface="Arial"/>
              </a:rPr>
              <a:t>IMPRESSIONS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468880" y="2029967"/>
            <a:ext cx="146303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A2A3A"/>
                </a:solidFill>
                <a:latin typeface="Arial"/>
              </a:rPr>
              <a:t>4.52M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468880" y="2487168"/>
            <a:ext cx="146303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5A5A5A"/>
                </a:solidFill>
                <a:latin typeface="Arial"/>
              </a:rPr>
              <a:t>CPM $6.55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114800" y="1737360"/>
            <a:ext cx="1737360" cy="100584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114800" y="1737360"/>
            <a:ext cx="91440" cy="1005840"/>
          </a:xfrm>
          <a:prstGeom prst="rect">
            <a:avLst/>
          </a:prstGeom>
          <a:solidFill>
            <a:srgbClr val="3B59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297680" y="1783080"/>
            <a:ext cx="146303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78828C"/>
                </a:solidFill>
                <a:latin typeface="Arial"/>
              </a:rPr>
              <a:t>CLICKS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97680" y="2029967"/>
            <a:ext cx="146303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A2A3A"/>
                </a:solidFill>
                <a:latin typeface="Arial"/>
              </a:rPr>
              <a:t>19,653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97680" y="2487168"/>
            <a:ext cx="146303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5A5A5A"/>
                </a:solidFill>
                <a:latin typeface="Arial"/>
              </a:rPr>
              <a:t>CTR 0.44%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943600" y="1737360"/>
            <a:ext cx="1737360" cy="100584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943600" y="1737360"/>
            <a:ext cx="91440" cy="1005840"/>
          </a:xfrm>
          <a:prstGeom prst="rect">
            <a:avLst/>
          </a:prstGeom>
          <a:solidFill>
            <a:srgbClr val="3B59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126480" y="1783080"/>
            <a:ext cx="146303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78828C"/>
                </a:solidFill>
                <a:latin typeface="Arial"/>
              </a:rPr>
              <a:t>APP STARTS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126480" y="2029967"/>
            <a:ext cx="146303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A2A3A"/>
                </a:solidFill>
                <a:latin typeface="Arial"/>
              </a:rPr>
              <a:t>447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126480" y="2487168"/>
            <a:ext cx="146303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5A5A5A"/>
                </a:solidFill>
                <a:latin typeface="Arial"/>
              </a:rPr>
              <a:t>May: 1,398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772400" y="1737360"/>
            <a:ext cx="1737360" cy="100584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7772400" y="1737360"/>
            <a:ext cx="91440" cy="1005840"/>
          </a:xfrm>
          <a:prstGeom prst="rect">
            <a:avLst/>
          </a:prstGeom>
          <a:solidFill>
            <a:srgbClr val="3B59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955279" y="1783080"/>
            <a:ext cx="146303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78828C"/>
                </a:solidFill>
                <a:latin typeface="Arial"/>
              </a:rPr>
              <a:t>APPLICATIONS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955279" y="2029967"/>
            <a:ext cx="146303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A2A3A"/>
                </a:solidFill>
                <a:latin typeface="Arial"/>
              </a:rPr>
              <a:t>58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955279" y="2487168"/>
            <a:ext cx="146303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5A5A5A"/>
                </a:solidFill>
                <a:latin typeface="Arial"/>
              </a:rPr>
              <a:t>$510 CPA</a:t>
            </a:r>
          </a:p>
        </p:txBody>
      </p:sp>
      <p:sp>
        <p:nvSpPr>
          <p:cNvPr id="35" name="Rectangle 34"/>
          <p:cNvSpPr/>
          <p:nvPr/>
        </p:nvSpPr>
        <p:spPr>
          <a:xfrm>
            <a:off x="9601200" y="1737360"/>
            <a:ext cx="1737360" cy="100584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9601200" y="1737360"/>
            <a:ext cx="91440" cy="1005840"/>
          </a:xfrm>
          <a:prstGeom prst="rect">
            <a:avLst/>
          </a:prstGeom>
          <a:solidFill>
            <a:srgbClr val="3B59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784080" y="1783080"/>
            <a:ext cx="1463039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1">
                <a:solidFill>
                  <a:srgbClr val="78828C"/>
                </a:solidFill>
                <a:latin typeface="Arial"/>
              </a:rPr>
              <a:t>VIEWABILITY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784080" y="2029967"/>
            <a:ext cx="1463039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1">
                <a:solidFill>
                  <a:srgbClr val="1A2A3A"/>
                </a:solidFill>
                <a:latin typeface="Arial"/>
              </a:rPr>
              <a:t>58.8%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784080" y="2487168"/>
            <a:ext cx="1463039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5A5A5A"/>
                </a:solidFill>
                <a:latin typeface="Arial"/>
              </a:rPr>
              <a:t>70% standard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57200" y="306324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1A2A3A"/>
                </a:solidFill>
                <a:latin typeface="Arial"/>
              </a:rPr>
              <a:t>Ad Sets (Applications)</a:t>
            </a:r>
          </a:p>
        </p:txBody>
      </p:sp>
      <p:graphicFrame>
        <p:nvGraphicFramePr>
          <p:cNvPr id="41" name="Table 40"/>
          <p:cNvGraphicFramePr>
            <a:graphicFrameLocks noGrp="1"/>
          </p:cNvGraphicFramePr>
          <p:nvPr/>
        </p:nvGraphicFramePr>
        <p:xfrm>
          <a:off x="457200" y="3337560"/>
          <a:ext cx="5303520" cy="21031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77440"/>
                <a:gridCol w="1005840"/>
                <a:gridCol w="822960"/>
                <a:gridCol w="1097280"/>
              </a:tblGrid>
              <a:tr h="300445"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Ad Set</a:t>
                      </a:r>
                    </a:p>
                  </a:txBody>
                  <a:tcPr marL="54864" marR="54864" marT="27432" marB="27432">
                    <a:solidFill>
                      <a:srgbClr val="3B599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Spend</a:t>
                      </a:r>
                    </a:p>
                  </a:txBody>
                  <a:tcPr marL="54864" marR="54864" marT="27432" marB="27432">
                    <a:solidFill>
                      <a:srgbClr val="3B599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Apps</a:t>
                      </a:r>
                    </a:p>
                  </a:txBody>
                  <a:tcPr marL="54864" marR="54864" marT="27432" marB="27432">
                    <a:solidFill>
                      <a:srgbClr val="3B5998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CPA</a:t>
                      </a:r>
                    </a:p>
                  </a:txBody>
                  <a:tcPr marL="54864" marR="54864" marT="27432" marB="27432">
                    <a:solidFill>
                      <a:srgbClr val="3B5998"/>
                    </a:solidFill>
                  </a:tcPr>
                </a:tc>
              </a:tr>
              <a:tr h="300445"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32373E"/>
                          </a:solidFill>
                          <a:latin typeface="Arial"/>
                        </a:rPr>
                        <a:t>Trusted Broker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$4,933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$352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300445"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32373E"/>
                          </a:solidFill>
                          <a:latin typeface="Arial"/>
                        </a:rPr>
                        <a:t>Broker 1</a:t>
                      </a:r>
                    </a:p>
                  </a:txBody>
                  <a:tcPr marL="54864" marR="54864" marT="27432" marB="27432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$4,964</a:t>
                      </a:r>
                    </a:p>
                  </a:txBody>
                  <a:tcPr marL="54864" marR="54864" marT="27432" marB="27432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54864" marR="54864" marT="27432" marB="27432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$382</a:t>
                      </a:r>
                    </a:p>
                  </a:txBody>
                  <a:tcPr marL="54864" marR="54864" marT="27432" marB="27432">
                    <a:solidFill>
                      <a:srgbClr val="F3F3F3"/>
                    </a:solidFill>
                  </a:tcPr>
                </a:tc>
              </a:tr>
              <a:tr h="300445"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32373E"/>
                          </a:solidFill>
                          <a:latin typeface="Arial"/>
                        </a:rPr>
                        <a:t>Language Broker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$4,900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$490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300445"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32373E"/>
                          </a:solidFill>
                          <a:latin typeface="Arial"/>
                        </a:rPr>
                        <a:t>Professional Tools</a:t>
                      </a:r>
                    </a:p>
                  </a:txBody>
                  <a:tcPr marL="54864" marR="54864" marT="27432" marB="27432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$4,940</a:t>
                      </a:r>
                    </a:p>
                  </a:txBody>
                  <a:tcPr marL="54864" marR="54864" marT="27432" marB="27432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54864" marR="54864" marT="27432" marB="27432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$549</a:t>
                      </a:r>
                    </a:p>
                  </a:txBody>
                  <a:tcPr marL="54864" marR="54864" marT="27432" marB="27432">
                    <a:solidFill>
                      <a:srgbClr val="F3F3F3"/>
                    </a:solidFill>
                  </a:tcPr>
                </a:tc>
              </a:tr>
              <a:tr h="300445"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32373E"/>
                          </a:solidFill>
                          <a:latin typeface="Arial"/>
                        </a:rPr>
                        <a:t>Spanish Platform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$4,933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$705</a:t>
                      </a:r>
                    </a:p>
                  </a:txBody>
                  <a:tcPr marL="54864" marR="54864" marT="27432" marB="27432">
                    <a:solidFill>
                      <a:srgbClr val="FFFFFF"/>
                    </a:solidFill>
                  </a:tcPr>
                </a:tc>
              </a:tr>
              <a:tr h="300450">
                <a:tc>
                  <a:txBody>
                    <a:bodyPr/>
                    <a:lstStyle/>
                    <a:p>
                      <a:r>
                        <a:rPr sz="850" b="1">
                          <a:solidFill>
                            <a:srgbClr val="32373E"/>
                          </a:solidFill>
                          <a:latin typeface="Arial"/>
                        </a:rPr>
                        <a:t>Trust HTML</a:t>
                      </a:r>
                    </a:p>
                  </a:txBody>
                  <a:tcPr marL="54864" marR="54864" marT="27432" marB="27432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$4,916</a:t>
                      </a:r>
                    </a:p>
                  </a:txBody>
                  <a:tcPr marL="54864" marR="54864" marT="27432" marB="27432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54864" marR="54864" marT="27432" marB="27432">
                    <a:solidFill>
                      <a:srgbClr val="F3F3F3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sz="850" b="0">
                          <a:solidFill>
                            <a:srgbClr val="32373E"/>
                          </a:solidFill>
                          <a:latin typeface="Arial"/>
                        </a:rPr>
                        <a:t>$983</a:t>
                      </a:r>
                    </a:p>
                  </a:txBody>
                  <a:tcPr marL="54864" marR="54864" marT="27432" marB="27432">
                    <a:solidFill>
                      <a:srgbClr val="F3F3F3"/>
                    </a:solidFill>
                  </a:tcPr>
                </a:tc>
              </a:tr>
            </a:tbl>
          </a:graphicData>
        </a:graphic>
      </p:graphicFrame>
      <p:sp>
        <p:nvSpPr>
          <p:cNvPr id="42" name="Rectangle 41"/>
          <p:cNvSpPr/>
          <p:nvPr/>
        </p:nvSpPr>
        <p:spPr>
          <a:xfrm>
            <a:off x="6217920" y="3063240"/>
            <a:ext cx="5486400" cy="274320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6217920" y="3063240"/>
            <a:ext cx="5486400" cy="91440"/>
          </a:xfrm>
          <a:prstGeom prst="rect">
            <a:avLst/>
          </a:prstGeom>
          <a:solidFill>
            <a:srgbClr val="27AE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400800" y="3246120"/>
            <a:ext cx="5120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27AE60"/>
                </a:solidFill>
                <a:latin typeface="Arial"/>
              </a:rPr>
              <a:t>READ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400800" y="3566160"/>
            <a:ext cx="5120640" cy="2057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32373E"/>
                </a:solidFill>
                <a:latin typeface="Arial"/>
              </a:rPr>
              <a:t>Applications rose 35% (43 to 58) at a $510 CPA, down 17%: the strongest converter of the June program.</a:t>
            </a:r>
          </a:p>
          <a:p>
            <a:pPr algn="l">
              <a:spcBef>
                <a:spcPts val="600"/>
              </a:spcBef>
            </a:pPr>
            <a:r>
              <a:rPr sz="950" b="0">
                <a:solidFill>
                  <a:srgbClr val="32373E"/>
                </a:solidFill>
                <a:latin typeface="Arial"/>
              </a:rPr>
              <a:t>Application starts fell 1,398 to 447 while completion improved from 3.1% to 13.0%, which is the start-to-submit fix May called for: fewer, better-qualified starts.</a:t>
            </a:r>
          </a:p>
          <a:p>
            <a:pPr algn="l">
              <a:spcBef>
                <a:spcPts val="600"/>
              </a:spcBef>
            </a:pPr>
            <a:r>
              <a:rPr sz="950" b="0">
                <a:solidFill>
                  <a:srgbClr val="32373E"/>
                </a:solidFill>
                <a:latin typeface="Arial"/>
              </a:rPr>
              <a:t>Delivery is confirmed US-only (state-level geo report). Viewability at 58.8% sits under the 70% standard; the 300x600 format converts best ($124 vendor-basis) and 728x90 worst.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217920" y="5943600"/>
            <a:ext cx="5486400" cy="50292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6217920" y="5943600"/>
            <a:ext cx="5486400" cy="73152"/>
          </a:xfrm>
          <a:prstGeom prst="rect">
            <a:avLst/>
          </a:prstGeom>
          <a:solidFill>
            <a:srgbClr val="3B59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400800" y="6053328"/>
            <a:ext cx="512064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>
                <a:solidFill>
                  <a:srgbClr val="32373E"/>
                </a:solidFill>
                <a:latin typeface="Arial"/>
              </a:rPr>
              <a:t>Native pilot: $3,645 in month one; first delivery read lands with vendor reporting.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457200"/>
          </a:xfrm>
          <a:prstGeom prst="rect">
            <a:avLst/>
          </a:prstGeom>
          <a:solidFill>
            <a:srgbClr val="1A2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9144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>
                <a:solidFill>
                  <a:srgbClr val="FFFFFF"/>
                </a:solidFill>
                <a:latin typeface="Arial"/>
              </a:rPr>
              <a:t>FOREX.com  |  GCG (US Hispanic)  ·  June 2026</a:t>
            </a:r>
          </a:p>
        </p:txBody>
      </p:sp>
      <p:pic>
        <p:nvPicPr>
          <p:cNvPr id="4" name="Picture 3" descr="logo_1_fd6b9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55680" y="100584"/>
            <a:ext cx="896112" cy="25603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457200" y="566928"/>
            <a:ext cx="109728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1">
                <a:solidFill>
                  <a:srgbClr val="3B5998"/>
                </a:solidFill>
                <a:latin typeface="Arial"/>
              </a:rPr>
              <a:t>CROSS-CHANNEL PRIORITIES + NEXT STEPS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868680"/>
            <a:ext cx="1124712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2000" b="1">
                <a:solidFill>
                  <a:srgbClr val="1A2A3A"/>
                </a:solidFill>
                <a:latin typeface="Arial"/>
              </a:rPr>
              <a:t>Convert the traffic. Earn the rank. Guard the quality.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6583680"/>
            <a:ext cx="12191695" cy="27432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6611112"/>
            <a:ext cx="548640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800" b="0">
                <a:solidFill>
                  <a:srgbClr val="78828C"/>
                </a:solidFill>
                <a:latin typeface="Arial"/>
              </a:rPr>
              <a:t>Performance Review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64240" y="6611112"/>
            <a:ext cx="8229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800" b="0">
                <a:solidFill>
                  <a:srgbClr val="78828C"/>
                </a:solidFill>
                <a:latin typeface="Arial"/>
              </a:rPr>
              <a:t>15 / 15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1737360"/>
            <a:ext cx="3657600" cy="402336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7200" y="1737360"/>
            <a:ext cx="3657600" cy="91440"/>
          </a:xfrm>
          <a:prstGeom prst="rect">
            <a:avLst/>
          </a:prstGeom>
          <a:solidFill>
            <a:srgbClr val="E74C3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1920240"/>
            <a:ext cx="3291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E74C3C"/>
                </a:solidFill>
                <a:latin typeface="Arial"/>
              </a:rPr>
              <a:t>PRIORITY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2240280"/>
            <a:ext cx="3291840" cy="3337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32373E"/>
                </a:solidFill>
                <a:latin typeface="Arial"/>
              </a:rPr>
              <a:t>Shift paid social to the conversion objective and judge it on submitted applications.</a:t>
            </a:r>
          </a:p>
          <a:p>
            <a:pPr algn="l">
              <a:spcBef>
                <a:spcPts val="600"/>
              </a:spcBef>
            </a:pPr>
            <a:r>
              <a:rPr sz="950" b="0">
                <a:solidFill>
                  <a:srgbClr val="32373E"/>
                </a:solidFill>
                <a:latin typeface="Arial"/>
              </a:rPr>
              <a:t>Put the start-to-submit funnel step on the joint roadmap; media is filling the top of the funnel and conversion is the constraint.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89120" y="1737360"/>
            <a:ext cx="3657600" cy="402336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389120" y="1737360"/>
            <a:ext cx="3657600" cy="91440"/>
          </a:xfrm>
          <a:prstGeom prst="rect">
            <a:avLst/>
          </a:prstGeom>
          <a:solidFill>
            <a:srgbClr val="27AE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0" y="1920240"/>
            <a:ext cx="32918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27AE60"/>
                </a:solidFill>
                <a:latin typeface="Arial"/>
              </a:rPr>
              <a:t>SCALING &amp; OPPORTUNITY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0" y="2240280"/>
            <a:ext cx="3291840" cy="3337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32373E"/>
                </a:solidFill>
                <a:latin typeface="Arial"/>
              </a:rPr>
              <a:t>Run the search ad-rank program (bids, quality, RSA refresh) on TrackB terms, defend Brand, then scale into the recovered impression share.</a:t>
            </a:r>
          </a:p>
          <a:p>
            <a:pPr algn="l">
              <a:spcBef>
                <a:spcPts val="600"/>
              </a:spcBef>
            </a:pPr>
            <a:r>
              <a:rPr sz="950" b="0">
                <a:solidFill>
                  <a:srgbClr val="32373E"/>
                </a:solidFill>
                <a:latin typeface="Arial"/>
              </a:rPr>
              <a:t>Hold the reach line at pace once the blocklist and viewability floor land.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0" y="1737360"/>
            <a:ext cx="3474720" cy="402336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229600" y="1737360"/>
            <a:ext cx="3474720" cy="91440"/>
          </a:xfrm>
          <a:prstGeom prst="rect">
            <a:avLst/>
          </a:prstGeom>
          <a:solidFill>
            <a:srgbClr val="3B59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412480" y="1920240"/>
            <a:ext cx="31089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3B5998"/>
                </a:solidFill>
                <a:latin typeface="Arial"/>
              </a:rPr>
              <a:t>TO CLOSE THE QUARTER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12480" y="2240280"/>
            <a:ext cx="3108960" cy="3337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50" b="0">
                <a:solidFill>
                  <a:srgbClr val="32373E"/>
                </a:solidFill>
                <a:latin typeface="Arial"/>
              </a:rPr>
              <a:t>Carry the Azerion start-quality fix forward: completion tripled to 13% in June; concentrate budget on Trusted Broker and Broker 1 and push viewability over the standard.</a:t>
            </a:r>
          </a:p>
          <a:p>
            <a:pPr algn="l">
              <a:spcBef>
                <a:spcPts val="600"/>
              </a:spcBef>
            </a:pPr>
            <a:r>
              <a:rPr sz="950" b="0">
                <a:solidFill>
                  <a:srgbClr val="32373E"/>
                </a:solidFill>
                <a:latin typeface="Arial"/>
              </a:rPr>
              <a:t>First Native pilot read lands with vendor reporting; judged on cost per submitted application.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57200" y="5943600"/>
            <a:ext cx="11247120" cy="502920"/>
          </a:xfrm>
          <a:prstGeom prst="rect">
            <a:avLst/>
          </a:prstGeom>
          <a:solidFill>
            <a:srgbClr val="F3F3F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57200" y="5943600"/>
            <a:ext cx="11247120" cy="73152"/>
          </a:xfrm>
          <a:prstGeom prst="rect">
            <a:avLst/>
          </a:prstGeom>
          <a:solidFill>
            <a:srgbClr val="3B599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0080" y="6062472"/>
            <a:ext cx="1088136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1">
                <a:solidFill>
                  <a:srgbClr val="1A2A3A"/>
                </a:solidFill>
                <a:latin typeface="Arial"/>
              </a:rPr>
              <a:t>Media is filling the funnel. July converts it.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